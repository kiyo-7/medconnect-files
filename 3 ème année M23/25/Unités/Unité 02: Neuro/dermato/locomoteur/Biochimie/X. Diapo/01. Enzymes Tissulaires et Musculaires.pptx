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9"/>
  </p:notesMasterIdLst>
  <p:sldIdLst>
    <p:sldId id="256" r:id="rId2"/>
    <p:sldId id="312" r:id="rId3"/>
    <p:sldId id="313" r:id="rId4"/>
    <p:sldId id="314" r:id="rId5"/>
    <p:sldId id="301" r:id="rId6"/>
    <p:sldId id="302" r:id="rId7"/>
    <p:sldId id="307" r:id="rId8"/>
    <p:sldId id="305" r:id="rId9"/>
    <p:sldId id="309" r:id="rId10"/>
    <p:sldId id="341" r:id="rId11"/>
    <p:sldId id="306" r:id="rId12"/>
    <p:sldId id="310" r:id="rId13"/>
    <p:sldId id="311" r:id="rId14"/>
    <p:sldId id="265" r:id="rId15"/>
    <p:sldId id="266" r:id="rId16"/>
    <p:sldId id="264" r:id="rId17"/>
    <p:sldId id="258" r:id="rId18"/>
    <p:sldId id="259" r:id="rId19"/>
    <p:sldId id="260" r:id="rId20"/>
    <p:sldId id="336" r:id="rId21"/>
    <p:sldId id="261" r:id="rId22"/>
    <p:sldId id="262" r:id="rId23"/>
    <p:sldId id="338" r:id="rId24"/>
    <p:sldId id="297" r:id="rId25"/>
    <p:sldId id="298" r:id="rId26"/>
    <p:sldId id="299" r:id="rId27"/>
    <p:sldId id="267" r:id="rId28"/>
    <p:sldId id="263" r:id="rId29"/>
    <p:sldId id="340" r:id="rId30"/>
    <p:sldId id="271" r:id="rId31"/>
    <p:sldId id="334" r:id="rId32"/>
    <p:sldId id="272" r:id="rId33"/>
    <p:sldId id="273" r:id="rId34"/>
    <p:sldId id="345" r:id="rId35"/>
    <p:sldId id="275" r:id="rId36"/>
    <p:sldId id="342" r:id="rId37"/>
    <p:sldId id="279" r:id="rId38"/>
    <p:sldId id="277" r:id="rId39"/>
    <p:sldId id="280" r:id="rId40"/>
    <p:sldId id="281" r:id="rId41"/>
    <p:sldId id="282" r:id="rId42"/>
    <p:sldId id="283" r:id="rId43"/>
    <p:sldId id="278" r:id="rId44"/>
    <p:sldId id="284" r:id="rId45"/>
    <p:sldId id="285" r:id="rId46"/>
    <p:sldId id="286" r:id="rId47"/>
    <p:sldId id="287" r:id="rId48"/>
    <p:sldId id="288" r:id="rId49"/>
    <p:sldId id="289" r:id="rId50"/>
    <p:sldId id="290" r:id="rId51"/>
    <p:sldId id="291" r:id="rId52"/>
    <p:sldId id="292" r:id="rId53"/>
    <p:sldId id="293" r:id="rId54"/>
    <p:sldId id="294" r:id="rId55"/>
    <p:sldId id="296" r:id="rId56"/>
    <p:sldId id="315" r:id="rId57"/>
    <p:sldId id="316" r:id="rId58"/>
    <p:sldId id="317" r:id="rId59"/>
    <p:sldId id="319" r:id="rId60"/>
    <p:sldId id="320" r:id="rId61"/>
    <p:sldId id="318" r:id="rId62"/>
    <p:sldId id="321" r:id="rId63"/>
    <p:sldId id="322" r:id="rId64"/>
    <p:sldId id="326" r:id="rId65"/>
    <p:sldId id="324" r:id="rId66"/>
    <p:sldId id="325" r:id="rId67"/>
    <p:sldId id="327" r:id="rId68"/>
    <p:sldId id="328" r:id="rId69"/>
    <p:sldId id="329" r:id="rId70"/>
    <p:sldId id="330" r:id="rId71"/>
    <p:sldId id="331" r:id="rId72"/>
    <p:sldId id="333" r:id="rId73"/>
    <p:sldId id="344" r:id="rId74"/>
    <p:sldId id="339" r:id="rId75"/>
    <p:sldId id="337" r:id="rId76"/>
    <p:sldId id="335" r:id="rId77"/>
    <p:sldId id="332"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8941" autoAdjust="0"/>
  </p:normalViewPr>
  <p:slideViewPr>
    <p:cSldViewPr snapToGrid="0">
      <p:cViewPr varScale="1">
        <p:scale>
          <a:sx n="51" d="100"/>
          <a:sy n="51" d="100"/>
        </p:scale>
        <p:origin x="1500" y="72"/>
      </p:cViewPr>
      <p:guideLst/>
    </p:cSldViewPr>
  </p:slideViewPr>
  <p:notesTextViewPr>
    <p:cViewPr>
      <p:scale>
        <a:sx n="3" d="2"/>
        <a:sy n="3" d="2"/>
      </p:scale>
      <p:origin x="0" y="0"/>
    </p:cViewPr>
  </p:notesTextViewPr>
  <p:sorterViewPr>
    <p:cViewPr>
      <p:scale>
        <a:sx n="100" d="100"/>
        <a:sy n="100" d="100"/>
      </p:scale>
      <p:origin x="0" y="-2566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1A1CF-24A2-47B4-A9E3-452C9A13C580}" type="datetimeFigureOut">
              <a:rPr lang="fr-FR" smtClean="0"/>
              <a:t>20/01/2023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7893A-1620-4C22-BFBD-98E7771C1B9B}" type="slidenum">
              <a:rPr lang="fr-FR" smtClean="0"/>
              <a:t>‹N°›</a:t>
            </a:fld>
            <a:endParaRPr lang="fr-FR"/>
          </a:p>
        </p:txBody>
      </p:sp>
    </p:spTree>
    <p:extLst>
      <p:ext uri="{BB962C8B-B14F-4D97-AF65-F5344CB8AC3E}">
        <p14:creationId xmlns:p14="http://schemas.microsoft.com/office/powerpoint/2010/main" val="446536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sz="1200" b="1" dirty="0" smtClean="0">
              <a:latin typeface="Times New Roman" panose="02020603050405020304" pitchFamily="18" charset="0"/>
              <a:ea typeface="Times New Roman" panose="02020603050405020304" pitchFamily="18" charset="0"/>
            </a:endParaRPr>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a:t>
            </a:fld>
            <a:endParaRPr lang="fr-FR"/>
          </a:p>
        </p:txBody>
      </p:sp>
    </p:spTree>
    <p:extLst>
      <p:ext uri="{BB962C8B-B14F-4D97-AF65-F5344CB8AC3E}">
        <p14:creationId xmlns:p14="http://schemas.microsoft.com/office/powerpoint/2010/main" val="91228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Les enzymes nécessites un substrat pour la réaction et nécessite un cofacteur/coenzymes</a:t>
            </a:r>
            <a:r>
              <a:rPr lang="fr-FR" baseline="0" dirty="0" smtClean="0"/>
              <a:t> pour avoir un activité maximale</a:t>
            </a:r>
          </a:p>
          <a:p>
            <a:endParaRPr lang="fr-FR" baseline="0" dirty="0" smtClean="0"/>
          </a:p>
          <a:p>
            <a:r>
              <a:rPr lang="fr-FR" baseline="0" dirty="0" smtClean="0"/>
              <a:t>Protéine est un structure mobile dans la conformation 3D (elle peut se détendre et rétracte ,,,,)  et donc le changement dans PH et T va changer la conformation3D vers un autre et donc va perdre la fonction=&gt;par déformation de la structure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3</a:t>
            </a:fld>
            <a:endParaRPr lang="fr-FR"/>
          </a:p>
        </p:txBody>
      </p:sp>
    </p:spTree>
    <p:extLst>
      <p:ext uri="{BB962C8B-B14F-4D97-AF65-F5344CB8AC3E}">
        <p14:creationId xmlns:p14="http://schemas.microsoft.com/office/powerpoint/2010/main" val="1067967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4</a:t>
            </a:fld>
            <a:endParaRPr lang="fr-FR"/>
          </a:p>
        </p:txBody>
      </p:sp>
    </p:spTree>
    <p:extLst>
      <p:ext uri="{BB962C8B-B14F-4D97-AF65-F5344CB8AC3E}">
        <p14:creationId xmlns:p14="http://schemas.microsoft.com/office/powerpoint/2010/main" val="1584906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solidFill>
                  <a:schemeClr val="tx2"/>
                </a:solidFill>
                <a:latin typeface="Times New Roman" panose="02020603050405020304" pitchFamily="18" charset="0"/>
                <a:ea typeface="Times New Roman" panose="02020603050405020304" pitchFamily="18" charset="0"/>
              </a:rPr>
              <a:t>lipoprotéine lipase=&gt;dégrade les lipides</a:t>
            </a:r>
          </a:p>
          <a:p>
            <a:r>
              <a:rPr lang="fr-FR" sz="1200" dirty="0" smtClean="0">
                <a:solidFill>
                  <a:schemeClr val="tx2"/>
                </a:solidFill>
                <a:latin typeface="Times New Roman" panose="02020603050405020304" pitchFamily="18" charset="0"/>
                <a:ea typeface="Times New Roman" panose="02020603050405020304" pitchFamily="18" charset="0"/>
              </a:rPr>
              <a:t>Rénine=&gt;angiotensine</a:t>
            </a:r>
            <a:r>
              <a:rPr lang="fr-FR" sz="1200" baseline="0" dirty="0" smtClean="0">
                <a:solidFill>
                  <a:schemeClr val="tx2"/>
                </a:solidFill>
                <a:latin typeface="Times New Roman" panose="02020603050405020304" pitchFamily="18" charset="0"/>
                <a:ea typeface="Times New Roman" panose="02020603050405020304" pitchFamily="18" charset="0"/>
              </a:rPr>
              <a:t> I =&gt;angiotensine II</a:t>
            </a:r>
          </a:p>
          <a:p>
            <a:r>
              <a:rPr lang="fr-FR" sz="1200" dirty="0" smtClean="0">
                <a:solidFill>
                  <a:schemeClr val="tx2"/>
                </a:solidFill>
                <a:latin typeface="Times New Roman" panose="02020603050405020304" pitchFamily="18" charset="0"/>
                <a:ea typeface="Times New Roman" panose="02020603050405020304" pitchFamily="18" charset="0"/>
              </a:rPr>
              <a:t>Enz coagulation =&gt; intervient</a:t>
            </a:r>
            <a:r>
              <a:rPr lang="fr-FR" sz="1200" baseline="0" dirty="0" smtClean="0">
                <a:solidFill>
                  <a:schemeClr val="tx2"/>
                </a:solidFill>
                <a:latin typeface="Times New Roman" panose="02020603050405020304" pitchFamily="18" charset="0"/>
                <a:ea typeface="Times New Roman" panose="02020603050405020304" pitchFamily="18" charset="0"/>
              </a:rPr>
              <a:t> dans la coagulation</a:t>
            </a:r>
          </a:p>
          <a:p>
            <a:r>
              <a:rPr lang="fr-FR" dirty="0" smtClean="0"/>
              <a:t>---------------------------------------------------------</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a:t>
            </a:fld>
            <a:endParaRPr lang="fr-FR"/>
          </a:p>
        </p:txBody>
      </p:sp>
    </p:spTree>
    <p:extLst>
      <p:ext uri="{BB962C8B-B14F-4D97-AF65-F5344CB8AC3E}">
        <p14:creationId xmlns:p14="http://schemas.microsoft.com/office/powerpoint/2010/main" val="2813323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1" dirty="0" smtClean="0">
                <a:solidFill>
                  <a:schemeClr val="tx2"/>
                </a:solidFill>
                <a:latin typeface="Times New Roman" panose="02020603050405020304" pitchFamily="18" charset="0"/>
                <a:cs typeface="Times New Roman" panose="02020603050405020304" pitchFamily="18" charset="0"/>
              </a:rPr>
              <a:t>₡=&gt;cellulaire</a:t>
            </a:r>
          </a:p>
          <a:p>
            <a:r>
              <a:rPr lang="fr-FR" sz="1200" b="0" dirty="0" smtClean="0">
                <a:solidFill>
                  <a:schemeClr val="tx1"/>
                </a:solidFill>
                <a:latin typeface="+mn-lt"/>
                <a:cs typeface="+mn-cs"/>
              </a:rPr>
              <a:t>-----------</a:t>
            </a:r>
          </a:p>
          <a:p>
            <a:r>
              <a:rPr lang="fr-FR" b="1" dirty="0" smtClean="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Amylase , Lipase =&gt;sont des enzymes de pancréas et</a:t>
            </a:r>
            <a:r>
              <a:rPr lang="fr-FR" b="1" baseline="0" dirty="0" smtClean="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 le rôle est après repas sont déverser vers la partie D2 de duodénum </a:t>
            </a:r>
          </a:p>
          <a:p>
            <a:r>
              <a:rPr lang="fr-FR" sz="1200" b="1" baseline="0" dirty="0" smtClean="0">
                <a:solidFill>
                  <a:srgbClr val="2C3C43"/>
                </a:solidFill>
                <a:latin typeface="Times New Roman" panose="02020603050405020304" pitchFamily="18" charset="0"/>
                <a:cs typeface="Times New Roman" panose="02020603050405020304" pitchFamily="18" charset="0"/>
              </a:rPr>
              <a:t>-----------</a:t>
            </a:r>
          </a:p>
          <a:p>
            <a:r>
              <a:rPr lang="fr-FR" b="1" dirty="0" smtClean="0">
                <a:solidFill>
                  <a:schemeClr val="tx2"/>
                </a:solidFill>
                <a:latin typeface="Times New Roman" panose="02020603050405020304" pitchFamily="18" charset="0"/>
                <a:ea typeface="Times New Roman" panose="02020603050405020304" pitchFamily="18" charset="0"/>
              </a:rPr>
              <a:t>CPK=&gt;</a:t>
            </a:r>
            <a:r>
              <a:rPr lang="fr-FR" sz="1200" b="1" i="0" kern="1200" dirty="0" smtClean="0">
                <a:solidFill>
                  <a:schemeClr val="tx1"/>
                </a:solidFill>
                <a:effectLst/>
                <a:latin typeface="+mn-lt"/>
                <a:ea typeface="+mn-ea"/>
                <a:cs typeface="+mn-cs"/>
              </a:rPr>
              <a:t>créatine </a:t>
            </a:r>
            <a:r>
              <a:rPr lang="fr-FR" sz="1200" b="1" i="0" kern="1200" dirty="0" err="1" smtClean="0">
                <a:solidFill>
                  <a:schemeClr val="tx1"/>
                </a:solidFill>
                <a:effectLst/>
                <a:latin typeface="+mn-lt"/>
                <a:ea typeface="+mn-ea"/>
                <a:cs typeface="+mn-cs"/>
              </a:rPr>
              <a:t>phosphokinase</a:t>
            </a:r>
            <a:r>
              <a:rPr lang="fr-FR" sz="1200" b="1" i="0" kern="1200" dirty="0" smtClean="0">
                <a:solidFill>
                  <a:schemeClr val="tx1"/>
                </a:solidFill>
                <a:effectLst/>
                <a:latin typeface="+mn-lt"/>
                <a:ea typeface="+mn-ea"/>
                <a:cs typeface="+mn-cs"/>
              </a:rPr>
              <a:t>(dans le cœur /les muscles)</a:t>
            </a:r>
            <a:endParaRPr lang="fr-FR" b="1" dirty="0" smtClean="0">
              <a:solidFill>
                <a:schemeClr val="tx2"/>
              </a:solidFill>
              <a:latin typeface="Times New Roman" panose="02020603050405020304" pitchFamily="18" charset="0"/>
              <a:ea typeface="Times New Roman" panose="02020603050405020304" pitchFamily="18" charset="0"/>
            </a:endParaRPr>
          </a:p>
          <a:p>
            <a:r>
              <a:rPr lang="fr-FR" sz="1200" b="1" dirty="0" smtClean="0">
                <a:solidFill>
                  <a:schemeClr val="tx2"/>
                </a:solidFill>
                <a:latin typeface="Times New Roman" panose="02020603050405020304" pitchFamily="18" charset="0"/>
                <a:cs typeface="Times New Roman" panose="02020603050405020304" pitchFamily="18" charset="0"/>
              </a:rPr>
              <a:t>LDH=&gt;</a:t>
            </a:r>
            <a:r>
              <a:rPr lang="fr-FR" sz="1200" b="1" i="0" kern="1200" dirty="0" smtClean="0">
                <a:solidFill>
                  <a:schemeClr val="tx1"/>
                </a:solidFill>
                <a:effectLst/>
                <a:latin typeface="+mn-lt"/>
                <a:ea typeface="+mn-ea"/>
                <a:cs typeface="+mn-cs"/>
              </a:rPr>
              <a:t>lactate déshydrogénase</a:t>
            </a:r>
            <a:endParaRPr lang="fr-FR" sz="1200" b="1" dirty="0" smtClean="0">
              <a:solidFill>
                <a:schemeClr val="tx2"/>
              </a:solidFill>
              <a:latin typeface="Times New Roman" panose="02020603050405020304" pitchFamily="18" charset="0"/>
              <a:cs typeface="Times New Roman" panose="02020603050405020304" pitchFamily="18" charset="0"/>
            </a:endParaRPr>
          </a:p>
          <a:p>
            <a:r>
              <a:rPr lang="fr-FR" sz="1200" b="1" dirty="0" smtClean="0">
                <a:solidFill>
                  <a:schemeClr val="tx2"/>
                </a:solidFill>
                <a:latin typeface="Times New Roman" panose="02020603050405020304" pitchFamily="18" charset="0"/>
                <a:cs typeface="Times New Roman" panose="02020603050405020304" pitchFamily="18" charset="0"/>
              </a:rPr>
              <a:t>ASAT=&gt;</a:t>
            </a:r>
            <a:r>
              <a:rPr lang="fr-FR" sz="1200" b="1" i="0" kern="1200" dirty="0" smtClean="0">
                <a:solidFill>
                  <a:schemeClr val="tx1"/>
                </a:solidFill>
                <a:effectLst/>
                <a:latin typeface="+mn-lt"/>
                <a:ea typeface="+mn-ea"/>
                <a:cs typeface="+mn-cs"/>
              </a:rPr>
              <a:t>L'aspartate </a:t>
            </a:r>
            <a:r>
              <a:rPr lang="fr-FR" sz="1200" b="1" i="0" kern="1200" dirty="0" err="1" smtClean="0">
                <a:solidFill>
                  <a:schemeClr val="tx1"/>
                </a:solidFill>
                <a:effectLst/>
                <a:latin typeface="+mn-lt"/>
                <a:ea typeface="+mn-ea"/>
                <a:cs typeface="+mn-cs"/>
              </a:rPr>
              <a:t>aminotransférase</a:t>
            </a:r>
            <a:r>
              <a:rPr lang="fr-FR" sz="1200" b="1" i="0" kern="1200" dirty="0" smtClean="0">
                <a:solidFill>
                  <a:schemeClr val="tx1"/>
                </a:solidFill>
                <a:effectLst/>
                <a:latin typeface="+mn-lt"/>
                <a:ea typeface="+mn-ea"/>
                <a:cs typeface="+mn-cs"/>
              </a:rPr>
              <a:t>(toute les</a:t>
            </a:r>
            <a:r>
              <a:rPr lang="fr-FR" sz="1200" b="1" i="0" kern="1200" baseline="0" dirty="0" smtClean="0">
                <a:solidFill>
                  <a:schemeClr val="tx1"/>
                </a:solidFill>
                <a:effectLst/>
                <a:latin typeface="+mn-lt"/>
                <a:ea typeface="+mn-ea"/>
                <a:cs typeface="+mn-cs"/>
              </a:rPr>
              <a:t> cellules </a:t>
            </a:r>
            <a:r>
              <a:rPr lang="fr-FR" sz="1200" b="1" i="0" kern="1200" dirty="0" smtClean="0">
                <a:solidFill>
                  <a:schemeClr val="tx1"/>
                </a:solidFill>
                <a:effectLst/>
                <a:latin typeface="+mn-lt"/>
                <a:ea typeface="+mn-ea"/>
                <a:cs typeface="+mn-cs"/>
              </a:rPr>
              <a:t>prédomine</a:t>
            </a:r>
            <a:r>
              <a:rPr lang="fr-FR" sz="1200" b="1" i="0" kern="1200" baseline="0" dirty="0" smtClean="0">
                <a:solidFill>
                  <a:schemeClr val="tx1"/>
                </a:solidFill>
                <a:effectLst/>
                <a:latin typeface="+mn-lt"/>
                <a:ea typeface="+mn-ea"/>
                <a:cs typeface="+mn-cs"/>
              </a:rPr>
              <a:t> </a:t>
            </a:r>
            <a:r>
              <a:rPr lang="fr-FR" sz="1200" b="1" i="0" kern="1200" dirty="0" smtClean="0">
                <a:solidFill>
                  <a:schemeClr val="tx1"/>
                </a:solidFill>
                <a:effectLst/>
                <a:latin typeface="+mn-lt"/>
                <a:ea typeface="+mn-ea"/>
                <a:cs typeface="+mn-cs"/>
              </a:rPr>
              <a:t>dans cardiaque et muscles </a:t>
            </a:r>
            <a:r>
              <a:rPr lang="fr-FR" sz="1200" b="1" i="0" kern="1200" dirty="0" err="1" smtClean="0">
                <a:solidFill>
                  <a:schemeClr val="tx1"/>
                </a:solidFill>
                <a:effectLst/>
                <a:latin typeface="+mn-lt"/>
                <a:ea typeface="+mn-ea"/>
                <a:cs typeface="+mn-cs"/>
              </a:rPr>
              <a:t>squelitiques</a:t>
            </a:r>
            <a:r>
              <a:rPr lang="fr-FR" sz="1200" b="1" i="0" kern="1200" dirty="0" smtClean="0">
                <a:solidFill>
                  <a:schemeClr val="tx1"/>
                </a:solidFill>
                <a:effectLst/>
                <a:latin typeface="+mn-lt"/>
                <a:ea typeface="+mn-ea"/>
                <a:cs typeface="+mn-cs"/>
              </a:rPr>
              <a:t>)</a:t>
            </a:r>
            <a:endParaRPr lang="fr-FR" sz="1200" b="1" dirty="0" smtClean="0">
              <a:solidFill>
                <a:schemeClr val="tx2"/>
              </a:solidFill>
              <a:latin typeface="Times New Roman" panose="02020603050405020304" pitchFamily="18" charset="0"/>
              <a:cs typeface="Times New Roman" panose="02020603050405020304" pitchFamily="18" charset="0"/>
            </a:endParaRPr>
          </a:p>
          <a:p>
            <a:r>
              <a:rPr lang="fr-FR" sz="1200" b="1" dirty="0" smtClean="0">
                <a:solidFill>
                  <a:schemeClr val="tx2"/>
                </a:solidFill>
                <a:latin typeface="Times New Roman" panose="02020603050405020304" pitchFamily="18" charset="0"/>
                <a:cs typeface="Times New Roman" panose="02020603050405020304" pitchFamily="18" charset="0"/>
              </a:rPr>
              <a:t>ALAT=&gt;</a:t>
            </a:r>
            <a:r>
              <a:rPr lang="fr-FR" sz="1200" b="1" i="0" kern="1200" dirty="0" smtClean="0">
                <a:solidFill>
                  <a:schemeClr val="tx1"/>
                </a:solidFill>
                <a:effectLst/>
                <a:latin typeface="+mn-lt"/>
                <a:ea typeface="+mn-ea"/>
                <a:cs typeface="+mn-cs"/>
              </a:rPr>
              <a:t>L'alanine </a:t>
            </a:r>
            <a:r>
              <a:rPr lang="fr-FR" sz="1200" b="1" i="0" kern="1200" dirty="0" err="1" smtClean="0">
                <a:solidFill>
                  <a:schemeClr val="tx1"/>
                </a:solidFill>
                <a:effectLst/>
                <a:latin typeface="+mn-lt"/>
                <a:ea typeface="+mn-ea"/>
                <a:cs typeface="+mn-cs"/>
              </a:rPr>
              <a:t>aminotransférase</a:t>
            </a:r>
            <a:r>
              <a:rPr lang="fr-FR" sz="1200" b="1" i="0" kern="1200" dirty="0" smtClean="0">
                <a:solidFill>
                  <a:schemeClr val="tx1"/>
                </a:solidFill>
                <a:effectLst/>
                <a:latin typeface="+mn-lt"/>
                <a:ea typeface="+mn-ea"/>
                <a:cs typeface="+mn-cs"/>
              </a:rPr>
              <a:t>(toute les</a:t>
            </a:r>
            <a:r>
              <a:rPr lang="fr-FR" sz="1200" b="1" i="0" kern="1200" baseline="0" dirty="0" smtClean="0">
                <a:solidFill>
                  <a:schemeClr val="tx1"/>
                </a:solidFill>
                <a:effectLst/>
                <a:latin typeface="+mn-lt"/>
                <a:ea typeface="+mn-ea"/>
                <a:cs typeface="+mn-cs"/>
              </a:rPr>
              <a:t> cellules </a:t>
            </a:r>
            <a:r>
              <a:rPr lang="fr-FR" sz="1200" b="1" i="0" kern="1200" baseline="0" dirty="0" err="1" smtClean="0">
                <a:solidFill>
                  <a:schemeClr val="tx1"/>
                </a:solidFill>
                <a:effectLst/>
                <a:latin typeface="+mn-lt"/>
                <a:ea typeface="+mn-ea"/>
                <a:cs typeface="+mn-cs"/>
              </a:rPr>
              <a:t>prédominence</a:t>
            </a:r>
            <a:r>
              <a:rPr lang="fr-FR" sz="1200" b="1" i="0" kern="1200" baseline="0" dirty="0" smtClean="0">
                <a:solidFill>
                  <a:schemeClr val="tx1"/>
                </a:solidFill>
                <a:effectLst/>
                <a:latin typeface="+mn-lt"/>
                <a:ea typeface="+mn-ea"/>
                <a:cs typeface="+mn-cs"/>
              </a:rPr>
              <a:t> dans le foie</a:t>
            </a:r>
            <a:endParaRPr lang="fr-FR" sz="1200" b="1" dirty="0" smtClean="0">
              <a:solidFill>
                <a:schemeClr val="tx2"/>
              </a:solidFill>
              <a:latin typeface="Times New Roman" panose="02020603050405020304" pitchFamily="18" charset="0"/>
              <a:cs typeface="Times New Roman" panose="02020603050405020304" pitchFamily="18" charset="0"/>
            </a:endParaRPr>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a:t>
            </a:fld>
            <a:endParaRPr lang="fr-FR"/>
          </a:p>
        </p:txBody>
      </p:sp>
    </p:spTree>
    <p:extLst>
      <p:ext uri="{BB962C8B-B14F-4D97-AF65-F5344CB8AC3E}">
        <p14:creationId xmlns:p14="http://schemas.microsoft.com/office/powerpoint/2010/main" val="1823144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1" dirty="0" smtClean="0">
                <a:solidFill>
                  <a:srgbClr val="FF0000"/>
                </a:solidFill>
              </a:rPr>
              <a:t>Enz Mit(</a:t>
            </a:r>
            <a:r>
              <a:rPr lang="fr-FR" sz="1200" b="1" dirty="0" smtClean="0">
                <a:solidFill>
                  <a:srgbClr val="FF0000"/>
                </a:solidFill>
                <a:latin typeface="Times New Roman" panose="02020603050405020304" pitchFamily="18" charset="0"/>
                <a:cs typeface="Times New Roman" panose="02020603050405020304" pitchFamily="18" charset="0"/>
              </a:rPr>
              <a:t>↑</a:t>
            </a:r>
            <a:r>
              <a:rPr lang="fr-FR" sz="1200" b="1" dirty="0" smtClean="0">
                <a:solidFill>
                  <a:srgbClr val="FF0000"/>
                </a:solidFill>
              </a:rPr>
              <a:t>)</a:t>
            </a:r>
            <a:r>
              <a:rPr lang="fr-FR" sz="1200" b="1" dirty="0" smtClean="0"/>
              <a:t> =&gt;augmentation</a:t>
            </a:r>
            <a:r>
              <a:rPr lang="fr-FR" sz="1200" b="1" baseline="0" dirty="0" smtClean="0"/>
              <a:t> a stade </a:t>
            </a:r>
            <a:r>
              <a:rPr lang="fr-FR" sz="1200" b="1" baseline="0" dirty="0" smtClean="0">
                <a:solidFill>
                  <a:srgbClr val="FF0000"/>
                </a:solidFill>
              </a:rPr>
              <a:t>tardif =&gt; si+++ lésion est très grave et de mauvais pronostique</a:t>
            </a:r>
          </a:p>
          <a:p>
            <a:r>
              <a:rPr lang="fr-FR" sz="1200" b="1" dirty="0" smtClean="0">
                <a:solidFill>
                  <a:srgbClr val="FF0000"/>
                </a:solidFill>
              </a:rPr>
              <a:t>Enz  Mb plasmatique =&gt;augmentation</a:t>
            </a:r>
            <a:r>
              <a:rPr lang="fr-FR" sz="1200" b="1" baseline="0" dirty="0" smtClean="0">
                <a:solidFill>
                  <a:srgbClr val="FF0000"/>
                </a:solidFill>
              </a:rPr>
              <a:t> a stade précoce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7</a:t>
            </a:fld>
            <a:endParaRPr lang="fr-FR"/>
          </a:p>
        </p:txBody>
      </p:sp>
    </p:spTree>
    <p:extLst>
      <p:ext uri="{BB962C8B-B14F-4D97-AF65-F5344CB8AC3E}">
        <p14:creationId xmlns:p14="http://schemas.microsoft.com/office/powerpoint/2010/main" val="975394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latin typeface="Times New Roman" panose="02020603050405020304" pitchFamily="18" charset="0"/>
                <a:ea typeface="Times New Roman" panose="02020603050405020304" pitchFamily="18" charset="0"/>
              </a:rPr>
              <a:t>IsoEnz=&gt;qui</a:t>
            </a:r>
            <a:r>
              <a:rPr lang="fr-FR" sz="1200" baseline="0" dirty="0" smtClean="0">
                <a:latin typeface="Times New Roman" panose="02020603050405020304" pitchFamily="18" charset="0"/>
                <a:ea typeface="Times New Roman" panose="02020603050405020304" pitchFamily="18" charset="0"/>
              </a:rPr>
              <a:t> catalyse la même réaction tissulaires mais ils ont des origines tissulaires différents (dans le </a:t>
            </a:r>
            <a:r>
              <a:rPr lang="fr-FR" sz="1200" baseline="0" dirty="0" err="1" smtClean="0">
                <a:latin typeface="Times New Roman" panose="02020603050405020304" pitchFamily="18" charset="0"/>
                <a:ea typeface="Times New Roman" panose="02020603050405020304" pitchFamily="18" charset="0"/>
              </a:rPr>
              <a:t>strcuture</a:t>
            </a:r>
            <a:r>
              <a:rPr lang="fr-FR" sz="1200" baseline="0" dirty="0" smtClean="0">
                <a:latin typeface="Times New Roman" panose="02020603050405020304" pitchFamily="18" charset="0"/>
                <a:ea typeface="Times New Roman" panose="02020603050405020304" pitchFamily="18" charset="0"/>
              </a:rPr>
              <a:t>)</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8</a:t>
            </a:fld>
            <a:endParaRPr lang="fr-FR"/>
          </a:p>
        </p:txBody>
      </p:sp>
    </p:spTree>
    <p:extLst>
      <p:ext uri="{BB962C8B-B14F-4D97-AF65-F5344CB8AC3E}">
        <p14:creationId xmlns:p14="http://schemas.microsoft.com/office/powerpoint/2010/main" val="3615437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latin typeface="Times New Roman" panose="02020603050405020304" pitchFamily="18" charset="0"/>
                <a:ea typeface="Times New Roman" panose="02020603050405020304" pitchFamily="18" charset="0"/>
              </a:rPr>
              <a:t>Soit par :</a:t>
            </a:r>
          </a:p>
          <a:p>
            <a:r>
              <a:rPr lang="fr-FR" sz="1200" dirty="0" smtClean="0">
                <a:latin typeface="Times New Roman" panose="02020603050405020304" pitchFamily="18" charset="0"/>
                <a:ea typeface="Times New Roman" panose="02020603050405020304" pitchFamily="18" charset="0"/>
              </a:rPr>
              <a:t>dP=&gt;vitesse de l’apparition de produite </a:t>
            </a:r>
          </a:p>
          <a:p>
            <a:r>
              <a:rPr lang="fr-FR" sz="1200" dirty="0" smtClean="0">
                <a:latin typeface="Times New Roman" panose="02020603050405020304" pitchFamily="18" charset="0"/>
              </a:rPr>
              <a:t>dS=&gt;vitesse</a:t>
            </a:r>
            <a:r>
              <a:rPr lang="fr-FR" sz="1200" baseline="0" dirty="0" smtClean="0">
                <a:latin typeface="Times New Roman" panose="02020603050405020304" pitchFamily="18" charset="0"/>
              </a:rPr>
              <a:t> de disparition du substrat</a:t>
            </a:r>
          </a:p>
          <a:p>
            <a:r>
              <a:rPr lang="fr-FR" sz="1200" baseline="0" dirty="0" smtClean="0">
                <a:latin typeface="Times New Roman" panose="02020603050405020304" pitchFamily="18" charset="0"/>
              </a:rPr>
              <a:t>T1 et T2 en prend tjr (en prend tjr en t1=&gt;30s t2=&gt;90s)</a:t>
            </a:r>
          </a:p>
          <a:p>
            <a:r>
              <a:rPr lang="fr-FR" sz="1200" baseline="0" dirty="0" err="1" smtClean="0">
                <a:latin typeface="Times New Roman" panose="02020603050405020304" pitchFamily="18" charset="0"/>
              </a:rPr>
              <a:t>dT</a:t>
            </a:r>
            <a:r>
              <a:rPr lang="fr-FR" sz="1200" baseline="0" dirty="0" smtClean="0">
                <a:latin typeface="Times New Roman" panose="02020603050405020304" pitchFamily="18" charset="0"/>
              </a:rPr>
              <a:t> est importante et spécifique des enzymes</a:t>
            </a:r>
          </a:p>
          <a:p>
            <a:endParaRPr lang="fr-FR" sz="1200" baseline="0" dirty="0" smtClean="0">
              <a:latin typeface="Times New Roman" panose="02020603050405020304" pitchFamily="18" charset="0"/>
            </a:endParaRPr>
          </a:p>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9</a:t>
            </a:fld>
            <a:endParaRPr lang="fr-FR"/>
          </a:p>
        </p:txBody>
      </p:sp>
    </p:spTree>
    <p:extLst>
      <p:ext uri="{BB962C8B-B14F-4D97-AF65-F5344CB8AC3E}">
        <p14:creationId xmlns:p14="http://schemas.microsoft.com/office/powerpoint/2010/main" val="346125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kumimoji="0" lang="en-US" altLang="fr-FR" sz="1200" b="1"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Anticoag=&gt;</a:t>
            </a:r>
            <a:r>
              <a:rPr lang="fr-FR" dirty="0" err="1" smtClean="0"/>
              <a:t>Héparinate</a:t>
            </a:r>
            <a:r>
              <a:rPr lang="fr-FR" dirty="0" smtClean="0"/>
              <a:t>(de</a:t>
            </a:r>
            <a:r>
              <a:rPr lang="fr-FR" baseline="0" dirty="0" smtClean="0"/>
              <a:t> sels ou de </a:t>
            </a:r>
            <a:r>
              <a:rPr lang="fr-FR" baseline="0" dirty="0" err="1" smtClean="0"/>
              <a:t>lituime</a:t>
            </a:r>
            <a:r>
              <a:rPr lang="fr-FR" baseline="0" dirty="0" smtClean="0"/>
              <a:t>) pour les enzymes</a:t>
            </a:r>
          </a:p>
          <a:p>
            <a:r>
              <a:rPr lang="fr-FR" baseline="0" dirty="0" smtClean="0"/>
              <a:t>Mais en peut le doser les enzymes sans ou avec les anticoagulante (a sérum ou plasma)</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10</a:t>
            </a:fld>
            <a:endParaRPr lang="fr-FR"/>
          </a:p>
        </p:txBody>
      </p:sp>
    </p:spTree>
    <p:extLst>
      <p:ext uri="{BB962C8B-B14F-4D97-AF65-F5344CB8AC3E}">
        <p14:creationId xmlns:p14="http://schemas.microsoft.com/office/powerpoint/2010/main" val="3261253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solidFill>
                  <a:schemeClr val="tx1"/>
                </a:solidFill>
                <a:latin typeface="Times New Roman" panose="02020603050405020304" pitchFamily="18" charset="0"/>
                <a:ea typeface="Times New Roman" panose="02020603050405020304" pitchFamily="18" charset="0"/>
              </a:rPr>
              <a:t>K</a:t>
            </a:r>
            <a:r>
              <a:rPr lang="fr-FR" sz="1050" dirty="0" smtClean="0">
                <a:solidFill>
                  <a:schemeClr val="tx1"/>
                </a:solidFill>
                <a:latin typeface="Times New Roman" panose="02020603050405020304" pitchFamily="18" charset="0"/>
                <a:ea typeface="Times New Roman" panose="02020603050405020304" pitchFamily="18" charset="0"/>
              </a:rPr>
              <a:t>m</a:t>
            </a:r>
            <a:r>
              <a:rPr lang="fr-FR" sz="1200" dirty="0" smtClean="0">
                <a:solidFill>
                  <a:schemeClr val="tx1"/>
                </a:solidFill>
                <a:latin typeface="Times New Roman" panose="02020603050405020304" pitchFamily="18" charset="0"/>
                <a:ea typeface="Times New Roman" panose="02020603050405020304" pitchFamily="18" charset="0"/>
              </a:rPr>
              <a:t>=&gt;</a:t>
            </a:r>
            <a:r>
              <a:rPr lang="fr-FR" sz="1200" b="1" i="0" kern="1200" dirty="0" smtClean="0">
                <a:solidFill>
                  <a:schemeClr val="tx1"/>
                </a:solidFill>
                <a:effectLst/>
                <a:latin typeface="+mn-lt"/>
                <a:ea typeface="+mn-ea"/>
                <a:cs typeface="+mn-cs"/>
              </a:rPr>
              <a:t>La constante de Michaelis</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11</a:t>
            </a:fld>
            <a:endParaRPr lang="fr-FR"/>
          </a:p>
        </p:txBody>
      </p:sp>
    </p:spTree>
    <p:extLst>
      <p:ext uri="{BB962C8B-B14F-4D97-AF65-F5344CB8AC3E}">
        <p14:creationId xmlns:p14="http://schemas.microsoft.com/office/powerpoint/2010/main" val="3049145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Enzyme</a:t>
            </a:r>
            <a:r>
              <a:rPr lang="fr-FR" baseline="0" dirty="0" smtClean="0"/>
              <a:t> plasmatique=&gt;qui agit au niveau plasmatique (en physiologique) et aussi doser</a:t>
            </a:r>
          </a:p>
          <a:p>
            <a:r>
              <a:rPr lang="fr-FR" baseline="0" dirty="0" smtClean="0"/>
              <a:t>Enzyme cellulaire=&gt; existe dans le plasma en faible dose mais ne fonction pas le plasmatique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13</a:t>
            </a:fld>
            <a:endParaRPr lang="fr-FR"/>
          </a:p>
        </p:txBody>
      </p:sp>
    </p:spTree>
    <p:extLst>
      <p:ext uri="{BB962C8B-B14F-4D97-AF65-F5344CB8AC3E}">
        <p14:creationId xmlns:p14="http://schemas.microsoft.com/office/powerpoint/2010/main" val="3850555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PLP=&gt;</a:t>
            </a:r>
            <a:r>
              <a:rPr lang="fr-FR" baseline="0" dirty="0" smtClean="0"/>
              <a:t> provient de vit B6 =&gt;carence en B6 =&gt;pas de PLP  =&gt;enzyme ne fonction pas=&gt;si en dose l'activité de l’enzyme =&gt;en note un baisse de l’activité de l’enzyme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14</a:t>
            </a:fld>
            <a:endParaRPr lang="fr-FR"/>
          </a:p>
        </p:txBody>
      </p:sp>
    </p:spTree>
    <p:extLst>
      <p:ext uri="{BB962C8B-B14F-4D97-AF65-F5344CB8AC3E}">
        <p14:creationId xmlns:p14="http://schemas.microsoft.com/office/powerpoint/2010/main" val="3271038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ctr"/>
            <a:r>
              <a:rPr lang="fr-FR" sz="1200" b="1" dirty="0" smtClean="0">
                <a:solidFill>
                  <a:schemeClr val="accent1"/>
                </a:solidFill>
              </a:rPr>
              <a:t>ASAT : Aspartate </a:t>
            </a:r>
            <a:r>
              <a:rPr lang="fr-FR" sz="1200" b="1" dirty="0" err="1" smtClean="0">
                <a:solidFill>
                  <a:schemeClr val="accent1"/>
                </a:solidFill>
              </a:rPr>
              <a:t>AminoTransférase</a:t>
            </a:r>
            <a:r>
              <a:rPr lang="fr-FR" sz="1200" b="1" dirty="0" smtClean="0">
                <a:solidFill>
                  <a:schemeClr val="accent1"/>
                </a:solidFill>
              </a:rPr>
              <a:t> =&gt; c’est de donneur qui est l’aspartate</a:t>
            </a:r>
          </a:p>
          <a:p>
            <a:pPr algn="ctr"/>
            <a:r>
              <a:rPr lang="fr-FR" sz="1200" b="1" dirty="0" smtClean="0">
                <a:solidFill>
                  <a:schemeClr val="accent1"/>
                </a:solidFill>
              </a:rPr>
              <a:t>TGO: Transaminase Glutamique Oxaloacétique =&gt; c’est ou</a:t>
            </a:r>
            <a:r>
              <a:rPr lang="fr-FR" sz="1200" b="1" baseline="0" dirty="0" smtClean="0">
                <a:solidFill>
                  <a:schemeClr val="accent1"/>
                </a:solidFill>
              </a:rPr>
              <a:t> les acides oxaloacétique et le glutamique qui sont les produits de ce R</a:t>
            </a:r>
            <a:endParaRPr lang="fr-FR" sz="1200" b="1" dirty="0" smtClean="0">
              <a:solidFill>
                <a:schemeClr val="accent1"/>
              </a:solidFill>
            </a:endParaRPr>
          </a:p>
          <a:p>
            <a:endParaRPr lang="fr-FR" dirty="0" smtClean="0"/>
          </a:p>
          <a:p>
            <a:r>
              <a:rPr lang="fr-FR" dirty="0" smtClean="0"/>
              <a:t>AMINOTRANSFERASE=&gt;on</a:t>
            </a:r>
            <a:r>
              <a:rPr lang="fr-FR" baseline="0" dirty="0" smtClean="0"/>
              <a:t> ajoute comme préfix l’acide aminé donneur </a:t>
            </a:r>
          </a:p>
          <a:p>
            <a:r>
              <a:rPr lang="fr-FR" baseline="0" dirty="0" smtClean="0"/>
              <a:t>TRANSAMINASE=&gt;on ajoute comme suffixe les produits (</a:t>
            </a:r>
            <a:r>
              <a:rPr lang="fr-FR" baseline="0" dirty="0" err="1" smtClean="0"/>
              <a:t>aa</a:t>
            </a:r>
            <a:r>
              <a:rPr lang="fr-FR" baseline="0" dirty="0" smtClean="0"/>
              <a:t> obtenu + le </a:t>
            </a:r>
            <a:r>
              <a:rPr lang="fr-FR" baseline="0" dirty="0" err="1" smtClean="0"/>
              <a:t>ac</a:t>
            </a:r>
            <a:r>
              <a:rPr lang="fr-FR" baseline="0" dirty="0" smtClean="0"/>
              <a:t> cétonique)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15</a:t>
            </a:fld>
            <a:endParaRPr lang="fr-FR"/>
          </a:p>
        </p:txBody>
      </p:sp>
    </p:spTree>
    <p:extLst>
      <p:ext uri="{BB962C8B-B14F-4D97-AF65-F5344CB8AC3E}">
        <p14:creationId xmlns:p14="http://schemas.microsoft.com/office/powerpoint/2010/main" val="2135477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Dans les deux réaction en obtenu</a:t>
            </a:r>
            <a:r>
              <a:rPr lang="fr-FR" baseline="0" dirty="0" smtClean="0"/>
              <a:t> le Glutamate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16</a:t>
            </a:fld>
            <a:endParaRPr lang="fr-FR"/>
          </a:p>
        </p:txBody>
      </p:sp>
    </p:spTree>
    <p:extLst>
      <p:ext uri="{BB962C8B-B14F-4D97-AF65-F5344CB8AC3E}">
        <p14:creationId xmlns:p14="http://schemas.microsoft.com/office/powerpoint/2010/main" val="27004336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-La répartition=&gt;les enzymes sont dans tout les tissu mais existe un prédominance</a:t>
            </a:r>
          </a:p>
          <a:p>
            <a:r>
              <a:rPr lang="fr-FR" dirty="0" smtClean="0"/>
              <a:t>-les iso-enzymes</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17</a:t>
            </a:fld>
            <a:endParaRPr lang="fr-FR"/>
          </a:p>
        </p:txBody>
      </p:sp>
    </p:spTree>
    <p:extLst>
      <p:ext uri="{BB962C8B-B14F-4D97-AF65-F5344CB8AC3E}">
        <p14:creationId xmlns:p14="http://schemas.microsoft.com/office/powerpoint/2010/main" val="3484600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Dépend de l'âge et sexe</a:t>
            </a:r>
            <a:r>
              <a:rPr lang="fr-FR" baseline="0" dirty="0" smtClean="0"/>
              <a:t> (il ne faut pas être plus que 50-55)</a:t>
            </a:r>
            <a:r>
              <a:rPr lang="fr-FR" dirty="0" smtClean="0"/>
              <a:t> </a:t>
            </a:r>
          </a:p>
          <a:p>
            <a:r>
              <a:rPr lang="fr-FR" dirty="0" smtClean="0"/>
              <a:t>Et c’est plus chez les hommes (c’est due +++ des muscles)</a:t>
            </a:r>
          </a:p>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18</a:t>
            </a:fld>
            <a:endParaRPr lang="fr-FR"/>
          </a:p>
        </p:txBody>
      </p:sp>
    </p:spTree>
    <p:extLst>
      <p:ext uri="{BB962C8B-B14F-4D97-AF65-F5344CB8AC3E}">
        <p14:creationId xmlns:p14="http://schemas.microsoft.com/office/powerpoint/2010/main" val="3359515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 dosage pour hémolyse c’est pas pratique perte de l’argent</a:t>
            </a:r>
            <a:r>
              <a:rPr lang="fr-FR" baseline="0" dirty="0" smtClean="0"/>
              <a:t> et temps </a:t>
            </a:r>
          </a:p>
          <a:p>
            <a:r>
              <a:rPr lang="fr-FR" baseline="0" dirty="0" smtClean="0"/>
              <a:t>Si y a augmentation +++ des plusieurs enzymes kaliémie ,,, donc en pense au hémolyse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20</a:t>
            </a:fld>
            <a:endParaRPr lang="fr-FR"/>
          </a:p>
        </p:txBody>
      </p:sp>
    </p:spTree>
    <p:extLst>
      <p:ext uri="{BB962C8B-B14F-4D97-AF65-F5344CB8AC3E}">
        <p14:creationId xmlns:p14="http://schemas.microsoft.com/office/powerpoint/2010/main" val="975605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Qui accompagne, coïncide avec (un autre fait).</a:t>
            </a:r>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22</a:t>
            </a:fld>
            <a:endParaRPr lang="fr-FR"/>
          </a:p>
        </p:txBody>
      </p:sp>
    </p:spTree>
    <p:extLst>
      <p:ext uri="{BB962C8B-B14F-4D97-AF65-F5344CB8AC3E}">
        <p14:creationId xmlns:p14="http://schemas.microsoft.com/office/powerpoint/2010/main" val="2865557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Hépatite aigu et chronique =&gt;</a:t>
            </a:r>
          </a:p>
          <a:p>
            <a:r>
              <a:rPr lang="fr-FR" sz="1200" b="0" i="0" kern="1200" dirty="0" smtClean="0">
                <a:solidFill>
                  <a:schemeClr val="tx1"/>
                </a:solidFill>
                <a:effectLst/>
                <a:latin typeface="+mn-lt"/>
                <a:ea typeface="+mn-ea"/>
                <a:cs typeface="+mn-cs"/>
              </a:rPr>
              <a:t>Hépatite</a:t>
            </a:r>
            <a:r>
              <a:rPr lang="fr-FR" sz="1200" b="0" i="0" kern="1200" baseline="0" dirty="0" smtClean="0">
                <a:solidFill>
                  <a:schemeClr val="tx1"/>
                </a:solidFill>
                <a:effectLst/>
                <a:latin typeface="+mn-lt"/>
                <a:ea typeface="+mn-ea"/>
                <a:cs typeface="+mn-cs"/>
              </a:rPr>
              <a:t> =&gt;inflammation du foie ///// aigu=&gt;brutale et due au agents virales (HVC/HVB) aussi au les médicaments (c’est le toxique) ou les produits toxique </a:t>
            </a:r>
          </a:p>
          <a:p>
            <a:r>
              <a:rPr lang="fr-FR" sz="1200" b="0" i="0" kern="1200" baseline="0" dirty="0" smtClean="0">
                <a:solidFill>
                  <a:schemeClr val="tx1"/>
                </a:solidFill>
                <a:effectLst/>
                <a:latin typeface="+mn-lt"/>
                <a:ea typeface="+mn-ea"/>
                <a:cs typeface="+mn-cs"/>
              </a:rPr>
              <a:t>Chronique=&gt;inflammation due foie qui dépasse 6 mois et les étiologies sont les même</a:t>
            </a:r>
          </a:p>
          <a:p>
            <a:r>
              <a:rPr lang="fr-FR" sz="1200" b="0" i="0" kern="1200" baseline="0" dirty="0" smtClean="0">
                <a:solidFill>
                  <a:schemeClr val="tx1"/>
                </a:solidFill>
                <a:effectLst/>
                <a:latin typeface="+mn-lt"/>
                <a:ea typeface="+mn-ea"/>
                <a:cs typeface="+mn-cs"/>
              </a:rPr>
              <a:t>Aussi dans les cirrhose /cancer /</a:t>
            </a:r>
            <a:r>
              <a:rPr lang="fr-FR" sz="1200" b="0" i="0" kern="1200" baseline="0" dirty="0" err="1" smtClean="0">
                <a:solidFill>
                  <a:schemeClr val="tx1"/>
                </a:solidFill>
                <a:effectLst/>
                <a:latin typeface="+mn-lt"/>
                <a:ea typeface="+mn-ea"/>
                <a:cs typeface="+mn-cs"/>
              </a:rPr>
              <a:t>cholécystie</a:t>
            </a:r>
            <a:r>
              <a:rPr lang="fr-FR" sz="1200" b="0" i="0" kern="1200" baseline="0" dirty="0" smtClean="0">
                <a:solidFill>
                  <a:schemeClr val="tx1"/>
                </a:solidFill>
                <a:effectLst/>
                <a:latin typeface="+mn-lt"/>
                <a:ea typeface="+mn-ea"/>
                <a:cs typeface="+mn-cs"/>
              </a:rPr>
              <a:t> donc tous pathologies hépatique  </a:t>
            </a:r>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23</a:t>
            </a:fld>
            <a:endParaRPr lang="fr-FR"/>
          </a:p>
        </p:txBody>
      </p:sp>
    </p:spTree>
    <p:extLst>
      <p:ext uri="{BB962C8B-B14F-4D97-AF65-F5344CB8AC3E}">
        <p14:creationId xmlns:p14="http://schemas.microsoft.com/office/powerpoint/2010/main" val="170236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50(VN)*150=7500 c’est le plus augmenter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24</a:t>
            </a:fld>
            <a:endParaRPr lang="fr-FR"/>
          </a:p>
        </p:txBody>
      </p:sp>
    </p:spTree>
    <p:extLst>
      <p:ext uri="{BB962C8B-B14F-4D97-AF65-F5344CB8AC3E}">
        <p14:creationId xmlns:p14="http://schemas.microsoft.com/office/powerpoint/2010/main" val="1172244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latin typeface="Times New Roman" panose="02020603050405020304" pitchFamily="18" charset="0"/>
                <a:ea typeface="Times New Roman" panose="02020603050405020304" pitchFamily="18" charset="0"/>
              </a:rPr>
              <a:t>rapport de </a:t>
            </a:r>
            <a:r>
              <a:rPr lang="fr-FR" sz="1200" dirty="0" err="1" smtClean="0">
                <a:latin typeface="Times New Roman" panose="02020603050405020304" pitchFamily="18" charset="0"/>
                <a:ea typeface="Times New Roman" panose="02020603050405020304" pitchFamily="18" charset="0"/>
              </a:rPr>
              <a:t>Ritis</a:t>
            </a:r>
            <a:r>
              <a:rPr lang="fr-FR" sz="1200" dirty="0" smtClean="0">
                <a:latin typeface="Times New Roman" panose="02020603050405020304" pitchFamily="18" charset="0"/>
                <a:ea typeface="Times New Roman" panose="02020603050405020304" pitchFamily="18" charset="0"/>
              </a:rPr>
              <a:t> =&gt; de </a:t>
            </a:r>
            <a:r>
              <a:rPr lang="fr-FR" sz="1200" dirty="0" err="1" smtClean="0">
                <a:latin typeface="Times New Roman" panose="02020603050405020304" pitchFamily="18" charset="0"/>
                <a:ea typeface="Times New Roman" panose="02020603050405020304" pitchFamily="18" charset="0"/>
              </a:rPr>
              <a:t>chronosité</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25</a:t>
            </a:fld>
            <a:endParaRPr lang="fr-FR"/>
          </a:p>
        </p:txBody>
      </p:sp>
    </p:spTree>
    <p:extLst>
      <p:ext uri="{BB962C8B-B14F-4D97-AF65-F5344CB8AC3E}">
        <p14:creationId xmlns:p14="http://schemas.microsoft.com/office/powerpoint/2010/main" val="3487380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latin typeface="Times New Roman" panose="02020603050405020304" pitchFamily="18" charset="0"/>
                <a:ea typeface="Times New Roman" panose="02020603050405020304" pitchFamily="18" charset="0"/>
              </a:rPr>
              <a:t>Stéatose=&gt;graisse</a:t>
            </a:r>
            <a:r>
              <a:rPr lang="fr-FR" sz="1200" baseline="0" dirty="0" smtClean="0">
                <a:latin typeface="Times New Roman" panose="02020603050405020304" pitchFamily="18" charset="0"/>
                <a:ea typeface="Times New Roman" panose="02020603050405020304" pitchFamily="18" charset="0"/>
              </a:rPr>
              <a:t> au niveau du foie qui il va blanchie qui un pathologie qui peut être induite par l’alcool puisque c’est très calorique ou non alcoolique qui due des patient obèses prennent plus du graisse et sucre =&gt;++++ des t</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26</a:t>
            </a:fld>
            <a:endParaRPr lang="fr-FR"/>
          </a:p>
        </p:txBody>
      </p:sp>
    </p:spTree>
    <p:extLst>
      <p:ext uri="{BB962C8B-B14F-4D97-AF65-F5344CB8AC3E}">
        <p14:creationId xmlns:p14="http://schemas.microsoft.com/office/powerpoint/2010/main" val="4150120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Avant</a:t>
            </a:r>
            <a:r>
              <a:rPr lang="fr-FR" baseline="0" dirty="0" smtClean="0"/>
              <a:t> les transaminases sont utiliser pour l’IDM mais en ces jours en utilise le troponine qui est ultrasensible</a:t>
            </a:r>
          </a:p>
          <a:p>
            <a:r>
              <a:rPr lang="fr-FR" sz="1200" dirty="0" smtClean="0">
                <a:latin typeface="Times New Roman" panose="02020603050405020304" pitchFamily="18" charset="0"/>
                <a:ea typeface="Times New Roman" panose="02020603050405020304" pitchFamily="18" charset="0"/>
              </a:rPr>
              <a:t>Hémochromatose=&gt;c’est surcharge</a:t>
            </a:r>
            <a:r>
              <a:rPr lang="fr-FR" sz="1200" baseline="0" dirty="0" smtClean="0">
                <a:latin typeface="Times New Roman" panose="02020603050405020304" pitchFamily="18" charset="0"/>
                <a:ea typeface="Times New Roman" panose="02020603050405020304" pitchFamily="18" charset="0"/>
              </a:rPr>
              <a:t> en</a:t>
            </a:r>
            <a:r>
              <a:rPr lang="fr-FR" sz="1200" dirty="0" smtClean="0">
                <a:latin typeface="Times New Roman" panose="02020603050405020304" pitchFamily="18" charset="0"/>
                <a:ea typeface="Times New Roman" panose="02020603050405020304" pitchFamily="18" charset="0"/>
              </a:rPr>
              <a:t> fer qui se dispose en les</a:t>
            </a:r>
            <a:r>
              <a:rPr lang="fr-FR" sz="1200" baseline="0" dirty="0" smtClean="0">
                <a:latin typeface="Times New Roman" panose="02020603050405020304" pitchFamily="18" charset="0"/>
                <a:ea typeface="Times New Roman" panose="02020603050405020304" pitchFamily="18" charset="0"/>
              </a:rPr>
              <a:t> différente tissu et notamment le foie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latin typeface="Times New Roman" panose="02020603050405020304" pitchFamily="18" charset="0"/>
                <a:ea typeface="Times New Roman" panose="02020603050405020304" pitchFamily="18" charset="0"/>
              </a:rPr>
              <a:t>Mala</a:t>
            </a:r>
            <a:r>
              <a:rPr lang="fr-FR" sz="1050" dirty="0" smtClean="0">
                <a:latin typeface="Times New Roman" panose="02020603050405020304" pitchFamily="18" charset="0"/>
                <a:ea typeface="Times New Roman" panose="02020603050405020304" pitchFamily="18" charset="0"/>
              </a:rPr>
              <a:t>die</a:t>
            </a:r>
            <a:r>
              <a:rPr lang="fr-FR" sz="1200" dirty="0" smtClean="0">
                <a:latin typeface="Times New Roman" panose="02020603050405020304" pitchFamily="18" charset="0"/>
                <a:ea typeface="Times New Roman" panose="02020603050405020304" pitchFamily="18" charset="0"/>
              </a:rPr>
              <a:t> de Wilson=&gt;//</a:t>
            </a:r>
            <a:r>
              <a:rPr lang="fr-FR" sz="1200" baseline="0" dirty="0" smtClean="0">
                <a:latin typeface="Times New Roman" panose="02020603050405020304" pitchFamily="18" charset="0"/>
                <a:ea typeface="Times New Roman" panose="02020603050405020304" pitchFamily="18" charset="0"/>
              </a:rPr>
              <a:t>/////////////////cuivre ///////////////////////////////////////////////////////////// et y a un signe clinique qui est anneau de kayser-fleischer au niveau de la rétine</a:t>
            </a:r>
            <a:endParaRPr lang="fr-FR" sz="1200" dirty="0" smtClean="0">
              <a:latin typeface="Times New Roman" panose="02020603050405020304" pitchFamily="18" charset="0"/>
              <a:ea typeface="Times New Roman" panose="02020603050405020304" pitchFamily="18" charset="0"/>
            </a:endParaRPr>
          </a:p>
          <a:p>
            <a:r>
              <a:rPr lang="fr-FR" sz="1200" dirty="0" smtClean="0">
                <a:latin typeface="Times New Roman" panose="02020603050405020304" pitchFamily="18" charset="0"/>
                <a:ea typeface="Times New Roman" panose="02020603050405020304" pitchFamily="18" charset="0"/>
              </a:rPr>
              <a:t>Diabète=&gt;généralement</a:t>
            </a:r>
            <a:r>
              <a:rPr lang="fr-FR" sz="1200" baseline="0" dirty="0" smtClean="0">
                <a:latin typeface="Times New Roman" panose="02020603050405020304" pitchFamily="18" charset="0"/>
                <a:ea typeface="Times New Roman" panose="02020603050405020304" pitchFamily="18" charset="0"/>
              </a:rPr>
              <a:t> un sujet obèse</a:t>
            </a:r>
          </a:p>
          <a:p>
            <a:r>
              <a:rPr lang="fr-FR" sz="1200" dirty="0" smtClean="0">
                <a:latin typeface="Times New Roman" panose="02020603050405020304" pitchFamily="18" charset="0"/>
                <a:ea typeface="Times New Roman" panose="02020603050405020304" pitchFamily="18" charset="0"/>
              </a:rPr>
              <a:t>déficit ɑ1 antitrypsine</a:t>
            </a:r>
            <a:r>
              <a:rPr lang="fr-FR" sz="1200" b="1" i="0" kern="1200" dirty="0" smtClean="0">
                <a:solidFill>
                  <a:schemeClr val="tx1"/>
                </a:solidFill>
                <a:effectLst/>
                <a:latin typeface="+mn-lt"/>
                <a:ea typeface="+mn-ea"/>
                <a:cs typeface="+mn-cs"/>
              </a:rPr>
              <a:t>=&gt;Elle affecte surtout les poumons mais peut aussi donner des atteintes du foie</a:t>
            </a:r>
          </a:p>
          <a:p>
            <a:endParaRPr lang="fr-FR" sz="1200" b="1" i="0" kern="1200" dirty="0" smtClean="0">
              <a:solidFill>
                <a:schemeClr val="tx1"/>
              </a:solidFill>
              <a:effectLst/>
              <a:latin typeface="+mn-lt"/>
              <a:ea typeface="+mn-ea"/>
              <a:cs typeface="+mn-cs"/>
            </a:endParaRPr>
          </a:p>
          <a:p>
            <a:endParaRPr lang="fr-FR" sz="1200" b="1" i="0" kern="1200" dirty="0" smtClean="0">
              <a:solidFill>
                <a:schemeClr val="tx1"/>
              </a:solidFill>
              <a:effectLst/>
              <a:latin typeface="+mn-lt"/>
              <a:ea typeface="+mn-ea"/>
              <a:cs typeface="+mn-cs"/>
            </a:endParaRPr>
          </a:p>
          <a:p>
            <a:r>
              <a:rPr lang="fr-FR" sz="1200" b="1" i="0" kern="1200" dirty="0" smtClean="0">
                <a:solidFill>
                  <a:schemeClr val="tx1"/>
                </a:solidFill>
                <a:effectLst/>
                <a:latin typeface="+mn-lt"/>
                <a:ea typeface="+mn-ea"/>
                <a:cs typeface="+mn-cs"/>
              </a:rPr>
              <a:t>1,11,11</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27</a:t>
            </a:fld>
            <a:endParaRPr lang="fr-FR"/>
          </a:p>
        </p:txBody>
      </p:sp>
    </p:spTree>
    <p:extLst>
      <p:ext uri="{BB962C8B-B14F-4D97-AF65-F5344CB8AC3E}">
        <p14:creationId xmlns:p14="http://schemas.microsoft.com/office/powerpoint/2010/main" val="21294013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29</a:t>
            </a:fld>
            <a:endParaRPr lang="fr-FR"/>
          </a:p>
        </p:txBody>
      </p:sp>
    </p:spTree>
    <p:extLst>
      <p:ext uri="{BB962C8B-B14F-4D97-AF65-F5344CB8AC3E}">
        <p14:creationId xmlns:p14="http://schemas.microsoft.com/office/powerpoint/2010/main" val="3250209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Y a aussi les phosphatase</a:t>
            </a:r>
            <a:r>
              <a:rPr lang="fr-FR" baseline="0" dirty="0" smtClean="0"/>
              <a:t> acide qui diriger le même réaction mais au milieux acide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30</a:t>
            </a:fld>
            <a:endParaRPr lang="fr-FR"/>
          </a:p>
        </p:txBody>
      </p:sp>
    </p:spTree>
    <p:extLst>
      <p:ext uri="{BB962C8B-B14F-4D97-AF65-F5344CB8AC3E}">
        <p14:creationId xmlns:p14="http://schemas.microsoft.com/office/powerpoint/2010/main" val="34294879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Os=&gt;</a:t>
            </a:r>
            <a:r>
              <a:rPr lang="fr-FR" baseline="0" dirty="0" smtClean="0"/>
              <a:t> c’est du tissu conjonctif qui subit un minéralisation par +Ca2+ et phosphate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31</a:t>
            </a:fld>
            <a:endParaRPr lang="fr-FR"/>
          </a:p>
        </p:txBody>
      </p:sp>
    </p:spTree>
    <p:extLst>
      <p:ext uri="{BB962C8B-B14F-4D97-AF65-F5344CB8AC3E}">
        <p14:creationId xmlns:p14="http://schemas.microsoft.com/office/powerpoint/2010/main" val="16897980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1" dirty="0" smtClean="0">
                <a:latin typeface="Times New Roman" panose="02020603050405020304" pitchFamily="18" charset="0"/>
                <a:ea typeface="Times New Roman" panose="02020603050405020304" pitchFamily="18" charset="0"/>
              </a:rPr>
              <a:t>Pour chaque enzyme il faut connaitre</a:t>
            </a:r>
            <a:r>
              <a:rPr lang="fr-FR" sz="1200" b="1" baseline="0" dirty="0" smtClean="0">
                <a:latin typeface="Times New Roman" panose="02020603050405020304" pitchFamily="18" charset="0"/>
                <a:ea typeface="Times New Roman" panose="02020603050405020304" pitchFamily="18" charset="0"/>
              </a:rPr>
              <a:t> la répartition </a:t>
            </a:r>
            <a:r>
              <a:rPr lang="fr-FR" sz="1200" b="1" dirty="0" smtClean="0">
                <a:latin typeface="Times New Roman" panose="02020603050405020304" pitchFamily="18" charset="0"/>
                <a:ea typeface="Times New Roman" panose="02020603050405020304" pitchFamily="18" charset="0"/>
              </a:rPr>
              <a:t>Tissulaire et aussi cellulaire</a:t>
            </a:r>
            <a:endParaRPr lang="fr-FR" dirty="0" smtClean="0"/>
          </a:p>
          <a:p>
            <a:r>
              <a:rPr lang="fr-FR" dirty="0" smtClean="0"/>
              <a:t>Donc +++ de PAL évoque</a:t>
            </a:r>
            <a:r>
              <a:rPr lang="fr-FR" baseline="0" dirty="0" smtClean="0"/>
              <a:t> un maladie hépatique ou osseuse</a:t>
            </a:r>
          </a:p>
          <a:p>
            <a:r>
              <a:rPr lang="fr-FR" baseline="0" dirty="0" smtClean="0"/>
              <a:t>Mais chez la femme est physiologique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32</a:t>
            </a:fld>
            <a:endParaRPr lang="fr-FR"/>
          </a:p>
        </p:txBody>
      </p:sp>
    </p:spTree>
    <p:extLst>
      <p:ext uri="{BB962C8B-B14F-4D97-AF65-F5344CB8AC3E}">
        <p14:creationId xmlns:p14="http://schemas.microsoft.com/office/powerpoint/2010/main" val="20972075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35</a:t>
            </a:fld>
            <a:endParaRPr lang="fr-FR"/>
          </a:p>
        </p:txBody>
      </p:sp>
    </p:spTree>
    <p:extLst>
      <p:ext uri="{BB962C8B-B14F-4D97-AF65-F5344CB8AC3E}">
        <p14:creationId xmlns:p14="http://schemas.microsoft.com/office/powerpoint/2010/main" val="4981514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Augmenter</a:t>
            </a:r>
            <a:r>
              <a:rPr lang="fr-FR" baseline="0" dirty="0" smtClean="0"/>
              <a:t> en fonction de l’origine tissulaire (isotopes)</a:t>
            </a:r>
          </a:p>
          <a:p>
            <a:r>
              <a:rPr lang="fr-FR" baseline="0" dirty="0" smtClean="0"/>
              <a:t>NB:</a:t>
            </a:r>
          </a:p>
          <a:p>
            <a:r>
              <a:rPr lang="fr-FR" sz="1200" b="1" i="0" kern="1200" dirty="0" smtClean="0">
                <a:solidFill>
                  <a:schemeClr val="tx1"/>
                </a:solidFill>
                <a:effectLst/>
                <a:latin typeface="+mn-lt"/>
                <a:ea typeface="+mn-ea"/>
                <a:cs typeface="+mn-cs"/>
              </a:rPr>
              <a:t>Le suffixe " -rrhée " est rattaché à des racines pour donner le sens de "écoulement liquide"</a:t>
            </a:r>
            <a:endParaRPr lang="fr-FR" baseline="0" dirty="0" smtClean="0"/>
          </a:p>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36</a:t>
            </a:fld>
            <a:endParaRPr lang="fr-FR"/>
          </a:p>
        </p:txBody>
      </p:sp>
    </p:spTree>
    <p:extLst>
      <p:ext uri="{BB962C8B-B14F-4D97-AF65-F5344CB8AC3E}">
        <p14:creationId xmlns:p14="http://schemas.microsoft.com/office/powerpoint/2010/main" val="14993791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latin typeface="Times New Roman" panose="02020603050405020304" pitchFamily="18" charset="0"/>
                <a:ea typeface="Times New Roman" panose="02020603050405020304" pitchFamily="18" charset="0"/>
              </a:rPr>
              <a:t>Maladie de Paget =&gt;</a:t>
            </a:r>
            <a:r>
              <a:rPr lang="fr-FR" sz="1200" b="1" i="0" kern="1200" dirty="0" smtClean="0">
                <a:solidFill>
                  <a:schemeClr val="tx1"/>
                </a:solidFill>
                <a:effectLst/>
                <a:latin typeface="+mn-lt"/>
                <a:ea typeface="+mn-ea"/>
                <a:cs typeface="+mn-cs"/>
              </a:rPr>
              <a:t>se caractérise par une réparation osseuse anormalement rapide, ce qui peut occasionner l'affaiblissement et une croissance excessive des os et c’est le seul maladie osseuse</a:t>
            </a:r>
            <a:r>
              <a:rPr lang="fr-FR" sz="1200" b="1" i="0" kern="1200" baseline="0" dirty="0" smtClean="0">
                <a:solidFill>
                  <a:schemeClr val="tx1"/>
                </a:solidFill>
                <a:effectLst/>
                <a:latin typeface="+mn-lt"/>
                <a:ea typeface="+mn-ea"/>
                <a:cs typeface="+mn-cs"/>
              </a:rPr>
              <a:t> qui a un élévation importante de PAL (10 fois du normal)</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39</a:t>
            </a:fld>
            <a:endParaRPr lang="fr-FR"/>
          </a:p>
        </p:txBody>
      </p:sp>
    </p:spTree>
    <p:extLst>
      <p:ext uri="{BB962C8B-B14F-4D97-AF65-F5344CB8AC3E}">
        <p14:creationId xmlns:p14="http://schemas.microsoft.com/office/powerpoint/2010/main" val="39376528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En</a:t>
            </a:r>
            <a:r>
              <a:rPr lang="fr-FR" baseline="0" dirty="0" smtClean="0"/>
              <a:t> biologie en conclure qui y a un stase mais en ne c’est pas si elle extra ou intra donc il faut fait un écho – IRM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41</a:t>
            </a:fld>
            <a:endParaRPr lang="fr-FR"/>
          </a:p>
        </p:txBody>
      </p:sp>
    </p:spTree>
    <p:extLst>
      <p:ext uri="{BB962C8B-B14F-4D97-AF65-F5344CB8AC3E}">
        <p14:creationId xmlns:p14="http://schemas.microsoft.com/office/powerpoint/2010/main" val="27482395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 </a:t>
            </a:r>
            <a:r>
              <a:rPr lang="fr-FR" dirty="0" err="1" smtClean="0"/>
              <a:t>mtjibch</a:t>
            </a:r>
            <a:r>
              <a:rPr lang="fr-FR" dirty="0" smtClean="0"/>
              <a:t> </a:t>
            </a:r>
            <a:r>
              <a:rPr lang="fr-FR" dirty="0" err="1" smtClean="0"/>
              <a:t>alih</a:t>
            </a:r>
            <a:endParaRPr lang="fr-FR" dirty="0" smtClean="0"/>
          </a:p>
          <a:p>
            <a:endParaRPr lang="fr-FR" dirty="0" smtClean="0"/>
          </a:p>
          <a:p>
            <a:r>
              <a:rPr lang="fr-FR" dirty="0" smtClean="0"/>
              <a:t>A l'examen=&gt; </a:t>
            </a:r>
            <a:r>
              <a:rPr lang="fr-FR" dirty="0" err="1" smtClean="0"/>
              <a:t>tjib</a:t>
            </a:r>
            <a:r>
              <a:rPr lang="fr-FR" dirty="0" smtClean="0"/>
              <a:t> l'intérêt de enzyme</a:t>
            </a:r>
            <a:r>
              <a:rPr lang="fr-FR" baseline="0" dirty="0" smtClean="0"/>
              <a:t> (augmentation et la maladie li </a:t>
            </a:r>
            <a:r>
              <a:rPr lang="fr-FR" baseline="0" dirty="0" err="1" smtClean="0"/>
              <a:t>ykon</a:t>
            </a:r>
            <a:r>
              <a:rPr lang="fr-FR" baseline="0" dirty="0" smtClean="0"/>
              <a:t> </a:t>
            </a:r>
            <a:r>
              <a:rPr lang="fr-FR" baseline="0" dirty="0" err="1" smtClean="0"/>
              <a:t>fiha</a:t>
            </a:r>
            <a:r>
              <a:rPr lang="fr-FR" baseline="0" dirty="0" smtClean="0"/>
              <a:t>) et dans quelle situation en </a:t>
            </a:r>
            <a:r>
              <a:rPr lang="fr-FR" baseline="0" dirty="0" err="1" smtClean="0"/>
              <a:t>préscrire</a:t>
            </a:r>
            <a:r>
              <a:rPr lang="fr-FR" baseline="0" dirty="0" smtClean="0"/>
              <a:t> ( par ex transaminases =&gt; maladie hépatique et puis cardiaque)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44</a:t>
            </a:fld>
            <a:endParaRPr lang="fr-FR"/>
          </a:p>
        </p:txBody>
      </p:sp>
    </p:spTree>
    <p:extLst>
      <p:ext uri="{BB962C8B-B14F-4D97-AF65-F5344CB8AC3E}">
        <p14:creationId xmlns:p14="http://schemas.microsoft.com/office/powerpoint/2010/main" val="28366335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smtClean="0"/>
              <a:t>Glutathion=&gt; lorsque c’est de forme réduite il mentionné comme le GSH=&gt; puisque c’est un tri peptide comporte l’acide glutamique (y-</a:t>
            </a:r>
            <a:r>
              <a:rPr lang="fr-FR" baseline="0" dirty="0" err="1" smtClean="0"/>
              <a:t>Glutamyl</a:t>
            </a:r>
            <a:r>
              <a:rPr lang="fr-FR" baseline="0" dirty="0" smtClean="0"/>
              <a:t>) + cystéine (qui comporte le SH (sulfate et hydrogène)) + glycine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smtClean="0"/>
              <a:t>Et lorsque il est oxydé il fait un pont disulfure avec un autre glutathion (entre SH-SH des cystéine) et devient GGSS donc y a plus de H (S-S)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smtClean="0"/>
              <a:t>Dans le 2éme réaction y a un clive de GSH en </a:t>
            </a:r>
            <a:r>
              <a:rPr lang="fr-FR" baseline="0" dirty="0" err="1" smtClean="0"/>
              <a:t>cys-gly</a:t>
            </a:r>
            <a:r>
              <a:rPr lang="fr-FR" baseline="0" dirty="0" smtClean="0"/>
              <a:t> et acide glutamique et transfert du </a:t>
            </a:r>
            <a:r>
              <a:rPr lang="fr-FR" baseline="0" dirty="0" err="1" smtClean="0"/>
              <a:t>glutamyl</a:t>
            </a:r>
            <a:r>
              <a:rPr lang="fr-FR" baseline="0" dirty="0" smtClean="0"/>
              <a:t> sur Aa</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45</a:t>
            </a:fld>
            <a:endParaRPr lang="fr-FR"/>
          </a:p>
        </p:txBody>
      </p:sp>
    </p:spTree>
    <p:extLst>
      <p:ext uri="{BB962C8B-B14F-4D97-AF65-F5344CB8AC3E}">
        <p14:creationId xmlns:p14="http://schemas.microsoft.com/office/powerpoint/2010/main" val="28319647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 augmentation dans prise d’alcool c’est pour ça que une moyen de suivi des patients qui ont des intoxications par alcool en n’est pas capable de fait la suivance 24 Hr du patient mais en peut le doser si le sujet</a:t>
            </a:r>
            <a:r>
              <a:rPr lang="fr-FR" baseline="0" dirty="0" smtClean="0"/>
              <a:t> </a:t>
            </a:r>
            <a:r>
              <a:rPr lang="fr-FR" dirty="0" smtClean="0"/>
              <a:t>n'arrête</a:t>
            </a:r>
            <a:r>
              <a:rPr lang="fr-FR" baseline="0" dirty="0" smtClean="0"/>
              <a:t> pas de prend</a:t>
            </a:r>
            <a:r>
              <a:rPr lang="fr-FR" dirty="0" smtClean="0"/>
              <a:t> l’alcool =&gt; en trouvent augmentions dans γGT et</a:t>
            </a:r>
            <a:r>
              <a:rPr lang="fr-FR" baseline="0" dirty="0" smtClean="0"/>
              <a:t> si pas en le trouver diminuer et le </a:t>
            </a:r>
            <a:r>
              <a:rPr lang="fr-FR" sz="1200" b="1" dirty="0" smtClean="0">
                <a:solidFill>
                  <a:srgbClr val="FF0000"/>
                </a:solidFill>
                <a:latin typeface="Times New Roman" panose="02020603050405020304" pitchFamily="18" charset="0"/>
                <a:ea typeface="Times New Roman" panose="02020603050405020304" pitchFamily="18" charset="0"/>
              </a:rPr>
              <a:t>Valeur devient</a:t>
            </a:r>
            <a:r>
              <a:rPr lang="fr-FR" sz="1200" b="1" baseline="0" dirty="0" smtClean="0">
                <a:solidFill>
                  <a:srgbClr val="FF0000"/>
                </a:solidFill>
                <a:latin typeface="Times New Roman" panose="02020603050405020304" pitchFamily="18" charset="0"/>
                <a:ea typeface="Times New Roman" panose="02020603050405020304" pitchFamily="18" charset="0"/>
              </a:rPr>
              <a:t> n</a:t>
            </a:r>
            <a:r>
              <a:rPr lang="fr-FR" sz="1200" b="1" dirty="0" smtClean="0">
                <a:solidFill>
                  <a:srgbClr val="FF0000"/>
                </a:solidFill>
                <a:latin typeface="Times New Roman" panose="02020603050405020304" pitchFamily="18" charset="0"/>
                <a:ea typeface="Times New Roman" panose="02020603050405020304" pitchFamily="18" charset="0"/>
              </a:rPr>
              <a:t>ormal après sevrage</a:t>
            </a:r>
            <a:endParaRPr lang="fr-FR" baseline="0" dirty="0" smtClean="0"/>
          </a:p>
          <a:p>
            <a:r>
              <a:rPr lang="fr-FR" baseline="0" dirty="0" smtClean="0"/>
              <a:t>----------------------------------------</a:t>
            </a:r>
          </a:p>
          <a:p>
            <a:r>
              <a:rPr lang="fr-FR" baseline="0" dirty="0" smtClean="0"/>
              <a:t>En suive le sevrage du malade en les centre de intoxications alcoolique (</a:t>
            </a:r>
            <a:r>
              <a:rPr lang="fr-FR" baseline="0" dirty="0" err="1" smtClean="0"/>
              <a:t>mkach</a:t>
            </a:r>
            <a:r>
              <a:rPr lang="fr-FR" baseline="0" dirty="0" smtClean="0"/>
              <a:t> </a:t>
            </a:r>
            <a:r>
              <a:rPr lang="fr-FR" baseline="0" dirty="0" err="1" smtClean="0"/>
              <a:t>fdzair</a:t>
            </a:r>
            <a:r>
              <a:rPr lang="fr-FR" baseline="0" dirty="0" smtClean="0"/>
              <a:t>)</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47</a:t>
            </a:fld>
            <a:endParaRPr lang="fr-FR"/>
          </a:p>
        </p:txBody>
      </p:sp>
    </p:spTree>
    <p:extLst>
      <p:ext uri="{BB962C8B-B14F-4D97-AF65-F5344CB8AC3E}">
        <p14:creationId xmlns:p14="http://schemas.microsoft.com/office/powerpoint/2010/main" val="18836104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aseline="0" dirty="0" smtClean="0"/>
              <a:t>+++yGP et PAL ensemble=&gt;</a:t>
            </a:r>
            <a:r>
              <a:rPr lang="fr-FR" dirty="0" smtClean="0"/>
              <a:t>Devant tout c’est</a:t>
            </a:r>
            <a:r>
              <a:rPr lang="fr-FR" baseline="0" dirty="0" smtClean="0"/>
              <a:t> cholestase=&gt;</a:t>
            </a:r>
          </a:p>
          <a:p>
            <a:r>
              <a:rPr lang="fr-FR" baseline="0" dirty="0" smtClean="0"/>
              <a:t>+++yGP isolée=&gt;probablement c’est d’origine alcoolique </a:t>
            </a:r>
          </a:p>
          <a:p>
            <a:r>
              <a:rPr lang="fr-FR" baseline="0" dirty="0" smtClean="0"/>
              <a:t>=&gt;c’est pour ça il faut associe le dosage des enzymes (bilan) qui va oriente vers un maladie seul et éliminer les autres</a:t>
            </a:r>
          </a:p>
          <a:p>
            <a:r>
              <a:rPr lang="fr-FR" baseline="0" dirty="0" smtClean="0"/>
              <a:t>----------------------------------------------------------------</a:t>
            </a:r>
          </a:p>
          <a:p>
            <a:r>
              <a:rPr lang="fr-FR" baseline="0" dirty="0" smtClean="0"/>
              <a:t>Le bilan hépatique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1-</a:t>
            </a:r>
            <a:r>
              <a:rPr lang="fr-FR" sz="1200" b="1" dirty="0" smtClean="0">
                <a:solidFill>
                  <a:schemeClr val="tx1"/>
                </a:solidFill>
                <a:latin typeface="Times New Roman" panose="02020603050405020304" pitchFamily="18" charset="0"/>
                <a:ea typeface="Times New Roman" panose="02020603050405020304" pitchFamily="18" charset="0"/>
              </a:rPr>
              <a:t>ASAT</a:t>
            </a:r>
            <a:endParaRPr lang="fr-FR"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2-</a:t>
            </a:r>
            <a:r>
              <a:rPr lang="fr-FR" sz="1200" b="1" dirty="0" smtClean="0">
                <a:solidFill>
                  <a:schemeClr val="tx1"/>
                </a:solidFill>
                <a:latin typeface="Times New Roman" panose="02020603050405020304" pitchFamily="18" charset="0"/>
                <a:ea typeface="Times New Roman" panose="02020603050405020304" pitchFamily="18" charset="0"/>
              </a:rPr>
              <a:t>ALAT</a:t>
            </a:r>
            <a:endParaRPr lang="fr-FR" dirty="0" smtClean="0"/>
          </a:p>
          <a:p>
            <a:r>
              <a:rPr lang="fr-FR" dirty="0" smtClean="0"/>
              <a:t>3-</a:t>
            </a:r>
            <a:r>
              <a:rPr lang="fr-FR" sz="1200" b="1" dirty="0" smtClean="0">
                <a:latin typeface="Times New Roman" panose="02020603050405020304" pitchFamily="18" charset="0"/>
                <a:ea typeface="Times New Roman" panose="02020603050405020304" pitchFamily="18" charset="0"/>
              </a:rPr>
              <a:t>γGT </a:t>
            </a:r>
            <a:endParaRPr lang="fr-FR" dirty="0" smtClean="0"/>
          </a:p>
          <a:p>
            <a:r>
              <a:rPr lang="fr-FR" dirty="0" smtClean="0"/>
              <a:t>4-</a:t>
            </a:r>
            <a:r>
              <a:rPr lang="fr-FR" sz="1200" b="1" dirty="0" smtClean="0">
                <a:latin typeface="Times New Roman" panose="02020603050405020304" pitchFamily="18" charset="0"/>
                <a:ea typeface="Times New Roman" panose="02020603050405020304" pitchFamily="18" charset="0"/>
              </a:rPr>
              <a:t>PAL</a:t>
            </a:r>
          </a:p>
          <a:p>
            <a:r>
              <a:rPr lang="fr-FR" sz="1200" b="1" dirty="0" smtClean="0">
                <a:latin typeface="Times New Roman" panose="02020603050405020304" pitchFamily="18" charset="0"/>
              </a:rPr>
              <a:t>+</a:t>
            </a:r>
            <a:r>
              <a:rPr lang="fr-FR" sz="1200" b="1" baseline="0" dirty="0" smtClean="0">
                <a:latin typeface="Times New Roman" panose="02020603050405020304" pitchFamily="18" charset="0"/>
              </a:rPr>
              <a:t> Le bilirubine conjuguée et non conjuguée</a:t>
            </a:r>
          </a:p>
          <a:p>
            <a:r>
              <a:rPr lang="fr-FR" sz="1200" b="1" baseline="0" dirty="0" smtClean="0">
                <a:latin typeface="Times New Roman" panose="02020603050405020304" pitchFamily="18" charset="0"/>
              </a:rPr>
              <a:t>-----------------------------------------------------------------</a:t>
            </a:r>
          </a:p>
          <a:p>
            <a:r>
              <a:rPr lang="fr-FR" sz="1200" b="1" dirty="0" smtClean="0">
                <a:latin typeface="Times New Roman" panose="02020603050405020304" pitchFamily="18" charset="0"/>
                <a:ea typeface="Times New Roman" panose="02020603050405020304" pitchFamily="18" charset="0"/>
              </a:rPr>
              <a:t>Cirrhose </a:t>
            </a:r>
            <a:r>
              <a:rPr lang="fr-FR" sz="1200" b="1" dirty="0" smtClean="0">
                <a:solidFill>
                  <a:srgbClr val="FF0000"/>
                </a:solidFill>
                <a:latin typeface="Times New Roman" panose="02020603050405020304" pitchFamily="18" charset="0"/>
                <a:ea typeface="Times New Roman" panose="02020603050405020304" pitchFamily="18" charset="0"/>
              </a:rPr>
              <a:t>alcoolique</a:t>
            </a:r>
            <a:r>
              <a:rPr lang="fr-FR" sz="1200" b="1" dirty="0" smtClean="0">
                <a:latin typeface="Times New Roman" panose="02020603050405020304" pitchFamily="18" charset="0"/>
                <a:ea typeface="Times New Roman" panose="02020603050405020304" pitchFamily="18" charset="0"/>
              </a:rPr>
              <a:t> =&gt; </a:t>
            </a:r>
            <a:r>
              <a:rPr lang="fr-FR" sz="1200" b="1" baseline="0" dirty="0" smtClean="0">
                <a:latin typeface="Times New Roman" panose="02020603050405020304" pitchFamily="18" charset="0"/>
                <a:ea typeface="Times New Roman" panose="02020603050405020304" pitchFamily="18" charset="0"/>
              </a:rPr>
              <a:t> prise chronique du alcool qui va fait </a:t>
            </a:r>
            <a:r>
              <a:rPr lang="fr-FR" sz="1200" b="1" dirty="0" smtClean="0">
                <a:latin typeface="Times New Roman" panose="02020603050405020304" pitchFamily="18" charset="0"/>
                <a:ea typeface="Times New Roman" panose="02020603050405020304" pitchFamily="18" charset="0"/>
              </a:rPr>
              <a:t>inflammation</a:t>
            </a:r>
            <a:r>
              <a:rPr lang="fr-FR" sz="1200" b="1" baseline="0" dirty="0" smtClean="0">
                <a:latin typeface="Times New Roman" panose="02020603050405020304" pitchFamily="18" charset="0"/>
                <a:ea typeface="Times New Roman" panose="02020603050405020304" pitchFamily="18" charset="0"/>
              </a:rPr>
              <a:t> du foie et ça inflammation </a:t>
            </a:r>
          </a:p>
          <a:p>
            <a:r>
              <a:rPr lang="fr-FR" sz="1200" b="1" baseline="0" dirty="0" smtClean="0">
                <a:latin typeface="Times New Roman" panose="02020603050405020304" pitchFamily="18" charset="0"/>
              </a:rPr>
              <a:t>Le stade final </a:t>
            </a:r>
            <a:r>
              <a:rPr lang="fr-FR" sz="1200" b="1" baseline="0" dirty="0" err="1" smtClean="0">
                <a:latin typeface="Times New Roman" panose="02020603050405020304" pitchFamily="18" charset="0"/>
              </a:rPr>
              <a:t>dyalha</a:t>
            </a:r>
            <a:r>
              <a:rPr lang="fr-FR" sz="1200" b="1" baseline="0" dirty="0" smtClean="0">
                <a:latin typeface="Times New Roman" panose="02020603050405020304" pitchFamily="18" charset="0"/>
              </a:rPr>
              <a:t> c’est le cirrhose (</a:t>
            </a:r>
            <a:r>
              <a:rPr lang="fr-FR" sz="1200" b="1" baseline="0" dirty="0" err="1" smtClean="0">
                <a:latin typeface="Times New Roman" panose="02020603050405020304" pitchFamily="18" charset="0"/>
              </a:rPr>
              <a:t>sobhana</a:t>
            </a:r>
            <a:r>
              <a:rPr lang="fr-FR" sz="1200" b="1" baseline="0" dirty="0" smtClean="0">
                <a:latin typeface="Times New Roman" panose="02020603050405020304" pitchFamily="18" charset="0"/>
              </a:rPr>
              <a:t> </a:t>
            </a:r>
            <a:r>
              <a:rPr lang="fr-FR" sz="1200" b="1" baseline="0" dirty="0" err="1" smtClean="0">
                <a:latin typeface="Times New Roman" panose="02020603050405020304" pitchFamily="18" charset="0"/>
              </a:rPr>
              <a:t>lah</a:t>
            </a:r>
            <a:r>
              <a:rPr lang="fr-FR" sz="1200" b="1" baseline="0" dirty="0" smtClean="0">
                <a:latin typeface="Times New Roman" panose="02020603050405020304" pitchFamily="18" charset="0"/>
              </a:rPr>
              <a:t> 3biha </a:t>
            </a:r>
            <a:r>
              <a:rPr lang="fr-FR" sz="1200" b="1" baseline="0" dirty="0" err="1" smtClean="0">
                <a:latin typeface="Times New Roman" panose="02020603050405020304" pitchFamily="18" charset="0"/>
              </a:rPr>
              <a:t>skra</a:t>
            </a:r>
            <a:r>
              <a:rPr lang="fr-FR" sz="1200" b="1" baseline="0" dirty="0" smtClean="0">
                <a:latin typeface="Times New Roman" panose="02020603050405020304" pitchFamily="18" charset="0"/>
              </a:rPr>
              <a:t> 7ram) dans ce cas soit un transplantation soit il va décès ( f </a:t>
            </a:r>
            <a:r>
              <a:rPr lang="fr-FR" sz="1200" b="1" baseline="0" dirty="0" err="1" smtClean="0">
                <a:latin typeface="Times New Roman" panose="02020603050405020304" pitchFamily="18" charset="0"/>
              </a:rPr>
              <a:t>Dzair</a:t>
            </a:r>
            <a:r>
              <a:rPr lang="fr-FR" sz="1200" b="1" baseline="0" dirty="0" smtClean="0">
                <a:latin typeface="Times New Roman" panose="02020603050405020304" pitchFamily="18" charset="0"/>
              </a:rPr>
              <a:t> </a:t>
            </a:r>
            <a:r>
              <a:rPr lang="fr-FR" sz="1200" b="1" baseline="0" dirty="0" err="1" smtClean="0">
                <a:latin typeface="Times New Roman" panose="02020603050405020304" pitchFamily="18" charset="0"/>
              </a:rPr>
              <a:t>mkach</a:t>
            </a:r>
            <a:r>
              <a:rPr lang="fr-FR" sz="1200" b="1" baseline="0" dirty="0" smtClean="0">
                <a:latin typeface="Times New Roman" panose="02020603050405020304" pitchFamily="18" charset="0"/>
              </a:rPr>
              <a:t> donc GG </a:t>
            </a:r>
            <a:r>
              <a:rPr lang="fr-FR" sz="1200" b="1" baseline="0" dirty="0" err="1" smtClean="0">
                <a:latin typeface="Times New Roman" panose="02020603050405020304" pitchFamily="18" charset="0"/>
              </a:rPr>
              <a:t>hhhh</a:t>
            </a:r>
            <a:r>
              <a:rPr lang="fr-FR" sz="1200" b="1" baseline="0" dirty="0" smtClean="0">
                <a:latin typeface="Times New Roman" panose="02020603050405020304" pitchFamily="18" charset="0"/>
              </a:rPr>
              <a:t>)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48</a:t>
            </a:fld>
            <a:endParaRPr lang="fr-FR"/>
          </a:p>
        </p:txBody>
      </p:sp>
    </p:spTree>
    <p:extLst>
      <p:ext uri="{BB962C8B-B14F-4D97-AF65-F5344CB8AC3E}">
        <p14:creationId xmlns:p14="http://schemas.microsoft.com/office/powerpoint/2010/main" val="2108261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Généralement</a:t>
            </a:r>
            <a:r>
              <a:rPr lang="fr-FR" baseline="0" dirty="0" smtClean="0"/>
              <a:t> sont des médicaments </a:t>
            </a:r>
            <a:r>
              <a:rPr lang="fr-FR" baseline="0" dirty="0" err="1" smtClean="0"/>
              <a:t>hépato-toxiques</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49</a:t>
            </a:fld>
            <a:endParaRPr lang="fr-FR"/>
          </a:p>
        </p:txBody>
      </p:sp>
    </p:spTree>
    <p:extLst>
      <p:ext uri="{BB962C8B-B14F-4D97-AF65-F5344CB8AC3E}">
        <p14:creationId xmlns:p14="http://schemas.microsoft.com/office/powerpoint/2010/main" val="9508015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50</a:t>
            </a:fld>
            <a:endParaRPr lang="fr-FR"/>
          </a:p>
        </p:txBody>
      </p:sp>
    </p:spTree>
    <p:extLst>
      <p:ext uri="{BB962C8B-B14F-4D97-AF65-F5344CB8AC3E}">
        <p14:creationId xmlns:p14="http://schemas.microsoft.com/office/powerpoint/2010/main" val="18760583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Parfois</a:t>
            </a:r>
            <a:r>
              <a:rPr lang="fr-FR" baseline="0" dirty="0" smtClean="0"/>
              <a:t> en associe le dosage du lipase et amylase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51</a:t>
            </a:fld>
            <a:endParaRPr lang="fr-FR"/>
          </a:p>
        </p:txBody>
      </p:sp>
    </p:spTree>
    <p:extLst>
      <p:ext uri="{BB962C8B-B14F-4D97-AF65-F5344CB8AC3E}">
        <p14:creationId xmlns:p14="http://schemas.microsoft.com/office/powerpoint/2010/main" val="16447786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Aussi l’amylase est pas spécifique si</a:t>
            </a:r>
            <a:r>
              <a:rPr lang="fr-FR" baseline="0" dirty="0" smtClean="0"/>
              <a:t> on dose uniquement sans lipase et en retrouve +++ donc y a du atteinte du pancréas ou du glandes salivaires donc en assiste (vers l’écho et les autres EC)</a:t>
            </a:r>
          </a:p>
          <a:p>
            <a:endParaRPr lang="fr-FR" baseline="0" dirty="0" smtClean="0"/>
          </a:p>
          <a:p>
            <a:r>
              <a:rPr lang="fr-FR" sz="1200" b="1" dirty="0" smtClean="0">
                <a:latin typeface="Times New Roman" panose="02020603050405020304" pitchFamily="18" charset="0"/>
                <a:ea typeface="Times New Roman" panose="02020603050405020304" pitchFamily="18" charset="0"/>
              </a:rPr>
              <a:t>l’amidon</a:t>
            </a:r>
            <a:r>
              <a:rPr lang="fr-FR" sz="1200" dirty="0" smtClean="0">
                <a:latin typeface="Times New Roman" panose="02020603050405020304" pitchFamily="18" charset="0"/>
                <a:ea typeface="Times New Roman" panose="02020603050405020304" pitchFamily="18" charset="0"/>
              </a:rPr>
              <a:t> =&gt;glucose</a:t>
            </a:r>
            <a:r>
              <a:rPr lang="fr-FR" sz="1200" baseline="0" dirty="0" smtClean="0">
                <a:latin typeface="Times New Roman" panose="02020603050405020304" pitchFamily="18" charset="0"/>
                <a:ea typeface="Times New Roman" panose="02020603050405020304" pitchFamily="18" charset="0"/>
              </a:rPr>
              <a:t> complexe </a:t>
            </a:r>
            <a:r>
              <a:rPr lang="fr-FR" sz="1200" dirty="0" smtClean="0">
                <a:latin typeface="Times New Roman" panose="02020603050405020304" pitchFamily="18" charset="0"/>
                <a:ea typeface="Times New Roman" panose="02020603050405020304" pitchFamily="18" charset="0"/>
              </a:rPr>
              <a:t>végétale</a:t>
            </a:r>
          </a:p>
          <a:p>
            <a:r>
              <a:rPr lang="fr-FR" sz="1200" b="1" dirty="0" smtClean="0">
                <a:latin typeface="Times New Roman" panose="02020603050405020304" pitchFamily="18" charset="0"/>
                <a:ea typeface="Times New Roman" panose="02020603050405020304" pitchFamily="18" charset="0"/>
              </a:rPr>
              <a:t>Glycogène</a:t>
            </a:r>
            <a:r>
              <a:rPr lang="fr-FR" sz="1200" dirty="0" smtClean="0">
                <a:latin typeface="Times New Roman" panose="02020603050405020304" pitchFamily="18" charset="0"/>
                <a:ea typeface="Times New Roman" panose="02020603050405020304" pitchFamily="18" charset="0"/>
              </a:rPr>
              <a:t>=&gt;complexe</a:t>
            </a:r>
            <a:r>
              <a:rPr lang="fr-FR" sz="1200" baseline="0" dirty="0" smtClean="0">
                <a:latin typeface="Times New Roman" panose="02020603050405020304" pitchFamily="18" charset="0"/>
                <a:ea typeface="Times New Roman" panose="02020603050405020304" pitchFamily="18" charset="0"/>
              </a:rPr>
              <a:t> </a:t>
            </a:r>
            <a:r>
              <a:rPr lang="fr-FR" sz="1200" dirty="0" smtClean="0">
                <a:latin typeface="Times New Roman" panose="02020603050405020304" pitchFamily="18" charset="0"/>
                <a:ea typeface="Times New Roman" panose="02020603050405020304" pitchFamily="18" charset="0"/>
              </a:rPr>
              <a:t>animales</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52</a:t>
            </a:fld>
            <a:endParaRPr lang="fr-FR"/>
          </a:p>
        </p:txBody>
      </p:sp>
    </p:spTree>
    <p:extLst>
      <p:ext uri="{BB962C8B-B14F-4D97-AF65-F5344CB8AC3E}">
        <p14:creationId xmlns:p14="http://schemas.microsoft.com/office/powerpoint/2010/main" val="12032061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t>Oreillons=&gt;virales contagieux dangereuse surtt pour les garçons risque de séquelle infertilité</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Syndromes douleur abdominal</a:t>
            </a:r>
            <a:r>
              <a:rPr lang="fr-FR" sz="1200" b="0" baseline="0" dirty="0" smtClean="0"/>
              <a:t> </a:t>
            </a:r>
            <a:r>
              <a:rPr lang="fr-FR" sz="1200" b="1" dirty="0" smtClean="0"/>
              <a:t>=&gt; devant tout urgence médical ou </a:t>
            </a:r>
            <a:r>
              <a:rPr lang="fr-FR" sz="1200" b="1" dirty="0" err="1" smtClean="0"/>
              <a:t>chirugical</a:t>
            </a:r>
            <a:r>
              <a:rPr lang="fr-FR" sz="1200" b="1" baseline="0" dirty="0" smtClean="0"/>
              <a:t> l’amylase et le lipase sont doser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54</a:t>
            </a:fld>
            <a:endParaRPr lang="fr-FR"/>
          </a:p>
        </p:txBody>
      </p:sp>
    </p:spTree>
    <p:extLst>
      <p:ext uri="{BB962C8B-B14F-4D97-AF65-F5344CB8AC3E}">
        <p14:creationId xmlns:p14="http://schemas.microsoft.com/office/powerpoint/2010/main" val="42219226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ar-DZ" dirty="0" smtClean="0"/>
              <a:t>الأفيون</a:t>
            </a:r>
            <a:r>
              <a:rPr lang="fr-FR" sz="1200" dirty="0" smtClean="0">
                <a:solidFill>
                  <a:schemeClr val="tx1"/>
                </a:solidFill>
                <a:latin typeface="Times New Roman" panose="02020603050405020304" pitchFamily="18" charset="0"/>
              </a:rPr>
              <a:t>=</a:t>
            </a:r>
            <a:r>
              <a:rPr lang="fr-FR" sz="1200" dirty="0" smtClean="0">
                <a:solidFill>
                  <a:schemeClr val="tx1"/>
                </a:solidFill>
                <a:latin typeface="Times New Roman" panose="02020603050405020304" pitchFamily="18" charset="0"/>
                <a:ea typeface="Times New Roman" panose="02020603050405020304" pitchFamily="18" charset="0"/>
              </a:rPr>
              <a:t>les opiacés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55</a:t>
            </a:fld>
            <a:endParaRPr lang="fr-FR"/>
          </a:p>
        </p:txBody>
      </p:sp>
    </p:spTree>
    <p:extLst>
      <p:ext uri="{BB962C8B-B14F-4D97-AF65-F5344CB8AC3E}">
        <p14:creationId xmlns:p14="http://schemas.microsoft.com/office/powerpoint/2010/main" val="8148419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56</a:t>
            </a:fld>
            <a:endParaRPr lang="fr-FR"/>
          </a:p>
        </p:txBody>
      </p:sp>
    </p:spTree>
    <p:extLst>
      <p:ext uri="{BB962C8B-B14F-4D97-AF65-F5344CB8AC3E}">
        <p14:creationId xmlns:p14="http://schemas.microsoft.com/office/powerpoint/2010/main" val="40393355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solidFill>
                  <a:srgbClr val="FF0000"/>
                </a:solidFill>
              </a:rPr>
              <a:t>CKBB</a:t>
            </a:r>
            <a:r>
              <a:rPr lang="fr-FR" sz="1200" baseline="0" dirty="0" smtClean="0">
                <a:solidFill>
                  <a:srgbClr val="FF0000"/>
                </a:solidFill>
              </a:rPr>
              <a:t> est très rarement</a:t>
            </a:r>
          </a:p>
          <a:p>
            <a:r>
              <a:rPr lang="fr-FR" sz="1200" baseline="0" dirty="0" smtClean="0">
                <a:solidFill>
                  <a:srgbClr val="FF0000"/>
                </a:solidFill>
              </a:rPr>
              <a:t>CKMB=&gt;IDM</a:t>
            </a:r>
          </a:p>
          <a:p>
            <a:r>
              <a:rPr lang="fr-FR" sz="1200" baseline="0" dirty="0" smtClean="0">
                <a:solidFill>
                  <a:srgbClr val="FF0000"/>
                </a:solidFill>
              </a:rPr>
              <a:t>Les affections musculaires en dose le CK totale + le CKMM muscle squelettique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57</a:t>
            </a:fld>
            <a:endParaRPr lang="fr-FR"/>
          </a:p>
        </p:txBody>
      </p:sp>
    </p:spTree>
    <p:extLst>
      <p:ext uri="{BB962C8B-B14F-4D97-AF65-F5344CB8AC3E}">
        <p14:creationId xmlns:p14="http://schemas.microsoft.com/office/powerpoint/2010/main" val="22735517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Masse musculaire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58</a:t>
            </a:fld>
            <a:endParaRPr lang="fr-FR"/>
          </a:p>
        </p:txBody>
      </p:sp>
    </p:spTree>
    <p:extLst>
      <p:ext uri="{BB962C8B-B14F-4D97-AF65-F5344CB8AC3E}">
        <p14:creationId xmlns:p14="http://schemas.microsoft.com/office/powerpoint/2010/main" val="7219894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Les</a:t>
            </a:r>
            <a:r>
              <a:rPr lang="fr-FR" baseline="0" dirty="0" smtClean="0"/>
              <a:t> corticoïdes=&gt;c’est anti-inflammatoire (dans la laryngite en le donner </a:t>
            </a:r>
            <a:r>
              <a:rPr lang="fr-FR" baseline="0" smtClean="0"/>
              <a:t>3-5 jours) </a:t>
            </a:r>
            <a:r>
              <a:rPr lang="fr-FR" baseline="0" dirty="0" smtClean="0"/>
              <a:t>mais dans si elle prolongée risque de immunodépression</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61</a:t>
            </a:fld>
            <a:endParaRPr lang="fr-FR"/>
          </a:p>
        </p:txBody>
      </p:sp>
    </p:spTree>
    <p:extLst>
      <p:ext uri="{BB962C8B-B14F-4D97-AF65-F5344CB8AC3E}">
        <p14:creationId xmlns:p14="http://schemas.microsoft.com/office/powerpoint/2010/main" val="22477361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^donc en dose chaque</a:t>
            </a:r>
            <a:r>
              <a:rPr lang="fr-FR" baseline="0" dirty="0" smtClean="0"/>
              <a:t> iso enzymes pour chaque organe qu’il existe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64</a:t>
            </a:fld>
            <a:endParaRPr lang="fr-FR"/>
          </a:p>
        </p:txBody>
      </p:sp>
    </p:spTree>
    <p:extLst>
      <p:ext uri="{BB962C8B-B14F-4D97-AF65-F5344CB8AC3E}">
        <p14:creationId xmlns:p14="http://schemas.microsoft.com/office/powerpoint/2010/main" val="41912755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2&gt;3&gt;1&gt;4/5</a:t>
            </a:r>
          </a:p>
          <a:p>
            <a:r>
              <a:rPr lang="fr-FR" dirty="0" smtClean="0"/>
              <a:t>Donc LDH des muscles</a:t>
            </a:r>
            <a:r>
              <a:rPr lang="fr-FR" baseline="0" dirty="0" smtClean="0"/>
              <a:t> ces très faible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65</a:t>
            </a:fld>
            <a:endParaRPr lang="fr-FR"/>
          </a:p>
        </p:txBody>
      </p:sp>
    </p:spTree>
    <p:extLst>
      <p:ext uri="{BB962C8B-B14F-4D97-AF65-F5344CB8AC3E}">
        <p14:creationId xmlns:p14="http://schemas.microsoft.com/office/powerpoint/2010/main" val="24570813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66</a:t>
            </a:fld>
            <a:endParaRPr lang="fr-FR"/>
          </a:p>
        </p:txBody>
      </p:sp>
    </p:spTree>
    <p:extLst>
      <p:ext uri="{BB962C8B-B14F-4D97-AF65-F5344CB8AC3E}">
        <p14:creationId xmlns:p14="http://schemas.microsoft.com/office/powerpoint/2010/main" val="15026164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Toute lyse cellulaire (ubiquitaire)</a:t>
            </a:r>
            <a:r>
              <a:rPr lang="fr-FR" baseline="0" dirty="0" smtClean="0"/>
              <a:t> =&gt; destruction importante =&gt;cancers (surtt traité par chimiothérapie +les cancers hématologiques)</a:t>
            </a:r>
          </a:p>
          <a:p>
            <a:r>
              <a:rPr lang="fr-FR" baseline="0" dirty="0" smtClean="0"/>
              <a:t>Le LDH=&gt;le paramétré + prescrire dans l’hémato</a:t>
            </a:r>
          </a:p>
          <a:p>
            <a:r>
              <a:rPr lang="fr-FR" baseline="0" dirty="0" smtClean="0"/>
              <a:t>--------------------------------------------------------------</a:t>
            </a:r>
          </a:p>
          <a:p>
            <a:r>
              <a:rPr lang="fr-FR" baseline="0" dirty="0" smtClean="0"/>
              <a:t>Indication dans les cancers dans l’hémato et aussi dans le chimiothérapie et oncologique (value l’état des cellules sains si y a ++ de LDH donc destruction importante)</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67</a:t>
            </a:fld>
            <a:endParaRPr lang="fr-FR"/>
          </a:p>
        </p:txBody>
      </p:sp>
    </p:spTree>
    <p:extLst>
      <p:ext uri="{BB962C8B-B14F-4D97-AF65-F5344CB8AC3E}">
        <p14:creationId xmlns:p14="http://schemas.microsoft.com/office/powerpoint/2010/main" val="42213066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LDH et ASAT les plus sensible a l’hémolyse</a:t>
            </a:r>
            <a:r>
              <a:rPr lang="fr-FR" baseline="0" dirty="0" smtClean="0"/>
              <a:t> dans le vitro que les autres enzymes (aussi sensibles)</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68</a:t>
            </a:fld>
            <a:endParaRPr lang="fr-FR"/>
          </a:p>
        </p:txBody>
      </p:sp>
    </p:spTree>
    <p:extLst>
      <p:ext uri="{BB962C8B-B14F-4D97-AF65-F5344CB8AC3E}">
        <p14:creationId xmlns:p14="http://schemas.microsoft.com/office/powerpoint/2010/main" val="42737084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En ne dose pas en pratique rarement </a:t>
            </a:r>
            <a:endParaRPr lang="fr-FR" dirty="0"/>
          </a:p>
        </p:txBody>
      </p:sp>
      <p:sp>
        <p:nvSpPr>
          <p:cNvPr id="4" name="Espace réservé du numéro de diapositive 3"/>
          <p:cNvSpPr>
            <a:spLocks noGrp="1"/>
          </p:cNvSpPr>
          <p:nvPr>
            <p:ph type="sldNum" sz="quarter" idx="10"/>
          </p:nvPr>
        </p:nvSpPr>
        <p:spPr/>
        <p:txBody>
          <a:bodyPr/>
          <a:lstStyle/>
          <a:p>
            <a:fld id="{5A67893A-1620-4C22-BFBD-98E7771C1B9B}" type="slidenum">
              <a:rPr lang="fr-FR" smtClean="0"/>
              <a:t>69</a:t>
            </a:fld>
            <a:endParaRPr lang="fr-FR"/>
          </a:p>
        </p:txBody>
      </p:sp>
    </p:spTree>
    <p:extLst>
      <p:ext uri="{BB962C8B-B14F-4D97-AF65-F5344CB8AC3E}">
        <p14:creationId xmlns:p14="http://schemas.microsoft.com/office/powerpoint/2010/main" val="442143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671215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3965499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280848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4361151-6351-450D-8608-4BBE779CE68A}" type="datetimeFigureOut">
              <a:rPr lang="fr-FR" smtClean="0"/>
              <a:t>20/01/2023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1585841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4361151-6351-450D-8608-4BBE779CE68A}" type="datetimeFigureOut">
              <a:rPr lang="fr-FR" smtClean="0"/>
              <a:t>20/01/2023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2640959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4361151-6351-450D-8608-4BBE779CE68A}" type="datetimeFigureOut">
              <a:rPr lang="fr-FR" smtClean="0"/>
              <a:t>20/01/2023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106162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361151-6351-450D-8608-4BBE779CE68A}" type="datetimeFigureOut">
              <a:rPr lang="fr-FR" smtClean="0"/>
              <a:t>20/01/2023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2974984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4361151-6351-450D-8608-4BBE779CE68A}" type="datetimeFigureOut">
              <a:rPr lang="fr-FR" smtClean="0"/>
              <a:t>20/01/2023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4284332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4361151-6351-450D-8608-4BBE779CE68A}" type="datetimeFigureOut">
              <a:rPr lang="fr-FR" smtClean="0"/>
              <a:t>20/01/2023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1032042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2009508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68473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3122750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51993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3953546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3251482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4361151-6351-450D-8608-4BBE779CE68A}" type="datetimeFigureOut">
              <a:rPr lang="fr-FR" smtClean="0"/>
              <a:t>20/01/2023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052FB6-2BA1-44AD-9CBB-8D813B84B1B7}" type="slidenum">
              <a:rPr lang="fr-FR" smtClean="0"/>
              <a:t>‹N°›</a:t>
            </a:fld>
            <a:endParaRPr lang="fr-FR"/>
          </a:p>
        </p:txBody>
      </p:sp>
    </p:spTree>
    <p:extLst>
      <p:ext uri="{BB962C8B-B14F-4D97-AF65-F5344CB8AC3E}">
        <p14:creationId xmlns:p14="http://schemas.microsoft.com/office/powerpoint/2010/main" val="204695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4361151-6351-450D-8608-4BBE779CE68A}" type="datetimeFigureOut">
              <a:rPr lang="fr-FR" smtClean="0"/>
              <a:t>20/01/2023</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D052FB6-2BA1-44AD-9CBB-8D813B84B1B7}" type="slidenum">
              <a:rPr lang="fr-FR" smtClean="0"/>
              <a:t>‹N°›</a:t>
            </a:fld>
            <a:endParaRPr lang="fr-FR"/>
          </a:p>
        </p:txBody>
      </p:sp>
    </p:spTree>
    <p:extLst>
      <p:ext uri="{BB962C8B-B14F-4D97-AF65-F5344CB8AC3E}">
        <p14:creationId xmlns:p14="http://schemas.microsoft.com/office/powerpoint/2010/main" val="1421342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988CBAF-72C6-41CA-9F85-A04F77765BE4}"/>
              </a:ext>
            </a:extLst>
          </p:cNvPr>
          <p:cNvSpPr>
            <a:spLocks noGrp="1"/>
          </p:cNvSpPr>
          <p:nvPr>
            <p:ph type="ctrTitle"/>
          </p:nvPr>
        </p:nvSpPr>
        <p:spPr>
          <a:xfrm>
            <a:off x="1364209" y="594691"/>
            <a:ext cx="7766936" cy="3715932"/>
          </a:xfrm>
        </p:spPr>
        <p:txBody>
          <a:bodyPr/>
          <a:lstStyle/>
          <a:p>
            <a:pPr algn="ctr"/>
            <a:r>
              <a:rPr lang="fr-FR" sz="2000" b="1" dirty="0">
                <a:latin typeface="Times New Roman" panose="02020603050405020304" pitchFamily="18" charset="0"/>
                <a:ea typeface="Times New Roman" panose="02020603050405020304" pitchFamily="18" charset="0"/>
              </a:rPr>
              <a:t/>
            </a:r>
            <a:br>
              <a:rPr lang="fr-FR" sz="2000" b="1" dirty="0">
                <a:latin typeface="Times New Roman" panose="02020603050405020304" pitchFamily="18" charset="0"/>
                <a:ea typeface="Times New Roman" panose="02020603050405020304" pitchFamily="18" charset="0"/>
              </a:rPr>
            </a:br>
            <a:r>
              <a:rPr lang="fr-FR" sz="2000" b="1" dirty="0">
                <a:latin typeface="Times New Roman" panose="02020603050405020304" pitchFamily="18" charset="0"/>
                <a:ea typeface="Times New Roman" panose="02020603050405020304" pitchFamily="18" charset="0"/>
              </a:rPr>
              <a:t/>
            </a:r>
            <a:br>
              <a:rPr lang="fr-FR" sz="2000" b="1" dirty="0">
                <a:latin typeface="Times New Roman" panose="02020603050405020304" pitchFamily="18" charset="0"/>
                <a:ea typeface="Times New Roman" panose="02020603050405020304" pitchFamily="18" charset="0"/>
              </a:rPr>
            </a:br>
            <a:r>
              <a:rPr lang="fr-FR" sz="2000" b="1" dirty="0">
                <a:latin typeface="Times New Roman" panose="02020603050405020304" pitchFamily="18" charset="0"/>
                <a:ea typeface="Times New Roman" panose="02020603050405020304" pitchFamily="18" charset="0"/>
              </a:rPr>
              <a:t/>
            </a:r>
            <a:br>
              <a:rPr lang="fr-FR" sz="2000" b="1" dirty="0">
                <a:latin typeface="Times New Roman" panose="02020603050405020304" pitchFamily="18" charset="0"/>
                <a:ea typeface="Times New Roman" panose="02020603050405020304" pitchFamily="18" charset="0"/>
              </a:rPr>
            </a:br>
            <a:r>
              <a:rPr lang="fr-FR" sz="2000" b="1" dirty="0">
                <a:latin typeface="Times New Roman" panose="02020603050405020304" pitchFamily="18" charset="0"/>
                <a:ea typeface="Times New Roman" panose="02020603050405020304" pitchFamily="18" charset="0"/>
              </a:rPr>
              <a:t/>
            </a:r>
            <a:br>
              <a:rPr lang="fr-FR" sz="2000" b="1" dirty="0">
                <a:latin typeface="Times New Roman" panose="02020603050405020304" pitchFamily="18" charset="0"/>
                <a:ea typeface="Times New Roman" panose="02020603050405020304" pitchFamily="18" charset="0"/>
              </a:rPr>
            </a:br>
            <a:r>
              <a:rPr lang="fr-FR" sz="2000" b="1" dirty="0">
                <a:latin typeface="Times New Roman" panose="02020603050405020304" pitchFamily="18" charset="0"/>
                <a:ea typeface="Times New Roman" panose="02020603050405020304" pitchFamily="18" charset="0"/>
              </a:rPr>
              <a:t/>
            </a:r>
            <a:br>
              <a:rPr lang="fr-FR" sz="2000" b="1" dirty="0">
                <a:latin typeface="Times New Roman" panose="02020603050405020304" pitchFamily="18" charset="0"/>
                <a:ea typeface="Times New Roman" panose="02020603050405020304" pitchFamily="18" charset="0"/>
              </a:rPr>
            </a:br>
            <a:r>
              <a:rPr lang="fr-FR" sz="2000" b="1" dirty="0">
                <a:latin typeface="Times New Roman" panose="02020603050405020304" pitchFamily="18" charset="0"/>
                <a:ea typeface="Times New Roman" panose="02020603050405020304" pitchFamily="18" charset="0"/>
              </a:rPr>
              <a:t/>
            </a:r>
            <a:br>
              <a:rPr lang="fr-FR" sz="2000" b="1" dirty="0">
                <a:latin typeface="Times New Roman" panose="02020603050405020304" pitchFamily="18" charset="0"/>
                <a:ea typeface="Times New Roman" panose="02020603050405020304" pitchFamily="18" charset="0"/>
              </a:rPr>
            </a:br>
            <a:r>
              <a:rPr lang="fr-FR" sz="3200" b="1" dirty="0">
                <a:latin typeface="Times New Roman" panose="02020603050405020304" pitchFamily="18" charset="0"/>
                <a:ea typeface="Times New Roman" panose="02020603050405020304" pitchFamily="18" charset="0"/>
              </a:rPr>
              <a:t>L’Appareil Locomoteur </a:t>
            </a:r>
            <a:br>
              <a:rPr lang="fr-FR" sz="3200" b="1" dirty="0">
                <a:latin typeface="Times New Roman" panose="02020603050405020304" pitchFamily="18" charset="0"/>
                <a:ea typeface="Times New Roman" panose="02020603050405020304" pitchFamily="18" charset="0"/>
              </a:rPr>
            </a:br>
            <a:r>
              <a:rPr lang="fr-FR" sz="3200" b="1" dirty="0">
                <a:solidFill>
                  <a:schemeClr val="tx2"/>
                </a:solidFill>
                <a:latin typeface="Times New Roman" panose="02020603050405020304" pitchFamily="18" charset="0"/>
                <a:ea typeface="Times New Roman" panose="02020603050405020304" pitchFamily="18" charset="0"/>
              </a:rPr>
              <a:t>Module de biochimie</a:t>
            </a:r>
            <a:r>
              <a:rPr lang="fr-FR" sz="3200" b="1" dirty="0">
                <a:solidFill>
                  <a:schemeClr val="tx2"/>
                </a:solidFill>
              </a:rPr>
              <a:t> </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r>
              <a:rPr lang="fr-FR" sz="3200" b="1" dirty="0">
                <a:latin typeface="Times New Roman" panose="02020603050405020304" pitchFamily="18" charset="0"/>
                <a:ea typeface="Times New Roman" panose="02020603050405020304" pitchFamily="18" charset="0"/>
              </a:rPr>
              <a:t>Enzymes sériques et tissulaires</a:t>
            </a:r>
            <a:br>
              <a:rPr lang="fr-FR" sz="3200" b="1" dirty="0">
                <a:latin typeface="Times New Roman" panose="02020603050405020304" pitchFamily="18" charset="0"/>
                <a:ea typeface="Times New Roman" panose="02020603050405020304" pitchFamily="18" charset="0"/>
              </a:rPr>
            </a:br>
            <a:r>
              <a:rPr lang="fr-FR" sz="3200" b="1" dirty="0">
                <a:latin typeface="Times New Roman" panose="02020603050405020304" pitchFamily="18" charset="0"/>
                <a:ea typeface="Times New Roman" panose="02020603050405020304" pitchFamily="18" charset="0"/>
              </a:rPr>
              <a:t>Enzymes musculaires et autres marqueurs</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r>
              <a:rPr lang="fr-FR" sz="3200" b="1" dirty="0">
                <a:latin typeface="Times New Roman" panose="02020603050405020304" pitchFamily="18" charset="0"/>
                <a:ea typeface="Times New Roman" panose="02020603050405020304" pitchFamily="18" charset="0"/>
              </a:rPr>
              <a:t>( 2 séances)</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endParaRPr lang="fr-FR" sz="3200" dirty="0"/>
          </a:p>
        </p:txBody>
      </p:sp>
      <p:sp>
        <p:nvSpPr>
          <p:cNvPr id="3" name="Sous-titre 2">
            <a:extLst>
              <a:ext uri="{FF2B5EF4-FFF2-40B4-BE49-F238E27FC236}">
                <a16:creationId xmlns="" xmlns:a16="http://schemas.microsoft.com/office/drawing/2014/main" id="{58C633F5-C6DD-45AE-8394-9455967ADA09}"/>
              </a:ext>
            </a:extLst>
          </p:cNvPr>
          <p:cNvSpPr>
            <a:spLocks noGrp="1"/>
          </p:cNvSpPr>
          <p:nvPr>
            <p:ph type="subTitle" idx="1"/>
          </p:nvPr>
        </p:nvSpPr>
        <p:spPr>
          <a:xfrm>
            <a:off x="865596" y="4883432"/>
            <a:ext cx="7766936" cy="1789038"/>
          </a:xfrm>
        </p:spPr>
        <p:txBody>
          <a:bodyPr>
            <a:noAutofit/>
          </a:bodyPr>
          <a:lstStyle/>
          <a:p>
            <a:r>
              <a:rPr lang="fr-FR" sz="2400" b="1" dirty="0">
                <a:solidFill>
                  <a:schemeClr val="tx2"/>
                </a:solidFill>
              </a:rPr>
              <a:t>	Présentée par Dr E.FERAGA</a:t>
            </a:r>
          </a:p>
          <a:p>
            <a:r>
              <a:rPr lang="fr-FR" sz="2400" b="1" dirty="0">
                <a:solidFill>
                  <a:schemeClr val="tx2"/>
                </a:solidFill>
              </a:rPr>
              <a:t>3 </a:t>
            </a:r>
            <a:r>
              <a:rPr lang="fr-FR" sz="2400" b="1" baseline="30000" dirty="0" err="1">
                <a:solidFill>
                  <a:schemeClr val="tx2"/>
                </a:solidFill>
              </a:rPr>
              <a:t>ème</a:t>
            </a:r>
            <a:r>
              <a:rPr lang="fr-FR" sz="2400" b="1" dirty="0">
                <a:solidFill>
                  <a:schemeClr val="tx2"/>
                </a:solidFill>
              </a:rPr>
              <a:t>  année  médecine</a:t>
            </a:r>
          </a:p>
          <a:p>
            <a:r>
              <a:rPr lang="fr-FR" sz="2400" b="1" dirty="0">
                <a:solidFill>
                  <a:schemeClr val="tx2"/>
                </a:solidFill>
              </a:rPr>
              <a:t>Année universitaire 2021/2022</a:t>
            </a:r>
          </a:p>
        </p:txBody>
      </p:sp>
    </p:spTree>
    <p:extLst>
      <p:ext uri="{BB962C8B-B14F-4D97-AF65-F5344CB8AC3E}">
        <p14:creationId xmlns:p14="http://schemas.microsoft.com/office/powerpoint/2010/main" val="2131783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4D73B07-E99A-4A3B-8CBC-3F691C296A5F}"/>
              </a:ext>
            </a:extLst>
          </p:cNvPr>
          <p:cNvSpPr>
            <a:spLocks noGrp="1"/>
          </p:cNvSpPr>
          <p:nvPr>
            <p:ph type="title"/>
          </p:nvPr>
        </p:nvSpPr>
        <p:spPr>
          <a:xfrm>
            <a:off x="677334" y="609600"/>
            <a:ext cx="8596668" cy="781878"/>
          </a:xfrm>
        </p:spPr>
        <p:txBody>
          <a:bodyPr/>
          <a:lstStyle/>
          <a:p>
            <a:pPr algn="ctr"/>
            <a:r>
              <a:rPr lang="fr-FR" b="1" dirty="0"/>
              <a:t>PLANDU COURS </a:t>
            </a:r>
          </a:p>
        </p:txBody>
      </p:sp>
      <p:sp>
        <p:nvSpPr>
          <p:cNvPr id="3" name="Espace réservé du contenu 2">
            <a:extLst>
              <a:ext uri="{FF2B5EF4-FFF2-40B4-BE49-F238E27FC236}">
                <a16:creationId xmlns="" xmlns:a16="http://schemas.microsoft.com/office/drawing/2014/main" id="{A2E5774B-7C0F-4EC8-BA9E-0064F57BF707}"/>
              </a:ext>
            </a:extLst>
          </p:cNvPr>
          <p:cNvSpPr>
            <a:spLocks noGrp="1"/>
          </p:cNvSpPr>
          <p:nvPr>
            <p:ph idx="1"/>
          </p:nvPr>
        </p:nvSpPr>
        <p:spPr>
          <a:xfrm>
            <a:off x="306273" y="1245705"/>
            <a:ext cx="9699118" cy="4093292"/>
          </a:xfrm>
        </p:spPr>
        <p:txBody>
          <a:bodyPr>
            <a:noAutofit/>
          </a:bodyPr>
          <a:lstStyle/>
          <a:p>
            <a:pPr marL="400050" indent="-400050">
              <a:buFont typeface="+mj-lt"/>
              <a:buAutoNum type="romanUcPeriod"/>
            </a:pPr>
            <a:r>
              <a:rPr lang="fr-FR"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RAPPEL</a:t>
            </a:r>
          </a:p>
          <a:p>
            <a:pPr marL="400050" indent="-400050">
              <a:buFont typeface="+mj-lt"/>
              <a:buAutoNum type="romanUcPeriod"/>
            </a:pPr>
            <a:r>
              <a:rPr lang="fr-FR" sz="2400" b="1" dirty="0">
                <a:solidFill>
                  <a:schemeClr val="tx1"/>
                </a:solidFill>
                <a:latin typeface="Times New Roman" panose="02020603050405020304" pitchFamily="18" charset="0"/>
                <a:cs typeface="Times New Roman" panose="02020603050405020304" pitchFamily="18" charset="0"/>
              </a:rPr>
              <a:t>INTRODUCTION</a:t>
            </a:r>
          </a:p>
          <a:p>
            <a:pPr marL="400050" indent="-400050">
              <a:buFont typeface="+mj-lt"/>
              <a:buAutoNum type="romanUcPeriod"/>
            </a:pPr>
            <a:r>
              <a:rPr lang="fr-FR"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ORIGINES ET VARIATIONS DES ENZYMES </a:t>
            </a:r>
            <a:r>
              <a:rPr lang="fr-FR" sz="2400" b="1" dirty="0">
                <a:solidFill>
                  <a:schemeClr val="tx1"/>
                </a:solidFill>
                <a:latin typeface="Times New Roman" panose="02020603050405020304" pitchFamily="18" charset="0"/>
                <a:ea typeface="Times New Roman" panose="02020603050405020304" pitchFamily="18" charset="0"/>
              </a:rPr>
              <a:t>DANS LE PLASMA</a:t>
            </a:r>
          </a:p>
          <a:p>
            <a:pPr marL="400050" indent="-400050">
              <a:buFont typeface="+mj-lt"/>
              <a:buAutoNum type="romanUcPeriod"/>
            </a:pPr>
            <a:r>
              <a:rPr lang="fr-FR" sz="2400" b="1" dirty="0">
                <a:solidFill>
                  <a:schemeClr val="tx1"/>
                </a:solidFill>
                <a:latin typeface="Times New Roman" panose="02020603050405020304" pitchFamily="18" charset="0"/>
                <a:ea typeface="Times New Roman" panose="02020603050405020304" pitchFamily="18" charset="0"/>
              </a:rPr>
              <a:t>LE CHOIX D’UNE ENZYME COMME MARQUEUR</a:t>
            </a:r>
          </a:p>
          <a:p>
            <a:pPr marL="400050" indent="-400050">
              <a:buFont typeface="+mj-lt"/>
              <a:buAutoNum type="romanUcPeriod"/>
            </a:pPr>
            <a:r>
              <a:rPr lang="fr-FR" sz="2400" b="1" dirty="0">
                <a:solidFill>
                  <a:schemeClr val="tx1"/>
                </a:solidFill>
                <a:latin typeface="Times New Roman" panose="02020603050405020304" pitchFamily="18" charset="0"/>
                <a:ea typeface="Times New Roman" panose="02020603050405020304" pitchFamily="18" charset="0"/>
              </a:rPr>
              <a:t>MESURE DE L’ACTIVITE ENZYMATIQUE  </a:t>
            </a:r>
          </a:p>
          <a:p>
            <a:pPr marL="400050" indent="-400050">
              <a:buFont typeface="+mj-lt"/>
              <a:buAutoNum type="romanUcPeriod"/>
            </a:pPr>
            <a:r>
              <a:rPr lang="fr-FR" sz="2400" b="1" dirty="0">
                <a:solidFill>
                  <a:schemeClr val="tx1"/>
                </a:solidFill>
                <a:latin typeface="Times New Roman" panose="02020603050405020304" pitchFamily="18" charset="0"/>
                <a:ea typeface="Times New Roman" panose="02020603050405020304" pitchFamily="18" charset="0"/>
              </a:rPr>
              <a:t>LES ISOENZYMES ET METHODES DE MESURES DE LEURS ACTIVITES</a:t>
            </a:r>
          </a:p>
          <a:p>
            <a:pPr marL="400050" indent="-400050">
              <a:buFont typeface="+mj-lt"/>
              <a:buAutoNum type="romanUcPeriod"/>
            </a:pPr>
            <a:r>
              <a:rPr lang="fr-FR" sz="2400" b="1" dirty="0">
                <a:solidFill>
                  <a:schemeClr val="tx1"/>
                </a:solidFill>
                <a:latin typeface="Times New Roman" panose="02020603050405020304" pitchFamily="18" charset="0"/>
                <a:ea typeface="Times New Roman" panose="02020603050405020304" pitchFamily="18" charset="0"/>
              </a:rPr>
              <a:t>EXEMPLES D’ACTIVITES ENZYMATIQUES FREQUEMMENT DETERMINEES EN PRATIQUE COURANTES</a:t>
            </a:r>
          </a:p>
          <a:p>
            <a:pPr marL="400050" indent="-400050">
              <a:buFont typeface="+mj-lt"/>
              <a:buAutoNum type="romanUcPeriod"/>
            </a:pPr>
            <a:r>
              <a:rPr lang="fr-FR" sz="2400" b="1">
                <a:solidFill>
                  <a:schemeClr val="tx1"/>
                </a:solidFill>
                <a:latin typeface="Times New Roman" panose="02020603050405020304" pitchFamily="18" charset="0"/>
                <a:ea typeface="Times New Roman" panose="02020603050405020304" pitchFamily="18" charset="0"/>
              </a:rPr>
              <a:t>CONCLUSION</a:t>
            </a:r>
            <a:endParaRPr lang="fr-FR" sz="2400" b="1" dirty="0">
              <a:solidFill>
                <a:schemeClr val="tx1"/>
              </a:solidFill>
              <a:latin typeface="Times New Roman" panose="02020603050405020304" pitchFamily="18" charset="0"/>
              <a:ea typeface="Times New Roman" panose="02020603050405020304" pitchFamily="18" charset="0"/>
            </a:endParaRPr>
          </a:p>
          <a:p>
            <a:pPr marL="400050" indent="-400050">
              <a:buFont typeface="+mj-lt"/>
              <a:buAutoNum type="romanUcPeriod"/>
            </a:pPr>
            <a:endParaRPr lang="fr-FR" sz="2400" dirty="0">
              <a:solidFill>
                <a:schemeClr val="tx1"/>
              </a:solidFill>
            </a:endParaRPr>
          </a:p>
        </p:txBody>
      </p:sp>
    </p:spTree>
    <p:extLst>
      <p:ext uri="{BB962C8B-B14F-4D97-AF65-F5344CB8AC3E}">
        <p14:creationId xmlns:p14="http://schemas.microsoft.com/office/powerpoint/2010/main" val="123651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0E5B823-1CC7-48A0-8B12-659E544D7EFE}"/>
              </a:ext>
            </a:extLst>
          </p:cNvPr>
          <p:cNvSpPr>
            <a:spLocks noGrp="1"/>
          </p:cNvSpPr>
          <p:nvPr>
            <p:ph type="title"/>
          </p:nvPr>
        </p:nvSpPr>
        <p:spPr>
          <a:xfrm>
            <a:off x="133995" y="97183"/>
            <a:ext cx="8596668" cy="1320800"/>
          </a:xfrm>
        </p:spPr>
        <p:txBody>
          <a:bodyPr>
            <a:normAutofit/>
          </a:bodyPr>
          <a:lstStyle/>
          <a:p>
            <a:pPr algn="ctr"/>
            <a:r>
              <a:rPr lang="fr-FR" sz="6000" b="1" dirty="0">
                <a:latin typeface="Times New Roman" panose="02020603050405020304" pitchFamily="18" charset="0"/>
                <a:ea typeface="Times New Roman" panose="02020603050405020304" pitchFamily="18" charset="0"/>
              </a:rPr>
              <a:t>RAPPEL</a:t>
            </a:r>
            <a:endParaRPr lang="fr-FR" sz="6000" dirty="0"/>
          </a:p>
        </p:txBody>
      </p:sp>
      <p:sp>
        <p:nvSpPr>
          <p:cNvPr id="3" name="Espace réservé du contenu 2">
            <a:extLst>
              <a:ext uri="{FF2B5EF4-FFF2-40B4-BE49-F238E27FC236}">
                <a16:creationId xmlns="" xmlns:a16="http://schemas.microsoft.com/office/drawing/2014/main" id="{F2A5908D-2568-4D6E-8D8A-9DA04225F82A}"/>
              </a:ext>
            </a:extLst>
          </p:cNvPr>
          <p:cNvSpPr>
            <a:spLocks noGrp="1"/>
          </p:cNvSpPr>
          <p:nvPr>
            <p:ph idx="1"/>
          </p:nvPr>
        </p:nvSpPr>
        <p:spPr>
          <a:xfrm>
            <a:off x="438796" y="901149"/>
            <a:ext cx="10229204" cy="5956852"/>
          </a:xfrm>
        </p:spPr>
        <p:txBody>
          <a:bodyPr>
            <a:normAutofit fontScale="77500" lnSpcReduction="20000"/>
          </a:bodyPr>
          <a:lstStyle/>
          <a:p>
            <a:r>
              <a:rPr lang="fr-FR" b="1" dirty="0">
                <a:latin typeface="Times New Roman" panose="02020603050405020304" pitchFamily="18" charset="0"/>
                <a:ea typeface="Times New Roman" panose="02020603050405020304" pitchFamily="18" charset="0"/>
                <a:cs typeface="Times New Roman" panose="02020603050405020304" pitchFamily="18" charset="0"/>
              </a:rPr>
              <a:t>Enzs catalyseurs </a:t>
            </a:r>
            <a:r>
              <a:rPr lang="fr-FR" b="1" dirty="0" smtClean="0">
                <a:latin typeface="Times New Roman" panose="02020603050405020304" pitchFamily="18" charset="0"/>
                <a:ea typeface="Times New Roman" panose="02020603050405020304" pitchFamily="18" charset="0"/>
                <a:cs typeface="Times New Roman" panose="02020603050405020304" pitchFamily="18" charset="0"/>
              </a:rPr>
              <a:t>Réactions </a:t>
            </a:r>
            <a:r>
              <a:rPr lang="fr-FR" b="1" dirty="0">
                <a:latin typeface="Times New Roman" panose="02020603050405020304" pitchFamily="18" charset="0"/>
                <a:ea typeface="Times New Roman" panose="02020603050405020304" pitchFamily="18" charset="0"/>
                <a:cs typeface="Times New Roman" panose="02020603050405020304" pitchFamily="18" charset="0"/>
              </a:rPr>
              <a:t>chimiques : in vivo</a:t>
            </a:r>
            <a:r>
              <a:rPr lang="fr-FR" b="1" dirty="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 (êtres vivants)</a:t>
            </a:r>
            <a:r>
              <a:rPr lang="fr-FR" b="1" dirty="0">
                <a:latin typeface="Times New Roman" panose="02020603050405020304" pitchFamily="18" charset="0"/>
                <a:ea typeface="Times New Roman" panose="02020603050405020304" pitchFamily="18" charset="0"/>
                <a:cs typeface="Times New Roman" panose="02020603050405020304" pitchFamily="18" charset="0"/>
              </a:rPr>
              <a:t> + in vitro </a:t>
            </a:r>
          </a:p>
          <a:p>
            <a:r>
              <a:rPr lang="fr-FR" b="1" dirty="0">
                <a:latin typeface="Times New Roman" panose="02020603050405020304" pitchFamily="18" charset="0"/>
                <a:ea typeface="Times New Roman" panose="02020603050405020304" pitchFamily="18" charset="0"/>
                <a:cs typeface="Times New Roman" panose="02020603050405020304" pitchFamily="18" charset="0"/>
              </a:rPr>
              <a:t>Caractéristiques des Enz :</a:t>
            </a:r>
          </a:p>
          <a:p>
            <a:pPr lvl="1">
              <a:buFont typeface="Wingdings" panose="05000000000000000000" pitchFamily="2" charset="2"/>
              <a:buChar char=""/>
            </a:pP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 V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R=&gt;augmentation du vitesse de la réaction</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Agissent à faible dose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=&gt;peut cataboliser un grande concertation des substrat</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 Intactes en fin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R =&gt;à la fin de réaction il peut fait un autre réaction c qui explique la précèdent</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Nature=&gt;++++ </a:t>
            </a: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Protéines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(le protéine n’a aucune activité biologique que a structure=&gt;III </a:t>
            </a: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aire  , IV aire),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------exceptionnellement il peut s’agit  d’un molécule d’ARN(</a:t>
            </a:r>
            <a:r>
              <a:rPr lang="fr-FR" sz="1800" dirty="0" smtClean="0"/>
              <a:t>ribozymes)</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=&gt;</a:t>
            </a:r>
          </a:p>
          <a:p>
            <a:pPr lvl="1">
              <a:buFont typeface="Wingdings" panose="05000000000000000000" pitchFamily="2" charset="2"/>
              <a:buChar char=""/>
            </a:pPr>
            <a:r>
              <a:rPr lang="fr-FR" sz="1800" b="1" dirty="0" smtClean="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 →qlqs soit leur nature </a:t>
            </a:r>
            <a:r>
              <a:rPr lang="fr-FR" sz="1800" b="1" dirty="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Enzs=  </a:t>
            </a:r>
            <a:r>
              <a:rPr lang="fr-FR" sz="18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bio</a:t>
            </a:r>
            <a:r>
              <a:rPr lang="fr-FR" sz="1800" b="1" dirty="0" smtClean="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catalyseurs=&gt;BIO=&gt;sont synthétiser dans les cellules</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Spécificité d’action</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↑=&gt;agisse sur un substrat spécifique </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Activité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Enz</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Régulation=&gt;soumis régulation(+/-)</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modulable/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pH( modification du charge du protéine </a:t>
            </a: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et déformation de la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structure) , </a:t>
            </a: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T</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°(la même chose et la température optimale pour un protéine ces le corporelle), </a:t>
            </a: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Force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ionique( concertation en sels =&gt; puisque lorsque en modifies les sels en modifie la solubilité de protéine dans la solution et aussi la charge)</a:t>
            </a:r>
            <a:r>
              <a:rPr lang="fr-FR" sz="1800" b="1" dirty="0" smtClean="0">
                <a:latin typeface="Abadi Extra Light" panose="020B0204020104020204" pitchFamily="34" charset="0"/>
                <a:ea typeface="Times New Roman" panose="02020603050405020304" pitchFamily="18" charset="0"/>
                <a:cs typeface="Times New Roman" panose="02020603050405020304" pitchFamily="18" charset="0"/>
              </a:rPr>
              <a:t>[</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S </a:t>
            </a:r>
            <a:r>
              <a:rPr lang="fr-FR" sz="1800" b="1" dirty="0" smtClean="0">
                <a:latin typeface="Abadi Extra Light" panose="020B0204020104020204" pitchFamily="34" charset="0"/>
                <a:ea typeface="Times New Roman" panose="02020603050405020304" pitchFamily="18" charset="0"/>
                <a:cs typeface="Times New Roman" panose="02020603050405020304" pitchFamily="18" charset="0"/>
              </a:rPr>
              <a:t>]=&gt;</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il faut un concertation optimale de substrat , (A+)=&gt;présence ou non de l’activateur </a:t>
            </a:r>
            <a:r>
              <a:rPr lang="fr-FR" sz="1800" b="1" dirty="0">
                <a:latin typeface="Times New Roman" panose="02020603050405020304" pitchFamily="18" charset="0"/>
                <a:ea typeface="Times New Roman" panose="02020603050405020304" pitchFamily="18" charset="0"/>
                <a:cs typeface="Times New Roman" panose="02020603050405020304" pitchFamily="18" charset="0"/>
              </a:rPr>
              <a:t>ou </a:t>
            </a:r>
            <a:r>
              <a:rPr lang="fr-FR" sz="1800" b="1" dirty="0" smtClean="0">
                <a:latin typeface="Times New Roman" panose="02020603050405020304" pitchFamily="18" charset="0"/>
                <a:ea typeface="Times New Roman" panose="02020603050405020304" pitchFamily="18" charset="0"/>
                <a:cs typeface="Times New Roman" panose="02020603050405020304" pitchFamily="18" charset="0"/>
              </a:rPr>
              <a:t>(I-)=&gt;inhibiteur(compétitive et non))</a:t>
            </a:r>
            <a:endParaRPr lang="fr-FR" sz="1800" b="1" dirty="0">
              <a:latin typeface="Times New Roman" panose="02020603050405020304" pitchFamily="18" charset="0"/>
              <a:ea typeface="Times New Roman" panose="02020603050405020304" pitchFamily="18" charset="0"/>
              <a:cs typeface="Times New Roman" panose="02020603050405020304" pitchFamily="18" charset="0"/>
            </a:endParaRPr>
          </a:p>
          <a:p>
            <a:r>
              <a:rPr lang="fr-FR"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Cofac ( ions </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métalliques(Cu2+-Fe2+-Mg2+) </a:t>
            </a:r>
            <a:r>
              <a:rPr lang="fr-FR"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Coenz(</a:t>
            </a:r>
            <a:r>
              <a:rPr lang="fr-FR" b="1"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Nad</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fr-FR" b="1"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Nadp-Fadh</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Cosub(il faut partie de la structure </a:t>
            </a:r>
            <a:r>
              <a:rPr lang="fr-FR" b="1"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impédante</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d’enzyme)) </a:t>
            </a:r>
            <a:r>
              <a:rPr lang="fr-FR"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composés chimiques non </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Protéique </a:t>
            </a:r>
            <a:r>
              <a:rPr lang="fr-FR"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indispensables </a:t>
            </a:r>
            <a:r>
              <a:rPr lang="fr-FR"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Fonctionnement et activité </a:t>
            </a:r>
            <a:r>
              <a:rPr lang="fr-FR"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Enz </a:t>
            </a:r>
            <a:endParaRPr lang="fr-FR" b="1" dirty="0">
              <a:latin typeface="Times New Roman" panose="02020603050405020304" pitchFamily="18" charset="0"/>
              <a:ea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fr-FR" sz="2000" b="1" dirty="0">
                <a:solidFill>
                  <a:srgbClr val="000000"/>
                </a:solidFill>
                <a:latin typeface="Times New Roman" panose="02020603050405020304" pitchFamily="18" charset="0"/>
                <a:ea typeface="Times New Roman" panose="02020603050405020304" pitchFamily="18" charset="0"/>
              </a:rPr>
              <a:t>Stabilisation  structure Enz</a:t>
            </a:r>
            <a:endParaRPr lang="fr-FR" sz="20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000" b="1" dirty="0">
                <a:solidFill>
                  <a:srgbClr val="000000"/>
                </a:solidFill>
                <a:latin typeface="Times New Roman" panose="02020603050405020304" pitchFamily="18" charset="0"/>
                <a:ea typeface="Times New Roman" panose="02020603050405020304" pitchFamily="18" charset="0"/>
              </a:rPr>
              <a:t>Fixation du </a:t>
            </a:r>
            <a:r>
              <a:rPr lang="fr-FR" sz="2000" b="1" dirty="0" smtClean="0">
                <a:solidFill>
                  <a:srgbClr val="000000"/>
                </a:solidFill>
                <a:latin typeface="Times New Roman" panose="02020603050405020304" pitchFamily="18" charset="0"/>
                <a:ea typeface="Times New Roman" panose="02020603050405020304" pitchFamily="18" charset="0"/>
              </a:rPr>
              <a:t>S=&gt;le facilite</a:t>
            </a:r>
            <a:endParaRPr lang="fr-FR" sz="20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000" b="1" dirty="0">
                <a:solidFill>
                  <a:srgbClr val="000000"/>
                </a:solidFill>
                <a:latin typeface="Times New Roman" panose="02020603050405020304" pitchFamily="18" charset="0"/>
                <a:ea typeface="Times New Roman" panose="02020603050405020304" pitchFamily="18" charset="0"/>
              </a:rPr>
              <a:t>Catalyse Enz</a:t>
            </a:r>
            <a:endParaRPr lang="fr-FR" sz="20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Structure </a:t>
            </a:r>
            <a:r>
              <a:rPr lang="fr-FR" sz="2000"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Enz=&gt;fait partie du structure comme les Cosub (pas tjr)</a:t>
            </a:r>
            <a:endParaRPr lang="fr-FR" sz="2000" b="1" dirty="0">
              <a:latin typeface="Times New Roman" panose="02020603050405020304" pitchFamily="18"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4022429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E3B76BD-E075-4EEC-8230-21072D38AA2F}"/>
              </a:ext>
            </a:extLst>
          </p:cNvPr>
          <p:cNvSpPr>
            <a:spLocks noGrp="1"/>
          </p:cNvSpPr>
          <p:nvPr>
            <p:ph type="title"/>
          </p:nvPr>
        </p:nvSpPr>
        <p:spPr>
          <a:xfrm>
            <a:off x="452047" y="277716"/>
            <a:ext cx="8596668" cy="1320800"/>
          </a:xfrm>
        </p:spPr>
        <p:txBody>
          <a:bodyPr>
            <a:normAutofit/>
          </a:bodyPr>
          <a:lstStyle/>
          <a:p>
            <a:pPr algn="ctr"/>
            <a:r>
              <a:rPr lang="fr-FR" sz="5400" b="1" dirty="0">
                <a:solidFill>
                  <a:schemeClr val="accent2"/>
                </a:solidFill>
                <a:latin typeface="Times New Roman" panose="02020603050405020304" pitchFamily="18" charset="0"/>
                <a:ea typeface="Times New Roman" panose="02020603050405020304" pitchFamily="18" charset="0"/>
              </a:rPr>
              <a:t>INTRODUCTION</a:t>
            </a:r>
            <a:endParaRPr lang="fr-FR" sz="5400" dirty="0">
              <a:solidFill>
                <a:schemeClr val="accent2"/>
              </a:solidFill>
            </a:endParaRPr>
          </a:p>
        </p:txBody>
      </p:sp>
      <p:sp>
        <p:nvSpPr>
          <p:cNvPr id="3" name="Espace réservé du contenu 2">
            <a:extLst>
              <a:ext uri="{FF2B5EF4-FFF2-40B4-BE49-F238E27FC236}">
                <a16:creationId xmlns="" xmlns:a16="http://schemas.microsoft.com/office/drawing/2014/main" id="{D5262090-87B1-48B1-856B-07DB1280E88A}"/>
              </a:ext>
            </a:extLst>
          </p:cNvPr>
          <p:cNvSpPr>
            <a:spLocks noGrp="1"/>
          </p:cNvSpPr>
          <p:nvPr>
            <p:ph idx="1"/>
          </p:nvPr>
        </p:nvSpPr>
        <p:spPr>
          <a:xfrm>
            <a:off x="677334" y="1361449"/>
            <a:ext cx="10374979" cy="5259484"/>
          </a:xfrm>
        </p:spPr>
        <p:txBody>
          <a:bodyPr>
            <a:normAutofit fontScale="62500" lnSpcReduction="20000"/>
          </a:bodyPr>
          <a:lstStyle/>
          <a:p>
            <a:pPr marL="0" indent="0">
              <a:buNone/>
            </a:pPr>
            <a:r>
              <a:rPr lang="fr-FR" sz="2800" b="1" i="1" dirty="0" smtClean="0">
                <a:solidFill>
                  <a:srgbClr val="000000"/>
                </a:solidFill>
                <a:latin typeface="Times New Roman" panose="02020603050405020304" pitchFamily="18" charset="0"/>
                <a:ea typeface="Times New Roman" panose="02020603050405020304" pitchFamily="18" charset="0"/>
              </a:rPr>
              <a:t>Les chercher a commencer de mesurer la concentration des </a:t>
            </a:r>
            <a:r>
              <a:rPr lang="fr-FR" sz="2800" b="1" i="1" dirty="0" smtClean="0">
                <a:solidFill>
                  <a:srgbClr val="FF0000"/>
                </a:solidFill>
                <a:latin typeface="Times New Roman" panose="02020603050405020304" pitchFamily="18" charset="0"/>
                <a:ea typeface="Times New Roman" panose="02020603050405020304" pitchFamily="18" charset="0"/>
              </a:rPr>
              <a:t> Enz de </a:t>
            </a:r>
            <a:r>
              <a:rPr lang="fr-FR" sz="2800" b="1" i="1" dirty="0">
                <a:solidFill>
                  <a:srgbClr val="FF0000"/>
                </a:solidFill>
                <a:latin typeface="Times New Roman" panose="02020603050405020304" pitchFamily="18" charset="0"/>
                <a:ea typeface="Times New Roman" panose="02020603050405020304" pitchFamily="18" charset="0"/>
              </a:rPr>
              <a:t>plasma </a:t>
            </a:r>
            <a:r>
              <a:rPr lang="fr-FR" sz="2800" b="1" i="1" dirty="0">
                <a:solidFill>
                  <a:srgbClr val="000000"/>
                </a:solidFill>
                <a:latin typeface="Times New Roman" panose="02020603050405020304" pitchFamily="18" charset="0"/>
                <a:ea typeface="Times New Roman" panose="02020603050405020304" pitchFamily="18" charset="0"/>
              </a:rPr>
              <a:t>humain </a:t>
            </a:r>
            <a:r>
              <a:rPr lang="fr-FR" sz="2800" b="1" i="1" dirty="0" smtClean="0">
                <a:solidFill>
                  <a:srgbClr val="000000"/>
                </a:solidFill>
                <a:latin typeface="Times New Roman" panose="02020603050405020304" pitchFamily="18" charset="0"/>
                <a:ea typeface="Times New Roman" panose="02020603050405020304" pitchFamily="18" charset="0"/>
              </a:rPr>
              <a:t>dés les </a:t>
            </a:r>
            <a:r>
              <a:rPr lang="fr-FR" sz="2800" b="1" i="1" dirty="0" smtClean="0">
                <a:solidFill>
                  <a:srgbClr val="FF0000"/>
                </a:solidFill>
                <a:latin typeface="Times New Roman" panose="02020603050405020304" pitchFamily="18" charset="0"/>
                <a:ea typeface="Times New Roman" panose="02020603050405020304" pitchFamily="18" charset="0"/>
              </a:rPr>
              <a:t>Années </a:t>
            </a:r>
            <a:r>
              <a:rPr lang="fr-FR" sz="2800" b="1" i="1" dirty="0">
                <a:solidFill>
                  <a:srgbClr val="FF0000"/>
                </a:solidFill>
                <a:latin typeface="Times New Roman" panose="02020603050405020304" pitchFamily="18" charset="0"/>
                <a:ea typeface="Times New Roman" panose="02020603050405020304" pitchFamily="18" charset="0"/>
              </a:rPr>
              <a:t>50</a:t>
            </a:r>
          </a:p>
          <a:p>
            <a:pPr marL="228600">
              <a:buFont typeface="Arial" panose="020B0604020202020204" pitchFamily="34" charset="0"/>
              <a:buChar char="•"/>
            </a:pPr>
            <a:r>
              <a:rPr lang="fr-FR" sz="2800" b="1" dirty="0" smtClean="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Il sont remarquer que la Concertation des Enzs plasma est </a:t>
            </a:r>
            <a:r>
              <a:rPr lang="fr-FR" sz="2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faible</a:t>
            </a:r>
            <a:r>
              <a:rPr lang="fr-FR" sz="2800" b="1" dirty="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 + </a:t>
            </a:r>
            <a:r>
              <a:rPr lang="fr-FR" sz="2800" b="1" dirty="0">
                <a:solidFill>
                  <a:srgbClr val="FF0000"/>
                </a:solidFill>
                <a:latin typeface="Times New Roman" panose="02020603050405020304" pitchFamily="18" charset="0"/>
                <a:ea typeface="Times New Roman" panose="02020603050405020304" pitchFamily="18" charset="0"/>
              </a:rPr>
              <a:t>bien </a:t>
            </a:r>
            <a:r>
              <a:rPr lang="fr-FR" sz="2800" b="1" dirty="0" smtClean="0">
                <a:solidFill>
                  <a:srgbClr val="FF0000"/>
                </a:solidFill>
                <a:latin typeface="Times New Roman" panose="02020603050405020304" pitchFamily="18" charset="0"/>
                <a:ea typeface="Times New Roman" panose="02020603050405020304" pitchFamily="18" charset="0"/>
              </a:rPr>
              <a:t>déterminés (ne change pas)</a:t>
            </a:r>
            <a:endParaRPr lang="fr-FR" sz="2800" b="1" dirty="0">
              <a:solidFill>
                <a:srgbClr val="FF0000"/>
              </a:solidFill>
              <a:latin typeface="Times New Roman" panose="02020603050405020304" pitchFamily="18" charset="0"/>
              <a:ea typeface="Times New Roman" panose="02020603050405020304" pitchFamily="18" charset="0"/>
            </a:endParaRPr>
          </a:p>
          <a:p>
            <a:pPr marL="228600">
              <a:buFont typeface="Arial" panose="020B0604020202020204" pitchFamily="34" charset="0"/>
              <a:buChar char="•"/>
            </a:pPr>
            <a:r>
              <a:rPr lang="fr-FR" sz="2800" b="1" dirty="0">
                <a:solidFill>
                  <a:srgbClr val="000000"/>
                </a:solidFill>
                <a:latin typeface="Times New Roman" panose="02020603050405020304" pitchFamily="18" charset="0"/>
                <a:ea typeface="Times New Roman" panose="02020603050405020304" pitchFamily="18" charset="0"/>
              </a:rPr>
              <a:t>Indication dosage [Enzs]plasma (</a:t>
            </a:r>
            <a:r>
              <a:rPr lang="fr-FR" sz="2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2800" b="1" dirty="0">
                <a:solidFill>
                  <a:srgbClr val="000000"/>
                </a:solidFill>
                <a:latin typeface="Times New Roman" panose="02020603050405020304" pitchFamily="18" charset="0"/>
                <a:ea typeface="Times New Roman" panose="02020603050405020304" pitchFamily="18" charset="0"/>
              </a:rPr>
              <a:t>)</a:t>
            </a:r>
            <a:r>
              <a:rPr lang="fr-FR" sz="2800" b="1" dirty="0">
                <a:solidFill>
                  <a:srgbClr val="000000"/>
                </a:solidFill>
                <a:latin typeface="Abadi" panose="020B0604020104020204" pitchFamily="34" charset="0"/>
                <a:ea typeface="Times New Roman" panose="02020603050405020304" pitchFamily="18" charset="0"/>
              </a:rPr>
              <a:t>→</a:t>
            </a:r>
            <a:r>
              <a:rPr lang="fr-FR" sz="2800" b="1" dirty="0">
                <a:solidFill>
                  <a:srgbClr val="000000"/>
                </a:solidFill>
                <a:latin typeface="Times New Roman" panose="02020603050405020304" pitchFamily="18" charset="0"/>
                <a:ea typeface="Times New Roman" panose="02020603050405020304" pitchFamily="18" charset="0"/>
              </a:rPr>
              <a:t> lésion 1 organe ou 1 </a:t>
            </a:r>
            <a:r>
              <a:rPr lang="fr-FR" sz="2800" b="1" dirty="0" smtClean="0">
                <a:solidFill>
                  <a:srgbClr val="000000"/>
                </a:solidFill>
                <a:latin typeface="Times New Roman" panose="02020603050405020304" pitchFamily="18" charset="0"/>
                <a:ea typeface="Times New Roman" panose="02020603050405020304" pitchFamily="18" charset="0"/>
              </a:rPr>
              <a:t>tissu=&gt; les rechercher en remarquer que la concentration des enzymes dans le sang sont augmenter dans le de lésion d’organe et dans les cas normal sont stable faible et bien déterminés</a:t>
            </a:r>
            <a:endParaRPr lang="fr-FR" sz="2800" b="1" dirty="0">
              <a:latin typeface="Times New Roman" panose="02020603050405020304" pitchFamily="18" charset="0"/>
              <a:ea typeface="Times New Roman" panose="02020603050405020304" pitchFamily="18" charset="0"/>
            </a:endParaRPr>
          </a:p>
          <a:p>
            <a:pPr marL="228600">
              <a:buFont typeface="Arial" panose="020B0604020202020204" pitchFamily="34" charset="0"/>
              <a:buChar char="•"/>
            </a:pPr>
            <a:r>
              <a:rPr lang="fr-FR" sz="2800" b="1" dirty="0" smtClean="0">
                <a:solidFill>
                  <a:srgbClr val="000000"/>
                </a:solidFill>
                <a:latin typeface="Times New Roman" panose="02020603050405020304" pitchFamily="18" charset="0"/>
                <a:ea typeface="Times New Roman" panose="02020603050405020304" pitchFamily="18" charset="0"/>
              </a:rPr>
              <a:t>L’intérêt de doser les enzymes </a:t>
            </a:r>
            <a:r>
              <a:rPr lang="fr-FR" sz="2800" b="1" dirty="0">
                <a:solidFill>
                  <a:srgbClr val="000000"/>
                </a:solidFill>
                <a:latin typeface="Times New Roman" panose="02020603050405020304" pitchFamily="18" charset="0"/>
                <a:ea typeface="Times New Roman" panose="02020603050405020304" pitchFamily="18" charset="0"/>
              </a:rPr>
              <a:t>en biochimie clinque :</a:t>
            </a:r>
            <a:r>
              <a:rPr lang="fr-FR" sz="2800" b="1" dirty="0">
                <a:solidFill>
                  <a:srgbClr val="FF0000"/>
                </a:solidFill>
                <a:latin typeface="Times New Roman" panose="02020603050405020304" pitchFamily="18" charset="0"/>
                <a:ea typeface="Times New Roman" panose="02020603050405020304" pitchFamily="18" charset="0"/>
              </a:rPr>
              <a:t>Grande importance</a:t>
            </a:r>
          </a:p>
          <a:p>
            <a:pPr lvl="1">
              <a:buFont typeface="Wingdings" panose="05000000000000000000" pitchFamily="2" charset="2"/>
              <a:buChar char="Ø"/>
            </a:pPr>
            <a:r>
              <a:rPr lang="fr-FR" sz="2800" b="1" dirty="0">
                <a:solidFill>
                  <a:srgbClr val="000000"/>
                </a:solidFill>
                <a:latin typeface="Times New Roman" panose="02020603050405020304" pitchFamily="18" charset="0"/>
                <a:ea typeface="Times New Roman" panose="02020603050405020304" pitchFamily="18" charset="0"/>
              </a:rPr>
              <a:t>Détecter </a:t>
            </a:r>
            <a:r>
              <a:rPr lang="fr-FR" sz="2800" b="1" dirty="0" smtClean="0">
                <a:solidFill>
                  <a:srgbClr val="000000"/>
                </a:solidFill>
                <a:latin typeface="Times New Roman" panose="02020603050405020304" pitchFamily="18" charset="0"/>
                <a:ea typeface="Times New Roman" panose="02020603050405020304" pitchFamily="18" charset="0"/>
              </a:rPr>
              <a:t>Maladie </a:t>
            </a:r>
            <a:r>
              <a:rPr lang="fr-FR" sz="2800" b="1" dirty="0">
                <a:solidFill>
                  <a:srgbClr val="000000"/>
                </a:solidFill>
                <a:latin typeface="Times New Roman" panose="02020603050405020304" pitchFamily="18" charset="0"/>
                <a:ea typeface="Times New Roman" panose="02020603050405020304" pitchFamily="18" charset="0"/>
              </a:rPr>
              <a:t>avant </a:t>
            </a:r>
            <a:r>
              <a:rPr lang="fr-FR" sz="2800" b="1" dirty="0" smtClean="0">
                <a:solidFill>
                  <a:srgbClr val="000000"/>
                </a:solidFill>
                <a:latin typeface="Times New Roman" panose="02020603050405020304" pitchFamily="18" charset="0"/>
                <a:ea typeface="Times New Roman" panose="02020603050405020304" pitchFamily="18" charset="0"/>
              </a:rPr>
              <a:t>présentation des Signes cliniques=&gt;(dans le cas de fait un dosage standard donc par hasard</a:t>
            </a:r>
            <a:endParaRPr lang="fr-FR" sz="28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Ø"/>
            </a:pPr>
            <a:r>
              <a:rPr lang="fr-FR" sz="2800" b="1" dirty="0">
                <a:solidFill>
                  <a:srgbClr val="000000"/>
                </a:solidFill>
                <a:latin typeface="Times New Roman" panose="02020603050405020304" pitchFamily="18" charset="0"/>
                <a:ea typeface="Times New Roman" panose="02020603050405020304" pitchFamily="18" charset="0"/>
              </a:rPr>
              <a:t>Préciser l’organe </a:t>
            </a:r>
            <a:r>
              <a:rPr lang="fr-FR" sz="2800" b="1" dirty="0" smtClean="0">
                <a:solidFill>
                  <a:srgbClr val="000000"/>
                </a:solidFill>
                <a:latin typeface="Times New Roman" panose="02020603050405020304" pitchFamily="18" charset="0"/>
                <a:ea typeface="Times New Roman" panose="02020603050405020304" pitchFamily="18" charset="0"/>
              </a:rPr>
              <a:t>lésé=&gt; par ex=&gt;si +++ de transaminases ASAT =&gt;problème musculaire(squelettique ou cardiaque dans ce cas précise le tissu pas l’organe)</a:t>
            </a:r>
            <a:endParaRPr lang="fr-FR" sz="28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Ø"/>
            </a:pPr>
            <a:r>
              <a:rPr lang="fr-FR" sz="2800" b="1" dirty="0">
                <a:solidFill>
                  <a:srgbClr val="000000"/>
                </a:solidFill>
                <a:latin typeface="Times New Roman" panose="02020603050405020304" pitchFamily="18" charset="0"/>
                <a:ea typeface="Times New Roman" panose="02020603050405020304" pitchFamily="18" charset="0"/>
              </a:rPr>
              <a:t>Bon marqueur d’évolution </a:t>
            </a:r>
            <a:r>
              <a:rPr lang="fr-FR" sz="2800" b="1" dirty="0" smtClean="0">
                <a:solidFill>
                  <a:srgbClr val="000000"/>
                </a:solidFill>
                <a:latin typeface="Times New Roman" panose="02020603050405020304" pitchFamily="18" charset="0"/>
                <a:ea typeface="Times New Roman" panose="02020603050405020304" pitchFamily="18" charset="0"/>
              </a:rPr>
              <a:t>Maladie </a:t>
            </a:r>
            <a:r>
              <a:rPr lang="fr-FR" sz="2800" b="1" dirty="0">
                <a:solidFill>
                  <a:srgbClr val="000000"/>
                </a:solidFill>
                <a:latin typeface="Times New Roman" panose="02020603050405020304" pitchFamily="18" charset="0"/>
                <a:ea typeface="Times New Roman" panose="02020603050405020304" pitchFamily="18" charset="0"/>
              </a:rPr>
              <a:t>(Pronostic</a:t>
            </a:r>
            <a:r>
              <a:rPr lang="fr-FR" sz="2800" b="1" dirty="0" smtClean="0">
                <a:solidFill>
                  <a:srgbClr val="000000"/>
                </a:solidFill>
                <a:latin typeface="Times New Roman" panose="02020603050405020304" pitchFamily="18" charset="0"/>
                <a:ea typeface="Times New Roman" panose="02020603050405020304" pitchFamily="18" charset="0"/>
              </a:rPr>
              <a:t>)=&gt;si est il très élève =&gt;mauvais pronostique//</a:t>
            </a:r>
            <a:r>
              <a:rPr lang="fr-FR" sz="2800" b="1" dirty="0">
                <a:solidFill>
                  <a:srgbClr val="000000"/>
                </a:solidFill>
                <a:latin typeface="Times New Roman" panose="02020603050405020304" pitchFamily="18" charset="0"/>
                <a:ea typeface="Times New Roman" panose="02020603050405020304" pitchFamily="18" charset="0"/>
              </a:rPr>
              <a:t>p</a:t>
            </a:r>
            <a:r>
              <a:rPr lang="fr-FR" sz="2800" b="1" dirty="0" smtClean="0">
                <a:solidFill>
                  <a:srgbClr val="000000"/>
                </a:solidFill>
                <a:latin typeface="Times New Roman" panose="02020603050405020304" pitchFamily="18" charset="0"/>
                <a:ea typeface="Times New Roman" panose="02020603050405020304" pitchFamily="18" charset="0"/>
              </a:rPr>
              <a:t>eu élève =&gt; bon pronostique</a:t>
            </a:r>
            <a:endParaRPr lang="fr-FR" sz="2800" b="1" dirty="0">
              <a:solidFill>
                <a:srgbClr val="000000"/>
              </a:solidFill>
              <a:latin typeface="Times New Roman" panose="02020603050405020304" pitchFamily="18" charset="0"/>
              <a:ea typeface="Times New Roman" panose="02020603050405020304" pitchFamily="18" charset="0"/>
            </a:endParaRPr>
          </a:p>
          <a:p>
            <a:pPr lvl="1">
              <a:buFont typeface="Wingdings" panose="05000000000000000000" pitchFamily="2" charset="2"/>
              <a:buChar char="Ø"/>
            </a:pPr>
            <a:r>
              <a:rPr lang="fr-FR" sz="2800" b="1" dirty="0">
                <a:solidFill>
                  <a:srgbClr val="000000"/>
                </a:solidFill>
                <a:latin typeface="Times New Roman" panose="02020603050405020304" pitchFamily="18" charset="0"/>
                <a:ea typeface="Times New Roman" panose="02020603050405020304" pitchFamily="18" charset="0"/>
              </a:rPr>
              <a:t>Déceler / confirmer des déficits Enz :</a:t>
            </a:r>
            <a:r>
              <a:rPr lang="fr-FR" sz="2800" b="1" dirty="0" smtClean="0">
                <a:solidFill>
                  <a:srgbClr val="000000"/>
                </a:solidFill>
                <a:latin typeface="Times New Roman" panose="02020603050405020304" pitchFamily="18" charset="0"/>
                <a:ea typeface="Times New Roman" panose="02020603050405020304" pitchFamily="18" charset="0"/>
              </a:rPr>
              <a:t>Maladies </a:t>
            </a:r>
            <a:r>
              <a:rPr lang="fr-FR" sz="2800" b="1" dirty="0">
                <a:solidFill>
                  <a:srgbClr val="000000"/>
                </a:solidFill>
                <a:latin typeface="Times New Roman" panose="02020603050405020304" pitchFamily="18" charset="0"/>
                <a:ea typeface="Times New Roman" panose="02020603050405020304" pitchFamily="18" charset="0"/>
              </a:rPr>
              <a:t>métaboliques </a:t>
            </a:r>
            <a:r>
              <a:rPr lang="fr-FR" sz="2800" b="1" dirty="0" smtClean="0">
                <a:solidFill>
                  <a:srgbClr val="000000"/>
                </a:solidFill>
                <a:latin typeface="Times New Roman" panose="02020603050405020304" pitchFamily="18" charset="0"/>
                <a:ea typeface="Times New Roman" panose="02020603050405020304" pitchFamily="18" charset="0"/>
              </a:rPr>
              <a:t>héréditaires=&gt; dans le cas au l’enzyme=0 (les gênes mutée) qui code pour ce enzyme synthétise un autre protéine qui n’a pas d’activité enzymatique</a:t>
            </a:r>
            <a:endParaRPr lang="fr-FR" sz="2800" b="1" dirty="0">
              <a:latin typeface="Times New Roman" panose="02020603050405020304" pitchFamily="18" charset="0"/>
              <a:ea typeface="Times New Roman" panose="02020603050405020304" pitchFamily="18" charset="0"/>
            </a:endParaRPr>
          </a:p>
          <a:p>
            <a:pPr marL="514350" lvl="1" indent="0">
              <a:buNone/>
            </a:pPr>
            <a:r>
              <a:rPr lang="fr-FR" sz="2000" b="1" dirty="0">
                <a:solidFill>
                  <a:srgbClr val="000000"/>
                </a:solidFill>
                <a:latin typeface="Times New Roman" panose="02020603050405020304" pitchFamily="18" charset="0"/>
                <a:ea typeface="Times New Roman" panose="02020603050405020304" pitchFamily="18" charset="0"/>
              </a:rPr>
              <a:t> </a:t>
            </a:r>
            <a:r>
              <a:rPr lang="fr-FR" sz="2000" b="1" dirty="0" smtClean="0">
                <a:solidFill>
                  <a:srgbClr val="000000"/>
                </a:solidFill>
                <a:latin typeface="Times New Roman" panose="02020603050405020304" pitchFamily="18" charset="0"/>
                <a:ea typeface="Times New Roman" panose="02020603050405020304" pitchFamily="18" charset="0"/>
              </a:rPr>
              <a:t> </a:t>
            </a:r>
            <a:endParaRPr lang="fr-FR" sz="2000" b="1"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25025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FAD537A-DB2A-4BA1-85B2-63C9F33026F0}"/>
              </a:ext>
            </a:extLst>
          </p:cNvPr>
          <p:cNvSpPr>
            <a:spLocks noGrp="1"/>
          </p:cNvSpPr>
          <p:nvPr>
            <p:ph type="title"/>
          </p:nvPr>
        </p:nvSpPr>
        <p:spPr>
          <a:xfrm>
            <a:off x="677333" y="609600"/>
            <a:ext cx="9632857" cy="1320800"/>
          </a:xfrm>
        </p:spPr>
        <p:txBody>
          <a:bodyPr/>
          <a:lstStyle/>
          <a:p>
            <a:pPr algn="ctr"/>
            <a:r>
              <a:rPr lang="fr-FR" b="1" dirty="0">
                <a:latin typeface="Times New Roman" panose="02020603050405020304" pitchFamily="18" charset="0"/>
                <a:ea typeface="Times New Roman" panose="02020603050405020304" pitchFamily="18" charset="0"/>
              </a:rPr>
              <a:t>ORIGINES ET VARIATIONS DES ENZYMES DANS LE PLASMA</a:t>
            </a:r>
            <a:endParaRPr lang="fr-FR" dirty="0"/>
          </a:p>
        </p:txBody>
      </p:sp>
      <p:sp>
        <p:nvSpPr>
          <p:cNvPr id="3" name="Espace réservé du contenu 2">
            <a:extLst>
              <a:ext uri="{FF2B5EF4-FFF2-40B4-BE49-F238E27FC236}">
                <a16:creationId xmlns="" xmlns:a16="http://schemas.microsoft.com/office/drawing/2014/main" id="{2AE195B9-4EA1-4A83-9BEB-243B619B4E4F}"/>
              </a:ext>
            </a:extLst>
          </p:cNvPr>
          <p:cNvSpPr>
            <a:spLocks noGrp="1"/>
          </p:cNvSpPr>
          <p:nvPr>
            <p:ph idx="1"/>
          </p:nvPr>
        </p:nvSpPr>
        <p:spPr/>
        <p:txBody>
          <a:bodyPr/>
          <a:lstStyle/>
          <a:p>
            <a:endParaRPr lang="fr-FR" dirty="0"/>
          </a:p>
        </p:txBody>
      </p:sp>
      <p:sp>
        <p:nvSpPr>
          <p:cNvPr id="6" name="Rectangle : coins arrondis 5">
            <a:extLst>
              <a:ext uri="{FF2B5EF4-FFF2-40B4-BE49-F238E27FC236}">
                <a16:creationId xmlns="" xmlns:a16="http://schemas.microsoft.com/office/drawing/2014/main" id="{99D95669-9EA9-4AE6-9429-2EF6BD9780EA}"/>
              </a:ext>
            </a:extLst>
          </p:cNvPr>
          <p:cNvSpPr/>
          <p:nvPr/>
        </p:nvSpPr>
        <p:spPr>
          <a:xfrm>
            <a:off x="105071" y="1880044"/>
            <a:ext cx="4570527" cy="14042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cs typeface="Times New Roman" panose="02020603050405020304" pitchFamily="18" charset="0"/>
              </a:rPr>
              <a:t>Les enzymes spécifiquement </a:t>
            </a:r>
            <a:r>
              <a:rPr lang="fr-FR" sz="2400" b="1" dirty="0" smtClean="0">
                <a:latin typeface="Times New Roman" panose="02020603050405020304" pitchFamily="18" charset="0"/>
                <a:cs typeface="Times New Roman" panose="02020603050405020304" pitchFamily="18" charset="0"/>
              </a:rPr>
              <a:t>plasmatiques</a:t>
            </a:r>
            <a:r>
              <a:rPr lang="fr-FR" sz="2400" b="1" dirty="0">
                <a:latin typeface="Times New Roman" panose="02020603050405020304" pitchFamily="18" charset="0"/>
                <a:cs typeface="Times New Roman" panose="02020603050405020304" pitchFamily="18" charset="0"/>
              </a:rPr>
              <a:t> </a:t>
            </a:r>
            <a:endParaRPr lang="fr-FR" sz="2400" b="1" dirty="0" smtClean="0">
              <a:latin typeface="Times New Roman" panose="02020603050405020304" pitchFamily="18" charset="0"/>
              <a:cs typeface="Times New Roman" panose="02020603050405020304" pitchFamily="18" charset="0"/>
            </a:endParaRPr>
          </a:p>
          <a:p>
            <a:pPr algn="ctr"/>
            <a:r>
              <a:rPr lang="fr-FR" sz="2400" b="1" dirty="0" smtClean="0">
                <a:latin typeface="Times New Roman" panose="02020603050405020304" pitchFamily="18" charset="0"/>
                <a:cs typeface="Times New Roman" panose="02020603050405020304" pitchFamily="18" charset="0"/>
              </a:rPr>
              <a:t>=&gt; </a:t>
            </a:r>
            <a:r>
              <a:rPr lang="fr-FR" sz="1600" b="1" dirty="0" smtClean="0">
                <a:latin typeface="Times New Roman" panose="02020603050405020304" pitchFamily="18" charset="0"/>
                <a:cs typeface="Times New Roman" panose="02020603050405020304" pitchFamily="18" charset="0"/>
              </a:rPr>
              <a:t>des enzymes qui catalyses les réactions au niveau du plasma</a:t>
            </a:r>
            <a:endParaRPr lang="fr-FR" sz="2400" dirty="0">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 xmlns:a16="http://schemas.microsoft.com/office/drawing/2014/main" id="{46C3AEE8-E3FB-4BA4-82F9-3F32C74AB1B2}"/>
              </a:ext>
            </a:extLst>
          </p:cNvPr>
          <p:cNvSpPr/>
          <p:nvPr/>
        </p:nvSpPr>
        <p:spPr>
          <a:xfrm>
            <a:off x="6098317" y="1751811"/>
            <a:ext cx="4975667" cy="1498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Times New Roman" panose="02020603050405020304" pitchFamily="18" charset="0"/>
              </a:rPr>
              <a:t>Les enzymes non </a:t>
            </a:r>
            <a:r>
              <a:rPr lang="fr-FR" sz="2400" b="1" dirty="0" smtClean="0">
                <a:latin typeface="Times New Roman" panose="02020603050405020304" pitchFamily="18" charset="0"/>
                <a:ea typeface="Times New Roman" panose="02020603050405020304" pitchFamily="18" charset="0"/>
              </a:rPr>
              <a:t>plasmatiques</a:t>
            </a:r>
          </a:p>
          <a:p>
            <a:pPr algn="ctr"/>
            <a:r>
              <a:rPr lang="fr-FR" sz="1600" b="1" dirty="0" smtClean="0">
                <a:latin typeface="Times New Roman" panose="02020603050405020304" pitchFamily="18" charset="0"/>
                <a:ea typeface="Times New Roman" panose="02020603050405020304" pitchFamily="18" charset="0"/>
              </a:rPr>
              <a:t>=&gt;n’agisse pas au plasma</a:t>
            </a:r>
            <a:r>
              <a:rPr lang="fr-FR" sz="2400" dirty="0">
                <a:latin typeface="Times New Roman" panose="02020603050405020304" pitchFamily="18" charset="0"/>
                <a:ea typeface="Times New Roman" panose="02020603050405020304" pitchFamily="18" charset="0"/>
              </a:rPr>
              <a:t> </a:t>
            </a:r>
            <a:endParaRPr lang="fr-FR" sz="2400" dirty="0" smtClean="0">
              <a:latin typeface="Times New Roman" panose="02020603050405020304" pitchFamily="18" charset="0"/>
              <a:ea typeface="Times New Roman" panose="02020603050405020304" pitchFamily="18" charset="0"/>
            </a:endParaRPr>
          </a:p>
        </p:txBody>
      </p:sp>
      <p:sp>
        <p:nvSpPr>
          <p:cNvPr id="8" name="Rectangle : coins arrondis 7">
            <a:extLst>
              <a:ext uri="{FF2B5EF4-FFF2-40B4-BE49-F238E27FC236}">
                <a16:creationId xmlns="" xmlns:a16="http://schemas.microsoft.com/office/drawing/2014/main" id="{BCEC3F0A-0C52-447C-B5C6-4E340E5356E0}"/>
              </a:ext>
            </a:extLst>
          </p:cNvPr>
          <p:cNvSpPr/>
          <p:nvPr/>
        </p:nvSpPr>
        <p:spPr>
          <a:xfrm>
            <a:off x="1050" y="3320417"/>
            <a:ext cx="5213995" cy="212033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fr-FR" sz="2400" dirty="0" smtClean="0">
                <a:solidFill>
                  <a:schemeClr val="tx2"/>
                </a:solidFill>
                <a:latin typeface="Times New Roman" panose="02020603050405020304" pitchFamily="18" charset="0"/>
                <a:ea typeface="Times New Roman" panose="02020603050405020304" pitchFamily="18" charset="0"/>
              </a:rPr>
              <a:t>Lieu </a:t>
            </a:r>
            <a:r>
              <a:rPr lang="fr-FR" sz="2400" dirty="0">
                <a:solidFill>
                  <a:schemeClr val="tx2"/>
                </a:solidFill>
                <a:latin typeface="Times New Roman" panose="02020603050405020304" pitchFamily="18" charset="0"/>
                <a:ea typeface="Times New Roman" panose="02020603050405020304" pitchFamily="18" charset="0"/>
              </a:rPr>
              <a:t>de la fonction Enz : le plasma</a:t>
            </a:r>
          </a:p>
          <a:p>
            <a:pPr marL="285750" indent="-285750">
              <a:buFont typeface="Wingdings" panose="05000000000000000000" pitchFamily="2" charset="2"/>
              <a:buChar char="ü"/>
            </a:pPr>
            <a:r>
              <a:rPr lang="fr-FR" sz="2400" b="1" dirty="0" err="1">
                <a:solidFill>
                  <a:schemeClr val="tx2"/>
                </a:solidFill>
                <a:latin typeface="Times New Roman" panose="02020603050405020304" pitchFamily="18" charset="0"/>
                <a:ea typeface="Times New Roman" panose="02020603050405020304" pitchFamily="18" charset="0"/>
              </a:rPr>
              <a:t>Exp</a:t>
            </a:r>
            <a:r>
              <a:rPr lang="fr-FR" sz="2400" dirty="0">
                <a:solidFill>
                  <a:schemeClr val="tx2"/>
                </a:solidFill>
                <a:latin typeface="Times New Roman" panose="02020603050405020304" pitchFamily="18" charset="0"/>
                <a:ea typeface="Times New Roman" panose="02020603050405020304" pitchFamily="18" charset="0"/>
              </a:rPr>
              <a:t>: lipoprotéine lipase, rénine, Enz coagulation </a:t>
            </a:r>
          </a:p>
          <a:p>
            <a:pPr lvl="1"/>
            <a:r>
              <a:rPr lang="fr-FR" sz="2400" dirty="0">
                <a:solidFill>
                  <a:schemeClr val="tx2"/>
                </a:solidFill>
                <a:latin typeface="Times New Roman" panose="02020603050405020304" pitchFamily="18" charset="0"/>
                <a:ea typeface="Times New Roman" panose="02020603050405020304" pitchFamily="18" charset="0"/>
              </a:rPr>
              <a:t>-Libérés dans le plasma </a:t>
            </a:r>
            <a:r>
              <a:rPr lang="fr-FR" sz="2400" dirty="0">
                <a:solidFill>
                  <a:schemeClr val="tx2"/>
                </a:solidFill>
                <a:latin typeface="Abadi" panose="020B0604020104020204" pitchFamily="34" charset="0"/>
                <a:ea typeface="Times New Roman" panose="02020603050405020304" pitchFamily="18" charset="0"/>
              </a:rPr>
              <a:t>→</a:t>
            </a:r>
            <a:r>
              <a:rPr lang="fr-FR" sz="2400" dirty="0">
                <a:solidFill>
                  <a:schemeClr val="tx2"/>
                </a:solidFill>
                <a:latin typeface="Times New Roman" panose="02020603050405020304" pitchFamily="18" charset="0"/>
                <a:ea typeface="Times New Roman" panose="02020603050405020304" pitchFamily="18" charset="0"/>
              </a:rPr>
              <a:t> rôles </a:t>
            </a:r>
            <a:r>
              <a:rPr lang="fr-FR" sz="2400" dirty="0" smtClean="0">
                <a:solidFill>
                  <a:schemeClr val="tx2"/>
                </a:solidFill>
                <a:latin typeface="Times New Roman" panose="02020603050405020304" pitchFamily="18" charset="0"/>
                <a:ea typeface="Times New Roman" panose="02020603050405020304" pitchFamily="18" charset="0"/>
              </a:rPr>
              <a:t>physiologiques au plasma</a:t>
            </a:r>
            <a:endParaRPr lang="fr-FR" sz="2400" dirty="0">
              <a:solidFill>
                <a:schemeClr val="tx2"/>
              </a:solidFill>
              <a:latin typeface="Times New Roman" panose="02020603050405020304" pitchFamily="18" charset="0"/>
              <a:ea typeface="Times New Roman" panose="02020603050405020304" pitchFamily="18" charset="0"/>
            </a:endParaRPr>
          </a:p>
          <a:p>
            <a:pPr algn="ctr"/>
            <a:endParaRPr lang="fr-FR" dirty="0">
              <a:solidFill>
                <a:schemeClr val="tx2"/>
              </a:solidFill>
            </a:endParaRPr>
          </a:p>
        </p:txBody>
      </p:sp>
      <p:sp>
        <p:nvSpPr>
          <p:cNvPr id="9" name="Rectangle : coins arrondis 8">
            <a:extLst>
              <a:ext uri="{FF2B5EF4-FFF2-40B4-BE49-F238E27FC236}">
                <a16:creationId xmlns="" xmlns:a16="http://schemas.microsoft.com/office/drawing/2014/main" id="{8955EC22-ACCD-499C-95E8-A11FF50BF7C9}"/>
              </a:ext>
            </a:extLst>
          </p:cNvPr>
          <p:cNvSpPr/>
          <p:nvPr/>
        </p:nvSpPr>
        <p:spPr>
          <a:xfrm>
            <a:off x="6098317" y="3040801"/>
            <a:ext cx="5847782" cy="259799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buFont typeface="Wingdings" panose="05000000000000000000" pitchFamily="2" charset="2"/>
              <a:buChar char="ü"/>
            </a:pPr>
            <a:r>
              <a:rPr lang="fr-FR" sz="2400" dirty="0">
                <a:solidFill>
                  <a:schemeClr val="tx2"/>
                </a:solidFill>
                <a:latin typeface="Times New Roman" panose="02020603050405020304" pitchFamily="18" charset="0"/>
                <a:cs typeface="Times New Roman" panose="02020603050405020304" pitchFamily="18" charset="0"/>
              </a:rPr>
              <a:t>Lieu de la fonction Enz : n’est pas plasmatique</a:t>
            </a:r>
          </a:p>
          <a:p>
            <a:pPr marL="285750" lvl="0" indent="-285750">
              <a:buFont typeface="Wingdings" panose="05000000000000000000" pitchFamily="2" charset="2"/>
              <a:buChar char="ü"/>
            </a:pPr>
            <a:r>
              <a:rPr lang="fr-FR" sz="2400" dirty="0" smtClean="0">
                <a:solidFill>
                  <a:srgbClr val="2C3C43"/>
                </a:solidFill>
                <a:latin typeface="Times New Roman" panose="02020603050405020304" pitchFamily="18" charset="0"/>
                <a:ea typeface="Times New Roman" panose="02020603050405020304" pitchFamily="18" charset="0"/>
              </a:rPr>
              <a:t>S-Physiologique </a:t>
            </a:r>
            <a:r>
              <a:rPr lang="fr-FR" sz="2400" dirty="0">
                <a:solidFill>
                  <a:srgbClr val="2C3C43"/>
                </a:solidFill>
                <a:latin typeface="Times New Roman" panose="02020603050405020304" pitchFamily="18" charset="0"/>
                <a:ea typeface="Times New Roman" panose="02020603050405020304" pitchFamily="18" charset="0"/>
              </a:rPr>
              <a:t>→ </a:t>
            </a:r>
            <a:r>
              <a:rPr lang="fr-FR" sz="24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[Enz</a:t>
            </a:r>
            <a:r>
              <a:rPr lang="fr-FR" sz="2400" dirty="0" smtClean="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 au plasma </a:t>
            </a:r>
            <a:r>
              <a:rPr lang="fr-FR" sz="24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faible (</a:t>
            </a:r>
            <a:r>
              <a:rPr lang="fr-FR" sz="2400" dirty="0" smtClean="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renouvellement cellulaire (après effectue le rôle vont être dégrader </a:t>
            </a:r>
            <a:r>
              <a:rPr lang="fr-FR" sz="24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 N)</a:t>
            </a:r>
          </a:p>
          <a:p>
            <a:pPr marL="285750" lvl="0" indent="-285750">
              <a:buFont typeface="Wingdings" panose="05000000000000000000" pitchFamily="2" charset="2"/>
              <a:buChar char="ü"/>
            </a:pPr>
            <a:r>
              <a:rPr lang="fr-FR" sz="2400" dirty="0" smtClean="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S-Pathologiques</a:t>
            </a:r>
            <a:r>
              <a:rPr lang="fr-FR" sz="2400" dirty="0" smtClean="0">
                <a:solidFill>
                  <a:srgbClr val="2C3C43"/>
                </a:solidFill>
                <a:latin typeface="Abadi" panose="020B0604020104020204" pitchFamily="34" charset="0"/>
                <a:ea typeface="Times New Roman" panose="02020603050405020304" pitchFamily="18" charset="0"/>
              </a:rPr>
              <a:t> </a:t>
            </a:r>
            <a:r>
              <a:rPr lang="fr-FR" sz="2400" dirty="0">
                <a:solidFill>
                  <a:srgbClr val="2C3C43"/>
                </a:solidFill>
                <a:latin typeface="Abadi" panose="020B0604020104020204" pitchFamily="34" charset="0"/>
                <a:ea typeface="Times New Roman" panose="02020603050405020304" pitchFamily="18" charset="0"/>
              </a:rPr>
              <a:t>→</a:t>
            </a:r>
            <a:r>
              <a:rPr lang="fr-FR" sz="2400" dirty="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[Enz</a:t>
            </a:r>
            <a:r>
              <a:rPr lang="fr-FR" sz="2400" dirty="0" smtClean="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 plasma ↑</a:t>
            </a:r>
            <a:endParaRPr lang="fr-FR" sz="2400" dirty="0">
              <a:solidFill>
                <a:schemeClr val="tx2"/>
              </a:solidFill>
            </a:endParaRPr>
          </a:p>
        </p:txBody>
      </p:sp>
      <p:cxnSp>
        <p:nvCxnSpPr>
          <p:cNvPr id="11" name="Connecteur droit avec flèche 10">
            <a:extLst>
              <a:ext uri="{FF2B5EF4-FFF2-40B4-BE49-F238E27FC236}">
                <a16:creationId xmlns="" xmlns:a16="http://schemas.microsoft.com/office/drawing/2014/main" id="{22DCD01E-61D2-4973-8322-7A0511365C52}"/>
              </a:ext>
            </a:extLst>
          </p:cNvPr>
          <p:cNvCxnSpPr>
            <a:cxnSpLocks/>
          </p:cNvCxnSpPr>
          <p:nvPr/>
        </p:nvCxnSpPr>
        <p:spPr>
          <a:xfrm>
            <a:off x="4731026" y="2637667"/>
            <a:ext cx="12553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 xmlns:a16="http://schemas.microsoft.com/office/drawing/2014/main" id="{C3A3B244-ED97-4F98-A37D-ABE7F6AA6232}"/>
              </a:ext>
            </a:extLst>
          </p:cNvPr>
          <p:cNvCxnSpPr/>
          <p:nvPr/>
        </p:nvCxnSpPr>
        <p:spPr>
          <a:xfrm>
            <a:off x="5358717" y="1789043"/>
            <a:ext cx="0" cy="8486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120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FAD537A-DB2A-4BA1-85B2-63C9F33026F0}"/>
              </a:ext>
            </a:extLst>
          </p:cNvPr>
          <p:cNvSpPr>
            <a:spLocks noGrp="1"/>
          </p:cNvSpPr>
          <p:nvPr>
            <p:ph type="title"/>
          </p:nvPr>
        </p:nvSpPr>
        <p:spPr>
          <a:xfrm>
            <a:off x="677333" y="609600"/>
            <a:ext cx="9632857" cy="1320800"/>
          </a:xfrm>
        </p:spPr>
        <p:txBody>
          <a:bodyPr/>
          <a:lstStyle/>
          <a:p>
            <a:pPr algn="ctr"/>
            <a:r>
              <a:rPr lang="fr-FR" b="1" dirty="0">
                <a:latin typeface="Times New Roman" panose="02020603050405020304" pitchFamily="18" charset="0"/>
                <a:ea typeface="Times New Roman" panose="02020603050405020304" pitchFamily="18" charset="0"/>
              </a:rPr>
              <a:t>ORIGINES ET VARIATIONS DES ENZYMES DANS LE PLASMA</a:t>
            </a:r>
            <a:endParaRPr lang="fr-FR" dirty="0"/>
          </a:p>
        </p:txBody>
      </p:sp>
      <p:sp>
        <p:nvSpPr>
          <p:cNvPr id="6" name="Rectangle : coins arrondis 5">
            <a:extLst>
              <a:ext uri="{FF2B5EF4-FFF2-40B4-BE49-F238E27FC236}">
                <a16:creationId xmlns="" xmlns:a16="http://schemas.microsoft.com/office/drawing/2014/main" id="{99D95669-9EA9-4AE6-9429-2EF6BD9780EA}"/>
              </a:ext>
            </a:extLst>
          </p:cNvPr>
          <p:cNvSpPr/>
          <p:nvPr/>
        </p:nvSpPr>
        <p:spPr>
          <a:xfrm>
            <a:off x="6230782" y="2585289"/>
            <a:ext cx="5855042" cy="92238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2"/>
                </a:solidFill>
                <a:latin typeface="Times New Roman" panose="02020603050405020304" pitchFamily="18" charset="0"/>
                <a:cs typeface="Times New Roman" panose="02020603050405020304" pitchFamily="18" charset="0"/>
              </a:rPr>
              <a:t>Les enzymes du métabolisme ₡</a:t>
            </a:r>
            <a:endParaRPr lang="fr-FR" sz="2400" dirty="0">
              <a:solidFill>
                <a:schemeClr val="tx2"/>
              </a:solidFill>
              <a:latin typeface="Times New Roman" panose="02020603050405020304" pitchFamily="18" charset="0"/>
              <a:cs typeface="Times New Roman" panose="02020603050405020304" pitchFamily="18" charset="0"/>
            </a:endParaRPr>
          </a:p>
          <a:p>
            <a:pPr lvl="0" algn="ctr"/>
            <a:r>
              <a:rPr lang="fr-FR" sz="2400" b="1" dirty="0" smtClean="0">
                <a:solidFill>
                  <a:schemeClr val="tx2"/>
                </a:solidFill>
                <a:latin typeface="Times New Roman" panose="02020603050405020304" pitchFamily="18" charset="0"/>
                <a:cs typeface="Times New Roman" panose="02020603050405020304" pitchFamily="18" charset="0"/>
              </a:rPr>
              <a:t> (tissulaire)</a:t>
            </a:r>
            <a:endParaRPr kumimoji="0" lang="fr-FR" sz="24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7" name="Rectangle : coins arrondis 6">
            <a:extLst>
              <a:ext uri="{FF2B5EF4-FFF2-40B4-BE49-F238E27FC236}">
                <a16:creationId xmlns="" xmlns:a16="http://schemas.microsoft.com/office/drawing/2014/main" id="{46C3AEE8-E3FB-4BA4-82F9-3F32C74AB1B2}"/>
              </a:ext>
            </a:extLst>
          </p:cNvPr>
          <p:cNvSpPr/>
          <p:nvPr/>
        </p:nvSpPr>
        <p:spPr>
          <a:xfrm>
            <a:off x="2756453" y="1856775"/>
            <a:ext cx="4406348" cy="8486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mn-cs"/>
              </a:rPr>
              <a:t>Les enzymes non plasmatiques</a:t>
            </a:r>
            <a:r>
              <a:rPr kumimoji="0" lang="fr-FR" sz="2400" b="0" i="0" u="none" strike="noStrike" kern="120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mn-cs"/>
              </a:rPr>
              <a:t> </a:t>
            </a:r>
            <a:endParaRPr kumimoji="0" lang="fr-FR" sz="24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9" name="Rectangle : coins arrondis 8">
            <a:extLst>
              <a:ext uri="{FF2B5EF4-FFF2-40B4-BE49-F238E27FC236}">
                <a16:creationId xmlns="" xmlns:a16="http://schemas.microsoft.com/office/drawing/2014/main" id="{8955EC22-ACCD-499C-95E8-A11FF50BF7C9}"/>
              </a:ext>
            </a:extLst>
          </p:cNvPr>
          <p:cNvSpPr/>
          <p:nvPr/>
        </p:nvSpPr>
        <p:spPr>
          <a:xfrm>
            <a:off x="66052" y="2585289"/>
            <a:ext cx="3622050" cy="65709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fr-FR" sz="2400" b="1" dirty="0">
                <a:solidFill>
                  <a:schemeClr val="tx2"/>
                </a:solidFill>
                <a:latin typeface="Times New Roman" panose="02020603050405020304" pitchFamily="18" charset="0"/>
                <a:ea typeface="Times New Roman" panose="02020603050405020304" pitchFamily="18" charset="0"/>
              </a:rPr>
              <a:t>Les enzymes de sécrétion </a:t>
            </a:r>
            <a:endParaRPr kumimoji="0" lang="fr-FR" sz="2400" b="0" i="0" u="none" strike="noStrike" kern="1200" cap="none" spc="0" normalizeH="0" baseline="0" noProof="0" dirty="0">
              <a:ln>
                <a:noFill/>
              </a:ln>
              <a:solidFill>
                <a:schemeClr val="tx2"/>
              </a:solidFill>
              <a:effectLst/>
              <a:uLnTx/>
              <a:uFillTx/>
              <a:latin typeface="Trebuchet MS" panose="020B0603020202020204"/>
              <a:ea typeface="+mn-ea"/>
              <a:cs typeface="+mn-cs"/>
            </a:endParaRPr>
          </a:p>
        </p:txBody>
      </p:sp>
      <p:cxnSp>
        <p:nvCxnSpPr>
          <p:cNvPr id="11" name="Connecteur droit avec flèche 10">
            <a:extLst>
              <a:ext uri="{FF2B5EF4-FFF2-40B4-BE49-F238E27FC236}">
                <a16:creationId xmlns="" xmlns:a16="http://schemas.microsoft.com/office/drawing/2014/main" id="{22DCD01E-61D2-4973-8322-7A0511365C52}"/>
              </a:ext>
            </a:extLst>
          </p:cNvPr>
          <p:cNvCxnSpPr>
            <a:cxnSpLocks/>
          </p:cNvCxnSpPr>
          <p:nvPr/>
        </p:nvCxnSpPr>
        <p:spPr>
          <a:xfrm>
            <a:off x="3622050" y="3261145"/>
            <a:ext cx="189275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 xmlns:a16="http://schemas.microsoft.com/office/drawing/2014/main" id="{C3A3B244-ED97-4F98-A37D-ABE7F6AA6232}"/>
              </a:ext>
            </a:extLst>
          </p:cNvPr>
          <p:cNvCxnSpPr>
            <a:cxnSpLocks/>
          </p:cNvCxnSpPr>
          <p:nvPr/>
        </p:nvCxnSpPr>
        <p:spPr>
          <a:xfrm>
            <a:off x="4568425" y="2667308"/>
            <a:ext cx="0" cy="552970"/>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 xmlns:a16="http://schemas.microsoft.com/office/drawing/2014/main" id="{2F2FE063-E13F-4DD7-92C2-1BBCF6AF88CB}"/>
              </a:ext>
            </a:extLst>
          </p:cNvPr>
          <p:cNvSpPr/>
          <p:nvPr/>
        </p:nvSpPr>
        <p:spPr>
          <a:xfrm>
            <a:off x="-21453" y="3261146"/>
            <a:ext cx="5063066" cy="378792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Wingdings" panose="05000000000000000000" pitchFamily="2" charset="2"/>
              <a:buChar char="ü"/>
            </a:pPr>
            <a:r>
              <a:rPr lang="fr-FR" b="1" dirty="0" smtClean="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Synthétisé au niveau des Glandes </a:t>
            </a:r>
            <a:r>
              <a:rPr lang="fr-FR" b="1" dirty="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exocrines</a:t>
            </a:r>
          </a:p>
          <a:p>
            <a:pPr marL="342900" lvl="0" indent="-342900">
              <a:buFont typeface="Wingdings" panose="05000000000000000000" pitchFamily="2" charset="2"/>
              <a:buChar char="ü"/>
            </a:pPr>
            <a:r>
              <a:rPr lang="fr-FR" b="1" dirty="0" err="1">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Exp</a:t>
            </a:r>
            <a:r>
              <a:rPr lang="fr-FR" b="1" dirty="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 : Amylase , Lipase (pancréas)</a:t>
            </a:r>
          </a:p>
          <a:p>
            <a:pPr marL="342900" lvl="0" indent="-342900">
              <a:buFont typeface="Wingdings" panose="05000000000000000000" pitchFamily="2" charset="2"/>
              <a:buChar char="ü"/>
            </a:pPr>
            <a:r>
              <a:rPr lang="fr-FR" b="1" dirty="0">
                <a:solidFill>
                  <a:srgbClr val="2C3C43"/>
                </a:solidFill>
                <a:latin typeface="Times New Roman" panose="02020603050405020304" pitchFamily="18" charset="0"/>
                <a:ea typeface="Times New Roman" panose="02020603050405020304" pitchFamily="18" charset="0"/>
                <a:cs typeface="Times New Roman" panose="02020603050405020304" pitchFamily="18" charset="0"/>
              </a:rPr>
              <a:t>[Enz]plasma </a:t>
            </a:r>
            <a:r>
              <a:rPr lang="fr-FR" b="1" dirty="0">
                <a:solidFill>
                  <a:schemeClr val="tx2"/>
                </a:solidFill>
                <a:latin typeface="Times New Roman" panose="02020603050405020304" pitchFamily="18" charset="0"/>
                <a:ea typeface="Times New Roman" panose="02020603050405020304" pitchFamily="18" charset="0"/>
              </a:rPr>
              <a:t> ↑:</a:t>
            </a:r>
          </a:p>
          <a:p>
            <a:pPr marL="800100" lvl="1" indent="-342900">
              <a:buFont typeface="Arial" panose="020B0604020202020204" pitchFamily="34" charset="0"/>
              <a:buChar char="•"/>
            </a:pPr>
            <a:r>
              <a:rPr lang="fr-FR" dirty="0">
                <a:solidFill>
                  <a:schemeClr val="tx2"/>
                </a:solidFill>
                <a:latin typeface="Times New Roman" panose="02020603050405020304" pitchFamily="18" charset="0"/>
                <a:ea typeface="Times New Roman" panose="02020603050405020304" pitchFamily="18" charset="0"/>
              </a:rPr>
              <a:t>Mode d’excrétion usuel bloqué </a:t>
            </a:r>
            <a:r>
              <a:rPr lang="fr-FR" dirty="0" smtClean="0">
                <a:solidFill>
                  <a:schemeClr val="tx2"/>
                </a:solidFill>
                <a:latin typeface="Times New Roman" panose="02020603050405020304" pitchFamily="18" charset="0"/>
                <a:ea typeface="Times New Roman" panose="02020603050405020304" pitchFamily="18" charset="0"/>
              </a:rPr>
              <a:t>(obstacle dans les voies de sécrétions dans le cas du foie au certain enzymes sont éliminer dans la vésicule biliaire et si y du obstacles donc diverse dans le sang) </a:t>
            </a:r>
            <a:endParaRPr lang="fr-FR" dirty="0">
              <a:solidFill>
                <a:schemeClr val="tx2"/>
              </a:solidFill>
              <a:latin typeface="Times New Roman" panose="02020603050405020304" pitchFamily="18" charset="0"/>
              <a:ea typeface="Times New Roman" panose="02020603050405020304" pitchFamily="18" charset="0"/>
            </a:endParaRPr>
          </a:p>
          <a:p>
            <a:pPr marL="800100" lvl="1" indent="-342900">
              <a:buFont typeface="Arial" panose="020B0604020202020204" pitchFamily="34" charset="0"/>
              <a:buChar char="•"/>
            </a:pPr>
            <a:r>
              <a:rPr lang="fr-FR" dirty="0" smtClean="0">
                <a:solidFill>
                  <a:schemeClr val="tx2"/>
                </a:solidFill>
                <a:latin typeface="Times New Roman" panose="02020603050405020304" pitchFamily="18" charset="0"/>
                <a:ea typeface="Times New Roman" panose="02020603050405020304" pitchFamily="18" charset="0"/>
              </a:rPr>
              <a:t>Enz </a:t>
            </a:r>
            <a:r>
              <a:rPr lang="fr-FR" dirty="0">
                <a:solidFill>
                  <a:schemeClr val="tx2"/>
                </a:solidFill>
                <a:latin typeface="Times New Roman" panose="02020603050405020304" pitchFamily="18" charset="0"/>
                <a:ea typeface="Times New Roman" panose="02020603050405020304" pitchFamily="18" charset="0"/>
              </a:rPr>
              <a:t>produits </a:t>
            </a:r>
            <a:r>
              <a:rPr lang="fr-FR" dirty="0" smtClean="0">
                <a:solidFill>
                  <a:schemeClr val="tx2"/>
                </a:solidFill>
                <a:latin typeface="Times New Roman" panose="02020603050405020304" pitchFamily="18" charset="0"/>
                <a:ea typeface="Times New Roman" panose="02020603050405020304" pitchFamily="18" charset="0"/>
              </a:rPr>
              <a:t>Quantité ↑ en pathologies </a:t>
            </a:r>
            <a:r>
              <a:rPr lang="fr-FR" b="1" dirty="0" smtClean="0">
                <a:solidFill>
                  <a:schemeClr val="tx2"/>
                </a:solidFill>
                <a:latin typeface="Times New Roman" panose="02020603050405020304" pitchFamily="18" charset="0"/>
                <a:ea typeface="Times New Roman" panose="02020603050405020304" pitchFamily="18" charset="0"/>
              </a:rPr>
              <a:t>[</a:t>
            </a:r>
            <a:r>
              <a:rPr lang="fr-FR" b="1" dirty="0">
                <a:solidFill>
                  <a:schemeClr val="tx2"/>
                </a:solidFill>
                <a:latin typeface="Times New Roman" panose="02020603050405020304" pitchFamily="18" charset="0"/>
                <a:ea typeface="Times New Roman" panose="02020603050405020304" pitchFamily="18" charset="0"/>
              </a:rPr>
              <a:t>Enz]plasma</a:t>
            </a:r>
            <a:r>
              <a:rPr lang="fr-FR" b="1" dirty="0">
                <a:solidFill>
                  <a:srgbClr val="2C3C43"/>
                </a:solidFill>
                <a:latin typeface="Times New Roman" panose="02020603050405020304" pitchFamily="18" charset="0"/>
                <a:ea typeface="Times New Roman" panose="02020603050405020304" pitchFamily="18" charset="0"/>
              </a:rPr>
              <a:t> ↓</a:t>
            </a:r>
            <a:r>
              <a:rPr lang="fr-FR" b="1" dirty="0">
                <a:solidFill>
                  <a:schemeClr val="tx2"/>
                </a:solidFill>
                <a:latin typeface="Times New Roman" panose="02020603050405020304" pitchFamily="18" charset="0"/>
                <a:ea typeface="Times New Roman" panose="02020603050405020304" pitchFamily="18" charset="0"/>
              </a:rPr>
              <a:t> :</a:t>
            </a:r>
          </a:p>
          <a:p>
            <a:pPr marL="800100" lvl="1" indent="-342900">
              <a:buFont typeface="Arial" panose="020B0604020202020204" pitchFamily="34" charset="0"/>
              <a:buChar char="•"/>
            </a:pPr>
            <a:r>
              <a:rPr lang="fr-FR" dirty="0" smtClean="0">
                <a:solidFill>
                  <a:schemeClr val="tx2"/>
                </a:solidFill>
                <a:latin typeface="Times New Roman" panose="02020603050405020304" pitchFamily="18" charset="0"/>
                <a:ea typeface="Times New Roman" panose="02020603050405020304" pitchFamily="18" charset="0"/>
              </a:rPr>
              <a:t>↓ de </a:t>
            </a:r>
            <a:r>
              <a:rPr lang="fr-FR" dirty="0">
                <a:solidFill>
                  <a:schemeClr val="tx2"/>
                </a:solidFill>
                <a:latin typeface="Times New Roman" panose="02020603050405020304" pitchFamily="18" charset="0"/>
                <a:ea typeface="Times New Roman" panose="02020603050405020304" pitchFamily="18" charset="0"/>
              </a:rPr>
              <a:t>l’aptitude </a:t>
            </a:r>
            <a:r>
              <a:rPr lang="fr-FR" dirty="0" smtClean="0">
                <a:solidFill>
                  <a:schemeClr val="tx2"/>
                </a:solidFill>
                <a:latin typeface="Times New Roman" panose="02020603050405020304" pitchFamily="18" charset="0"/>
                <a:ea typeface="Times New Roman" panose="02020603050405020304" pitchFamily="18" charset="0"/>
              </a:rPr>
              <a:t>Fonctionnelle </a:t>
            </a:r>
            <a:r>
              <a:rPr lang="fr-FR" dirty="0">
                <a:solidFill>
                  <a:schemeClr val="tx2"/>
                </a:solidFill>
                <a:latin typeface="Times New Roman" panose="02020603050405020304" pitchFamily="18" charset="0"/>
                <a:ea typeface="Times New Roman" panose="02020603050405020304" pitchFamily="18" charset="0"/>
              </a:rPr>
              <a:t>des tissus qui les produisent. </a:t>
            </a:r>
          </a:p>
          <a:p>
            <a:pPr algn="ctr"/>
            <a:endParaRPr lang="fr-FR" dirty="0">
              <a:solidFill>
                <a:schemeClr val="tx2"/>
              </a:solidFill>
            </a:endParaRPr>
          </a:p>
        </p:txBody>
      </p:sp>
      <p:sp>
        <p:nvSpPr>
          <p:cNvPr id="5" name="Rectangle 4">
            <a:extLst>
              <a:ext uri="{FF2B5EF4-FFF2-40B4-BE49-F238E27FC236}">
                <a16:creationId xmlns="" xmlns:a16="http://schemas.microsoft.com/office/drawing/2014/main" id="{CFEFFE35-D1E5-4A3B-9671-F17F55DF1699}"/>
              </a:ext>
            </a:extLst>
          </p:cNvPr>
          <p:cNvSpPr/>
          <p:nvPr/>
        </p:nvSpPr>
        <p:spPr>
          <a:xfrm>
            <a:off x="5142788" y="3534077"/>
            <a:ext cx="7049212" cy="381721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35330" indent="-285750">
              <a:spcAft>
                <a:spcPts val="0"/>
              </a:spcAft>
              <a:buFont typeface="Wingdings" panose="05000000000000000000" pitchFamily="2" charset="2"/>
              <a:buChar char="ü"/>
            </a:pPr>
            <a:r>
              <a:rPr lang="fr-FR" b="1" dirty="0">
                <a:solidFill>
                  <a:schemeClr val="tx2"/>
                </a:solidFill>
                <a:latin typeface="Times New Roman" panose="02020603050405020304" pitchFamily="18" charset="0"/>
                <a:ea typeface="Times New Roman" panose="02020603050405020304" pitchFamily="18" charset="0"/>
              </a:rPr>
              <a:t>[Enz</a:t>
            </a:r>
            <a:r>
              <a:rPr lang="fr-FR" b="1" dirty="0" smtClean="0">
                <a:solidFill>
                  <a:schemeClr val="tx2"/>
                </a:solidFill>
                <a:latin typeface="Times New Roman" panose="02020603050405020304" pitchFamily="18" charset="0"/>
                <a:ea typeface="Times New Roman" panose="02020603050405020304" pitchFamily="18" charset="0"/>
              </a:rPr>
              <a:t>] intra-tissulaire  </a:t>
            </a:r>
            <a:r>
              <a:rPr lang="fr-FR" b="1" dirty="0">
                <a:solidFill>
                  <a:schemeClr val="tx2"/>
                </a:solidFill>
                <a:latin typeface="Times New Roman" panose="02020603050405020304" pitchFamily="18" charset="0"/>
                <a:ea typeface="Times New Roman" panose="02020603050405020304" pitchFamily="18" charset="0"/>
              </a:rPr>
              <a:t>↑</a:t>
            </a:r>
          </a:p>
          <a:p>
            <a:pPr marL="735330" indent="-285750">
              <a:spcAft>
                <a:spcPts val="0"/>
              </a:spcAft>
              <a:buFont typeface="Wingdings" panose="05000000000000000000" pitchFamily="2" charset="2"/>
              <a:buChar char="ü"/>
            </a:pPr>
            <a:r>
              <a:rPr lang="fr-FR" b="1" dirty="0" smtClean="0">
                <a:solidFill>
                  <a:schemeClr val="tx2"/>
                </a:solidFill>
                <a:latin typeface="Times New Roman" panose="02020603050405020304" pitchFamily="18" charset="0"/>
                <a:ea typeface="Times New Roman" panose="02020603050405020304" pitchFamily="18" charset="0"/>
              </a:rPr>
              <a:t>Ex </a:t>
            </a:r>
            <a:r>
              <a:rPr lang="fr-FR" b="1" dirty="0">
                <a:solidFill>
                  <a:schemeClr val="tx2"/>
                </a:solidFill>
                <a:latin typeface="Times New Roman" panose="02020603050405020304" pitchFamily="18" charset="0"/>
                <a:ea typeface="Times New Roman" panose="02020603050405020304" pitchFamily="18" charset="0"/>
              </a:rPr>
              <a:t>: CK, LDH, ASAT, </a:t>
            </a:r>
            <a:r>
              <a:rPr lang="fr-FR" b="1" dirty="0" smtClean="0">
                <a:solidFill>
                  <a:schemeClr val="tx2"/>
                </a:solidFill>
                <a:latin typeface="Times New Roman" panose="02020603050405020304" pitchFamily="18" charset="0"/>
                <a:ea typeface="Times New Roman" panose="02020603050405020304" pitchFamily="18" charset="0"/>
              </a:rPr>
              <a:t>ALAT et il existe un </a:t>
            </a:r>
            <a:r>
              <a:rPr lang="fr-FR" b="1" dirty="0" smtClean="0">
                <a:solidFill>
                  <a:schemeClr val="tx2"/>
                </a:solidFill>
                <a:latin typeface="Times New Roman" panose="02020603050405020304" pitchFamily="18" charset="0"/>
                <a:ea typeface="Times New Roman" panose="02020603050405020304" pitchFamily="18" charset="0"/>
              </a:rPr>
              <a:t>préd</a:t>
            </a:r>
            <a:r>
              <a:rPr lang="fr-FR" b="1" dirty="0" smtClean="0">
                <a:solidFill>
                  <a:schemeClr val="tx2"/>
                </a:solidFill>
                <a:latin typeface="Times New Roman" panose="02020603050405020304" pitchFamily="18" charset="0"/>
                <a:ea typeface="Times New Roman" panose="02020603050405020304" pitchFamily="18" charset="0"/>
              </a:rPr>
              <a:t>o</a:t>
            </a:r>
            <a:r>
              <a:rPr lang="fr-FR" b="1" dirty="0" smtClean="0">
                <a:solidFill>
                  <a:schemeClr val="tx2"/>
                </a:solidFill>
                <a:latin typeface="Times New Roman" panose="02020603050405020304" pitchFamily="18" charset="0"/>
                <a:ea typeface="Times New Roman" panose="02020603050405020304" pitchFamily="18" charset="0"/>
              </a:rPr>
              <a:t>minant </a:t>
            </a:r>
            <a:r>
              <a:rPr lang="fr-FR" b="1" dirty="0" smtClean="0">
                <a:solidFill>
                  <a:schemeClr val="tx2"/>
                </a:solidFill>
                <a:latin typeface="Times New Roman" panose="02020603050405020304" pitchFamily="18" charset="0"/>
                <a:ea typeface="Times New Roman" panose="02020603050405020304" pitchFamily="18" charset="0"/>
              </a:rPr>
              <a:t>dans un organe</a:t>
            </a:r>
            <a:endParaRPr lang="fr-FR" b="1" dirty="0">
              <a:solidFill>
                <a:schemeClr val="tx2"/>
              </a:solidFill>
              <a:latin typeface="Times New Roman" panose="02020603050405020304" pitchFamily="18" charset="0"/>
              <a:ea typeface="Times New Roman" panose="02020603050405020304" pitchFamily="18" charset="0"/>
            </a:endParaRPr>
          </a:p>
          <a:p>
            <a:pPr marL="735330" indent="-285750">
              <a:spcAft>
                <a:spcPts val="0"/>
              </a:spcAft>
              <a:buFont typeface="Wingdings" panose="05000000000000000000" pitchFamily="2" charset="2"/>
              <a:buChar char="ü"/>
            </a:pPr>
            <a:r>
              <a:rPr lang="fr-FR" b="1" dirty="0">
                <a:solidFill>
                  <a:schemeClr val="tx2"/>
                </a:solidFill>
                <a:latin typeface="Times New Roman" panose="02020603050405020304" pitchFamily="18" charset="0"/>
                <a:ea typeface="Times New Roman" panose="02020603050405020304" pitchFamily="18" charset="0"/>
              </a:rPr>
              <a:t>[Enz]plasma  ↑:</a:t>
            </a:r>
          </a:p>
          <a:p>
            <a:pPr marL="1257300" lvl="2" indent="-342900">
              <a:buFont typeface="Arial" panose="020B0604020202020204" pitchFamily="34" charset="0"/>
              <a:buChar char="•"/>
            </a:pPr>
            <a:r>
              <a:rPr lang="fr-FR" dirty="0">
                <a:solidFill>
                  <a:schemeClr val="tx2"/>
                </a:solidFill>
                <a:latin typeface="Times New Roman" panose="02020603050405020304" pitchFamily="18" charset="0"/>
                <a:ea typeface="Times New Roman" panose="02020603050405020304" pitchFamily="18" charset="0"/>
              </a:rPr>
              <a:t>Dommages </a:t>
            </a:r>
            <a:r>
              <a:rPr lang="fr-FR" dirty="0" smtClean="0">
                <a:solidFill>
                  <a:schemeClr val="tx2"/>
                </a:solidFill>
                <a:latin typeface="Times New Roman" panose="02020603050405020304" pitchFamily="18" charset="0"/>
                <a:ea typeface="Times New Roman" panose="02020603050405020304" pitchFamily="18" charset="0"/>
              </a:rPr>
              <a:t>₡=&gt;diverse le contenu </a:t>
            </a:r>
            <a:r>
              <a:rPr lang="fr-FR" dirty="0">
                <a:solidFill>
                  <a:schemeClr val="tx2"/>
                </a:solidFill>
                <a:latin typeface="Times New Roman" panose="02020603050405020304" pitchFamily="18" charset="0"/>
                <a:ea typeface="Times New Roman" panose="02020603050405020304" pitchFamily="18" charset="0"/>
              </a:rPr>
              <a:t>/ altération de la perméabilité Mb : cytolyse ou </a:t>
            </a:r>
            <a:r>
              <a:rPr lang="fr-FR" dirty="0" smtClean="0">
                <a:solidFill>
                  <a:schemeClr val="tx2"/>
                </a:solidFill>
                <a:latin typeface="Times New Roman" panose="02020603050405020304" pitchFamily="18" charset="0"/>
                <a:ea typeface="Times New Roman" panose="02020603050405020304" pitchFamily="18" charset="0"/>
              </a:rPr>
              <a:t>nécrose(ischémie </a:t>
            </a:r>
            <a:r>
              <a:rPr lang="fr-FR" dirty="0" smtClean="0">
                <a:solidFill>
                  <a:schemeClr val="tx2"/>
                </a:solidFill>
                <a:latin typeface="Times New Roman" panose="02020603050405020304" pitchFamily="18" charset="0"/>
                <a:ea typeface="Times New Roman" panose="02020603050405020304" pitchFamily="18" charset="0"/>
              </a:rPr>
              <a:t>donc libération du </a:t>
            </a:r>
            <a:r>
              <a:rPr lang="fr-FR" dirty="0">
                <a:solidFill>
                  <a:schemeClr val="tx2"/>
                </a:solidFill>
                <a:latin typeface="Times New Roman" panose="02020603050405020304" pitchFamily="18" charset="0"/>
                <a:ea typeface="Times New Roman" panose="02020603050405020304" pitchFamily="18" charset="0"/>
              </a:rPr>
              <a:t>contenu) =&gt;diverse le contenu </a:t>
            </a:r>
          </a:p>
          <a:p>
            <a:pPr marL="1257300" lvl="2" indent="-342900">
              <a:buFont typeface="Arial" panose="020B0604020202020204" pitchFamily="34" charset="0"/>
              <a:buChar char="•"/>
            </a:pPr>
            <a:r>
              <a:rPr lang="fr-FR" dirty="0">
                <a:solidFill>
                  <a:schemeClr val="tx2"/>
                </a:solidFill>
                <a:latin typeface="Times New Roman" panose="02020603050405020304" pitchFamily="18" charset="0"/>
                <a:ea typeface="Times New Roman" panose="02020603050405020304" pitchFamily="18" charset="0"/>
              </a:rPr>
              <a:t>↑ prolifération </a:t>
            </a:r>
            <a:r>
              <a:rPr lang="fr-FR" dirty="0" smtClean="0">
                <a:solidFill>
                  <a:schemeClr val="tx2"/>
                </a:solidFill>
                <a:latin typeface="Times New Roman" panose="02020603050405020304" pitchFamily="18" charset="0"/>
                <a:ea typeface="Times New Roman" panose="02020603050405020304" pitchFamily="18" charset="0"/>
              </a:rPr>
              <a:t>et l’activité </a:t>
            </a:r>
            <a:r>
              <a:rPr lang="fr-FR" dirty="0">
                <a:solidFill>
                  <a:schemeClr val="tx2"/>
                </a:solidFill>
                <a:latin typeface="Times New Roman" panose="02020603050405020304" pitchFamily="18" charset="0"/>
                <a:ea typeface="Times New Roman" panose="02020603050405020304" pitchFamily="18" charset="0"/>
              </a:rPr>
              <a:t>₡ qui la </a:t>
            </a:r>
            <a:r>
              <a:rPr lang="fr-FR" dirty="0" smtClean="0">
                <a:solidFill>
                  <a:schemeClr val="tx2"/>
                </a:solidFill>
                <a:latin typeface="Times New Roman" panose="02020603050405020304" pitchFamily="18" charset="0"/>
                <a:ea typeface="Times New Roman" panose="02020603050405020304" pitchFamily="18" charset="0"/>
              </a:rPr>
              <a:t>$synthèse </a:t>
            </a:r>
            <a:r>
              <a:rPr lang="fr-FR" dirty="0" smtClean="0">
                <a:solidFill>
                  <a:schemeClr val="tx2"/>
                </a:solidFill>
                <a:latin typeface="Times New Roman" panose="02020603050405020304" pitchFamily="18" charset="0"/>
                <a:ea typeface="Times New Roman" panose="02020603050405020304" pitchFamily="18" charset="0"/>
              </a:rPr>
              <a:t>=&gt; c’est le cas des </a:t>
            </a:r>
            <a:r>
              <a:rPr lang="fr-FR" dirty="0">
                <a:solidFill>
                  <a:schemeClr val="tx2"/>
                </a:solidFill>
                <a:latin typeface="Times New Roman" panose="02020603050405020304" pitchFamily="18" charset="0"/>
                <a:ea typeface="Times New Roman" panose="02020603050405020304" pitchFamily="18" charset="0"/>
              </a:rPr>
              <a:t>cancers </a:t>
            </a:r>
            <a:endParaRPr lang="fr-FR" dirty="0" smtClean="0">
              <a:solidFill>
                <a:schemeClr val="tx2"/>
              </a:solidFill>
              <a:latin typeface="Times New Roman" panose="02020603050405020304" pitchFamily="18" charset="0"/>
              <a:ea typeface="Times New Roman" panose="02020603050405020304" pitchFamily="18" charset="0"/>
            </a:endParaRPr>
          </a:p>
          <a:p>
            <a:pPr marL="1257300" lvl="2" indent="-342900">
              <a:buFont typeface="Arial" panose="020B0604020202020204" pitchFamily="34" charset="0"/>
              <a:buChar char="•"/>
            </a:pPr>
            <a:r>
              <a:rPr lang="fr-FR" dirty="0" smtClean="0">
                <a:solidFill>
                  <a:schemeClr val="tx2"/>
                </a:solidFill>
                <a:latin typeface="Times New Roman" panose="02020603050405020304" pitchFamily="18" charset="0"/>
                <a:ea typeface="Times New Roman" panose="02020603050405020304" pitchFamily="18" charset="0"/>
              </a:rPr>
              <a:t>En cas de Tumeur</a:t>
            </a:r>
            <a:r>
              <a:rPr lang="fr-FR" dirty="0">
                <a:solidFill>
                  <a:schemeClr val="tx2"/>
                </a:solidFill>
                <a:latin typeface="Times New Roman" panose="02020603050405020304" pitchFamily="18" charset="0"/>
                <a:ea typeface="Times New Roman" panose="02020603050405020304" pitchFamily="18" charset="0"/>
              </a:rPr>
              <a:t> : certaines Enz  élaborées / ₡ Tm </a:t>
            </a:r>
            <a:r>
              <a:rPr lang="fr-FR" dirty="0">
                <a:solidFill>
                  <a:schemeClr val="tx2"/>
                </a:solidFill>
                <a:latin typeface="Abadi" panose="020B0604020104020204" pitchFamily="34" charset="0"/>
                <a:ea typeface="Times New Roman" panose="02020603050405020304" pitchFamily="18" charset="0"/>
              </a:rPr>
              <a:t>→ </a:t>
            </a:r>
            <a:r>
              <a:rPr lang="fr-FR" dirty="0" smtClean="0">
                <a:solidFill>
                  <a:schemeClr val="tx2"/>
                </a:solidFill>
                <a:latin typeface="Times New Roman" panose="02020603050405020304" pitchFamily="18" charset="0"/>
                <a:ea typeface="Times New Roman" panose="02020603050405020304" pitchFamily="18" charset="0"/>
              </a:rPr>
              <a:t>reléguées </a:t>
            </a:r>
            <a:r>
              <a:rPr lang="fr-FR" dirty="0" smtClean="0">
                <a:solidFill>
                  <a:schemeClr val="tx2"/>
                </a:solidFill>
                <a:latin typeface="Times New Roman" panose="02020603050405020304" pitchFamily="18" charset="0"/>
                <a:ea typeface="Times New Roman" panose="02020603050405020304" pitchFamily="18" charset="0"/>
              </a:rPr>
              <a:t>sanguin </a:t>
            </a:r>
            <a:r>
              <a:rPr lang="fr-FR" dirty="0">
                <a:solidFill>
                  <a:schemeClr val="tx2"/>
                </a:solidFill>
                <a:latin typeface="Times New Roman" panose="02020603050405020304" pitchFamily="18" charset="0"/>
                <a:ea typeface="Times New Roman" panose="02020603050405020304" pitchFamily="18" charset="0"/>
              </a:rPr>
              <a:t>=&gt; ↑ de quantité et donc l’élimination au niveau sanguine</a:t>
            </a:r>
          </a:p>
          <a:p>
            <a:pPr marL="1257300" lvl="2" indent="-342900">
              <a:buFont typeface="Arial" panose="020B0604020202020204" pitchFamily="34" charset="0"/>
              <a:buChar char="•"/>
            </a:pPr>
            <a:endParaRPr lang="fr-FR" dirty="0">
              <a:solidFill>
                <a:schemeClr val="tx2"/>
              </a:solidFill>
              <a:latin typeface="Times New Roman" panose="02020603050405020304" pitchFamily="18" charset="0"/>
              <a:ea typeface="Times New Roman" panose="02020603050405020304" pitchFamily="18" charset="0"/>
            </a:endParaRPr>
          </a:p>
          <a:p>
            <a:pPr algn="ctr"/>
            <a:endParaRPr lang="fr-FR" dirty="0">
              <a:solidFill>
                <a:schemeClr val="tx2"/>
              </a:solidFill>
            </a:endParaRPr>
          </a:p>
        </p:txBody>
      </p:sp>
    </p:spTree>
    <p:extLst>
      <p:ext uri="{BB962C8B-B14F-4D97-AF65-F5344CB8AC3E}">
        <p14:creationId xmlns:p14="http://schemas.microsoft.com/office/powerpoint/2010/main" val="226595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69902D5-805F-4AB2-B0FA-C7D4CC4F30B6}"/>
              </a:ext>
            </a:extLst>
          </p:cNvPr>
          <p:cNvSpPr>
            <a:spLocks noGrp="1"/>
          </p:cNvSpPr>
          <p:nvPr>
            <p:ph type="title"/>
          </p:nvPr>
        </p:nvSpPr>
        <p:spPr/>
        <p:txBody>
          <a:bodyPr/>
          <a:lstStyle/>
          <a:p>
            <a:pPr algn="ctr"/>
            <a:r>
              <a:rPr lang="fr-FR" b="1" dirty="0">
                <a:solidFill>
                  <a:srgbClr val="90C226"/>
                </a:solidFill>
                <a:latin typeface="Times New Roman" panose="02020603050405020304" pitchFamily="18" charset="0"/>
                <a:ea typeface="Times New Roman" panose="02020603050405020304" pitchFamily="18" charset="0"/>
              </a:rPr>
              <a:t>ORIGINES ET VARIATIONS DES ENZYMES DANS LE PLASMA</a:t>
            </a:r>
            <a:endParaRPr lang="fr-FR" dirty="0"/>
          </a:p>
        </p:txBody>
      </p:sp>
      <p:sp>
        <p:nvSpPr>
          <p:cNvPr id="3" name="Espace réservé du contenu 2">
            <a:extLst>
              <a:ext uri="{FF2B5EF4-FFF2-40B4-BE49-F238E27FC236}">
                <a16:creationId xmlns="" xmlns:a16="http://schemas.microsoft.com/office/drawing/2014/main" id="{07E3D449-0F67-4EF2-BF35-F5B93CB82132}"/>
              </a:ext>
            </a:extLst>
          </p:cNvPr>
          <p:cNvSpPr>
            <a:spLocks noGrp="1"/>
          </p:cNvSpPr>
          <p:nvPr>
            <p:ph idx="1"/>
          </p:nvPr>
        </p:nvSpPr>
        <p:spPr>
          <a:xfrm>
            <a:off x="1" y="1930401"/>
            <a:ext cx="12390782" cy="4110962"/>
          </a:xfrm>
        </p:spPr>
        <p:txBody>
          <a:bodyPr>
            <a:normAutofit fontScale="92500"/>
          </a:bodyPr>
          <a:lstStyle/>
          <a:p>
            <a:pPr marL="0" indent="0">
              <a:buNone/>
            </a:pPr>
            <a:r>
              <a:rPr lang="fr-FR" sz="2400" b="1" dirty="0">
                <a:solidFill>
                  <a:schemeClr val="accent2"/>
                </a:solidFill>
              </a:rPr>
              <a:t>REMARQUE : </a:t>
            </a:r>
            <a:r>
              <a:rPr lang="fr-FR" sz="2400" b="1" dirty="0"/>
              <a:t>En cas de dommages ₡</a:t>
            </a:r>
          </a:p>
          <a:p>
            <a:pPr>
              <a:buFont typeface="Wingdings" panose="05000000000000000000" pitchFamily="2" charset="2"/>
              <a:buChar char="v"/>
            </a:pPr>
            <a:r>
              <a:rPr lang="fr-FR" sz="2400" b="1" dirty="0"/>
              <a:t>La localisation intra-₡ de l’Enz du métabolisme ₡ affecte </a:t>
            </a:r>
            <a:r>
              <a:rPr lang="fr-FR" sz="2400" b="1" dirty="0" smtClean="0"/>
              <a:t>la Vitesse </a:t>
            </a:r>
            <a:r>
              <a:rPr lang="fr-FR" sz="2400" b="1" dirty="0"/>
              <a:t>d’apparition </a:t>
            </a:r>
            <a:r>
              <a:rPr lang="fr-FR" sz="2400" b="1" dirty="0" smtClean="0"/>
              <a:t>dans </a:t>
            </a:r>
            <a:r>
              <a:rPr lang="fr-FR" sz="2400" b="1" dirty="0"/>
              <a:t>le </a:t>
            </a:r>
            <a:r>
              <a:rPr lang="fr-FR" sz="2400" b="1" dirty="0" smtClean="0"/>
              <a:t>plasma (les premiers qui apparais sont les enzymes de du membrane et puis de cytosol et puis les enzymes contenu dans </a:t>
            </a:r>
            <a:r>
              <a:rPr lang="fr-FR" sz="2400" b="1" dirty="0"/>
              <a:t>à l'intérieur </a:t>
            </a:r>
            <a:r>
              <a:rPr lang="fr-FR" sz="2400" b="1" dirty="0" smtClean="0"/>
              <a:t>des organites)</a:t>
            </a:r>
            <a:endParaRPr lang="fr-FR" sz="2400" b="1" dirty="0"/>
          </a:p>
          <a:p>
            <a:pPr lvl="1">
              <a:buFont typeface="Wingdings" panose="05000000000000000000" pitchFamily="2" charset="2"/>
              <a:buChar char="Ø"/>
            </a:pPr>
            <a:r>
              <a:rPr lang="fr-FR" sz="2400" b="1" dirty="0">
                <a:solidFill>
                  <a:srgbClr val="FF0000"/>
                </a:solidFill>
              </a:rPr>
              <a:t>Enz  Mb plasmatique ou Enz cytosol  </a:t>
            </a:r>
            <a:r>
              <a:rPr lang="fr-FR" sz="2400" b="1" dirty="0">
                <a:latin typeface="Abadi" panose="020B0604020104020204" pitchFamily="34" charset="0"/>
              </a:rPr>
              <a:t>→ </a:t>
            </a:r>
            <a:r>
              <a:rPr lang="fr-FR" sz="2400" b="1" dirty="0" smtClean="0"/>
              <a:t>Apparition </a:t>
            </a:r>
            <a:r>
              <a:rPr lang="fr-FR" sz="2400" b="1" dirty="0"/>
              <a:t>précoce  </a:t>
            </a:r>
            <a:r>
              <a:rPr lang="fr-FR" sz="2400" b="1" dirty="0">
                <a:solidFill>
                  <a:srgbClr val="FF0000"/>
                </a:solidFill>
              </a:rPr>
              <a:t>++++ </a:t>
            </a:r>
            <a:r>
              <a:rPr lang="fr-FR" sz="2400" b="1" dirty="0" smtClean="0">
                <a:solidFill>
                  <a:srgbClr val="FF0000"/>
                </a:solidFill>
              </a:rPr>
              <a:t>marquer sensible dés que y a du maladie donc augmentions direct et va orienter vers le siégé tissulaire )</a:t>
            </a:r>
            <a:endParaRPr lang="fr-FR" sz="2400" b="1" dirty="0">
              <a:solidFill>
                <a:srgbClr val="FF0000"/>
              </a:solidFill>
            </a:endParaRPr>
          </a:p>
          <a:p>
            <a:pPr lvl="1">
              <a:buFont typeface="Wingdings" panose="05000000000000000000" pitchFamily="2" charset="2"/>
              <a:buChar char="Ø"/>
            </a:pPr>
            <a:r>
              <a:rPr lang="fr-FR" sz="2400" b="1" dirty="0"/>
              <a:t>Enz compartiment sub-₡</a:t>
            </a:r>
            <a:r>
              <a:rPr lang="fr-FR" sz="2400" b="1" dirty="0">
                <a:solidFill>
                  <a:prstClr val="black">
                    <a:lumMod val="75000"/>
                    <a:lumOff val="25000"/>
                  </a:prstClr>
                </a:solidFill>
              </a:rPr>
              <a:t>   </a:t>
            </a:r>
            <a:r>
              <a:rPr lang="fr-FR" sz="2400" b="1" dirty="0" err="1">
                <a:solidFill>
                  <a:prstClr val="black">
                    <a:lumMod val="75000"/>
                    <a:lumOff val="25000"/>
                  </a:prstClr>
                </a:solidFill>
              </a:rPr>
              <a:t>Exp</a:t>
            </a:r>
            <a:r>
              <a:rPr lang="fr-FR" sz="2400" b="1" dirty="0">
                <a:solidFill>
                  <a:prstClr val="black">
                    <a:lumMod val="75000"/>
                    <a:lumOff val="25000"/>
                  </a:prstClr>
                </a:solidFill>
              </a:rPr>
              <a:t>: Enz Mit </a:t>
            </a:r>
            <a:r>
              <a:rPr lang="fr-FR" sz="2400" b="1" dirty="0">
                <a:solidFill>
                  <a:prstClr val="black">
                    <a:lumMod val="75000"/>
                    <a:lumOff val="25000"/>
                  </a:prstClr>
                </a:solidFill>
                <a:latin typeface="Abadi" panose="020B0604020104020204" pitchFamily="34" charset="0"/>
              </a:rPr>
              <a:t>→ </a:t>
            </a:r>
            <a:r>
              <a:rPr lang="fr-FR" sz="2400" b="1" dirty="0" smtClean="0">
                <a:solidFill>
                  <a:prstClr val="black">
                    <a:lumMod val="75000"/>
                    <a:lumOff val="25000"/>
                  </a:prstClr>
                </a:solidFill>
              </a:rPr>
              <a:t>Appariation </a:t>
            </a:r>
            <a:r>
              <a:rPr lang="fr-FR" sz="2400" b="1" dirty="0">
                <a:solidFill>
                  <a:prstClr val="black">
                    <a:lumMod val="75000"/>
                    <a:lumOff val="25000"/>
                  </a:prstClr>
                </a:solidFill>
              </a:rPr>
              <a:t>tardive </a:t>
            </a:r>
            <a:r>
              <a:rPr lang="fr-FR" sz="2400" b="1" dirty="0" smtClean="0">
                <a:solidFill>
                  <a:prstClr val="black">
                    <a:lumMod val="75000"/>
                    <a:lumOff val="25000"/>
                  </a:prstClr>
                </a:solidFill>
              </a:rPr>
              <a:t>(peu ou pas sensible)</a:t>
            </a:r>
            <a:endParaRPr lang="fr-FR" sz="2400" b="1" dirty="0">
              <a:solidFill>
                <a:prstClr val="black">
                  <a:lumMod val="75000"/>
                  <a:lumOff val="25000"/>
                </a:prstClr>
              </a:solidFill>
            </a:endParaRPr>
          </a:p>
          <a:p>
            <a:pPr lvl="1">
              <a:buFont typeface="Wingdings" panose="05000000000000000000" pitchFamily="2" charset="2"/>
              <a:buChar char="Ø"/>
            </a:pPr>
            <a:r>
              <a:rPr lang="fr-FR" sz="2400" b="1" dirty="0" smtClean="0"/>
              <a:t>Si y a un lésion grave (nécrose) y aura un lésion des organites donc libérations des enzymes</a:t>
            </a:r>
            <a:endParaRPr lang="fr-FR" sz="2400" b="1" dirty="0"/>
          </a:p>
          <a:p>
            <a:pPr>
              <a:buFont typeface="Wingdings" panose="05000000000000000000" pitchFamily="2" charset="2"/>
              <a:buChar char="v"/>
            </a:pPr>
            <a:r>
              <a:rPr lang="fr-FR" sz="2400" b="1" dirty="0"/>
              <a:t> </a:t>
            </a:r>
            <a:r>
              <a:rPr lang="fr-FR" sz="2400" b="1" dirty="0">
                <a:solidFill>
                  <a:srgbClr val="FF0000"/>
                </a:solidFill>
              </a:rPr>
              <a:t>Enz Mit(</a:t>
            </a:r>
            <a:r>
              <a:rPr lang="fr-FR" sz="2400" b="1" dirty="0">
                <a:solidFill>
                  <a:srgbClr val="FF0000"/>
                </a:solidFill>
                <a:latin typeface="Times New Roman" panose="02020603050405020304" pitchFamily="18" charset="0"/>
                <a:cs typeface="Times New Roman" panose="02020603050405020304" pitchFamily="18" charset="0"/>
              </a:rPr>
              <a:t>↑</a:t>
            </a:r>
            <a:r>
              <a:rPr lang="fr-FR" sz="2400" b="1" dirty="0">
                <a:solidFill>
                  <a:srgbClr val="FF0000"/>
                </a:solidFill>
              </a:rPr>
              <a:t>)</a:t>
            </a:r>
            <a:r>
              <a:rPr lang="fr-FR" sz="2400" b="1" dirty="0"/>
              <a:t>  </a:t>
            </a:r>
            <a:r>
              <a:rPr lang="fr-FR" sz="2400" b="1" dirty="0" smtClean="0"/>
              <a:t>dans le </a:t>
            </a:r>
            <a:r>
              <a:rPr lang="fr-FR" sz="2400" b="1" dirty="0"/>
              <a:t>plasma </a:t>
            </a:r>
            <a:r>
              <a:rPr lang="fr-FR" sz="2400" b="1" dirty="0">
                <a:solidFill>
                  <a:srgbClr val="FF0000"/>
                </a:solidFill>
              </a:rPr>
              <a:t> </a:t>
            </a:r>
            <a:r>
              <a:rPr lang="fr-FR" sz="2400" b="1" dirty="0">
                <a:latin typeface="Abadi" panose="020B0604020104020204" pitchFamily="34" charset="0"/>
              </a:rPr>
              <a:t>→</a:t>
            </a:r>
            <a:r>
              <a:rPr lang="fr-FR" sz="2400" b="1" dirty="0"/>
              <a:t> </a:t>
            </a:r>
            <a:r>
              <a:rPr lang="fr-FR" sz="2400" b="1" dirty="0">
                <a:solidFill>
                  <a:srgbClr val="FF0000"/>
                </a:solidFill>
              </a:rPr>
              <a:t>lésion ₡ + </a:t>
            </a:r>
            <a:r>
              <a:rPr lang="fr-FR" sz="2400" b="1" dirty="0" smtClean="0">
                <a:solidFill>
                  <a:srgbClr val="FF0000"/>
                </a:solidFill>
              </a:rPr>
              <a:t>Importante  </a:t>
            </a:r>
            <a:r>
              <a:rPr lang="fr-FR" sz="2400" b="1" dirty="0">
                <a:solidFill>
                  <a:srgbClr val="FF0000"/>
                </a:solidFill>
              </a:rPr>
              <a:t>(lésion grave</a:t>
            </a:r>
            <a:r>
              <a:rPr lang="fr-FR" sz="2400" b="1" dirty="0" smtClean="0">
                <a:solidFill>
                  <a:srgbClr val="FF0000"/>
                </a:solidFill>
              </a:rPr>
              <a:t>)</a:t>
            </a:r>
            <a:endParaRPr lang="fr-FR" sz="2400" b="1" dirty="0">
              <a:solidFill>
                <a:srgbClr val="FF0000"/>
              </a:solidFill>
            </a:endParaRPr>
          </a:p>
          <a:p>
            <a:endParaRPr lang="fr-FR" dirty="0"/>
          </a:p>
        </p:txBody>
      </p:sp>
    </p:spTree>
    <p:extLst>
      <p:ext uri="{BB962C8B-B14F-4D97-AF65-F5344CB8AC3E}">
        <p14:creationId xmlns:p14="http://schemas.microsoft.com/office/powerpoint/2010/main" val="308034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810C18D-694C-44BD-A150-74315E6EBC94}"/>
              </a:ext>
            </a:extLst>
          </p:cNvPr>
          <p:cNvSpPr>
            <a:spLocks noGrp="1"/>
          </p:cNvSpPr>
          <p:nvPr>
            <p:ph type="title"/>
          </p:nvPr>
        </p:nvSpPr>
        <p:spPr>
          <a:xfrm>
            <a:off x="511780" y="0"/>
            <a:ext cx="10461019" cy="1320800"/>
          </a:xfrm>
        </p:spPr>
        <p:txBody>
          <a:bodyPr/>
          <a:lstStyle/>
          <a:p>
            <a:pPr algn="ctr"/>
            <a:r>
              <a:rPr lang="fr-FR" b="1" dirty="0">
                <a:latin typeface="Times New Roman" panose="02020603050405020304" pitchFamily="18" charset="0"/>
                <a:ea typeface="Times New Roman" panose="02020603050405020304" pitchFamily="18" charset="0"/>
              </a:rPr>
              <a:t>LE CHOIX D’UNE ENZYME COMME MARQUEUR </a:t>
            </a:r>
            <a:endParaRPr lang="fr-FR" dirty="0"/>
          </a:p>
        </p:txBody>
      </p:sp>
      <p:sp>
        <p:nvSpPr>
          <p:cNvPr id="3" name="Espace réservé du contenu 2">
            <a:extLst>
              <a:ext uri="{FF2B5EF4-FFF2-40B4-BE49-F238E27FC236}">
                <a16:creationId xmlns="" xmlns:a16="http://schemas.microsoft.com/office/drawing/2014/main" id="{2C7FF0DA-5853-48BC-9154-56B7BC4CED54}"/>
              </a:ext>
            </a:extLst>
          </p:cNvPr>
          <p:cNvSpPr>
            <a:spLocks noGrp="1"/>
          </p:cNvSpPr>
          <p:nvPr>
            <p:ph idx="1"/>
          </p:nvPr>
        </p:nvSpPr>
        <p:spPr>
          <a:xfrm>
            <a:off x="279769" y="1258675"/>
            <a:ext cx="10997831" cy="4564324"/>
          </a:xfrm>
        </p:spPr>
        <p:txBody>
          <a:bodyPr>
            <a:normAutofit fontScale="77500" lnSpcReduction="20000"/>
          </a:bodyPr>
          <a:lstStyle/>
          <a:p>
            <a:pPr>
              <a:buFont typeface="Arial" panose="020B0604020202020204" pitchFamily="34" charset="0"/>
              <a:buChar char="•"/>
            </a:pPr>
            <a:r>
              <a:rPr lang="fr-FR" sz="2800" dirty="0">
                <a:latin typeface="Times New Roman" panose="02020603050405020304" pitchFamily="18" charset="0"/>
                <a:ea typeface="Times New Roman" panose="02020603050405020304" pitchFamily="18" charset="0"/>
              </a:rPr>
              <a:t>Le choix Enz  :dépend distribution </a:t>
            </a:r>
            <a:r>
              <a:rPr lang="fr-FR" sz="2800" dirty="0" smtClean="0">
                <a:latin typeface="Times New Roman" panose="02020603050405020304" pitchFamily="18" charset="0"/>
                <a:ea typeface="Times New Roman" panose="02020603050405020304" pitchFamily="18" charset="0"/>
              </a:rPr>
              <a:t>tissulaire</a:t>
            </a:r>
            <a:r>
              <a:rPr lang="ar-DZ" sz="2800" dirty="0" smtClean="0">
                <a:latin typeface="Times New Roman" panose="02020603050405020304" pitchFamily="18" charset="0"/>
                <a:ea typeface="Times New Roman" panose="02020603050405020304" pitchFamily="18" charset="0"/>
              </a:rPr>
              <a:t> </a:t>
            </a:r>
            <a:r>
              <a:rPr lang="fr-FR" sz="2800" dirty="0" smtClean="0">
                <a:latin typeface="Times New Roman" panose="02020603050405020304" pitchFamily="18" charset="0"/>
                <a:ea typeface="Times New Roman" panose="02020603050405020304" pitchFamily="18" charset="0"/>
              </a:rPr>
              <a:t> =&gt;si  je veux explorer le foie donc en cherche des enzymes qui existes prédominer dans le foie (spécifique) </a:t>
            </a:r>
            <a:endParaRPr lang="fr-FR" sz="2800" dirty="0">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fr-FR" sz="2800" dirty="0">
                <a:latin typeface="Times New Roman" panose="02020603050405020304" pitchFamily="18" charset="0"/>
                <a:ea typeface="Times New Roman" panose="02020603050405020304" pitchFamily="18" charset="0"/>
              </a:rPr>
              <a:t>Inconvénient: </a:t>
            </a:r>
            <a:r>
              <a:rPr lang="fr-FR" sz="2800" dirty="0">
                <a:solidFill>
                  <a:srgbClr val="FF0000"/>
                </a:solidFill>
                <a:latin typeface="Times New Roman" panose="02020603050405020304" pitchFamily="18" charset="0"/>
                <a:ea typeface="Times New Roman" panose="02020603050405020304" pitchFamily="18" charset="0"/>
              </a:rPr>
              <a:t>absence de spécificité </a:t>
            </a:r>
            <a:r>
              <a:rPr lang="fr-FR" sz="2800" dirty="0" smtClean="0">
                <a:solidFill>
                  <a:srgbClr val="FF0000"/>
                </a:solidFill>
                <a:latin typeface="Times New Roman" panose="02020603050405020304" pitchFamily="18" charset="0"/>
                <a:ea typeface="Times New Roman" panose="02020603050405020304" pitchFamily="18" charset="0"/>
              </a:rPr>
              <a:t>tissulaire=&gt; les enzymes sont réparties dans tout les tissus mais existe un </a:t>
            </a:r>
            <a:r>
              <a:rPr lang="fr-FR" sz="2800" dirty="0" err="1" smtClean="0">
                <a:solidFill>
                  <a:srgbClr val="FF0000"/>
                </a:solidFill>
                <a:latin typeface="Times New Roman" panose="02020603050405020304" pitchFamily="18" charset="0"/>
                <a:ea typeface="Times New Roman" panose="02020603050405020304" pitchFamily="18" charset="0"/>
              </a:rPr>
              <a:t>prédeminence</a:t>
            </a:r>
            <a:endParaRPr lang="fr-FR" sz="2800" dirty="0">
              <a:solidFill>
                <a:srgbClr val="FF0000"/>
              </a:solidFill>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fr-FR" sz="2800" dirty="0">
                <a:latin typeface="Times New Roman" panose="02020603050405020304" pitchFamily="18" charset="0"/>
                <a:ea typeface="Times New Roman" panose="02020603050405020304" pitchFamily="18" charset="0"/>
              </a:rPr>
              <a:t>++ +  Enz</a:t>
            </a:r>
          </a:p>
          <a:p>
            <a:pPr lvl="1">
              <a:buFont typeface="Arial" panose="020B0604020202020204" pitchFamily="34" charset="0"/>
              <a:buChar char="•"/>
            </a:pPr>
            <a:r>
              <a:rPr lang="fr-FR" sz="2800" dirty="0" smtClean="0">
                <a:latin typeface="Times New Roman" panose="02020603050405020304" pitchFamily="18" charset="0"/>
                <a:ea typeface="Times New Roman" panose="02020603050405020304" pitchFamily="18" charset="0"/>
              </a:rPr>
              <a:t>Existe plusieurs  </a:t>
            </a:r>
            <a:r>
              <a:rPr lang="fr-FR" sz="2800" dirty="0">
                <a:latin typeface="Times New Roman" panose="02020603050405020304" pitchFamily="18" charset="0"/>
                <a:ea typeface="Times New Roman" panose="02020603050405020304" pitchFamily="18" charset="0"/>
              </a:rPr>
              <a:t>tissus</a:t>
            </a:r>
          </a:p>
          <a:p>
            <a:pPr lvl="1">
              <a:buFont typeface="Arial" panose="020B0604020202020204" pitchFamily="34" charset="0"/>
              <a:buChar char="•"/>
            </a:pPr>
            <a:r>
              <a:rPr lang="fr-FR" sz="2800" dirty="0" smtClean="0">
                <a:latin typeface="Times New Roman" panose="02020603050405020304" pitchFamily="18" charset="0"/>
                <a:ea typeface="Times New Roman" panose="02020603050405020304" pitchFamily="18" charset="0"/>
              </a:rPr>
              <a:t>Variabilité de </a:t>
            </a:r>
            <a:r>
              <a:rPr lang="fr-FR" sz="2800" dirty="0">
                <a:latin typeface="Times New Roman" panose="02020603050405020304" pitchFamily="18" charset="0"/>
                <a:ea typeface="Times New Roman" panose="02020603050405020304" pitchFamily="18" charset="0"/>
              </a:rPr>
              <a:t>proportions </a:t>
            </a:r>
          </a:p>
          <a:p>
            <a:pPr>
              <a:buFont typeface="Arial" panose="020B0604020202020204" pitchFamily="34" charset="0"/>
              <a:buChar char="•"/>
            </a:pPr>
            <a:r>
              <a:rPr lang="fr-FR" sz="2800" dirty="0" err="1">
                <a:latin typeface="Times New Roman" panose="02020603050405020304" pitchFamily="18" charset="0"/>
                <a:ea typeface="Times New Roman" panose="02020603050405020304" pitchFamily="18" charset="0"/>
              </a:rPr>
              <a:t>Exp</a:t>
            </a:r>
            <a:r>
              <a:rPr lang="fr-FR" sz="2800" dirty="0">
                <a:latin typeface="Times New Roman" panose="02020603050405020304" pitchFamily="18" charset="0"/>
                <a:ea typeface="Times New Roman" panose="02020603050405020304" pitchFamily="18" charset="0"/>
              </a:rPr>
              <a:t> : ALAT </a:t>
            </a:r>
            <a:r>
              <a:rPr lang="fr-FR" sz="2800" dirty="0" smtClean="0">
                <a:latin typeface="Times New Roman" panose="02020603050405020304" pitchFamily="18" charset="0"/>
                <a:ea typeface="Times New Roman" panose="02020603050405020304" pitchFamily="18" charset="0"/>
              </a:rPr>
              <a:t>existe de toute les tissu</a:t>
            </a:r>
            <a:r>
              <a:rPr lang="fr-FR" sz="2800" dirty="0">
                <a:latin typeface="Times New Roman" panose="02020603050405020304" pitchFamily="18" charset="0"/>
                <a:ea typeface="Times New Roman" panose="02020603050405020304" pitchFamily="18" charset="0"/>
              </a:rPr>
              <a:t> </a:t>
            </a:r>
            <a:r>
              <a:rPr lang="fr-FR" sz="2800" dirty="0" smtClean="0">
                <a:latin typeface="Times New Roman" panose="02020603050405020304" pitchFamily="18" charset="0"/>
                <a:ea typeface="Times New Roman" panose="02020603050405020304" pitchFamily="18" charset="0"/>
              </a:rPr>
              <a:t>mais dans concentration dans Muscle &lt; Foie (</a:t>
            </a:r>
            <a:r>
              <a:rPr lang="fr-FR" sz="2800" dirty="0">
                <a:latin typeface="Times New Roman" panose="02020603050405020304" pitchFamily="18" charset="0"/>
                <a:ea typeface="Times New Roman" panose="02020603050405020304" pitchFamily="18" charset="0"/>
              </a:rPr>
              <a:t>cytosol) </a:t>
            </a:r>
          </a:p>
          <a:p>
            <a:pPr>
              <a:buFont typeface="Arial" panose="020B0604020202020204" pitchFamily="34" charset="0"/>
              <a:buChar char="•"/>
            </a:pPr>
            <a:r>
              <a:rPr lang="fr-FR" sz="3000" dirty="0">
                <a:latin typeface="Times New Roman" panose="02020603050405020304" pitchFamily="18" charset="0"/>
                <a:ea typeface="Times New Roman" panose="02020603050405020304" pitchFamily="18" charset="0"/>
              </a:rPr>
              <a:t>La solution:</a:t>
            </a:r>
          </a:p>
          <a:p>
            <a:pPr lvl="1">
              <a:buFont typeface="Arial" panose="020B0604020202020204" pitchFamily="34" charset="0"/>
              <a:buChar char="•"/>
            </a:pPr>
            <a:r>
              <a:rPr lang="fr-FR" sz="2600" dirty="0" smtClean="0">
                <a:latin typeface="Times New Roman" panose="02020603050405020304" pitchFamily="18" charset="0"/>
                <a:ea typeface="Times New Roman" panose="02020603050405020304" pitchFamily="18" charset="0"/>
              </a:rPr>
              <a:t>En peut par l’association </a:t>
            </a:r>
            <a:r>
              <a:rPr lang="fr-FR" sz="2600" dirty="0">
                <a:latin typeface="Times New Roman" panose="02020603050405020304" pitchFamily="18" charset="0"/>
                <a:ea typeface="Times New Roman" panose="02020603050405020304" pitchFamily="18" charset="0"/>
              </a:rPr>
              <a:t>de dosage </a:t>
            </a:r>
            <a:r>
              <a:rPr lang="fr-FR" sz="2600" dirty="0" smtClean="0">
                <a:latin typeface="Times New Roman" panose="02020603050405020304" pitchFamily="18" charset="0"/>
                <a:ea typeface="Times New Roman" panose="02020603050405020304" pitchFamily="18" charset="0"/>
              </a:rPr>
              <a:t>des</a:t>
            </a:r>
            <a:r>
              <a:rPr lang="fr-FR" sz="2600" dirty="0" smtClean="0">
                <a:solidFill>
                  <a:prstClr val="black">
                    <a:lumMod val="75000"/>
                    <a:lumOff val="25000"/>
                  </a:prstClr>
                </a:solidFill>
                <a:latin typeface="Times New Roman" panose="02020603050405020304" pitchFamily="18" charset="0"/>
                <a:ea typeface="Times New Roman" panose="02020603050405020304" pitchFamily="18" charset="0"/>
              </a:rPr>
              <a:t> plusieurs </a:t>
            </a:r>
            <a:r>
              <a:rPr lang="fr-FR" sz="2600" dirty="0">
                <a:solidFill>
                  <a:prstClr val="black">
                    <a:lumMod val="75000"/>
                    <a:lumOff val="25000"/>
                  </a:prstClr>
                </a:solidFill>
                <a:latin typeface="Times New Roman" panose="02020603050405020304" pitchFamily="18" charset="0"/>
                <a:ea typeface="Times New Roman" panose="02020603050405020304" pitchFamily="18" charset="0"/>
              </a:rPr>
              <a:t>E</a:t>
            </a:r>
            <a:r>
              <a:rPr lang="fr-FR" sz="2600" dirty="0">
                <a:latin typeface="Times New Roman" panose="02020603050405020304" pitchFamily="18" charset="0"/>
                <a:ea typeface="Times New Roman" panose="02020603050405020304" pitchFamily="18" charset="0"/>
              </a:rPr>
              <a:t>nz  pour l’exploration biologique </a:t>
            </a:r>
            <a:r>
              <a:rPr lang="fr-FR" sz="2600" dirty="0" smtClean="0">
                <a:latin typeface="Times New Roman" panose="02020603050405020304" pitchFamily="18" charset="0"/>
                <a:ea typeface="Times New Roman" panose="02020603050405020304" pitchFamily="18" charset="0"/>
              </a:rPr>
              <a:t>d’une </a:t>
            </a:r>
            <a:r>
              <a:rPr lang="fr-FR" sz="2600" dirty="0">
                <a:latin typeface="Times New Roman" panose="02020603050405020304" pitchFamily="18" charset="0"/>
                <a:ea typeface="Times New Roman" panose="02020603050405020304" pitchFamily="18" charset="0"/>
              </a:rPr>
              <a:t>organe </a:t>
            </a:r>
            <a:r>
              <a:rPr lang="fr-FR" sz="2600" dirty="0" smtClean="0">
                <a:latin typeface="Times New Roman" panose="02020603050405020304" pitchFamily="18" charset="0"/>
                <a:ea typeface="Times New Roman" panose="02020603050405020304" pitchFamily="18" charset="0"/>
              </a:rPr>
              <a:t>(c’est le bilan)</a:t>
            </a:r>
            <a:endParaRPr lang="fr-FR" sz="2600" dirty="0">
              <a:latin typeface="Times New Roman" panose="02020603050405020304" pitchFamily="18" charset="0"/>
              <a:ea typeface="Times New Roman" panose="02020603050405020304" pitchFamily="18" charset="0"/>
            </a:endParaRPr>
          </a:p>
          <a:p>
            <a:pPr lvl="1">
              <a:buFont typeface="Arial" panose="020B0604020202020204" pitchFamily="34" charset="0"/>
              <a:buChar char="•"/>
            </a:pPr>
            <a:r>
              <a:rPr lang="fr-FR" sz="2600" dirty="0" smtClean="0">
                <a:latin typeface="Times New Roman" panose="02020603050405020304" pitchFamily="18" charset="0"/>
                <a:ea typeface="Times New Roman" panose="02020603050405020304" pitchFamily="18" charset="0"/>
              </a:rPr>
              <a:t>Et Le meilleur solution est Dosage </a:t>
            </a:r>
            <a:r>
              <a:rPr lang="fr-FR" sz="2600" dirty="0">
                <a:latin typeface="Times New Roman" panose="02020603050405020304" pitchFamily="18" charset="0"/>
                <a:ea typeface="Times New Roman" panose="02020603050405020304" pitchFamily="18" charset="0"/>
              </a:rPr>
              <a:t>1 IsoEnz  (spécificité tissulaire</a:t>
            </a:r>
            <a:r>
              <a:rPr lang="fr-FR" sz="2600" dirty="0" smtClean="0">
                <a:latin typeface="Times New Roman" panose="02020603050405020304" pitchFamily="18" charset="0"/>
                <a:ea typeface="Times New Roman" panose="02020603050405020304" pitchFamily="18" charset="0"/>
              </a:rPr>
              <a:t>)=&gt;en générales </a:t>
            </a:r>
            <a:endParaRPr lang="fr-FR" sz="260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327563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 calcmode="lin" valueType="num">
                                      <p:cBhvr additive="base">
                                        <p:cTn id="3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B7C5E74-990A-412C-8D58-F3CF4F501D46}"/>
              </a:ext>
            </a:extLst>
          </p:cNvPr>
          <p:cNvSpPr>
            <a:spLocks noGrp="1"/>
          </p:cNvSpPr>
          <p:nvPr>
            <p:ph type="title"/>
          </p:nvPr>
        </p:nvSpPr>
        <p:spPr/>
        <p:txBody>
          <a:bodyPr/>
          <a:lstStyle/>
          <a:p>
            <a:pPr algn="ctr"/>
            <a:r>
              <a:rPr lang="fr-FR" b="1" dirty="0">
                <a:latin typeface="Times New Roman" panose="02020603050405020304" pitchFamily="18" charset="0"/>
                <a:ea typeface="Times New Roman" panose="02020603050405020304" pitchFamily="18" charset="0"/>
              </a:rPr>
              <a:t>MESURE DE L’ACTIVITE ENZYMATIQUE </a:t>
            </a:r>
            <a:endParaRPr lang="fr-FR" dirty="0"/>
          </a:p>
        </p:txBody>
      </p:sp>
      <p:sp>
        <p:nvSpPr>
          <p:cNvPr id="3" name="Espace réservé du contenu 2">
            <a:extLst>
              <a:ext uri="{FF2B5EF4-FFF2-40B4-BE49-F238E27FC236}">
                <a16:creationId xmlns="" xmlns:a16="http://schemas.microsoft.com/office/drawing/2014/main" id="{F717022F-02DA-4D77-A42D-CFBFE24BA0F7}"/>
              </a:ext>
            </a:extLst>
          </p:cNvPr>
          <p:cNvSpPr>
            <a:spLocks noGrp="1"/>
          </p:cNvSpPr>
          <p:nvPr>
            <p:ph idx="1"/>
          </p:nvPr>
        </p:nvSpPr>
        <p:spPr>
          <a:xfrm>
            <a:off x="677333" y="2160589"/>
            <a:ext cx="10507501" cy="4438994"/>
          </a:xfrm>
        </p:spPr>
        <p:txBody>
          <a:bodyPr>
            <a:normAutofit fontScale="85000" lnSpcReduction="20000"/>
          </a:bodyPr>
          <a:lstStyle/>
          <a:p>
            <a:pPr>
              <a:buFont typeface="Wingdings" panose="05000000000000000000" pitchFamily="2" charset="2"/>
              <a:buChar char="§"/>
            </a:pPr>
            <a:r>
              <a:rPr lang="fr-FR" sz="2800" dirty="0">
                <a:latin typeface="Times New Roman" panose="02020603050405020304" pitchFamily="18" charset="0"/>
                <a:ea typeface="Times New Roman" panose="02020603050405020304" pitchFamily="18" charset="0"/>
              </a:rPr>
              <a:t> Vitesse R =-dS/</a:t>
            </a:r>
            <a:r>
              <a:rPr lang="fr-FR" sz="2800" dirty="0" err="1">
                <a:latin typeface="Times New Roman" panose="02020603050405020304" pitchFamily="18" charset="0"/>
                <a:ea typeface="Times New Roman" panose="02020603050405020304" pitchFamily="18" charset="0"/>
              </a:rPr>
              <a:t>dt</a:t>
            </a:r>
            <a:r>
              <a:rPr lang="fr-FR" sz="2800" dirty="0">
                <a:latin typeface="Times New Roman" panose="02020603050405020304" pitchFamily="18" charset="0"/>
                <a:ea typeface="Times New Roman" panose="02020603050405020304" pitchFamily="18" charset="0"/>
              </a:rPr>
              <a:t> = </a:t>
            </a:r>
            <a:r>
              <a:rPr lang="fr-FR" sz="2800" dirty="0" err="1">
                <a:latin typeface="Times New Roman" panose="02020603050405020304" pitchFamily="18" charset="0"/>
                <a:ea typeface="Times New Roman" panose="02020603050405020304" pitchFamily="18" charset="0"/>
              </a:rPr>
              <a:t>dP</a:t>
            </a:r>
            <a:r>
              <a:rPr lang="fr-FR" sz="2800" dirty="0">
                <a:latin typeface="Times New Roman" panose="02020603050405020304" pitchFamily="18" charset="0"/>
                <a:ea typeface="Times New Roman" panose="02020603050405020304" pitchFamily="18" charset="0"/>
              </a:rPr>
              <a:t>/</a:t>
            </a:r>
            <a:r>
              <a:rPr lang="fr-FR" sz="2800" dirty="0" err="1">
                <a:latin typeface="Times New Roman" panose="02020603050405020304" pitchFamily="18" charset="0"/>
                <a:ea typeface="Times New Roman" panose="02020603050405020304" pitchFamily="18" charset="0"/>
              </a:rPr>
              <a:t>dt</a:t>
            </a:r>
            <a:endParaRPr lang="fr-FR" sz="2800" dirty="0">
              <a:latin typeface="Times New Roman" panose="02020603050405020304" pitchFamily="18" charset="0"/>
              <a:ea typeface="Times New Roman" panose="02020603050405020304" pitchFamily="18" charset="0"/>
            </a:endParaRPr>
          </a:p>
          <a:p>
            <a:pPr>
              <a:buFont typeface="Wingdings" panose="05000000000000000000" pitchFamily="2" charset="2"/>
              <a:buChar char="§"/>
            </a:pPr>
            <a:r>
              <a:rPr lang="fr-FR" sz="2800" dirty="0">
                <a:solidFill>
                  <a:srgbClr val="FF0000"/>
                </a:solidFill>
                <a:latin typeface="Times New Roman" panose="02020603050405020304" pitchFamily="18" charset="0"/>
                <a:ea typeface="Times New Roman" panose="02020603050405020304" pitchFamily="18" charset="0"/>
              </a:rPr>
              <a:t>Suivi  de l’évolution de la cinétique </a:t>
            </a:r>
            <a:r>
              <a:rPr lang="fr-FR" sz="2800" dirty="0" smtClean="0">
                <a:solidFill>
                  <a:srgbClr val="FF0000"/>
                </a:solidFill>
                <a:latin typeface="Times New Roman" panose="02020603050405020304" pitchFamily="18" charset="0"/>
                <a:ea typeface="Times New Roman" panose="02020603050405020304" pitchFamily="18" charset="0"/>
              </a:rPr>
              <a:t>Réactionnelle </a:t>
            </a:r>
            <a:r>
              <a:rPr lang="fr-FR" sz="2800" dirty="0" smtClean="0">
                <a:latin typeface="Times New Roman" panose="02020603050405020304" pitchFamily="18" charset="0"/>
                <a:ea typeface="Times New Roman" panose="02020603050405020304" pitchFamily="18" charset="0"/>
              </a:rPr>
              <a:t> par </a:t>
            </a:r>
            <a:r>
              <a:rPr lang="fr-FR" sz="2800" dirty="0">
                <a:latin typeface="Times New Roman" panose="02020603050405020304" pitchFamily="18" charset="0"/>
                <a:ea typeface="Times New Roman" panose="02020603050405020304" pitchFamily="18" charset="0"/>
              </a:rPr>
              <a:t>la mesure de l’absorbance optique: </a:t>
            </a:r>
            <a:r>
              <a:rPr lang="fr-FR" sz="2400" dirty="0" smtClean="0">
                <a:latin typeface="Times New Roman" panose="02020603050405020304" pitchFamily="18" charset="0"/>
                <a:ea typeface="Times New Roman" panose="02020603050405020304" pitchFamily="18" charset="0"/>
              </a:rPr>
              <a:t>Densité Optique(en met le solution et puis l’appareil qui va le transforme automatiquement en concertation)</a:t>
            </a:r>
            <a:endParaRPr lang="fr-FR" sz="2400" dirty="0">
              <a:latin typeface="Times New Roman" panose="02020603050405020304" pitchFamily="18" charset="0"/>
              <a:ea typeface="Times New Roman" panose="02020603050405020304" pitchFamily="18" charset="0"/>
            </a:endParaRPr>
          </a:p>
          <a:p>
            <a:pPr lvl="2">
              <a:buFont typeface="Wingdings" panose="05000000000000000000" pitchFamily="2" charset="2"/>
              <a:buChar char="Ø"/>
            </a:pPr>
            <a:r>
              <a:rPr lang="fr-FR" sz="2600" dirty="0">
                <a:latin typeface="Times New Roman" panose="02020603050405020304" pitchFamily="18" charset="0"/>
                <a:ea typeface="Times New Roman" panose="02020603050405020304" pitchFamily="18" charset="0"/>
              </a:rPr>
              <a:t> longueur d’onde </a:t>
            </a:r>
            <a:r>
              <a:rPr lang="fr-FR" sz="2600" dirty="0" smtClean="0">
                <a:latin typeface="Times New Roman" panose="02020603050405020304" pitchFamily="18" charset="0"/>
                <a:ea typeface="Times New Roman" panose="02020603050405020304" pitchFamily="18" charset="0"/>
              </a:rPr>
              <a:t>caractéristique=&gt;régler probablement spécifique</a:t>
            </a:r>
            <a:endParaRPr lang="fr-FR" sz="2600" dirty="0">
              <a:latin typeface="Times New Roman" panose="02020603050405020304" pitchFamily="18" charset="0"/>
              <a:ea typeface="Times New Roman" panose="02020603050405020304" pitchFamily="18" charset="0"/>
            </a:endParaRPr>
          </a:p>
          <a:p>
            <a:pPr lvl="2">
              <a:buFont typeface="Wingdings" panose="05000000000000000000" pitchFamily="2" charset="2"/>
              <a:buChar char="Ø"/>
            </a:pPr>
            <a:r>
              <a:rPr lang="fr-FR" sz="2600" dirty="0">
                <a:latin typeface="Times New Roman" panose="02020603050405020304" pitchFamily="18" charset="0"/>
                <a:ea typeface="Times New Roman" panose="02020603050405020304" pitchFamily="18" charset="0"/>
              </a:rPr>
              <a:t> intervalles de Tps bien définis</a:t>
            </a:r>
          </a:p>
          <a:p>
            <a:pPr>
              <a:buFont typeface="Wingdings" panose="05000000000000000000" pitchFamily="2" charset="2"/>
              <a:buChar char="§"/>
            </a:pPr>
            <a:r>
              <a:rPr lang="fr-FR" sz="2800" dirty="0">
                <a:latin typeface="Times New Roman" panose="02020603050405020304" pitchFamily="18" charset="0"/>
                <a:ea typeface="Times New Roman" panose="02020603050405020304" pitchFamily="18" charset="0"/>
              </a:rPr>
              <a:t>Expression de l’activité Enz </a:t>
            </a:r>
            <a:r>
              <a:rPr lang="fr-FR" sz="2800" dirty="0" smtClean="0">
                <a:latin typeface="Times New Roman" panose="02020603050405020304" pitchFamily="18" charset="0"/>
                <a:ea typeface="Times New Roman" panose="02020603050405020304" pitchFamily="18" charset="0"/>
              </a:rPr>
              <a:t>=&gt;Unité </a:t>
            </a:r>
            <a:r>
              <a:rPr lang="fr-FR" sz="2800" dirty="0">
                <a:latin typeface="Times New Roman" panose="02020603050405020304" pitchFamily="18" charset="0"/>
                <a:ea typeface="Times New Roman" panose="02020603050405020304" pitchFamily="18" charset="0"/>
              </a:rPr>
              <a:t>Internationale "</a:t>
            </a:r>
            <a:r>
              <a:rPr lang="fr-FR" sz="2800" dirty="0" smtClean="0">
                <a:latin typeface="Times New Roman" panose="02020603050405020304" pitchFamily="18" charset="0"/>
                <a:ea typeface="Times New Roman" panose="02020603050405020304" pitchFamily="18" charset="0"/>
              </a:rPr>
              <a:t>UI</a:t>
            </a:r>
            <a:r>
              <a:rPr lang="fr-FR" sz="2800" dirty="0">
                <a:latin typeface="Times New Roman" panose="02020603050405020304" pitchFamily="18" charset="0"/>
                <a:ea typeface="Times New Roman" panose="02020603050405020304" pitchFamily="18" charset="0"/>
              </a:rPr>
              <a:t> "</a:t>
            </a:r>
            <a:r>
              <a:rPr lang="fr-FR" sz="2800" dirty="0" smtClean="0">
                <a:latin typeface="Times New Roman" panose="02020603050405020304" pitchFamily="18" charset="0"/>
                <a:ea typeface="Times New Roman" panose="02020603050405020304" pitchFamily="18" charset="0"/>
              </a:rPr>
              <a:t>  la concertation est de UI/L</a:t>
            </a:r>
            <a:endParaRPr lang="fr-FR" sz="2800" dirty="0">
              <a:latin typeface="Times New Roman" panose="02020603050405020304" pitchFamily="18" charset="0"/>
              <a:ea typeface="Times New Roman" panose="02020603050405020304" pitchFamily="18" charset="0"/>
            </a:endParaRPr>
          </a:p>
          <a:p>
            <a:pPr marL="0" indent="0">
              <a:buNone/>
            </a:pPr>
            <a:r>
              <a:rPr lang="fr-FR" sz="2800" dirty="0">
                <a:latin typeface="Times New Roman" panose="02020603050405020304" pitchFamily="18" charset="0"/>
                <a:ea typeface="Times New Roman" panose="02020603050405020304" pitchFamily="18" charset="0"/>
              </a:rPr>
              <a:t>      UI  = </a:t>
            </a:r>
            <a:r>
              <a:rPr lang="fr-FR" sz="2800" dirty="0" smtClean="0">
                <a:latin typeface="Times New Roman" panose="02020603050405020304" pitchFamily="18" charset="0"/>
                <a:ea typeface="Times New Roman" panose="02020603050405020304" pitchFamily="18" charset="0"/>
              </a:rPr>
              <a:t>Quantité </a:t>
            </a:r>
            <a:r>
              <a:rPr lang="fr-FR" sz="2800" dirty="0">
                <a:latin typeface="Times New Roman" panose="02020603050405020304" pitchFamily="18" charset="0"/>
                <a:ea typeface="Times New Roman" panose="02020603050405020304" pitchFamily="18" charset="0"/>
              </a:rPr>
              <a:t>Enz catalyse la transformation 1</a:t>
            </a:r>
            <a:r>
              <a:rPr lang="el-GR" sz="2800" dirty="0">
                <a:latin typeface="Times New Roman" panose="02020603050405020304" pitchFamily="18" charset="0"/>
                <a:ea typeface="Times New Roman" panose="02020603050405020304" pitchFamily="18" charset="0"/>
              </a:rPr>
              <a:t>μ</a:t>
            </a:r>
            <a:r>
              <a:rPr lang="fr-FR" sz="2800" dirty="0">
                <a:latin typeface="Times New Roman" panose="02020603050405020304" pitchFamily="18" charset="0"/>
                <a:ea typeface="Times New Roman" panose="02020603050405020304" pitchFamily="18" charset="0"/>
              </a:rPr>
              <a:t>mole de S/ min</a:t>
            </a:r>
          </a:p>
          <a:p>
            <a:pPr marL="0" lvl="0" indent="0">
              <a:buNone/>
            </a:pPr>
            <a:r>
              <a:rPr lang="fr-FR" sz="2800" dirty="0">
                <a:solidFill>
                  <a:srgbClr val="000000"/>
                </a:solidFill>
                <a:latin typeface="Times New Roman" panose="02020603050405020304" pitchFamily="18" charset="0"/>
                <a:ea typeface="Times New Roman" panose="02020603050405020304" pitchFamily="18" charset="0"/>
              </a:rPr>
              <a:t>      </a:t>
            </a:r>
            <a:r>
              <a:rPr lang="fr-FR" sz="2800" dirty="0">
                <a:solidFill>
                  <a:srgbClr val="FF0000"/>
                </a:solidFill>
                <a:latin typeface="Times New Roman" panose="02020603050405020304" pitchFamily="18" charset="0"/>
                <a:ea typeface="Times New Roman" panose="02020603050405020304" pitchFamily="18" charset="0"/>
              </a:rPr>
              <a:t>Conditions optimales (T</a:t>
            </a:r>
            <a:r>
              <a:rPr lang="fr-FR" sz="2800" baseline="30000" dirty="0">
                <a:solidFill>
                  <a:srgbClr val="FF0000"/>
                </a:solidFill>
                <a:latin typeface="Times New Roman" panose="02020603050405020304" pitchFamily="18" charset="0"/>
                <a:ea typeface="Times New Roman" panose="02020603050405020304" pitchFamily="18" charset="0"/>
              </a:rPr>
              <a:t>0</a:t>
            </a:r>
            <a:r>
              <a:rPr lang="fr-FR" sz="2800" dirty="0">
                <a:solidFill>
                  <a:srgbClr val="FF0000"/>
                </a:solidFill>
                <a:latin typeface="Times New Roman" panose="02020603050405020304" pitchFamily="18" charset="0"/>
                <a:ea typeface="Times New Roman" panose="02020603050405020304" pitchFamily="18" charset="0"/>
              </a:rPr>
              <a:t>, pH, quantité S, </a:t>
            </a:r>
            <a:r>
              <a:rPr lang="fr-FR" sz="2800" dirty="0" smtClean="0">
                <a:solidFill>
                  <a:srgbClr val="FF0000"/>
                </a:solidFill>
                <a:latin typeface="Times New Roman" panose="02020603050405020304" pitchFamily="18" charset="0"/>
                <a:ea typeface="Times New Roman" panose="02020603050405020304" pitchFamily="18" charset="0"/>
              </a:rPr>
              <a:t>activateurs=&gt;pour favoriser la réaction)</a:t>
            </a:r>
            <a:endParaRPr lang="fr-FR" sz="2800" dirty="0">
              <a:solidFill>
                <a:srgbClr val="FF0000"/>
              </a:solidFill>
              <a:latin typeface="Times New Roman" panose="02020603050405020304" pitchFamily="18" charset="0"/>
              <a:ea typeface="Times New Roman" panose="02020603050405020304" pitchFamily="18" charset="0"/>
            </a:endParaRPr>
          </a:p>
          <a:p>
            <a:pPr marL="0" indent="0">
              <a:buNone/>
            </a:pPr>
            <a:r>
              <a:rPr lang="fr-FR" sz="2800" dirty="0">
                <a:solidFill>
                  <a:srgbClr val="FF0000"/>
                </a:solidFill>
                <a:latin typeface="Times New Roman" panose="02020603050405020304" pitchFamily="18" charset="0"/>
                <a:ea typeface="Times New Roman" panose="02020603050405020304" pitchFamily="18" charset="0"/>
              </a:rPr>
              <a:t> </a:t>
            </a:r>
          </a:p>
          <a:p>
            <a:endParaRPr lang="fr-FR" dirty="0"/>
          </a:p>
        </p:txBody>
      </p:sp>
    </p:spTree>
    <p:extLst>
      <p:ext uri="{BB962C8B-B14F-4D97-AF65-F5344CB8AC3E}">
        <p14:creationId xmlns:p14="http://schemas.microsoft.com/office/powerpoint/2010/main" val="399101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C43BA1D-10EC-4C7A-BCF8-618C528291F7}"/>
              </a:ext>
            </a:extLst>
          </p:cNvPr>
          <p:cNvSpPr>
            <a:spLocks noGrp="1"/>
          </p:cNvSpPr>
          <p:nvPr>
            <p:ph type="title"/>
          </p:nvPr>
        </p:nvSpPr>
        <p:spPr>
          <a:xfrm>
            <a:off x="595614" y="-27969"/>
            <a:ext cx="8596668" cy="1320800"/>
          </a:xfrm>
        </p:spPr>
        <p:txBody>
          <a:bodyPr/>
          <a:lstStyle/>
          <a:p>
            <a:pPr algn="ctr"/>
            <a:r>
              <a:rPr lang="fr-FR" b="1" dirty="0">
                <a:solidFill>
                  <a:srgbClr val="90C226"/>
                </a:solidFill>
                <a:latin typeface="Times New Roman" panose="02020603050405020304" pitchFamily="18" charset="0"/>
                <a:ea typeface="Times New Roman" panose="02020603050405020304" pitchFamily="18" charset="0"/>
              </a:rPr>
              <a:t>MESURE DE L’ACTIVITE ENZYMATIQUE </a:t>
            </a:r>
            <a:endParaRPr lang="fr-FR" dirty="0"/>
          </a:p>
        </p:txBody>
      </p:sp>
      <p:sp>
        <p:nvSpPr>
          <p:cNvPr id="3" name="Espace réservé du contenu 2">
            <a:extLst>
              <a:ext uri="{FF2B5EF4-FFF2-40B4-BE49-F238E27FC236}">
                <a16:creationId xmlns="" xmlns:a16="http://schemas.microsoft.com/office/drawing/2014/main" id="{B77EBEEF-3AA8-4029-BC43-F72F22620CD5}"/>
              </a:ext>
            </a:extLst>
          </p:cNvPr>
          <p:cNvSpPr>
            <a:spLocks noGrp="1"/>
          </p:cNvSpPr>
          <p:nvPr>
            <p:ph idx="1"/>
          </p:nvPr>
        </p:nvSpPr>
        <p:spPr>
          <a:xfrm>
            <a:off x="226032" y="1199812"/>
            <a:ext cx="11013468" cy="5658188"/>
          </a:xfrm>
        </p:spPr>
        <p:txBody>
          <a:bodyPr>
            <a:normAutofit lnSpcReduction="10000"/>
          </a:bodyPr>
          <a:lstStyle/>
          <a:p>
            <a:r>
              <a:rPr lang="fr-FR" altLang="fr-FR" sz="2400" b="1" dirty="0">
                <a:solidFill>
                  <a:prstClr val="black"/>
                </a:solidFill>
                <a:latin typeface="Times New Roman" panose="02020603050405020304" pitchFamily="18" charset="0"/>
              </a:rPr>
              <a:t>Dosage des Enzs   </a:t>
            </a:r>
            <a:r>
              <a:rPr lang="fr-FR" altLang="fr-FR" sz="2400" b="1" dirty="0">
                <a:solidFill>
                  <a:prstClr val="black"/>
                </a:solidFill>
                <a:latin typeface="Abadi" panose="020B0604020104020204" pitchFamily="34" charset="0"/>
              </a:rPr>
              <a:t>→ sang</a:t>
            </a:r>
            <a:endParaRPr lang="fr-FR" altLang="fr-FR" sz="2400" b="1" dirty="0">
              <a:solidFill>
                <a:prstClr val="black"/>
              </a:solidFill>
              <a:latin typeface="Times New Roman" panose="02020603050405020304" pitchFamily="18" charset="0"/>
            </a:endParaRPr>
          </a:p>
          <a:p>
            <a:r>
              <a:rPr lang="fr-FR" altLang="fr-FR" sz="2400" b="1" dirty="0">
                <a:solidFill>
                  <a:prstClr val="black"/>
                </a:solidFill>
                <a:latin typeface="Times New Roman" panose="02020603050405020304" pitchFamily="18" charset="0"/>
              </a:rPr>
              <a:t>Ponction veineuse au niveau du pli du coude</a:t>
            </a:r>
          </a:p>
          <a:p>
            <a:endParaRPr lang="fr-FR" altLang="fr-FR" sz="2400" b="1" dirty="0">
              <a:solidFill>
                <a:prstClr val="black"/>
              </a:solidFill>
              <a:latin typeface="Times New Roman" panose="02020603050405020304" pitchFamily="18" charset="0"/>
            </a:endParaRPr>
          </a:p>
          <a:p>
            <a:endParaRPr lang="fr-FR" altLang="fr-FR" sz="2400" b="1" dirty="0">
              <a:solidFill>
                <a:prstClr val="black"/>
              </a:solidFill>
              <a:latin typeface="Times New Roman" panose="02020603050405020304" pitchFamily="18" charset="0"/>
            </a:endParaRPr>
          </a:p>
          <a:p>
            <a:pPr lvl="0">
              <a:buClr>
                <a:srgbClr val="90C226"/>
              </a:buClr>
            </a:pPr>
            <a:endParaRPr lang="fr-FR" altLang="fr-FR" sz="2400" b="1" dirty="0">
              <a:solidFill>
                <a:prstClr val="black"/>
              </a:solidFill>
              <a:latin typeface="Times New Roman" panose="02020603050405020304" pitchFamily="18" charset="0"/>
            </a:endParaRPr>
          </a:p>
          <a:p>
            <a:pPr lvl="0">
              <a:buClr>
                <a:srgbClr val="90C226"/>
              </a:buClr>
            </a:pPr>
            <a:endParaRPr lang="fr-FR" altLang="fr-FR" sz="2400" b="1" dirty="0">
              <a:solidFill>
                <a:prstClr val="black"/>
              </a:solidFill>
              <a:latin typeface="Times New Roman" panose="02020603050405020304" pitchFamily="18" charset="0"/>
            </a:endParaRPr>
          </a:p>
          <a:p>
            <a:pPr lvl="0">
              <a:buClr>
                <a:srgbClr val="90C226"/>
              </a:buClr>
            </a:pPr>
            <a:endParaRPr lang="fr-FR" altLang="fr-FR" sz="2400" b="1" dirty="0">
              <a:solidFill>
                <a:prstClr val="black"/>
              </a:solidFill>
              <a:latin typeface="Times New Roman" panose="02020603050405020304" pitchFamily="18" charset="0"/>
            </a:endParaRPr>
          </a:p>
          <a:p>
            <a:pPr lvl="0">
              <a:buClr>
                <a:srgbClr val="90C226"/>
              </a:buClr>
            </a:pPr>
            <a:endParaRPr lang="fr-FR" altLang="fr-FR" sz="2400" b="1" dirty="0">
              <a:solidFill>
                <a:prstClr val="black"/>
              </a:solidFill>
              <a:latin typeface="Times New Roman" panose="02020603050405020304" pitchFamily="18" charset="0"/>
            </a:endParaRPr>
          </a:p>
          <a:p>
            <a:pPr lvl="0">
              <a:buClr>
                <a:srgbClr val="90C226"/>
              </a:buClr>
            </a:pPr>
            <a:endParaRPr lang="fr-FR" altLang="fr-FR" sz="2400" b="1" dirty="0">
              <a:solidFill>
                <a:prstClr val="black"/>
              </a:solidFill>
              <a:latin typeface="Times New Roman" panose="02020603050405020304" pitchFamily="18" charset="0"/>
            </a:endParaRPr>
          </a:p>
          <a:p>
            <a:pPr lvl="0">
              <a:buClr>
                <a:srgbClr val="90C226"/>
              </a:buClr>
            </a:pPr>
            <a:endParaRPr lang="fr-FR" altLang="fr-FR" sz="2400" b="1" dirty="0">
              <a:solidFill>
                <a:prstClr val="black"/>
              </a:solidFill>
              <a:latin typeface="Times New Roman" panose="02020603050405020304" pitchFamily="18" charset="0"/>
            </a:endParaRPr>
          </a:p>
          <a:p>
            <a:pPr lvl="0">
              <a:buClr>
                <a:srgbClr val="90C226"/>
              </a:buClr>
            </a:pPr>
            <a:r>
              <a:rPr lang="fr-FR" altLang="fr-FR" sz="2400" b="1" dirty="0" smtClean="0">
                <a:solidFill>
                  <a:prstClr val="black"/>
                </a:solidFill>
                <a:latin typeface="Times New Roman" panose="02020603050405020304" pitchFamily="18" charset="0"/>
              </a:rPr>
              <a:t>Parfois Dosage </a:t>
            </a:r>
            <a:r>
              <a:rPr lang="fr-FR" altLang="fr-FR" sz="2400" b="1" dirty="0">
                <a:solidFill>
                  <a:prstClr val="black"/>
                </a:solidFill>
                <a:latin typeface="Times New Roman" panose="02020603050405020304" pitchFamily="18" charset="0"/>
              </a:rPr>
              <a:t>des Enzs   </a:t>
            </a:r>
            <a:r>
              <a:rPr lang="fr-FR" altLang="fr-FR" sz="2400" b="1" dirty="0">
                <a:solidFill>
                  <a:prstClr val="black"/>
                </a:solidFill>
                <a:latin typeface="Abadi" panose="020B0604020104020204" pitchFamily="34" charset="0"/>
              </a:rPr>
              <a:t>→ Urines (</a:t>
            </a:r>
            <a:r>
              <a:rPr lang="fr-FR" altLang="fr-FR" sz="2400" b="1" dirty="0" smtClean="0">
                <a:solidFill>
                  <a:prstClr val="black"/>
                </a:solidFill>
                <a:latin typeface="Abadi" panose="020B0604020104020204" pitchFamily="34" charset="0"/>
              </a:rPr>
              <a:t>amylase=&gt;il est très petit a l’état normal il peut traverser le barrière glomérulaire) </a:t>
            </a:r>
            <a:r>
              <a:rPr lang="fr-FR" altLang="fr-FR" sz="2400" b="1" dirty="0">
                <a:solidFill>
                  <a:prstClr val="black"/>
                </a:solidFill>
                <a:latin typeface="Abadi" panose="020B0604020104020204" pitchFamily="34" charset="0"/>
              </a:rPr>
              <a:t>, Liquides de </a:t>
            </a:r>
            <a:r>
              <a:rPr lang="fr-FR" altLang="fr-FR" sz="2400" b="1" dirty="0" smtClean="0">
                <a:solidFill>
                  <a:prstClr val="black"/>
                </a:solidFill>
                <a:latin typeface="Abadi" panose="020B0604020104020204" pitchFamily="34" charset="0"/>
              </a:rPr>
              <a:t>ponctions (par épanchement (généralement ++ d’ascites et plurales)</a:t>
            </a:r>
            <a:endParaRPr lang="fr-FR" altLang="fr-FR" sz="2400" b="1" dirty="0">
              <a:solidFill>
                <a:prstClr val="black"/>
              </a:solidFill>
              <a:latin typeface="Times New Roman" panose="02020603050405020304" pitchFamily="18" charset="0"/>
            </a:endParaRPr>
          </a:p>
          <a:p>
            <a:endParaRPr lang="fr-FR" dirty="0"/>
          </a:p>
        </p:txBody>
      </p:sp>
      <p:sp>
        <p:nvSpPr>
          <p:cNvPr id="4" name="Oval 21">
            <a:extLst>
              <a:ext uri="{FF2B5EF4-FFF2-40B4-BE49-F238E27FC236}">
                <a16:creationId xmlns="" xmlns:a16="http://schemas.microsoft.com/office/drawing/2014/main" id="{BCB621D1-FD5F-4CA4-96A9-8AB32B9BD667}"/>
              </a:ext>
            </a:extLst>
          </p:cNvPr>
          <p:cNvSpPr>
            <a:spLocks noChangeArrowheads="1"/>
          </p:cNvSpPr>
          <p:nvPr/>
        </p:nvSpPr>
        <p:spPr bwMode="auto">
          <a:xfrm>
            <a:off x="1459719" y="4276433"/>
            <a:ext cx="2513127" cy="469575"/>
          </a:xfrm>
          <a:prstGeom prst="ellipse">
            <a:avLst/>
          </a:prstGeom>
          <a:solidFill>
            <a:schemeClr val="accent3"/>
          </a:solidFill>
          <a:ln w="9525">
            <a:solidFill>
              <a:sysClr val="windowText" lastClr="000000"/>
            </a:solidFill>
            <a:round/>
            <a:headEnd/>
            <a:tailEnd/>
          </a:ln>
        </p:spPr>
        <p:txBody>
          <a:bodyPr wrap="none" anchor="ctr"/>
          <a:lstStyle>
            <a:lvl1pPr eaLnBrk="0" hangingPunct="0">
              <a:defRPr sz="2400" b="1">
                <a:solidFill>
                  <a:schemeClr val="tx1"/>
                </a:solidFill>
                <a:latin typeface="Arial" panose="020B0604020202020204" pitchFamily="34" charset="0"/>
                <a:cs typeface="Arial" panose="020B0604020202020204" pitchFamily="34" charset="0"/>
              </a:defRPr>
            </a:lvl1pPr>
            <a:lvl2pPr marL="742950" indent="-285750" eaLnBrk="0" hangingPunct="0">
              <a:defRPr sz="2400" b="1">
                <a:solidFill>
                  <a:schemeClr val="tx1"/>
                </a:solidFill>
                <a:latin typeface="Arial" panose="020B0604020202020204" pitchFamily="34" charset="0"/>
                <a:cs typeface="Arial" panose="020B0604020202020204" pitchFamily="34" charset="0"/>
              </a:defRPr>
            </a:lvl2pPr>
            <a:lvl3pPr marL="1143000" indent="-228600" eaLnBrk="0" hangingPunct="0">
              <a:defRPr sz="2400" b="1">
                <a:solidFill>
                  <a:schemeClr val="tx1"/>
                </a:solidFill>
                <a:latin typeface="Arial" panose="020B0604020202020204" pitchFamily="34" charset="0"/>
                <a:cs typeface="Arial" panose="020B0604020202020204" pitchFamily="34" charset="0"/>
              </a:defRPr>
            </a:lvl3pPr>
            <a:lvl4pPr marL="1600200" indent="-228600" eaLnBrk="0" hangingPunct="0">
              <a:defRPr sz="2400" b="1">
                <a:solidFill>
                  <a:schemeClr val="tx1"/>
                </a:solidFill>
                <a:latin typeface="Arial" panose="020B0604020202020204" pitchFamily="34" charset="0"/>
                <a:cs typeface="Arial" panose="020B0604020202020204" pitchFamily="34" charset="0"/>
              </a:defRPr>
            </a:lvl4pPr>
            <a:lvl5pPr marL="2057400" indent="-228600" eaLnBrk="0" hangingPunct="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altLang="fr-FR" sz="18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Sg</a:t>
            </a:r>
            <a:r>
              <a:rPr kumimoji="0" lang="en-US" altLang="fr-FR" sz="18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 </a:t>
            </a:r>
            <a:r>
              <a:rPr kumimoji="0" lang="en-US" altLang="fr-FR" sz="1800" b="1" i="0" u="none" strike="noStrike" kern="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anticoag</a:t>
            </a:r>
            <a:endParaRPr kumimoji="0" lang="en-US" altLang="fr-FR" sz="18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Oval 20">
            <a:extLst>
              <a:ext uri="{FF2B5EF4-FFF2-40B4-BE49-F238E27FC236}">
                <a16:creationId xmlns="" xmlns:a16="http://schemas.microsoft.com/office/drawing/2014/main" id="{665B5F61-89AC-48AE-A199-271D9E811DB3}"/>
              </a:ext>
            </a:extLst>
          </p:cNvPr>
          <p:cNvSpPr>
            <a:spLocks noChangeArrowheads="1"/>
          </p:cNvSpPr>
          <p:nvPr/>
        </p:nvSpPr>
        <p:spPr bwMode="auto">
          <a:xfrm>
            <a:off x="4782376" y="4144465"/>
            <a:ext cx="2410455" cy="519109"/>
          </a:xfrm>
          <a:prstGeom prst="ellipse">
            <a:avLst/>
          </a:prstGeom>
          <a:solidFill>
            <a:schemeClr val="accent2"/>
          </a:solidFill>
          <a:ln w="9525">
            <a:solidFill>
              <a:sysClr val="windowText" lastClr="000000"/>
            </a:solidFill>
            <a:round/>
            <a:headEnd/>
            <a:tailEnd/>
          </a:ln>
        </p:spPr>
        <p:txBody>
          <a:bodyPr wrap="none" anchor="ctr"/>
          <a:lstStyle>
            <a:lvl1pPr eaLnBrk="0" hangingPunct="0">
              <a:defRPr sz="2400" b="1">
                <a:solidFill>
                  <a:schemeClr val="tx1"/>
                </a:solidFill>
                <a:latin typeface="Arial" panose="020B0604020202020204" pitchFamily="34" charset="0"/>
                <a:cs typeface="Arial" panose="020B0604020202020204" pitchFamily="34" charset="0"/>
              </a:defRPr>
            </a:lvl1pPr>
            <a:lvl2pPr marL="742950" indent="-285750" eaLnBrk="0" hangingPunct="0">
              <a:defRPr sz="2400" b="1">
                <a:solidFill>
                  <a:schemeClr val="tx1"/>
                </a:solidFill>
                <a:latin typeface="Arial" panose="020B0604020202020204" pitchFamily="34" charset="0"/>
                <a:cs typeface="Arial" panose="020B0604020202020204" pitchFamily="34" charset="0"/>
              </a:defRPr>
            </a:lvl2pPr>
            <a:lvl3pPr marL="1143000" indent="-228600" eaLnBrk="0" hangingPunct="0">
              <a:defRPr sz="2400" b="1">
                <a:solidFill>
                  <a:schemeClr val="tx1"/>
                </a:solidFill>
                <a:latin typeface="Arial" panose="020B0604020202020204" pitchFamily="34" charset="0"/>
                <a:cs typeface="Arial" panose="020B0604020202020204" pitchFamily="34" charset="0"/>
              </a:defRPr>
            </a:lvl3pPr>
            <a:lvl4pPr marL="1600200" indent="-228600" eaLnBrk="0" hangingPunct="0">
              <a:defRPr sz="2400" b="1">
                <a:solidFill>
                  <a:schemeClr val="tx1"/>
                </a:solidFill>
                <a:latin typeface="Arial" panose="020B0604020202020204" pitchFamily="34" charset="0"/>
                <a:cs typeface="Arial" panose="020B0604020202020204" pitchFamily="34" charset="0"/>
              </a:defRPr>
            </a:lvl4pPr>
            <a:lvl5pPr marL="2057400" indent="-228600" eaLnBrk="0" hangingPunct="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altLang="fr-FR" sz="1800" b="1" i="0" u="none" strike="noStrike" kern="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sg</a:t>
            </a:r>
            <a:r>
              <a:rPr kumimoji="0" lang="en-US" altLang="fr-FR" sz="18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fr-FR" sz="1800" b="1" i="0" u="none" strike="noStrike" kern="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anticoag</a:t>
            </a:r>
            <a:endParaRPr kumimoji="0" lang="en-US" altLang="fr-FR" sz="18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pic>
        <p:nvPicPr>
          <p:cNvPr id="7" name="Picture 5">
            <a:extLst>
              <a:ext uri="{FF2B5EF4-FFF2-40B4-BE49-F238E27FC236}">
                <a16:creationId xmlns="" xmlns:a16="http://schemas.microsoft.com/office/drawing/2014/main" id="{5DE7F0C9-639B-431E-87C6-41E31A649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1969647"/>
            <a:ext cx="3132138"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rganigramme : Données stockées 9">
            <a:extLst>
              <a:ext uri="{FF2B5EF4-FFF2-40B4-BE49-F238E27FC236}">
                <a16:creationId xmlns="" xmlns:a16="http://schemas.microsoft.com/office/drawing/2014/main" id="{9063F771-748A-48CC-A471-82196754724D}"/>
              </a:ext>
            </a:extLst>
          </p:cNvPr>
          <p:cNvSpPr/>
          <p:nvPr/>
        </p:nvSpPr>
        <p:spPr>
          <a:xfrm rot="16731614">
            <a:off x="5115072" y="2769802"/>
            <a:ext cx="1921565" cy="344806"/>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rganigramme : Données stockées 10">
            <a:extLst>
              <a:ext uri="{FF2B5EF4-FFF2-40B4-BE49-F238E27FC236}">
                <a16:creationId xmlns="" xmlns:a16="http://schemas.microsoft.com/office/drawing/2014/main" id="{14A29359-DEB0-475E-B14E-F4D52D08C5B9}"/>
              </a:ext>
            </a:extLst>
          </p:cNvPr>
          <p:cNvSpPr/>
          <p:nvPr/>
        </p:nvSpPr>
        <p:spPr>
          <a:xfrm rot="16592069">
            <a:off x="1690699" y="2950049"/>
            <a:ext cx="2092263" cy="400920"/>
          </a:xfrm>
          <a:prstGeom prst="flowChartOnlineStorag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courbe vers la gauche 11">
            <a:extLst>
              <a:ext uri="{FF2B5EF4-FFF2-40B4-BE49-F238E27FC236}">
                <a16:creationId xmlns="" xmlns:a16="http://schemas.microsoft.com/office/drawing/2014/main" id="{A71E438A-90E0-404B-9662-8ACCDDBF24F9}"/>
              </a:ext>
            </a:extLst>
          </p:cNvPr>
          <p:cNvSpPr/>
          <p:nvPr/>
        </p:nvSpPr>
        <p:spPr>
          <a:xfrm rot="6495593">
            <a:off x="2349910" y="2780277"/>
            <a:ext cx="592179" cy="1039028"/>
          </a:xfrm>
          <a:prstGeom prst="curvedLeftArrow">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13" name="Image 12">
            <a:extLst>
              <a:ext uri="{FF2B5EF4-FFF2-40B4-BE49-F238E27FC236}">
                <a16:creationId xmlns="" xmlns:a16="http://schemas.microsoft.com/office/drawing/2014/main" id="{687F9F3C-A7B7-4B58-B50A-F940065E8681}"/>
              </a:ext>
            </a:extLst>
          </p:cNvPr>
          <p:cNvPicPr>
            <a:picLocks noChangeAspect="1"/>
          </p:cNvPicPr>
          <p:nvPr/>
        </p:nvPicPr>
        <p:blipFill>
          <a:blip r:embed="rId4"/>
          <a:stretch>
            <a:fillRect/>
          </a:stretch>
        </p:blipFill>
        <p:spPr>
          <a:xfrm>
            <a:off x="5554601" y="2746000"/>
            <a:ext cx="1042506" cy="768163"/>
          </a:xfrm>
          <a:prstGeom prst="rect">
            <a:avLst/>
          </a:prstGeom>
        </p:spPr>
      </p:pic>
      <p:sp>
        <p:nvSpPr>
          <p:cNvPr id="14" name="Rectangle 13">
            <a:extLst>
              <a:ext uri="{FF2B5EF4-FFF2-40B4-BE49-F238E27FC236}">
                <a16:creationId xmlns="" xmlns:a16="http://schemas.microsoft.com/office/drawing/2014/main" id="{BCD78EB6-19F9-41DF-89DB-010DBFE2FC6E}"/>
              </a:ext>
            </a:extLst>
          </p:cNvPr>
          <p:cNvSpPr/>
          <p:nvPr/>
        </p:nvSpPr>
        <p:spPr>
          <a:xfrm>
            <a:off x="3856280" y="2581567"/>
            <a:ext cx="1852193"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Centrifugation</a:t>
            </a:r>
          </a:p>
        </p:txBody>
      </p:sp>
      <p:pic>
        <p:nvPicPr>
          <p:cNvPr id="15" name="Image 14">
            <a:extLst>
              <a:ext uri="{FF2B5EF4-FFF2-40B4-BE49-F238E27FC236}">
                <a16:creationId xmlns="" xmlns:a16="http://schemas.microsoft.com/office/drawing/2014/main" id="{D66F53FB-ADC4-4408-90F1-DF039AAE1CF3}"/>
              </a:ext>
            </a:extLst>
          </p:cNvPr>
          <p:cNvPicPr>
            <a:picLocks noChangeAspect="1"/>
          </p:cNvPicPr>
          <p:nvPr/>
        </p:nvPicPr>
        <p:blipFill>
          <a:blip r:embed="rId5"/>
          <a:stretch>
            <a:fillRect/>
          </a:stretch>
        </p:blipFill>
        <p:spPr>
          <a:xfrm>
            <a:off x="471738" y="2746000"/>
            <a:ext cx="1853345" cy="652329"/>
          </a:xfrm>
          <a:prstGeom prst="rect">
            <a:avLst/>
          </a:prstGeom>
        </p:spPr>
      </p:pic>
      <p:sp>
        <p:nvSpPr>
          <p:cNvPr id="16" name="Rectangle 15">
            <a:extLst>
              <a:ext uri="{FF2B5EF4-FFF2-40B4-BE49-F238E27FC236}">
                <a16:creationId xmlns="" xmlns:a16="http://schemas.microsoft.com/office/drawing/2014/main" id="{F2132F49-3858-4D7E-9E01-A0E589A7FC4C}"/>
              </a:ext>
            </a:extLst>
          </p:cNvPr>
          <p:cNvSpPr/>
          <p:nvPr/>
        </p:nvSpPr>
        <p:spPr>
          <a:xfrm>
            <a:off x="5312464" y="5059088"/>
            <a:ext cx="1709632" cy="4695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fr-FR" b="1" kern="0" dirty="0" err="1">
                <a:solidFill>
                  <a:prstClr val="black"/>
                </a:solidFill>
                <a:latin typeface="Arial" panose="020B0604020202020204" pitchFamily="34" charset="0"/>
                <a:cs typeface="Arial" panose="020B0604020202020204" pitchFamily="34" charset="0"/>
              </a:rPr>
              <a:t>Enz</a:t>
            </a:r>
            <a:r>
              <a:rPr lang="en-US" altLang="fr-FR" b="1" kern="0" dirty="0">
                <a:solidFill>
                  <a:prstClr val="black"/>
                </a:solidFill>
                <a:latin typeface="Arial" panose="020B0604020202020204" pitchFamily="34" charset="0"/>
                <a:cs typeface="Arial" panose="020B0604020202020204" pitchFamily="34" charset="0"/>
              </a:rPr>
              <a:t> </a:t>
            </a:r>
            <a:r>
              <a:rPr lang="en-US" altLang="fr-FR" b="1" kern="0" dirty="0">
                <a:solidFill>
                  <a:prstClr val="black"/>
                </a:solidFill>
                <a:latin typeface="Abadi" panose="020B0604020104020204" pitchFamily="34" charset="0"/>
                <a:cs typeface="Arial" panose="020B0604020202020204" pitchFamily="34" charset="0"/>
              </a:rPr>
              <a:t>→</a:t>
            </a:r>
            <a:r>
              <a:rPr lang="en-US" altLang="fr-FR" b="1" kern="0" dirty="0">
                <a:solidFill>
                  <a:prstClr val="black"/>
                </a:solidFill>
                <a:latin typeface="Arial" panose="020B0604020202020204" pitchFamily="34" charset="0"/>
                <a:cs typeface="Arial" panose="020B0604020202020204" pitchFamily="34" charset="0"/>
              </a:rPr>
              <a:t>Plasma</a:t>
            </a:r>
            <a:endParaRPr lang="fr-FR" dirty="0"/>
          </a:p>
        </p:txBody>
      </p:sp>
      <p:sp>
        <p:nvSpPr>
          <p:cNvPr id="17" name="Rectangle 16">
            <a:extLst>
              <a:ext uri="{FF2B5EF4-FFF2-40B4-BE49-F238E27FC236}">
                <a16:creationId xmlns="" xmlns:a16="http://schemas.microsoft.com/office/drawing/2014/main" id="{9BD5E515-3500-4FD4-907A-A1722801FE63}"/>
              </a:ext>
            </a:extLst>
          </p:cNvPr>
          <p:cNvSpPr/>
          <p:nvPr/>
        </p:nvSpPr>
        <p:spPr>
          <a:xfrm>
            <a:off x="2059872" y="5043903"/>
            <a:ext cx="1709632" cy="4695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fr-FR" b="1" kern="0" dirty="0">
                <a:solidFill>
                  <a:prstClr val="black"/>
                </a:solidFill>
                <a:latin typeface="Arial" panose="020B0604020202020204" pitchFamily="34" charset="0"/>
                <a:cs typeface="Arial" panose="020B0604020202020204" pitchFamily="34" charset="0"/>
              </a:rPr>
              <a:t> </a:t>
            </a:r>
            <a:r>
              <a:rPr lang="en-US" altLang="fr-FR" b="1" kern="0" dirty="0" err="1">
                <a:solidFill>
                  <a:prstClr val="black"/>
                </a:solidFill>
                <a:latin typeface="Arial" panose="020B0604020202020204" pitchFamily="34" charset="0"/>
                <a:cs typeface="Arial" panose="020B0604020202020204" pitchFamily="34" charset="0"/>
              </a:rPr>
              <a:t>Enz</a:t>
            </a:r>
            <a:r>
              <a:rPr lang="en-US" altLang="fr-FR" b="1" kern="0" dirty="0">
                <a:solidFill>
                  <a:prstClr val="black"/>
                </a:solidFill>
                <a:latin typeface="Arial" panose="020B0604020202020204" pitchFamily="34" charset="0"/>
                <a:cs typeface="Arial" panose="020B0604020202020204" pitchFamily="34" charset="0"/>
              </a:rPr>
              <a:t> </a:t>
            </a:r>
            <a:r>
              <a:rPr lang="en-US" altLang="fr-FR" b="1" kern="0" dirty="0">
                <a:solidFill>
                  <a:prstClr val="black"/>
                </a:solidFill>
                <a:latin typeface="Abadi" panose="020B0604020104020204" pitchFamily="34" charset="0"/>
                <a:cs typeface="Arial" panose="020B0604020202020204" pitchFamily="34" charset="0"/>
              </a:rPr>
              <a:t>→</a:t>
            </a:r>
            <a:r>
              <a:rPr lang="en-US" altLang="fr-FR" b="1" kern="0" dirty="0">
                <a:solidFill>
                  <a:prstClr val="black"/>
                </a:solidFill>
                <a:latin typeface="Arial" panose="020B0604020202020204" pitchFamily="34" charset="0"/>
                <a:cs typeface="Arial" panose="020B0604020202020204" pitchFamily="34" charset="0"/>
              </a:rPr>
              <a:t>Serum</a:t>
            </a:r>
            <a:endParaRPr lang="fr-FR" dirty="0"/>
          </a:p>
        </p:txBody>
      </p:sp>
      <p:sp>
        <p:nvSpPr>
          <p:cNvPr id="5" name="Flèche vers le bas 4"/>
          <p:cNvSpPr/>
          <p:nvPr/>
        </p:nvSpPr>
        <p:spPr>
          <a:xfrm>
            <a:off x="10934700" y="590550"/>
            <a:ext cx="304800" cy="14978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10267950" y="304800"/>
            <a:ext cx="1657350" cy="369332"/>
          </a:xfrm>
          <a:prstGeom prst="rect">
            <a:avLst/>
          </a:prstGeom>
          <a:noFill/>
        </p:spPr>
        <p:txBody>
          <a:bodyPr wrap="square" rtlCol="0">
            <a:spAutoFit/>
          </a:bodyPr>
          <a:lstStyle/>
          <a:p>
            <a:r>
              <a:rPr lang="fr-FR" dirty="0" smtClean="0"/>
              <a:t>Le garrot</a:t>
            </a:r>
            <a:endParaRPr lang="fr-FR" dirty="0"/>
          </a:p>
        </p:txBody>
      </p:sp>
      <p:sp>
        <p:nvSpPr>
          <p:cNvPr id="9" name="Flèche droite 8"/>
          <p:cNvSpPr/>
          <p:nvPr/>
        </p:nvSpPr>
        <p:spPr>
          <a:xfrm>
            <a:off x="6917691" y="4241228"/>
            <a:ext cx="1393200" cy="3955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8310891" y="4267410"/>
            <a:ext cx="1745496" cy="369332"/>
          </a:xfrm>
          <a:prstGeom prst="rect">
            <a:avLst/>
          </a:prstGeom>
          <a:noFill/>
        </p:spPr>
        <p:txBody>
          <a:bodyPr wrap="square" rtlCol="0">
            <a:spAutoFit/>
          </a:bodyPr>
          <a:lstStyle/>
          <a:p>
            <a:r>
              <a:rPr lang="fr-FR" dirty="0" smtClean="0"/>
              <a:t>plasma</a:t>
            </a:r>
            <a:endParaRPr lang="fr-FR" dirty="0"/>
          </a:p>
        </p:txBody>
      </p:sp>
      <p:sp>
        <p:nvSpPr>
          <p:cNvPr id="19" name="Flèche droite 18"/>
          <p:cNvSpPr/>
          <p:nvPr/>
        </p:nvSpPr>
        <p:spPr>
          <a:xfrm rot="10800000">
            <a:off x="645599" y="4302099"/>
            <a:ext cx="1146686" cy="3846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p:cNvSpPr txBox="1"/>
          <p:nvPr/>
        </p:nvSpPr>
        <p:spPr>
          <a:xfrm>
            <a:off x="-72365" y="4302099"/>
            <a:ext cx="1690290" cy="369332"/>
          </a:xfrm>
          <a:prstGeom prst="rect">
            <a:avLst/>
          </a:prstGeom>
          <a:noFill/>
        </p:spPr>
        <p:txBody>
          <a:bodyPr wrap="square" rtlCol="0">
            <a:spAutoFit/>
          </a:bodyPr>
          <a:lstStyle/>
          <a:p>
            <a:r>
              <a:rPr lang="fr-FR" dirty="0" smtClean="0"/>
              <a:t>sérum</a:t>
            </a:r>
            <a:endParaRPr lang="fr-FR" dirty="0"/>
          </a:p>
        </p:txBody>
      </p:sp>
    </p:spTree>
    <p:extLst>
      <p:ext uri="{BB962C8B-B14F-4D97-AF65-F5344CB8AC3E}">
        <p14:creationId xmlns:p14="http://schemas.microsoft.com/office/powerpoint/2010/main" val="391187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0" grpId="0" animBg="1"/>
      <p:bldP spid="11" grpId="0" animBg="1"/>
      <p:bldP spid="12" grpId="0" animBg="1"/>
      <p:bldP spid="14" grpId="0"/>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74036C1-F794-490F-9623-250D35C1D36A}"/>
              </a:ext>
            </a:extLst>
          </p:cNvPr>
          <p:cNvSpPr>
            <a:spLocks noGrp="1"/>
          </p:cNvSpPr>
          <p:nvPr>
            <p:ph type="title"/>
          </p:nvPr>
        </p:nvSpPr>
        <p:spPr>
          <a:xfrm>
            <a:off x="385786" y="287130"/>
            <a:ext cx="8596668" cy="1320800"/>
          </a:xfrm>
        </p:spPr>
        <p:txBody>
          <a:bodyPr/>
          <a:lstStyle/>
          <a:p>
            <a:pPr algn="ctr"/>
            <a:r>
              <a:rPr lang="fr-FR" b="1" dirty="0">
                <a:latin typeface="Times New Roman" panose="02020603050405020304" pitchFamily="18" charset="0"/>
                <a:ea typeface="Times New Roman" panose="02020603050405020304" pitchFamily="18" charset="0"/>
              </a:rPr>
              <a:t>LES ISOENZYMES ET METHODES DE MESURES DE LEURS ACTIVITES </a:t>
            </a:r>
            <a:endParaRPr lang="fr-FR" dirty="0"/>
          </a:p>
        </p:txBody>
      </p:sp>
      <p:sp>
        <p:nvSpPr>
          <p:cNvPr id="3" name="Espace réservé du contenu 2">
            <a:extLst>
              <a:ext uri="{FF2B5EF4-FFF2-40B4-BE49-F238E27FC236}">
                <a16:creationId xmlns="" xmlns:a16="http://schemas.microsoft.com/office/drawing/2014/main" id="{D612BDDA-342D-41C9-998E-3873FB6771E8}"/>
              </a:ext>
            </a:extLst>
          </p:cNvPr>
          <p:cNvSpPr>
            <a:spLocks noGrp="1"/>
          </p:cNvSpPr>
          <p:nvPr>
            <p:ph idx="1"/>
          </p:nvPr>
        </p:nvSpPr>
        <p:spPr>
          <a:xfrm>
            <a:off x="385786" y="1088458"/>
            <a:ext cx="9460580" cy="4890053"/>
          </a:xfrm>
        </p:spPr>
        <p:txBody>
          <a:bodyPr>
            <a:normAutofit fontScale="62500" lnSpcReduction="20000"/>
          </a:bodyPr>
          <a:lstStyle/>
          <a:p>
            <a:pPr>
              <a:buFont typeface="Arial" panose="020B0604020202020204" pitchFamily="34" charset="0"/>
              <a:buChar char="•"/>
            </a:pPr>
            <a:endParaRPr lang="fr-FR" sz="2400" dirty="0">
              <a:solidFill>
                <a:srgbClr val="FF0000"/>
              </a:solidFill>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fr-FR" sz="2400" dirty="0" smtClean="0">
                <a:solidFill>
                  <a:srgbClr val="FF0000"/>
                </a:solidFill>
                <a:latin typeface="Times New Roman" panose="02020603050405020304" pitchFamily="18" charset="0"/>
                <a:ea typeface="Times New Roman" panose="02020603050405020304" pitchFamily="18" charset="0"/>
              </a:rPr>
              <a:t>plusieurs </a:t>
            </a:r>
            <a:r>
              <a:rPr lang="fr-FR" sz="2400" b="1" dirty="0">
                <a:solidFill>
                  <a:schemeClr val="tx1"/>
                </a:solidFill>
                <a:latin typeface="Times New Roman" panose="02020603050405020304" pitchFamily="18" charset="0"/>
                <a:ea typeface="Times New Roman" panose="02020603050405020304" pitchFamily="18" charset="0"/>
              </a:rPr>
              <a:t>formes </a:t>
            </a:r>
            <a:r>
              <a:rPr lang="fr-FR" sz="2400" b="1" dirty="0" smtClean="0">
                <a:solidFill>
                  <a:schemeClr val="tx1"/>
                </a:solidFill>
                <a:latin typeface="Times New Roman" panose="02020603050405020304" pitchFamily="18" charset="0"/>
                <a:ea typeface="Times New Roman" panose="02020603050405020304" pitchFamily="18" charset="0"/>
              </a:rPr>
              <a:t>de même </a:t>
            </a:r>
            <a:r>
              <a:rPr lang="fr-FR" sz="2400" b="1" dirty="0">
                <a:solidFill>
                  <a:schemeClr val="tx1"/>
                </a:solidFill>
                <a:latin typeface="Times New Roman" panose="02020603050405020304" pitchFamily="18" charset="0"/>
                <a:ea typeface="Times New Roman" panose="02020603050405020304" pitchFamily="18" charset="0"/>
              </a:rPr>
              <a:t>Enz </a:t>
            </a:r>
          </a:p>
          <a:p>
            <a:pPr lvl="1">
              <a:buFont typeface="Wingdings" panose="05000000000000000000" pitchFamily="2" charset="2"/>
              <a:buChar char="ü"/>
            </a:pPr>
            <a:r>
              <a:rPr lang="fr-FR" sz="2200" dirty="0" smtClean="0">
                <a:solidFill>
                  <a:srgbClr val="FF0000"/>
                </a:solidFill>
                <a:latin typeface="Times New Roman" panose="02020603050405020304" pitchFamily="18" charset="0"/>
                <a:ea typeface="Times New Roman" panose="02020603050405020304" pitchFamily="18" charset="0"/>
              </a:rPr>
              <a:t>Qui sont de la  même</a:t>
            </a:r>
            <a:r>
              <a:rPr lang="fr-FR" sz="2200" dirty="0" smtClean="0">
                <a:solidFill>
                  <a:schemeClr val="tx1"/>
                </a:solidFill>
                <a:latin typeface="Times New Roman" panose="02020603050405020304" pitchFamily="18" charset="0"/>
                <a:ea typeface="Times New Roman" panose="02020603050405020304" pitchFamily="18" charset="0"/>
              </a:rPr>
              <a:t> </a:t>
            </a:r>
            <a:r>
              <a:rPr lang="fr-FR" sz="2200" dirty="0">
                <a:solidFill>
                  <a:schemeClr val="tx1"/>
                </a:solidFill>
                <a:latin typeface="Times New Roman" panose="02020603050405020304" pitchFamily="18" charset="0"/>
                <a:ea typeface="Times New Roman" panose="02020603050405020304" pitchFamily="18" charset="0"/>
              </a:rPr>
              <a:t>Propriété catalytique (même R,</a:t>
            </a:r>
            <a:r>
              <a:rPr lang="fr-FR" sz="2200" dirty="0">
                <a:solidFill>
                  <a:prstClr val="black"/>
                </a:solidFill>
                <a:latin typeface="Times New Roman" panose="02020603050405020304" pitchFamily="18" charset="0"/>
                <a:ea typeface="Times New Roman" panose="02020603050405020304" pitchFamily="18" charset="0"/>
              </a:rPr>
              <a:t> même </a:t>
            </a:r>
            <a:r>
              <a:rPr lang="fr-FR" sz="2200" dirty="0">
                <a:solidFill>
                  <a:schemeClr val="tx1"/>
                </a:solidFill>
                <a:latin typeface="Times New Roman" panose="02020603050405020304" pitchFamily="18" charset="0"/>
                <a:ea typeface="Times New Roman" panose="02020603050405020304" pitchFamily="18" charset="0"/>
              </a:rPr>
              <a:t>S,….)</a:t>
            </a:r>
          </a:p>
          <a:p>
            <a:pPr lvl="1">
              <a:buFont typeface="Wingdings" panose="05000000000000000000" pitchFamily="2" charset="2"/>
              <a:buChar char="ü"/>
            </a:pPr>
            <a:endParaRPr lang="fr-FR" sz="2200" dirty="0">
              <a:solidFill>
                <a:schemeClr val="tx1"/>
              </a:solidFill>
              <a:latin typeface="Times New Roman" panose="02020603050405020304" pitchFamily="18" charset="0"/>
              <a:ea typeface="Times New Roman" panose="02020603050405020304" pitchFamily="18" charset="0"/>
            </a:endParaRPr>
          </a:p>
          <a:p>
            <a:pPr lvl="1">
              <a:buFont typeface="Wingdings" panose="05000000000000000000" pitchFamily="2" charset="2"/>
              <a:buChar char="ü"/>
            </a:pPr>
            <a:r>
              <a:rPr lang="fr-FR" sz="2200" dirty="0" smtClean="0">
                <a:solidFill>
                  <a:srgbClr val="FF0000"/>
                </a:solidFill>
                <a:latin typeface="Times New Roman" panose="02020603050405020304" pitchFamily="18" charset="0"/>
                <a:ea typeface="Times New Roman" panose="02020603050405020304" pitchFamily="18" charset="0"/>
              </a:rPr>
              <a:t>Mais pas la même </a:t>
            </a:r>
            <a:r>
              <a:rPr lang="fr-FR" sz="2200" dirty="0" smtClean="0">
                <a:solidFill>
                  <a:schemeClr val="tx1"/>
                </a:solidFill>
                <a:latin typeface="Times New Roman" panose="02020603050405020304" pitchFamily="18" charset="0"/>
                <a:ea typeface="Times New Roman" panose="02020603050405020304" pitchFamily="18" charset="0"/>
              </a:rPr>
              <a:t>Propriétés </a:t>
            </a:r>
            <a:r>
              <a:rPr lang="fr-FR" sz="2200" dirty="0">
                <a:solidFill>
                  <a:schemeClr val="tx1"/>
                </a:solidFill>
                <a:latin typeface="Times New Roman" panose="02020603050405020304" pitchFamily="18" charset="0"/>
                <a:ea typeface="Times New Roman" panose="02020603050405020304" pitchFamily="18" charset="0"/>
              </a:rPr>
              <a:t>physico-chimiques </a:t>
            </a:r>
          </a:p>
          <a:p>
            <a:pPr lvl="1">
              <a:buFont typeface="Wingdings" panose="05000000000000000000" pitchFamily="2" charset="2"/>
              <a:buChar char="ü"/>
            </a:pPr>
            <a:r>
              <a:rPr lang="fr-FR" sz="2200" dirty="0">
                <a:solidFill>
                  <a:schemeClr val="tx1"/>
                </a:solidFill>
                <a:latin typeface="Times New Roman" panose="02020603050405020304" pitchFamily="18" charset="0"/>
                <a:ea typeface="Times New Roman" panose="02020603050405020304" pitchFamily="18" charset="0"/>
              </a:rPr>
              <a:t>              -Mobilité </a:t>
            </a:r>
            <a:r>
              <a:rPr lang="fr-FR" sz="2200" dirty="0" smtClean="0">
                <a:solidFill>
                  <a:schemeClr val="tx1"/>
                </a:solidFill>
                <a:latin typeface="Times New Roman" panose="02020603050405020304" pitchFamily="18" charset="0"/>
                <a:ea typeface="Times New Roman" panose="02020603050405020304" pitchFamily="18" charset="0"/>
              </a:rPr>
              <a:t>électrophorétique</a:t>
            </a:r>
          </a:p>
          <a:p>
            <a:pPr lvl="1">
              <a:buFont typeface="Wingdings" panose="05000000000000000000" pitchFamily="2" charset="2"/>
              <a:buChar char="ü"/>
            </a:pPr>
            <a:r>
              <a:rPr lang="fr-FR" sz="2200" dirty="0">
                <a:solidFill>
                  <a:schemeClr val="tx1"/>
                </a:solidFill>
                <a:latin typeface="Times New Roman" panose="02020603050405020304" pitchFamily="18" charset="0"/>
                <a:ea typeface="Times New Roman" panose="02020603050405020304" pitchFamily="18" charset="0"/>
              </a:rPr>
              <a:t>=&gt;puisque sont diffèrent par </a:t>
            </a:r>
            <a:r>
              <a:rPr lang="fr-FR" sz="2200" dirty="0" err="1">
                <a:solidFill>
                  <a:schemeClr val="tx1"/>
                </a:solidFill>
                <a:latin typeface="Times New Roman" panose="02020603050405020304" pitchFamily="18" charset="0"/>
                <a:ea typeface="Times New Roman" panose="02020603050405020304" pitchFamily="18" charset="0"/>
              </a:rPr>
              <a:t>qlq</a:t>
            </a:r>
            <a:r>
              <a:rPr lang="fr-FR" sz="2200" dirty="0">
                <a:solidFill>
                  <a:schemeClr val="tx1"/>
                </a:solidFill>
                <a:latin typeface="Times New Roman" panose="02020603050405020304" pitchFamily="18" charset="0"/>
                <a:ea typeface="Times New Roman" panose="02020603050405020304" pitchFamily="18" charset="0"/>
              </a:rPr>
              <a:t> (1-2,,) acides </a:t>
            </a:r>
            <a:r>
              <a:rPr lang="fr-FR" sz="2200" dirty="0" smtClean="0">
                <a:solidFill>
                  <a:schemeClr val="tx1"/>
                </a:solidFill>
                <a:latin typeface="Times New Roman" panose="02020603050405020304" pitchFamily="18" charset="0"/>
                <a:ea typeface="Times New Roman" panose="02020603050405020304" pitchFamily="18" charset="0"/>
              </a:rPr>
              <a:t>aminés</a:t>
            </a:r>
          </a:p>
          <a:p>
            <a:pPr lvl="1">
              <a:buFont typeface="Wingdings" panose="05000000000000000000" pitchFamily="2" charset="2"/>
              <a:buChar char="ü"/>
            </a:pPr>
            <a:r>
              <a:rPr lang="fr-FR" sz="2200" dirty="0" smtClean="0">
                <a:solidFill>
                  <a:schemeClr val="tx1"/>
                </a:solidFill>
                <a:latin typeface="Times New Roman" panose="02020603050405020304" pitchFamily="18" charset="0"/>
                <a:ea typeface="Times New Roman" panose="02020603050405020304" pitchFamily="18" charset="0"/>
              </a:rPr>
              <a:t> </a:t>
            </a:r>
            <a:r>
              <a:rPr lang="fr-FR" sz="2200" dirty="0">
                <a:solidFill>
                  <a:schemeClr val="tx1"/>
                </a:solidFill>
                <a:latin typeface="Times New Roman" panose="02020603050405020304" pitchFamily="18" charset="0"/>
                <a:ea typeface="Times New Roman" panose="02020603050405020304" pitchFamily="18" charset="0"/>
              </a:rPr>
              <a:t>mais ne situe pas dans le site catalytiques</a:t>
            </a:r>
          </a:p>
          <a:p>
            <a:pPr marL="457200" lvl="1" indent="0">
              <a:buNone/>
            </a:pPr>
            <a:r>
              <a:rPr lang="fr-FR" sz="2200" dirty="0">
                <a:solidFill>
                  <a:schemeClr val="tx1"/>
                </a:solidFill>
                <a:latin typeface="Times New Roman" panose="02020603050405020304" pitchFamily="18" charset="0"/>
                <a:ea typeface="Times New Roman" panose="02020603050405020304" pitchFamily="18" charset="0"/>
              </a:rPr>
              <a:t> </a:t>
            </a:r>
            <a:r>
              <a:rPr lang="fr-FR" sz="2200" dirty="0" smtClean="0">
                <a:solidFill>
                  <a:schemeClr val="tx1"/>
                </a:solidFill>
                <a:latin typeface="Times New Roman" panose="02020603050405020304" pitchFamily="18" charset="0"/>
                <a:ea typeface="Times New Roman" panose="02020603050405020304" pitchFamily="18" charset="0"/>
              </a:rPr>
              <a:t>                </a:t>
            </a:r>
            <a:r>
              <a:rPr lang="fr-FR" sz="2200" dirty="0">
                <a:solidFill>
                  <a:schemeClr val="tx1"/>
                </a:solidFill>
                <a:latin typeface="Times New Roman" panose="02020603050405020304" pitchFamily="18" charset="0"/>
                <a:ea typeface="Times New Roman" panose="02020603050405020304" pitchFamily="18" charset="0"/>
              </a:rPr>
              <a:t>-Stabilité thermique                                       </a:t>
            </a:r>
            <a:r>
              <a:rPr lang="fr-FR" sz="3400" b="1" dirty="0">
                <a:solidFill>
                  <a:srgbClr val="FF0000"/>
                </a:solidFill>
                <a:latin typeface="Times New Roman" panose="02020603050405020304" pitchFamily="18" charset="0"/>
                <a:ea typeface="Times New Roman" panose="02020603050405020304" pitchFamily="18" charset="0"/>
              </a:rPr>
              <a:t> </a:t>
            </a:r>
            <a:r>
              <a:rPr lang="fr-FR" sz="2200" dirty="0">
                <a:solidFill>
                  <a:schemeClr val="tx1"/>
                </a:solidFill>
                <a:latin typeface="Times New Roman" panose="02020603050405020304" pitchFamily="18" charset="0"/>
                <a:ea typeface="Times New Roman" panose="02020603050405020304" pitchFamily="18" charset="0"/>
              </a:rPr>
              <a:t>                         </a:t>
            </a:r>
          </a:p>
          <a:p>
            <a:pPr marL="400050" lvl="1" indent="0">
              <a:lnSpc>
                <a:spcPct val="110000"/>
              </a:lnSpc>
              <a:buNone/>
            </a:pPr>
            <a:r>
              <a:rPr lang="fr-FR" sz="2200" dirty="0">
                <a:solidFill>
                  <a:schemeClr val="tx1"/>
                </a:solidFill>
                <a:latin typeface="Times New Roman" panose="02020603050405020304" pitchFamily="18" charset="0"/>
                <a:ea typeface="Times New Roman" panose="02020603050405020304" pitchFamily="18" charset="0"/>
              </a:rPr>
              <a:t>                -Coefficients cinétiques (k</a:t>
            </a:r>
            <a:r>
              <a:rPr lang="fr-FR" sz="1800" dirty="0">
                <a:solidFill>
                  <a:schemeClr val="tx1"/>
                </a:solidFill>
                <a:latin typeface="Times New Roman" panose="02020603050405020304" pitchFamily="18" charset="0"/>
                <a:ea typeface="Times New Roman" panose="02020603050405020304" pitchFamily="18" charset="0"/>
              </a:rPr>
              <a:t>m</a:t>
            </a:r>
            <a:r>
              <a:rPr lang="fr-FR" sz="2200" dirty="0">
                <a:solidFill>
                  <a:schemeClr val="tx1"/>
                </a:solidFill>
                <a:latin typeface="Times New Roman" panose="02020603050405020304" pitchFamily="18" charset="0"/>
                <a:ea typeface="Times New Roman" panose="02020603050405020304" pitchFamily="18" charset="0"/>
              </a:rPr>
              <a:t> et </a:t>
            </a:r>
            <a:r>
              <a:rPr lang="fr-FR" sz="2200" dirty="0" err="1">
                <a:solidFill>
                  <a:schemeClr val="tx1"/>
                </a:solidFill>
                <a:latin typeface="Times New Roman" panose="02020603050405020304" pitchFamily="18" charset="0"/>
                <a:ea typeface="Times New Roman" panose="02020603050405020304" pitchFamily="18" charset="0"/>
              </a:rPr>
              <a:t>v</a:t>
            </a:r>
            <a:r>
              <a:rPr lang="fr-FR" sz="1800" dirty="0" err="1">
                <a:solidFill>
                  <a:schemeClr val="tx1"/>
                </a:solidFill>
                <a:latin typeface="Times New Roman" panose="02020603050405020304" pitchFamily="18" charset="0"/>
                <a:ea typeface="Times New Roman" panose="02020603050405020304" pitchFamily="18" charset="0"/>
              </a:rPr>
              <a:t>max</a:t>
            </a:r>
            <a:r>
              <a:rPr lang="fr-FR" sz="2200" dirty="0">
                <a:solidFill>
                  <a:schemeClr val="tx1"/>
                </a:solidFill>
                <a:latin typeface="Times New Roman" panose="02020603050405020304" pitchFamily="18" charset="0"/>
                <a:ea typeface="Times New Roman" panose="02020603050405020304" pitchFamily="18" charset="0"/>
              </a:rPr>
              <a:t>)</a:t>
            </a:r>
          </a:p>
          <a:p>
            <a:pPr marL="400050" lvl="1" indent="0">
              <a:lnSpc>
                <a:spcPct val="110000"/>
              </a:lnSpc>
              <a:buNone/>
            </a:pPr>
            <a:r>
              <a:rPr lang="fr-FR" sz="2200" dirty="0">
                <a:solidFill>
                  <a:schemeClr val="tx1"/>
                </a:solidFill>
                <a:latin typeface="Times New Roman" panose="02020603050405020304" pitchFamily="18" charset="0"/>
                <a:ea typeface="Times New Roman" panose="02020603050405020304" pitchFamily="18" charset="0"/>
              </a:rPr>
              <a:t>               - Sensibilité à certains </a:t>
            </a:r>
            <a:r>
              <a:rPr lang="fr-FR" sz="2200" dirty="0" smtClean="0">
                <a:solidFill>
                  <a:schemeClr val="tx1"/>
                </a:solidFill>
                <a:latin typeface="Times New Roman" panose="02020603050405020304" pitchFamily="18" charset="0"/>
                <a:ea typeface="Times New Roman" panose="02020603050405020304" pitchFamily="18" charset="0"/>
              </a:rPr>
              <a:t>effecteurs (différente par les inhibiteurs)</a:t>
            </a:r>
            <a:endParaRPr lang="fr-FR" sz="2200" dirty="0">
              <a:solidFill>
                <a:schemeClr val="tx1"/>
              </a:solidFill>
              <a:latin typeface="Times New Roman" panose="02020603050405020304" pitchFamily="18" charset="0"/>
              <a:ea typeface="Times New Roman" panose="02020603050405020304" pitchFamily="18" charset="0"/>
            </a:endParaRPr>
          </a:p>
          <a:p>
            <a:pPr lvl="1" indent="-342900">
              <a:buFont typeface="Wingdings" panose="05000000000000000000" pitchFamily="2" charset="2"/>
              <a:buChar char="ü"/>
            </a:pPr>
            <a:endParaRPr lang="fr-FR" sz="2200" dirty="0">
              <a:solidFill>
                <a:schemeClr val="tx1"/>
              </a:solidFill>
              <a:latin typeface="Times New Roman" panose="02020603050405020304" pitchFamily="18" charset="0"/>
              <a:ea typeface="Times New Roman" panose="02020603050405020304" pitchFamily="18" charset="0"/>
            </a:endParaRPr>
          </a:p>
          <a:p>
            <a:pPr lvl="1">
              <a:buFont typeface="Wingdings" panose="05000000000000000000" pitchFamily="2" charset="2"/>
              <a:buChar char="ü"/>
            </a:pPr>
            <a:r>
              <a:rPr lang="fr-FR" sz="2200" dirty="0">
                <a:solidFill>
                  <a:schemeClr val="tx1"/>
                </a:solidFill>
                <a:latin typeface="Times New Roman" panose="02020603050405020304" pitchFamily="18" charset="0"/>
                <a:ea typeface="Times New Roman" panose="02020603050405020304" pitchFamily="18" charset="0"/>
              </a:rPr>
              <a:t>IsoEnz </a:t>
            </a:r>
            <a:r>
              <a:rPr lang="fr-FR" sz="2200" dirty="0" smtClean="0">
                <a:solidFill>
                  <a:schemeClr val="tx1"/>
                </a:solidFill>
                <a:latin typeface="Times New Roman" panose="02020603050405020304" pitchFamily="18" charset="0"/>
                <a:ea typeface="Times New Roman" panose="02020603050405020304" pitchFamily="18" charset="0"/>
              </a:rPr>
              <a:t>sont codées par un gène </a:t>
            </a:r>
            <a:r>
              <a:rPr lang="fr-FR" sz="2200" dirty="0">
                <a:solidFill>
                  <a:schemeClr val="tx1"/>
                </a:solidFill>
                <a:latin typeface="Times New Roman" panose="02020603050405020304" pitchFamily="18" charset="0"/>
                <a:ea typeface="Times New Roman" panose="02020603050405020304" pitchFamily="18" charset="0"/>
              </a:rPr>
              <a:t>ou </a:t>
            </a:r>
            <a:r>
              <a:rPr lang="fr-FR" sz="2200" dirty="0" smtClean="0">
                <a:solidFill>
                  <a:schemeClr val="tx1"/>
                </a:solidFill>
                <a:latin typeface="Times New Roman" panose="02020603050405020304" pitchFamily="18" charset="0"/>
                <a:ea typeface="Times New Roman" panose="02020603050405020304" pitchFamily="18" charset="0"/>
              </a:rPr>
              <a:t>plusieurs </a:t>
            </a:r>
            <a:r>
              <a:rPr lang="fr-FR" sz="2200" dirty="0">
                <a:solidFill>
                  <a:schemeClr val="tx1"/>
                </a:solidFill>
                <a:latin typeface="Times New Roman" panose="02020603050405020304" pitchFamily="18" charset="0"/>
                <a:ea typeface="Times New Roman" panose="02020603050405020304" pitchFamily="18" charset="0"/>
              </a:rPr>
              <a:t>gènes </a:t>
            </a:r>
            <a:r>
              <a:rPr lang="fr-FR" sz="2200" dirty="0" smtClean="0">
                <a:solidFill>
                  <a:schemeClr val="tx1"/>
                </a:solidFill>
                <a:latin typeface="Times New Roman" panose="02020603050405020304" pitchFamily="18" charset="0"/>
                <a:ea typeface="Times New Roman" panose="02020603050405020304" pitchFamily="18" charset="0"/>
              </a:rPr>
              <a:t>donc différente de certain Aa</a:t>
            </a:r>
            <a:r>
              <a:rPr lang="fr-FR" sz="2200" dirty="0">
                <a:solidFill>
                  <a:schemeClr val="tx1"/>
                </a:solidFill>
                <a:latin typeface="Times New Roman" panose="02020603050405020304" pitchFamily="18" charset="0"/>
                <a:ea typeface="Times New Roman" panose="02020603050405020304" pitchFamily="18" charset="0"/>
              </a:rPr>
              <a:t> </a:t>
            </a:r>
            <a:r>
              <a:rPr lang="fr-FR" sz="2200" dirty="0" smtClean="0">
                <a:solidFill>
                  <a:schemeClr val="tx1"/>
                </a:solidFill>
                <a:latin typeface="Times New Roman" panose="02020603050405020304" pitchFamily="18" charset="0"/>
                <a:ea typeface="Times New Roman" panose="02020603050405020304" pitchFamily="18" charset="0"/>
              </a:rPr>
              <a:t>donc dans la </a:t>
            </a:r>
            <a:r>
              <a:rPr lang="fr-FR" sz="2200" dirty="0">
                <a:solidFill>
                  <a:schemeClr val="tx1"/>
                </a:solidFill>
                <a:latin typeface="Times New Roman" panose="02020603050405020304" pitchFamily="18" charset="0"/>
                <a:ea typeface="Times New Roman" panose="02020603050405020304" pitchFamily="18" charset="0"/>
              </a:rPr>
              <a:t>configuration spatiale </a:t>
            </a:r>
          </a:p>
          <a:p>
            <a:pPr lvl="1">
              <a:buFont typeface="Wingdings" panose="05000000000000000000" pitchFamily="2" charset="2"/>
              <a:buChar char="ü"/>
            </a:pPr>
            <a:endParaRPr lang="fr-FR" sz="2200" dirty="0">
              <a:solidFill>
                <a:schemeClr val="tx1"/>
              </a:solidFill>
              <a:latin typeface="Times New Roman" panose="02020603050405020304" pitchFamily="18" charset="0"/>
              <a:ea typeface="Times New Roman" panose="02020603050405020304" pitchFamily="18" charset="0"/>
            </a:endParaRPr>
          </a:p>
          <a:p>
            <a:pPr lvl="1">
              <a:buFont typeface="Wingdings" panose="05000000000000000000" pitchFamily="2" charset="2"/>
              <a:buChar char="ü"/>
            </a:pPr>
            <a:r>
              <a:rPr lang="fr-FR" sz="2200" dirty="0">
                <a:solidFill>
                  <a:schemeClr val="tx1"/>
                </a:solidFill>
                <a:latin typeface="Times New Roman" panose="02020603050405020304" pitchFamily="18" charset="0"/>
                <a:ea typeface="Times New Roman" panose="02020603050405020304" pitchFamily="18" charset="0"/>
              </a:rPr>
              <a:t>IsoEnz  </a:t>
            </a:r>
            <a:r>
              <a:rPr lang="fr-FR" sz="2200" dirty="0" smtClean="0">
                <a:solidFill>
                  <a:schemeClr val="tx1"/>
                </a:solidFill>
                <a:latin typeface="Times New Roman" panose="02020603050405020304" pitchFamily="18" charset="0"/>
                <a:ea typeface="Times New Roman" panose="02020603050405020304" pitchFamily="18" charset="0"/>
              </a:rPr>
              <a:t>spécifié  tissulaire </a:t>
            </a:r>
            <a:r>
              <a:rPr lang="fr-FR" sz="2200" dirty="0">
                <a:solidFill>
                  <a:schemeClr val="tx1"/>
                </a:solidFill>
                <a:latin typeface="Times New Roman" panose="02020603050405020304" pitchFamily="18" charset="0"/>
                <a:ea typeface="Times New Roman" panose="02020603050405020304" pitchFamily="18" charset="0"/>
              </a:rPr>
              <a:t>(organe)</a:t>
            </a:r>
          </a:p>
          <a:p>
            <a:endParaRPr lang="fr-FR" dirty="0"/>
          </a:p>
        </p:txBody>
      </p:sp>
      <p:sp>
        <p:nvSpPr>
          <p:cNvPr id="4" name="Accolade fermante 3">
            <a:extLst>
              <a:ext uri="{FF2B5EF4-FFF2-40B4-BE49-F238E27FC236}">
                <a16:creationId xmlns="" xmlns:a16="http://schemas.microsoft.com/office/drawing/2014/main" id="{94474AB8-FE67-48A2-8334-74DB34E33335}"/>
              </a:ext>
            </a:extLst>
          </p:cNvPr>
          <p:cNvSpPr/>
          <p:nvPr/>
        </p:nvSpPr>
        <p:spPr>
          <a:xfrm>
            <a:off x="6191351" y="3353627"/>
            <a:ext cx="510572" cy="157203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 name="Rectangle 4">
            <a:extLst>
              <a:ext uri="{FF2B5EF4-FFF2-40B4-BE49-F238E27FC236}">
                <a16:creationId xmlns="" xmlns:a16="http://schemas.microsoft.com/office/drawing/2014/main" id="{E5C61F89-6E45-4E85-BA24-4659A7487AED}"/>
              </a:ext>
            </a:extLst>
          </p:cNvPr>
          <p:cNvSpPr/>
          <p:nvPr/>
        </p:nvSpPr>
        <p:spPr>
          <a:xfrm>
            <a:off x="6701923" y="3916015"/>
            <a:ext cx="1031150" cy="4472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100" b="1" dirty="0">
                <a:solidFill>
                  <a:srgbClr val="FF0000"/>
                </a:solidFill>
                <a:latin typeface="Times New Roman" panose="02020603050405020304" pitchFamily="18" charset="0"/>
                <a:ea typeface="Times New Roman" panose="02020603050405020304" pitchFamily="18" charset="0"/>
              </a:rPr>
              <a:t>≠</a:t>
            </a:r>
            <a:endParaRPr lang="fr-FR" dirty="0"/>
          </a:p>
        </p:txBody>
      </p:sp>
    </p:spTree>
    <p:extLst>
      <p:ext uri="{BB962C8B-B14F-4D97-AF65-F5344CB8AC3E}">
        <p14:creationId xmlns:p14="http://schemas.microsoft.com/office/powerpoint/2010/main" val="156978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Effect transition="in" filter="fade">
                                      <p:cBhvr>
                                        <p:cTn id="55" dur="1000"/>
                                        <p:tgtEl>
                                          <p:spTgt spid="3">
                                            <p:txEl>
                                              <p:pRg st="12" end="12"/>
                                            </p:txEl>
                                          </p:spTgt>
                                        </p:tgtEl>
                                      </p:cBhvr>
                                    </p:animEffect>
                                    <p:anim calcmode="lin" valueType="num">
                                      <p:cBhvr>
                                        <p:cTn id="56"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74036C1-F794-490F-9623-250D35C1D36A}"/>
              </a:ext>
            </a:extLst>
          </p:cNvPr>
          <p:cNvSpPr>
            <a:spLocks noGrp="1"/>
          </p:cNvSpPr>
          <p:nvPr>
            <p:ph type="title"/>
          </p:nvPr>
        </p:nvSpPr>
        <p:spPr>
          <a:xfrm>
            <a:off x="677334" y="-21968"/>
            <a:ext cx="8596668" cy="1320800"/>
          </a:xfrm>
        </p:spPr>
        <p:txBody>
          <a:bodyPr/>
          <a:lstStyle/>
          <a:p>
            <a:pPr algn="ctr"/>
            <a:r>
              <a:rPr lang="fr-FR" b="1" dirty="0">
                <a:latin typeface="Times New Roman" panose="02020603050405020304" pitchFamily="18" charset="0"/>
                <a:ea typeface="Times New Roman" panose="02020603050405020304" pitchFamily="18" charset="0"/>
              </a:rPr>
              <a:t>LES ISOENZYMES ET METHODES DE MESURES DE LEURS ACTIVITES </a:t>
            </a:r>
            <a:endParaRPr lang="fr-FR" dirty="0"/>
          </a:p>
        </p:txBody>
      </p:sp>
      <p:sp>
        <p:nvSpPr>
          <p:cNvPr id="3" name="Espace réservé du contenu 2">
            <a:extLst>
              <a:ext uri="{FF2B5EF4-FFF2-40B4-BE49-F238E27FC236}">
                <a16:creationId xmlns="" xmlns:a16="http://schemas.microsoft.com/office/drawing/2014/main" id="{D612BDDA-342D-41C9-998E-3873FB6771E8}"/>
              </a:ext>
            </a:extLst>
          </p:cNvPr>
          <p:cNvSpPr>
            <a:spLocks noGrp="1"/>
          </p:cNvSpPr>
          <p:nvPr>
            <p:ph idx="1"/>
          </p:nvPr>
        </p:nvSpPr>
        <p:spPr>
          <a:xfrm>
            <a:off x="10069" y="1122621"/>
            <a:ext cx="12181931" cy="5735379"/>
          </a:xfrm>
        </p:spPr>
        <p:txBody>
          <a:bodyPr>
            <a:noAutofit/>
          </a:bodyPr>
          <a:lstStyle/>
          <a:p>
            <a:r>
              <a:rPr lang="fr-FR" sz="2400" b="1" dirty="0">
                <a:latin typeface="Times New Roman" panose="02020603050405020304" pitchFamily="18" charset="0"/>
                <a:ea typeface="Times New Roman" panose="02020603050405020304" pitchFamily="18" charset="0"/>
              </a:rPr>
              <a:t>Techniques de séparation : </a:t>
            </a:r>
          </a:p>
          <a:p>
            <a:pPr lvl="1">
              <a:buFont typeface="Wingdings" panose="05000000000000000000" pitchFamily="2" charset="2"/>
              <a:buChar char=""/>
            </a:pPr>
            <a:r>
              <a:rPr lang="fr-FR" sz="2400" b="1" dirty="0" smtClean="0">
                <a:latin typeface="Times New Roman" panose="02020603050405020304" pitchFamily="18" charset="0"/>
                <a:ea typeface="Times New Roman" panose="02020603050405020304" pitchFamily="18" charset="0"/>
              </a:rPr>
              <a:t>L’</a:t>
            </a:r>
            <a:r>
              <a:rPr lang="fr-FR" sz="2400" b="1" dirty="0" err="1" smtClean="0">
                <a:latin typeface="Times New Roman" panose="02020603050405020304" pitchFamily="18" charset="0"/>
                <a:ea typeface="Times New Roman" panose="02020603050405020304" pitchFamily="18" charset="0"/>
              </a:rPr>
              <a:t>életrophorèse</a:t>
            </a:r>
            <a:r>
              <a:rPr lang="fr-FR" sz="2400" b="1" dirty="0" smtClean="0">
                <a:latin typeface="Times New Roman" panose="02020603050405020304" pitchFamily="18" charset="0"/>
                <a:ea typeface="Times New Roman" panose="02020603050405020304" pitchFamily="18" charset="0"/>
              </a:rPr>
              <a:t>=&gt;différente par qlqs Aa</a:t>
            </a:r>
            <a:endParaRPr lang="fr-FR" sz="24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La </a:t>
            </a:r>
            <a:r>
              <a:rPr lang="fr-FR" sz="2400" b="1" dirty="0" smtClean="0">
                <a:latin typeface="Times New Roman" panose="02020603050405020304" pitchFamily="18" charset="0"/>
                <a:ea typeface="Times New Roman" panose="02020603050405020304" pitchFamily="18" charset="0"/>
              </a:rPr>
              <a:t>chromatographie=&gt;qui sépare entre un stade mobile et solide</a:t>
            </a:r>
            <a:endParaRPr lang="fr-FR" sz="24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La </a:t>
            </a:r>
            <a:r>
              <a:rPr lang="fr-FR" sz="2400" b="1" dirty="0" err="1" smtClean="0">
                <a:latin typeface="Times New Roman" panose="02020603050405020304" pitchFamily="18" charset="0"/>
                <a:ea typeface="Times New Roman" panose="02020603050405020304" pitchFamily="18" charset="0"/>
              </a:rPr>
              <a:t>thermostabilité</a:t>
            </a:r>
            <a:r>
              <a:rPr lang="fr-FR" sz="2400" b="1" dirty="0" smtClean="0">
                <a:latin typeface="Times New Roman" panose="02020603050405020304" pitchFamily="18" charset="0"/>
                <a:ea typeface="Times New Roman" panose="02020603050405020304" pitchFamily="18" charset="0"/>
              </a:rPr>
              <a:t>=&gt;puisque ont des température différente</a:t>
            </a:r>
            <a:endParaRPr lang="fr-FR" sz="24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L’inactivation </a:t>
            </a:r>
            <a:r>
              <a:rPr lang="fr-FR" sz="2400" b="1" dirty="0" smtClean="0">
                <a:latin typeface="Times New Roman" panose="02020603050405020304" pitchFamily="18" charset="0"/>
                <a:ea typeface="Times New Roman" panose="02020603050405020304" pitchFamily="18" charset="0"/>
              </a:rPr>
              <a:t>chimique=&gt;différente en les inhibiteurs(effecteur)</a:t>
            </a:r>
            <a:endParaRPr lang="fr-FR" sz="24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400" b="1" dirty="0" smtClean="0">
                <a:latin typeface="Times New Roman" panose="02020603050405020304" pitchFamily="18" charset="0"/>
                <a:ea typeface="Times New Roman" panose="02020603050405020304" pitchFamily="18" charset="0"/>
              </a:rPr>
              <a:t>L’</a:t>
            </a:r>
            <a:r>
              <a:rPr lang="fr-FR" sz="2400" b="1" dirty="0" err="1" smtClean="0">
                <a:latin typeface="Times New Roman" panose="02020603050405020304" pitchFamily="18" charset="0"/>
                <a:ea typeface="Times New Roman" panose="02020603050405020304" pitchFamily="18" charset="0"/>
              </a:rPr>
              <a:t>immunoinhibition</a:t>
            </a:r>
            <a:r>
              <a:rPr lang="fr-FR" sz="2400" b="1" dirty="0" smtClean="0">
                <a:latin typeface="Times New Roman" panose="02020603050405020304" pitchFamily="18" charset="0"/>
                <a:ea typeface="Times New Roman" panose="02020603050405020304" pitchFamily="18" charset="0"/>
              </a:rPr>
              <a:t>=&gt;des anticorps qui sont spécifique d’inhiber un enzyme spécifique</a:t>
            </a:r>
            <a:endParaRPr lang="fr-FR" sz="2400" b="1"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400" b="1" dirty="0">
                <a:solidFill>
                  <a:srgbClr val="FF0000"/>
                </a:solidFill>
                <a:latin typeface="Times New Roman" panose="02020603050405020304" pitchFamily="18" charset="0"/>
                <a:ea typeface="Times New Roman" panose="02020603050405020304" pitchFamily="18" charset="0"/>
              </a:rPr>
              <a:t>L’immunochimie </a:t>
            </a:r>
            <a:r>
              <a:rPr lang="fr-FR" sz="2400" b="1" dirty="0" smtClean="0">
                <a:solidFill>
                  <a:srgbClr val="FF0000"/>
                </a:solidFill>
                <a:latin typeface="Times New Roman" panose="02020603050405020304" pitchFamily="18" charset="0"/>
                <a:ea typeface="Times New Roman" panose="02020603050405020304" pitchFamily="18" charset="0"/>
              </a:rPr>
              <a:t>+++=&gt;c’est le méthode de référence (en utilise un anticorps  qui va fixe contre l’</a:t>
            </a:r>
            <a:r>
              <a:rPr lang="fr-FR" sz="2400" b="1" dirty="0" err="1" smtClean="0">
                <a:solidFill>
                  <a:srgbClr val="FF0000"/>
                </a:solidFill>
                <a:latin typeface="Times New Roman" panose="02020603050405020304" pitchFamily="18" charset="0"/>
                <a:ea typeface="Times New Roman" panose="02020603050405020304" pitchFamily="18" charset="0"/>
              </a:rPr>
              <a:t>isoenzyme</a:t>
            </a:r>
            <a:r>
              <a:rPr lang="fr-FR" sz="2400" b="1" dirty="0" smtClean="0">
                <a:solidFill>
                  <a:srgbClr val="FF0000"/>
                </a:solidFill>
                <a:latin typeface="Times New Roman" panose="02020603050405020304" pitchFamily="18" charset="0"/>
                <a:ea typeface="Times New Roman" panose="02020603050405020304" pitchFamily="18" charset="0"/>
              </a:rPr>
              <a:t> et puis y aura un colorations (dans milieux liquide(sur plasma)) </a:t>
            </a:r>
            <a:endParaRPr lang="fr-FR" sz="2400" b="1" dirty="0">
              <a:solidFill>
                <a:srgbClr val="FF0000"/>
              </a:solidFill>
            </a:endParaRPr>
          </a:p>
        </p:txBody>
      </p:sp>
    </p:spTree>
    <p:extLst>
      <p:ext uri="{BB962C8B-B14F-4D97-AF65-F5344CB8AC3E}">
        <p14:creationId xmlns:p14="http://schemas.microsoft.com/office/powerpoint/2010/main" val="209555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84DF2A2-A305-4BED-A56F-EEDA841524D2}"/>
              </a:ext>
            </a:extLst>
          </p:cNvPr>
          <p:cNvSpPr>
            <a:spLocks noGrp="1"/>
          </p:cNvSpPr>
          <p:nvPr>
            <p:ph type="title"/>
          </p:nvPr>
        </p:nvSpPr>
        <p:spPr>
          <a:xfrm>
            <a:off x="-515363" y="397565"/>
            <a:ext cx="10547257" cy="1320800"/>
          </a:xfrm>
        </p:spPr>
        <p:txBody>
          <a:bodyPr>
            <a:normAutofit fontScale="90000"/>
          </a:bodyPr>
          <a:lstStyle/>
          <a:p>
            <a:pPr marL="342900" lvl="0" indent="-342900" algn="ctr"/>
            <a:r>
              <a:rPr lang="fr-FR" b="1" dirty="0">
                <a:latin typeface="Times New Roman" panose="02020603050405020304" pitchFamily="18" charset="0"/>
                <a:ea typeface="Times New Roman" panose="02020603050405020304" pitchFamily="18" charset="0"/>
              </a:rPr>
              <a:t>EXEMPLES D’ACTIVITES ENZYMATIQUES FREQUEMMENT DETERMINEES EN PRATIQUE COURANTES</a:t>
            </a:r>
            <a:endParaRPr lang="fr-FR" dirty="0"/>
          </a:p>
        </p:txBody>
      </p:sp>
      <p:sp>
        <p:nvSpPr>
          <p:cNvPr id="3" name="Espace réservé du contenu 2">
            <a:extLst>
              <a:ext uri="{FF2B5EF4-FFF2-40B4-BE49-F238E27FC236}">
                <a16:creationId xmlns="" xmlns:a16="http://schemas.microsoft.com/office/drawing/2014/main" id="{F1F52E3C-1505-404C-B0AE-4BBFEC3C8E55}"/>
              </a:ext>
            </a:extLst>
          </p:cNvPr>
          <p:cNvSpPr>
            <a:spLocks noGrp="1"/>
          </p:cNvSpPr>
          <p:nvPr>
            <p:ph idx="1"/>
          </p:nvPr>
        </p:nvSpPr>
        <p:spPr/>
        <p:txBody>
          <a:bodyPr>
            <a:normAutofit lnSpcReduction="10000"/>
          </a:bodyPr>
          <a:lstStyle/>
          <a:p>
            <a:pPr marL="0" indent="0">
              <a:buNone/>
            </a:pPr>
            <a:r>
              <a:rPr lang="fr-FR"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1- AMINO TRANSFERASES (transaminases)</a:t>
            </a:r>
          </a:p>
          <a:p>
            <a:pPr marL="0" indent="0">
              <a:buNone/>
            </a:pPr>
            <a:r>
              <a:rPr lang="fr-FR"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2- LES PHOSPHATASES ALCALINES</a:t>
            </a:r>
          </a:p>
          <a:p>
            <a:pPr marL="0" indent="0">
              <a:buNone/>
            </a:pPr>
            <a:r>
              <a:rPr lang="fr-FR"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3-GAMMA-GLUTAMYLTRANSFERASE (</a:t>
            </a:r>
            <a:r>
              <a:rPr lang="el-GR"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γ</a:t>
            </a:r>
            <a:r>
              <a:rPr lang="fr-FR"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GT)</a:t>
            </a:r>
          </a:p>
          <a:p>
            <a:pPr marL="0" indent="0">
              <a:buNone/>
            </a:pPr>
            <a:r>
              <a:rPr lang="fr-FR" sz="2400" b="1" dirty="0">
                <a:latin typeface="Times New Roman" panose="02020603050405020304" pitchFamily="18" charset="0"/>
                <a:cs typeface="Times New Roman" panose="02020603050405020304" pitchFamily="18" charset="0"/>
              </a:rPr>
              <a:t>4- LA LIPASE</a:t>
            </a:r>
          </a:p>
          <a:p>
            <a:pPr marL="0" indent="0">
              <a:buNone/>
            </a:pPr>
            <a:r>
              <a:rPr lang="fr-FR" sz="2400" b="1" dirty="0">
                <a:latin typeface="Times New Roman" panose="02020603050405020304" pitchFamily="18" charset="0"/>
                <a:cs typeface="Times New Roman" panose="02020603050405020304" pitchFamily="18" charset="0"/>
              </a:rPr>
              <a:t>5-L’ALPHA-AMYLASE</a:t>
            </a:r>
          </a:p>
          <a:p>
            <a:pPr marL="0" indent="0">
              <a:buNone/>
            </a:pPr>
            <a:r>
              <a:rPr lang="fr-FR" sz="2400" b="1" dirty="0">
                <a:solidFill>
                  <a:srgbClr val="FF0000"/>
                </a:solidFill>
                <a:latin typeface="Times New Roman" panose="02020603050405020304" pitchFamily="18" charset="0"/>
                <a:cs typeface="Times New Roman" panose="02020603050405020304" pitchFamily="18" charset="0"/>
              </a:rPr>
              <a:t>6-LA CREATINE PHOSPHATASE KINASE (CPK) </a:t>
            </a:r>
          </a:p>
          <a:p>
            <a:pPr marL="0" indent="0">
              <a:buNone/>
            </a:pPr>
            <a:r>
              <a:rPr lang="fr-FR"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7-LES LACTATES DESHYDROGENASES (LDH) </a:t>
            </a:r>
          </a:p>
          <a:p>
            <a:pPr marL="0" indent="0">
              <a:buNone/>
            </a:pPr>
            <a:r>
              <a:rPr lang="fr-FR" sz="2400" b="1" dirty="0">
                <a:solidFill>
                  <a:srgbClr val="FF0000"/>
                </a:solidFill>
                <a:latin typeface="Times New Roman" panose="02020603050405020304" pitchFamily="18" charset="0"/>
                <a:cs typeface="Times New Roman" panose="02020603050405020304" pitchFamily="18" charset="0"/>
              </a:rPr>
              <a:t>8- L’ALDOLASE</a:t>
            </a:r>
          </a:p>
          <a:p>
            <a:pPr marL="0" indent="0">
              <a:buNone/>
            </a:pPr>
            <a:endParaRPr lang="fr-FR" b="1" dirty="0">
              <a:latin typeface="Times New Roman" panose="02020603050405020304" pitchFamily="18" charset="0"/>
              <a:cs typeface="Times New Roman" panose="02020603050405020304" pitchFamily="18" charset="0"/>
            </a:endParaRPr>
          </a:p>
          <a:p>
            <a:pPr marL="0" indent="0">
              <a:buNone/>
            </a:pPr>
            <a:endParaRPr lang="fr-FR" sz="14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fr-FR" sz="1600" dirty="0">
              <a:latin typeface="Times New Roman" panose="02020603050405020304" pitchFamily="18" charset="0"/>
              <a:ea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303055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332778" y="291548"/>
            <a:ext cx="9089518" cy="1320800"/>
          </a:xfrm>
        </p:spPr>
        <p:txBody>
          <a:bodyPr>
            <a:normAutofit/>
          </a:bodyPr>
          <a:lstStyle/>
          <a:p>
            <a:r>
              <a:rPr lang="fr-FR" b="1" dirty="0"/>
              <a:t>1-</a:t>
            </a:r>
            <a:r>
              <a:rPr lang="fr-FR" dirty="0"/>
              <a:t> </a:t>
            </a:r>
            <a:r>
              <a:rPr lang="fr-FR" b="1" dirty="0"/>
              <a:t>AMINOTRANSFERASES (</a:t>
            </a:r>
            <a:r>
              <a:rPr lang="fr-FR" dirty="0"/>
              <a:t>transaminases)</a:t>
            </a:r>
          </a:p>
        </p:txBody>
      </p:sp>
      <p:sp>
        <p:nvSpPr>
          <p:cNvPr id="4" name="Espace réservé du contenu 3">
            <a:extLst>
              <a:ext uri="{FF2B5EF4-FFF2-40B4-BE49-F238E27FC236}">
                <a16:creationId xmlns="" xmlns:a16="http://schemas.microsoft.com/office/drawing/2014/main" id="{E103CA3E-D52C-48B5-948B-D9D2F39EDAC2}"/>
              </a:ext>
            </a:extLst>
          </p:cNvPr>
          <p:cNvSpPr>
            <a:spLocks noGrp="1"/>
          </p:cNvSpPr>
          <p:nvPr>
            <p:ph idx="1"/>
          </p:nvPr>
        </p:nvSpPr>
        <p:spPr>
          <a:xfrm>
            <a:off x="0" y="951948"/>
            <a:ext cx="11364998" cy="2104885"/>
          </a:xfrm>
        </p:spPr>
        <p:txBody>
          <a:bodyPr>
            <a:normAutofit fontScale="85000" lnSpcReduction="10000"/>
          </a:bodyPr>
          <a:lstStyle/>
          <a:p>
            <a:pPr>
              <a:buFont typeface="Wingdings" panose="05000000000000000000" pitchFamily="2" charset="2"/>
              <a:buChar char="q"/>
            </a:pPr>
            <a:r>
              <a:rPr lang="fr-FR" sz="3200" b="1" u="sng" dirty="0">
                <a:solidFill>
                  <a:srgbClr val="54A021"/>
                </a:solidFill>
                <a:latin typeface="Times New Roman" panose="02020603050405020304" pitchFamily="18" charset="0"/>
                <a:ea typeface="Times New Roman" panose="02020603050405020304" pitchFamily="18" charset="0"/>
              </a:rPr>
              <a:t>Définition </a:t>
            </a:r>
            <a:r>
              <a:rPr lang="fr-FR" sz="3200" b="1" dirty="0">
                <a:solidFill>
                  <a:srgbClr val="54A021"/>
                </a:solidFill>
                <a:latin typeface="Times New Roman" panose="02020603050405020304" pitchFamily="18" charset="0"/>
                <a:ea typeface="Times New Roman" panose="02020603050405020304" pitchFamily="18" charset="0"/>
              </a:rPr>
              <a:t>:</a:t>
            </a:r>
            <a:endParaRPr lang="fr-FR" sz="2800" dirty="0"/>
          </a:p>
          <a:p>
            <a:pPr lvl="1">
              <a:buFont typeface="Arial" panose="020B0604020202020204" pitchFamily="34" charset="0"/>
              <a:buChar char="•"/>
            </a:pPr>
            <a:r>
              <a:rPr lang="fr-FR" sz="2600" dirty="0"/>
              <a:t>Transfert </a:t>
            </a:r>
            <a:r>
              <a:rPr lang="fr-FR" sz="2600" dirty="0" smtClean="0"/>
              <a:t>Groupement NH2  </a:t>
            </a:r>
            <a:r>
              <a:rPr lang="fr-FR" sz="2600" dirty="0"/>
              <a:t>d’un   Aa </a:t>
            </a:r>
            <a:r>
              <a:rPr lang="fr-FR" sz="2600" dirty="0">
                <a:latin typeface="Abadi" panose="020B0604020104020204" pitchFamily="34" charset="0"/>
              </a:rPr>
              <a:t>→ </a:t>
            </a:r>
            <a:r>
              <a:rPr lang="fr-FR" sz="2600" dirty="0" smtClean="0"/>
              <a:t>Acide </a:t>
            </a:r>
            <a:r>
              <a:rPr lang="fr-FR" sz="2600" dirty="0"/>
              <a:t>α </a:t>
            </a:r>
            <a:r>
              <a:rPr lang="fr-FR" sz="2600" dirty="0" smtClean="0"/>
              <a:t>cétonique (acide due ou COOH</a:t>
            </a:r>
            <a:r>
              <a:rPr lang="ar-DZ" sz="2600" dirty="0"/>
              <a:t>(</a:t>
            </a:r>
            <a:endParaRPr lang="fr-FR" sz="2600" dirty="0"/>
          </a:p>
          <a:p>
            <a:pPr lvl="1">
              <a:buFont typeface="Arial" panose="020B0604020202020204" pitchFamily="34" charset="0"/>
              <a:buChar char="•"/>
            </a:pPr>
            <a:r>
              <a:rPr lang="fr-FR" sz="2600" dirty="0"/>
              <a:t>R </a:t>
            </a:r>
            <a:r>
              <a:rPr lang="fr-FR" sz="2600" dirty="0" smtClean="0"/>
              <a:t>réversible=&gt; dans les 2 sens</a:t>
            </a:r>
            <a:endParaRPr lang="fr-FR" sz="2600" dirty="0"/>
          </a:p>
          <a:p>
            <a:pPr lvl="1">
              <a:buFont typeface="Arial" panose="020B0604020202020204" pitchFamily="34" charset="0"/>
              <a:buChar char="•"/>
            </a:pPr>
            <a:r>
              <a:rPr lang="fr-FR" sz="2600" dirty="0"/>
              <a:t> </a:t>
            </a:r>
            <a:r>
              <a:rPr lang="fr-FR" sz="2600" b="1" dirty="0"/>
              <a:t>CoEnz  :</a:t>
            </a:r>
            <a:r>
              <a:rPr lang="fr-FR" sz="2600" dirty="0"/>
              <a:t>PLP=phosphate de pyridoxal </a:t>
            </a:r>
            <a:r>
              <a:rPr lang="fr-FR" sz="2600" dirty="0" smtClean="0"/>
              <a:t>(provient de vit </a:t>
            </a:r>
            <a:r>
              <a:rPr lang="fr-FR" sz="2600" dirty="0"/>
              <a:t>B6</a:t>
            </a:r>
            <a:r>
              <a:rPr lang="fr-FR" sz="2600" dirty="0" smtClean="0"/>
              <a:t>) pour activité maximale</a:t>
            </a:r>
            <a:endParaRPr lang="fr-FR" sz="2600" dirty="0"/>
          </a:p>
          <a:p>
            <a:endParaRPr lang="fr-FR" dirty="0"/>
          </a:p>
        </p:txBody>
      </p:sp>
      <p:pic>
        <p:nvPicPr>
          <p:cNvPr id="5" name="Image 4">
            <a:extLst>
              <a:ext uri="{FF2B5EF4-FFF2-40B4-BE49-F238E27FC236}">
                <a16:creationId xmlns="" xmlns:a16="http://schemas.microsoft.com/office/drawing/2014/main" id="{05F34B42-3A16-4318-9F79-C190398F5124}"/>
              </a:ext>
            </a:extLst>
          </p:cNvPr>
          <p:cNvPicPr/>
          <p:nvPr/>
        </p:nvPicPr>
        <p:blipFill>
          <a:blip r:embed="rId3" cstate="print"/>
          <a:stretch>
            <a:fillRect/>
          </a:stretch>
        </p:blipFill>
        <p:spPr>
          <a:xfrm>
            <a:off x="1066595" y="3233530"/>
            <a:ext cx="9667666" cy="3629534"/>
          </a:xfrm>
          <a:prstGeom prst="rect">
            <a:avLst/>
          </a:prstGeom>
          <a:ln w="25400" cap="sq" cmpd="thickThin">
            <a:solidFill>
              <a:srgbClr val="000000"/>
            </a:solidFill>
            <a:prstDash val="solid"/>
            <a:miter lim="800000"/>
          </a:ln>
          <a:effectLst>
            <a:innerShdw blurRad="76200">
              <a:srgbClr val="000000"/>
            </a:innerShdw>
          </a:effectLst>
        </p:spPr>
      </p:pic>
      <p:sp>
        <p:nvSpPr>
          <p:cNvPr id="3" name="Rectangle 2">
            <a:extLst>
              <a:ext uri="{FF2B5EF4-FFF2-40B4-BE49-F238E27FC236}">
                <a16:creationId xmlns="" xmlns:a16="http://schemas.microsoft.com/office/drawing/2014/main" id="{031BAAE5-D816-448B-A17B-A1612B01CD31}"/>
              </a:ext>
            </a:extLst>
          </p:cNvPr>
          <p:cNvSpPr/>
          <p:nvPr/>
        </p:nvSpPr>
        <p:spPr>
          <a:xfrm>
            <a:off x="3962400" y="3313044"/>
            <a:ext cx="662609" cy="2650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 xmlns:a16="http://schemas.microsoft.com/office/drawing/2014/main" id="{FAD89AA0-5FF8-4F94-A592-289847A43456}"/>
              </a:ext>
            </a:extLst>
          </p:cNvPr>
          <p:cNvSpPr/>
          <p:nvPr/>
        </p:nvSpPr>
        <p:spPr>
          <a:xfrm>
            <a:off x="2895600" y="6566452"/>
            <a:ext cx="662609" cy="2701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 xmlns:a16="http://schemas.microsoft.com/office/drawing/2014/main" id="{F5D2D016-4B47-4392-BC2C-A4395BA409CC}"/>
              </a:ext>
            </a:extLst>
          </p:cNvPr>
          <p:cNvPicPr>
            <a:picLocks noChangeAspect="1"/>
          </p:cNvPicPr>
          <p:nvPr/>
        </p:nvPicPr>
        <p:blipFill>
          <a:blip r:embed="rId4"/>
          <a:stretch>
            <a:fillRect/>
          </a:stretch>
        </p:blipFill>
        <p:spPr>
          <a:xfrm>
            <a:off x="10076163" y="3269974"/>
            <a:ext cx="631594" cy="308113"/>
          </a:xfrm>
          <a:prstGeom prst="rect">
            <a:avLst/>
          </a:prstGeom>
        </p:spPr>
      </p:pic>
      <p:pic>
        <p:nvPicPr>
          <p:cNvPr id="8" name="Image 7">
            <a:extLst>
              <a:ext uri="{FF2B5EF4-FFF2-40B4-BE49-F238E27FC236}">
                <a16:creationId xmlns="" xmlns:a16="http://schemas.microsoft.com/office/drawing/2014/main" id="{23E8F6B4-897D-492B-941D-E2924F4EB8BC}"/>
              </a:ext>
            </a:extLst>
          </p:cNvPr>
          <p:cNvPicPr>
            <a:picLocks noChangeAspect="1"/>
          </p:cNvPicPr>
          <p:nvPr/>
        </p:nvPicPr>
        <p:blipFill>
          <a:blip r:embed="rId4"/>
          <a:stretch>
            <a:fillRect/>
          </a:stretch>
        </p:blipFill>
        <p:spPr>
          <a:xfrm flipV="1">
            <a:off x="9422296" y="6382353"/>
            <a:ext cx="787767" cy="270107"/>
          </a:xfrm>
          <a:prstGeom prst="rect">
            <a:avLst/>
          </a:prstGeom>
        </p:spPr>
      </p:pic>
      <p:sp>
        <p:nvSpPr>
          <p:cNvPr id="9" name="Rectangle 8">
            <a:extLst>
              <a:ext uri="{FF2B5EF4-FFF2-40B4-BE49-F238E27FC236}">
                <a16:creationId xmlns="" xmlns:a16="http://schemas.microsoft.com/office/drawing/2014/main" id="{5F49AB18-FC86-4D1E-8EE6-61509F3D43E8}"/>
              </a:ext>
            </a:extLst>
          </p:cNvPr>
          <p:cNvSpPr/>
          <p:nvPr/>
        </p:nvSpPr>
        <p:spPr>
          <a:xfrm>
            <a:off x="4505739" y="5022573"/>
            <a:ext cx="1987826" cy="470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rgbClr val="FF0000"/>
                </a:solidFill>
              </a:rPr>
              <a:t>PLP</a:t>
            </a:r>
          </a:p>
        </p:txBody>
      </p:sp>
    </p:spTree>
    <p:extLst>
      <p:ext uri="{BB962C8B-B14F-4D97-AF65-F5344CB8AC3E}">
        <p14:creationId xmlns:p14="http://schemas.microsoft.com/office/powerpoint/2010/main" val="292471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292409" y="475483"/>
            <a:ext cx="9089518" cy="1320800"/>
          </a:xfrm>
        </p:spPr>
        <p:txBody>
          <a:bodyPr>
            <a:normAutofit/>
          </a:bodyPr>
          <a:lstStyle/>
          <a:p>
            <a:r>
              <a:rPr lang="fr-FR" b="1" dirty="0"/>
              <a:t>1-</a:t>
            </a:r>
            <a:r>
              <a:rPr lang="fr-FR" dirty="0"/>
              <a:t> </a:t>
            </a:r>
            <a:r>
              <a:rPr lang="fr-FR" b="1" dirty="0"/>
              <a:t>AMINOTRANSFERASES (</a:t>
            </a:r>
            <a:r>
              <a:rPr lang="fr-FR" dirty="0"/>
              <a:t>transaminases)</a:t>
            </a:r>
          </a:p>
        </p:txBody>
      </p:sp>
      <p:pic>
        <p:nvPicPr>
          <p:cNvPr id="5" name="Espace réservé du contenu 4">
            <a:extLst>
              <a:ext uri="{FF2B5EF4-FFF2-40B4-BE49-F238E27FC236}">
                <a16:creationId xmlns="" xmlns:a16="http://schemas.microsoft.com/office/drawing/2014/main" id="{4D36E073-2865-4AAC-A7CF-8D7FB2213328}"/>
              </a:ext>
            </a:extLst>
          </p:cNvPr>
          <p:cNvPicPr>
            <a:picLocks noGrp="1" noChangeAspect="1"/>
          </p:cNvPicPr>
          <p:nvPr>
            <p:ph idx="1"/>
          </p:nvPr>
        </p:nvPicPr>
        <p:blipFill>
          <a:blip r:embed="rId3"/>
          <a:stretch>
            <a:fillRect/>
          </a:stretch>
        </p:blipFill>
        <p:spPr>
          <a:xfrm>
            <a:off x="0" y="2521243"/>
            <a:ext cx="9939896" cy="4012079"/>
          </a:xfrm>
          <a:prstGeom prst="rect">
            <a:avLst/>
          </a:prstGeom>
        </p:spPr>
      </p:pic>
      <p:sp>
        <p:nvSpPr>
          <p:cNvPr id="3" name="Rectangle 2">
            <a:extLst>
              <a:ext uri="{FF2B5EF4-FFF2-40B4-BE49-F238E27FC236}">
                <a16:creationId xmlns="" xmlns:a16="http://schemas.microsoft.com/office/drawing/2014/main" id="{2B11C5AF-B6B1-4AA6-99A1-D097A39DE07D}"/>
              </a:ext>
            </a:extLst>
          </p:cNvPr>
          <p:cNvSpPr/>
          <p:nvPr/>
        </p:nvSpPr>
        <p:spPr>
          <a:xfrm>
            <a:off x="292409" y="1339557"/>
            <a:ext cx="8454683" cy="11816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accent1"/>
                </a:solidFill>
              </a:rPr>
              <a:t>ASAT : Aspartate </a:t>
            </a:r>
            <a:r>
              <a:rPr lang="fr-FR" sz="2400" b="1" dirty="0" err="1">
                <a:solidFill>
                  <a:schemeClr val="accent1"/>
                </a:solidFill>
              </a:rPr>
              <a:t>AminoTransférase</a:t>
            </a:r>
            <a:r>
              <a:rPr lang="fr-FR" sz="2400" b="1" dirty="0">
                <a:solidFill>
                  <a:schemeClr val="accent1"/>
                </a:solidFill>
              </a:rPr>
              <a:t> </a:t>
            </a:r>
          </a:p>
          <a:p>
            <a:pPr algn="ctr"/>
            <a:r>
              <a:rPr lang="fr-FR" sz="2400" b="1" dirty="0">
                <a:solidFill>
                  <a:schemeClr val="accent1"/>
                </a:solidFill>
              </a:rPr>
              <a:t>TGO: Transaminase Glutamique Oxaloacétique </a:t>
            </a:r>
          </a:p>
          <a:p>
            <a:pPr algn="ctr"/>
            <a:endParaRPr lang="fr-FR" b="1" dirty="0">
              <a:solidFill>
                <a:schemeClr val="accent1"/>
              </a:solidFill>
            </a:endParaRPr>
          </a:p>
        </p:txBody>
      </p:sp>
      <p:sp>
        <p:nvSpPr>
          <p:cNvPr id="4" name="Ellipse 3">
            <a:extLst>
              <a:ext uri="{FF2B5EF4-FFF2-40B4-BE49-F238E27FC236}">
                <a16:creationId xmlns="" xmlns:a16="http://schemas.microsoft.com/office/drawing/2014/main" id="{FA561D5D-2258-4A59-AD69-BF12E33F57FB}"/>
              </a:ext>
            </a:extLst>
          </p:cNvPr>
          <p:cNvSpPr/>
          <p:nvPr/>
        </p:nvSpPr>
        <p:spPr>
          <a:xfrm>
            <a:off x="1749290" y="3487223"/>
            <a:ext cx="622852" cy="4383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 xmlns:a16="http://schemas.microsoft.com/office/drawing/2014/main" id="{01659B02-B07F-4A5A-B028-971DF63A6BF6}"/>
              </a:ext>
            </a:extLst>
          </p:cNvPr>
          <p:cNvPicPr>
            <a:picLocks noChangeAspect="1"/>
          </p:cNvPicPr>
          <p:nvPr/>
        </p:nvPicPr>
        <p:blipFill>
          <a:blip r:embed="rId4"/>
          <a:stretch>
            <a:fillRect/>
          </a:stretch>
        </p:blipFill>
        <p:spPr>
          <a:xfrm>
            <a:off x="8280592" y="3487223"/>
            <a:ext cx="640135" cy="457240"/>
          </a:xfrm>
          <a:prstGeom prst="rect">
            <a:avLst/>
          </a:prstGeom>
        </p:spPr>
      </p:pic>
      <p:sp>
        <p:nvSpPr>
          <p:cNvPr id="6" name="ZoneTexte 5"/>
          <p:cNvSpPr txBox="1"/>
          <p:nvPr/>
        </p:nvSpPr>
        <p:spPr>
          <a:xfrm>
            <a:off x="7833037" y="6163990"/>
            <a:ext cx="1535243" cy="369332"/>
          </a:xfrm>
          <a:prstGeom prst="rect">
            <a:avLst/>
          </a:prstGeom>
          <a:noFill/>
        </p:spPr>
        <p:txBody>
          <a:bodyPr wrap="square" rtlCol="0">
            <a:spAutoFit/>
          </a:bodyPr>
          <a:lstStyle/>
          <a:p>
            <a:r>
              <a:rPr lang="fr-FR" dirty="0" smtClean="0"/>
              <a:t>Glutamate</a:t>
            </a:r>
            <a:endParaRPr lang="fr-FR" dirty="0"/>
          </a:p>
        </p:txBody>
      </p:sp>
    </p:spTree>
    <p:extLst>
      <p:ext uri="{BB962C8B-B14F-4D97-AF65-F5344CB8AC3E}">
        <p14:creationId xmlns:p14="http://schemas.microsoft.com/office/powerpoint/2010/main" val="296481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259358" y="298547"/>
            <a:ext cx="9089518" cy="1320800"/>
          </a:xfrm>
        </p:spPr>
        <p:txBody>
          <a:bodyPr>
            <a:normAutofit/>
          </a:bodyPr>
          <a:lstStyle/>
          <a:p>
            <a:r>
              <a:rPr lang="fr-FR" b="1" dirty="0"/>
              <a:t>1-</a:t>
            </a:r>
            <a:r>
              <a:rPr lang="fr-FR" dirty="0"/>
              <a:t> </a:t>
            </a:r>
            <a:r>
              <a:rPr lang="fr-FR" b="1" dirty="0"/>
              <a:t>AMINOTRANSFERASES (</a:t>
            </a:r>
            <a:r>
              <a:rPr lang="fr-FR" dirty="0"/>
              <a:t>transaminases)</a:t>
            </a:r>
          </a:p>
        </p:txBody>
      </p:sp>
      <p:pic>
        <p:nvPicPr>
          <p:cNvPr id="6" name="Espace réservé du contenu 5">
            <a:extLst>
              <a:ext uri="{FF2B5EF4-FFF2-40B4-BE49-F238E27FC236}">
                <a16:creationId xmlns="" xmlns:a16="http://schemas.microsoft.com/office/drawing/2014/main" id="{E56E4897-03A3-4018-B442-5FB44F87618B}"/>
              </a:ext>
            </a:extLst>
          </p:cNvPr>
          <p:cNvPicPr>
            <a:picLocks noGrp="1" noChangeAspect="1"/>
          </p:cNvPicPr>
          <p:nvPr>
            <p:ph idx="1"/>
          </p:nvPr>
        </p:nvPicPr>
        <p:blipFill>
          <a:blip r:embed="rId3"/>
          <a:stretch>
            <a:fillRect/>
          </a:stretch>
        </p:blipFill>
        <p:spPr>
          <a:xfrm>
            <a:off x="-1" y="2627007"/>
            <a:ext cx="11028103" cy="3932446"/>
          </a:xfrm>
          <a:prstGeom prst="rect">
            <a:avLst/>
          </a:prstGeom>
        </p:spPr>
      </p:pic>
      <p:sp>
        <p:nvSpPr>
          <p:cNvPr id="7" name="Rectangle 6">
            <a:extLst>
              <a:ext uri="{FF2B5EF4-FFF2-40B4-BE49-F238E27FC236}">
                <a16:creationId xmlns="" xmlns:a16="http://schemas.microsoft.com/office/drawing/2014/main" id="{6A67FABA-74E0-4067-A400-DAB5AA43AA71}"/>
              </a:ext>
            </a:extLst>
          </p:cNvPr>
          <p:cNvSpPr/>
          <p:nvPr/>
        </p:nvSpPr>
        <p:spPr>
          <a:xfrm>
            <a:off x="787791" y="1168842"/>
            <a:ext cx="8032652" cy="1320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fr-FR" sz="2400" b="1" dirty="0">
                <a:solidFill>
                  <a:schemeClr val="accent2"/>
                </a:solidFill>
                <a:latin typeface="Times New Roman" panose="02020603050405020304" pitchFamily="18" charset="0"/>
                <a:ea typeface="Times New Roman" panose="02020603050405020304" pitchFamily="18" charset="0"/>
              </a:rPr>
              <a:t>ALAT :Alanine </a:t>
            </a:r>
            <a:r>
              <a:rPr lang="fr-FR" sz="2400" b="1" dirty="0" err="1">
                <a:solidFill>
                  <a:schemeClr val="accent2"/>
                </a:solidFill>
                <a:latin typeface="Times New Roman" panose="02020603050405020304" pitchFamily="18" charset="0"/>
                <a:ea typeface="Times New Roman" panose="02020603050405020304" pitchFamily="18" charset="0"/>
              </a:rPr>
              <a:t>AminoTransférase</a:t>
            </a:r>
            <a:endParaRPr lang="fr-FR" sz="2400" b="1" dirty="0">
              <a:solidFill>
                <a:schemeClr val="accent2"/>
              </a:solidFill>
              <a:latin typeface="Times New Roman" panose="02020603050405020304" pitchFamily="18" charset="0"/>
              <a:ea typeface="Times New Roman" panose="02020603050405020304" pitchFamily="18" charset="0"/>
            </a:endParaRPr>
          </a:p>
          <a:p>
            <a:pPr algn="ctr">
              <a:spcAft>
                <a:spcPts val="0"/>
              </a:spcAft>
            </a:pPr>
            <a:r>
              <a:rPr lang="fr-FR" sz="2400" b="1" dirty="0">
                <a:solidFill>
                  <a:schemeClr val="accent2"/>
                </a:solidFill>
                <a:latin typeface="Times New Roman" panose="02020603050405020304" pitchFamily="18" charset="0"/>
                <a:ea typeface="Times New Roman" panose="02020603050405020304" pitchFamily="18" charset="0"/>
              </a:rPr>
              <a:t>TGP :Transaminase Glutamique pyruvique  </a:t>
            </a:r>
            <a:endParaRPr lang="fr-FR" sz="2400" b="1" dirty="0">
              <a:solidFill>
                <a:schemeClr val="accent2"/>
              </a:solidFill>
            </a:endParaRPr>
          </a:p>
        </p:txBody>
      </p:sp>
      <p:pic>
        <p:nvPicPr>
          <p:cNvPr id="5" name="Image 4">
            <a:extLst>
              <a:ext uri="{FF2B5EF4-FFF2-40B4-BE49-F238E27FC236}">
                <a16:creationId xmlns="" xmlns:a16="http://schemas.microsoft.com/office/drawing/2014/main" id="{A97A02BE-CB24-4F48-A317-106E66701005}"/>
              </a:ext>
            </a:extLst>
          </p:cNvPr>
          <p:cNvPicPr>
            <a:picLocks noChangeAspect="1"/>
          </p:cNvPicPr>
          <p:nvPr/>
        </p:nvPicPr>
        <p:blipFill>
          <a:blip r:embed="rId4"/>
          <a:stretch>
            <a:fillRect/>
          </a:stretch>
        </p:blipFill>
        <p:spPr>
          <a:xfrm>
            <a:off x="1561740" y="3497302"/>
            <a:ext cx="640135" cy="457240"/>
          </a:xfrm>
          <a:prstGeom prst="rect">
            <a:avLst/>
          </a:prstGeom>
        </p:spPr>
      </p:pic>
      <p:pic>
        <p:nvPicPr>
          <p:cNvPr id="8" name="Image 7">
            <a:extLst>
              <a:ext uri="{FF2B5EF4-FFF2-40B4-BE49-F238E27FC236}">
                <a16:creationId xmlns="" xmlns:a16="http://schemas.microsoft.com/office/drawing/2014/main" id="{2A9A8645-C3E5-4CE5-8E20-3E626692EE4E}"/>
              </a:ext>
            </a:extLst>
          </p:cNvPr>
          <p:cNvPicPr>
            <a:picLocks noChangeAspect="1"/>
          </p:cNvPicPr>
          <p:nvPr/>
        </p:nvPicPr>
        <p:blipFill>
          <a:blip r:embed="rId4"/>
          <a:stretch>
            <a:fillRect/>
          </a:stretch>
        </p:blipFill>
        <p:spPr>
          <a:xfrm>
            <a:off x="6802976" y="3497302"/>
            <a:ext cx="565234" cy="457240"/>
          </a:xfrm>
          <a:prstGeom prst="rect">
            <a:avLst/>
          </a:prstGeom>
        </p:spPr>
      </p:pic>
      <p:sp>
        <p:nvSpPr>
          <p:cNvPr id="3" name="ZoneTexte 2"/>
          <p:cNvSpPr txBox="1"/>
          <p:nvPr/>
        </p:nvSpPr>
        <p:spPr>
          <a:xfrm>
            <a:off x="6400800" y="6214188"/>
            <a:ext cx="1362269" cy="369332"/>
          </a:xfrm>
          <a:prstGeom prst="rect">
            <a:avLst/>
          </a:prstGeom>
          <a:noFill/>
        </p:spPr>
        <p:txBody>
          <a:bodyPr wrap="square" rtlCol="0">
            <a:spAutoFit/>
          </a:bodyPr>
          <a:lstStyle/>
          <a:p>
            <a:r>
              <a:rPr lang="fr-FR" dirty="0" smtClean="0"/>
              <a:t>glutamate</a:t>
            </a:r>
            <a:endParaRPr lang="fr-FR" dirty="0"/>
          </a:p>
        </p:txBody>
      </p:sp>
    </p:spTree>
    <p:extLst>
      <p:ext uri="{BB962C8B-B14F-4D97-AF65-F5344CB8AC3E}">
        <p14:creationId xmlns:p14="http://schemas.microsoft.com/office/powerpoint/2010/main" val="2165143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1" y="0"/>
            <a:ext cx="11756571" cy="671804"/>
          </a:xfrm>
        </p:spPr>
        <p:txBody>
          <a:bodyPr>
            <a:normAutofit/>
          </a:bodyPr>
          <a:lstStyle/>
          <a:p>
            <a:r>
              <a:rPr lang="fr-FR" b="1" dirty="0"/>
              <a:t>1-</a:t>
            </a:r>
            <a:r>
              <a:rPr lang="fr-FR" dirty="0"/>
              <a:t> </a:t>
            </a:r>
            <a:r>
              <a:rPr lang="fr-FR" b="1" dirty="0"/>
              <a:t>AMINOTRANSFERASES (</a:t>
            </a:r>
            <a:r>
              <a:rPr lang="fr-FR" dirty="0"/>
              <a:t>transaminases)</a:t>
            </a:r>
          </a:p>
        </p:txBody>
      </p:sp>
      <p:graphicFrame>
        <p:nvGraphicFramePr>
          <p:cNvPr id="4" name="Tableau 4">
            <a:extLst>
              <a:ext uri="{FF2B5EF4-FFF2-40B4-BE49-F238E27FC236}">
                <a16:creationId xmlns="" xmlns:a16="http://schemas.microsoft.com/office/drawing/2014/main" id="{4BEF8BCD-FA85-43E5-AD6D-744B7BE17809}"/>
              </a:ext>
            </a:extLst>
          </p:cNvPr>
          <p:cNvGraphicFramePr>
            <a:graphicFrameLocks noGrp="1"/>
          </p:cNvGraphicFramePr>
          <p:nvPr>
            <p:ph idx="1"/>
            <p:extLst>
              <p:ext uri="{D42A27DB-BD31-4B8C-83A1-F6EECF244321}">
                <p14:modId xmlns:p14="http://schemas.microsoft.com/office/powerpoint/2010/main" val="1577970604"/>
              </p:ext>
            </p:extLst>
          </p:nvPr>
        </p:nvGraphicFramePr>
        <p:xfrm>
          <a:off x="-3387014" y="671804"/>
          <a:ext cx="18530596" cy="6186196"/>
        </p:xfrm>
        <a:graphic>
          <a:graphicData uri="http://schemas.openxmlformats.org/drawingml/2006/table">
            <a:tbl>
              <a:tblPr firstRow="1" bandRow="1">
                <a:tableStyleId>{5C22544A-7EE6-4342-B048-85BDC9FD1C3A}</a:tableStyleId>
              </a:tblPr>
              <a:tblGrid>
                <a:gridCol w="4140537">
                  <a:extLst>
                    <a:ext uri="{9D8B030D-6E8A-4147-A177-3AD203B41FA5}">
                      <a16:colId xmlns="" xmlns:a16="http://schemas.microsoft.com/office/drawing/2014/main" val="607328099"/>
                    </a:ext>
                  </a:extLst>
                </a:gridCol>
                <a:gridCol w="9683876">
                  <a:extLst>
                    <a:ext uri="{9D8B030D-6E8A-4147-A177-3AD203B41FA5}">
                      <a16:colId xmlns="" xmlns:a16="http://schemas.microsoft.com/office/drawing/2014/main" val="492044236"/>
                    </a:ext>
                  </a:extLst>
                </a:gridCol>
                <a:gridCol w="4706183">
                  <a:extLst>
                    <a:ext uri="{9D8B030D-6E8A-4147-A177-3AD203B41FA5}">
                      <a16:colId xmlns="" xmlns:a16="http://schemas.microsoft.com/office/drawing/2014/main" val="933075948"/>
                    </a:ext>
                  </a:extLst>
                </a:gridCol>
              </a:tblGrid>
              <a:tr h="635339">
                <a:tc>
                  <a:txBody>
                    <a:bodyPr/>
                    <a:lstStyle/>
                    <a:p>
                      <a:r>
                        <a:rPr lang="fr-FR" sz="3200" dirty="0"/>
                        <a:t>Répartition</a:t>
                      </a:r>
                    </a:p>
                  </a:txBody>
                  <a:tcPr/>
                </a:tc>
                <a:tc>
                  <a:txBody>
                    <a:bodyPr/>
                    <a:lstStyle/>
                    <a:p>
                      <a:r>
                        <a:rPr lang="fr-FR" sz="3200" dirty="0"/>
                        <a:t>Tissulaire </a:t>
                      </a:r>
                    </a:p>
                  </a:txBody>
                  <a:tcPr/>
                </a:tc>
                <a:tc>
                  <a:txBody>
                    <a:bodyPr/>
                    <a:lstStyle/>
                    <a:p>
                      <a:r>
                        <a:rPr lang="fr-FR" sz="3200" dirty="0"/>
                        <a:t>Cellulaire</a:t>
                      </a:r>
                    </a:p>
                  </a:txBody>
                  <a:tcPr/>
                </a:tc>
                <a:extLst>
                  <a:ext uri="{0D108BD9-81ED-4DB2-BD59-A6C34878D82A}">
                    <a16:rowId xmlns="" xmlns:a16="http://schemas.microsoft.com/office/drawing/2014/main" val="758372509"/>
                  </a:ext>
                </a:extLst>
              </a:tr>
              <a:tr h="4380496">
                <a:tc>
                  <a:txBody>
                    <a:bodyPr/>
                    <a:lstStyle/>
                    <a:p>
                      <a:r>
                        <a:rPr lang="fr-FR" sz="3200" dirty="0"/>
                        <a:t>ASAT</a:t>
                      </a:r>
                    </a:p>
                  </a:txBody>
                  <a:tcPr/>
                </a:tc>
                <a:tc>
                  <a:txBody>
                    <a:bodyPr/>
                    <a:lstStyle/>
                    <a:p>
                      <a:r>
                        <a:rPr lang="fr-FR" sz="3200" dirty="0">
                          <a:solidFill>
                            <a:srgbClr val="FF0000"/>
                          </a:solidFill>
                        </a:rPr>
                        <a:t>-</a:t>
                      </a:r>
                      <a:r>
                        <a:rPr lang="fr-FR" sz="3200" dirty="0" smtClean="0">
                          <a:solidFill>
                            <a:srgbClr val="FF0000"/>
                          </a:solidFill>
                        </a:rPr>
                        <a:t>Cœur(muscle cardiaque(dans toute les pathologie</a:t>
                      </a:r>
                      <a:r>
                        <a:rPr lang="fr-FR" sz="3200" baseline="0" dirty="0" smtClean="0">
                          <a:solidFill>
                            <a:srgbClr val="FF0000"/>
                          </a:solidFill>
                        </a:rPr>
                        <a:t> cardiaque (surtt l’IDM</a:t>
                      </a:r>
                      <a:r>
                        <a:rPr lang="fr-FR" sz="3200" dirty="0" smtClean="0">
                          <a:solidFill>
                            <a:srgbClr val="FF0000"/>
                          </a:solidFill>
                        </a:rPr>
                        <a:t>)</a:t>
                      </a:r>
                      <a:r>
                        <a:rPr lang="fr-FR" sz="3200" dirty="0" smtClean="0"/>
                        <a:t>, </a:t>
                      </a:r>
                      <a:r>
                        <a:rPr lang="fr-FR" sz="3200" dirty="0" smtClean="0">
                          <a:solidFill>
                            <a:srgbClr val="FF0000"/>
                          </a:solidFill>
                        </a:rPr>
                        <a:t>foie(en peut</a:t>
                      </a:r>
                      <a:r>
                        <a:rPr lang="fr-FR" sz="3200" baseline="0" dirty="0" smtClean="0">
                          <a:solidFill>
                            <a:srgbClr val="FF0000"/>
                          </a:solidFill>
                        </a:rPr>
                        <a:t> utiliser comme un critère de pronostic ou de gravité)</a:t>
                      </a:r>
                      <a:r>
                        <a:rPr lang="fr-FR" sz="3200" dirty="0" smtClean="0"/>
                        <a:t>, </a:t>
                      </a:r>
                      <a:r>
                        <a:rPr lang="fr-FR" sz="3200" dirty="0">
                          <a:solidFill>
                            <a:srgbClr val="FF0000"/>
                          </a:solidFill>
                        </a:rPr>
                        <a:t>M squelettique</a:t>
                      </a:r>
                      <a:r>
                        <a:rPr lang="fr-FR" sz="3200" dirty="0"/>
                        <a:t>, rein, pancréas, rate, poumon, érythrocytes</a:t>
                      </a:r>
                    </a:p>
                    <a:p>
                      <a:endParaRPr lang="fr-FR" sz="3200" dirty="0"/>
                    </a:p>
                  </a:txBody>
                  <a:tcPr/>
                </a:tc>
                <a:tc>
                  <a:txBody>
                    <a:bodyPr/>
                    <a:lstStyle/>
                    <a:p>
                      <a:r>
                        <a:rPr lang="fr-FR" sz="3200" dirty="0"/>
                        <a:t>-Cytosol </a:t>
                      </a:r>
                    </a:p>
                    <a:p>
                      <a:r>
                        <a:rPr lang="fr-FR" sz="3200" dirty="0"/>
                        <a:t>-</a:t>
                      </a:r>
                      <a:r>
                        <a:rPr lang="fr-FR" sz="3200" dirty="0" smtClean="0"/>
                        <a:t>Mitochondrie(c’est pas un marquer sensible)</a:t>
                      </a:r>
                      <a:endParaRPr lang="fr-FR" sz="3200" dirty="0"/>
                    </a:p>
                    <a:p>
                      <a:r>
                        <a:rPr lang="fr-FR" sz="3200" dirty="0"/>
                        <a:t>(</a:t>
                      </a:r>
                      <a:r>
                        <a:rPr lang="fr-FR" sz="3200" dirty="0">
                          <a:solidFill>
                            <a:srgbClr val="FF0000"/>
                          </a:solidFill>
                        </a:rPr>
                        <a:t>2 </a:t>
                      </a:r>
                      <a:r>
                        <a:rPr lang="fr-FR" sz="3200" dirty="0" smtClean="0">
                          <a:solidFill>
                            <a:srgbClr val="FF0000"/>
                          </a:solidFill>
                        </a:rPr>
                        <a:t>IsoEnz=&gt;c’est cas</a:t>
                      </a:r>
                      <a:r>
                        <a:rPr lang="fr-FR" sz="3200" baseline="0" dirty="0" smtClean="0">
                          <a:solidFill>
                            <a:srgbClr val="FF0000"/>
                          </a:solidFill>
                        </a:rPr>
                        <a:t> </a:t>
                      </a:r>
                      <a:r>
                        <a:rPr lang="fr-FR" sz="3200" baseline="0" dirty="0" err="1" smtClean="0">
                          <a:solidFill>
                            <a:srgbClr val="FF0000"/>
                          </a:solidFill>
                        </a:rPr>
                        <a:t>exps</a:t>
                      </a:r>
                      <a:r>
                        <a:rPr lang="fr-FR" sz="3200" baseline="0" dirty="0" smtClean="0">
                          <a:solidFill>
                            <a:srgbClr val="FF0000"/>
                          </a:solidFill>
                        </a:rPr>
                        <a:t> c’est dans le</a:t>
                      </a:r>
                      <a:r>
                        <a:rPr lang="fr-FR" sz="3200" dirty="0" smtClean="0">
                          <a:solidFill>
                            <a:srgbClr val="FF0000"/>
                          </a:solidFill>
                        </a:rPr>
                        <a:t> même tissu (soit</a:t>
                      </a:r>
                      <a:r>
                        <a:rPr lang="fr-FR" sz="3200" baseline="0" dirty="0" smtClean="0">
                          <a:solidFill>
                            <a:srgbClr val="FF0000"/>
                          </a:solidFill>
                        </a:rPr>
                        <a:t> mitochondriale ou cytologique)</a:t>
                      </a:r>
                      <a:r>
                        <a:rPr lang="fr-FR" sz="3200" dirty="0" smtClean="0"/>
                        <a:t>)</a:t>
                      </a:r>
                      <a:endParaRPr lang="fr-FR" sz="3200" dirty="0"/>
                    </a:p>
                  </a:txBody>
                  <a:tcPr/>
                </a:tc>
                <a:extLst>
                  <a:ext uri="{0D108BD9-81ED-4DB2-BD59-A6C34878D82A}">
                    <a16:rowId xmlns="" xmlns:a16="http://schemas.microsoft.com/office/drawing/2014/main" val="1640036978"/>
                  </a:ext>
                </a:extLst>
              </a:tr>
              <a:tr h="1170361">
                <a:tc>
                  <a:txBody>
                    <a:bodyPr/>
                    <a:lstStyle/>
                    <a:p>
                      <a:r>
                        <a:rPr lang="fr-FR" sz="3200" dirty="0"/>
                        <a:t>ALAT</a:t>
                      </a:r>
                    </a:p>
                  </a:txBody>
                  <a:tcPr/>
                </a:tc>
                <a:tc>
                  <a:txBody>
                    <a:bodyPr/>
                    <a:lstStyle/>
                    <a:p>
                      <a:r>
                        <a:rPr lang="fr-FR" sz="3200" dirty="0">
                          <a:solidFill>
                            <a:srgbClr val="FF0000"/>
                          </a:solidFill>
                        </a:rPr>
                        <a:t>-</a:t>
                      </a:r>
                      <a:r>
                        <a:rPr lang="fr-FR" sz="3200" dirty="0" smtClean="0">
                          <a:solidFill>
                            <a:srgbClr val="FF0000"/>
                          </a:solidFill>
                        </a:rPr>
                        <a:t>Foie(dans</a:t>
                      </a:r>
                      <a:r>
                        <a:rPr lang="fr-FR" sz="3200" baseline="0" dirty="0" smtClean="0">
                          <a:solidFill>
                            <a:srgbClr val="FF0000"/>
                          </a:solidFill>
                        </a:rPr>
                        <a:t> une </a:t>
                      </a:r>
                      <a:r>
                        <a:rPr lang="fr-FR" sz="3200" baseline="0" dirty="0" err="1" smtClean="0">
                          <a:solidFill>
                            <a:srgbClr val="FF0000"/>
                          </a:solidFill>
                        </a:rPr>
                        <a:t>patho</a:t>
                      </a:r>
                      <a:r>
                        <a:rPr lang="fr-FR" sz="3200" baseline="0" dirty="0" smtClean="0">
                          <a:solidFill>
                            <a:srgbClr val="FF0000"/>
                          </a:solidFill>
                        </a:rPr>
                        <a:t> hépatique le ALAT augment avant le ASAT)</a:t>
                      </a:r>
                      <a:r>
                        <a:rPr lang="fr-FR" sz="3200" dirty="0" smtClean="0"/>
                        <a:t>,......... </a:t>
                      </a:r>
                      <a:endParaRPr lang="fr-FR" sz="3200" dirty="0"/>
                    </a:p>
                  </a:txBody>
                  <a:tcPr/>
                </a:tc>
                <a:tc>
                  <a:txBody>
                    <a:bodyPr/>
                    <a:lstStyle/>
                    <a:p>
                      <a:r>
                        <a:rPr lang="fr-FR" sz="3200" dirty="0"/>
                        <a:t>-</a:t>
                      </a:r>
                      <a:r>
                        <a:rPr lang="fr-FR" sz="3200" dirty="0" smtClean="0"/>
                        <a:t>Cytosol(marquer plus sensible)</a:t>
                      </a:r>
                      <a:endParaRPr lang="fr-FR" sz="3200" dirty="0"/>
                    </a:p>
                  </a:txBody>
                  <a:tcPr/>
                </a:tc>
                <a:extLst>
                  <a:ext uri="{0D108BD9-81ED-4DB2-BD59-A6C34878D82A}">
                    <a16:rowId xmlns="" xmlns:a16="http://schemas.microsoft.com/office/drawing/2014/main" val="2360724678"/>
                  </a:ext>
                </a:extLst>
              </a:tr>
            </a:tbl>
          </a:graphicData>
        </a:graphic>
      </p:graphicFrame>
    </p:spTree>
    <p:extLst>
      <p:ext uri="{BB962C8B-B14F-4D97-AF65-F5344CB8AC3E}">
        <p14:creationId xmlns:p14="http://schemas.microsoft.com/office/powerpoint/2010/main" val="1657725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196574" y="463827"/>
            <a:ext cx="9089518" cy="1320800"/>
          </a:xfrm>
        </p:spPr>
        <p:txBody>
          <a:bodyPr>
            <a:normAutofit/>
          </a:bodyPr>
          <a:lstStyle/>
          <a:p>
            <a:r>
              <a:rPr lang="fr-FR" b="1" dirty="0"/>
              <a:t>1-</a:t>
            </a:r>
            <a:r>
              <a:rPr lang="fr-FR" dirty="0"/>
              <a:t> </a:t>
            </a:r>
            <a:r>
              <a:rPr lang="fr-FR" b="1" dirty="0"/>
              <a:t>AMINOTRANSFERASES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923759" y="1488613"/>
            <a:ext cx="8596668" cy="3880773"/>
          </a:xfrm>
        </p:spPr>
        <p:txBody>
          <a:bodyPr/>
          <a:lstStyle/>
          <a:p>
            <a:pPr>
              <a:buFont typeface="Wingdings" panose="05000000000000000000" pitchFamily="2" charset="2"/>
              <a:buChar char="q"/>
            </a:pPr>
            <a:r>
              <a:rPr lang="fr-FR" sz="3200" b="1" u="sng" dirty="0">
                <a:solidFill>
                  <a:schemeClr val="accent2"/>
                </a:solidFill>
                <a:latin typeface="Times New Roman" panose="02020603050405020304" pitchFamily="18" charset="0"/>
                <a:ea typeface="Times New Roman" panose="02020603050405020304" pitchFamily="18" charset="0"/>
              </a:rPr>
              <a:t>Valeurs normales </a:t>
            </a:r>
            <a:endParaRPr lang="fr-FR" sz="3200" dirty="0">
              <a:solidFill>
                <a:schemeClr val="accent2"/>
              </a:solidFill>
              <a:latin typeface="Times New Roman" panose="02020603050405020304" pitchFamily="18" charset="0"/>
              <a:ea typeface="Times New Roman" panose="02020603050405020304" pitchFamily="18" charset="0"/>
            </a:endParaRPr>
          </a:p>
          <a:p>
            <a:endParaRPr lang="fr-FR" dirty="0"/>
          </a:p>
        </p:txBody>
      </p:sp>
      <p:graphicFrame>
        <p:nvGraphicFramePr>
          <p:cNvPr id="4" name="Tableau 4">
            <a:extLst>
              <a:ext uri="{FF2B5EF4-FFF2-40B4-BE49-F238E27FC236}">
                <a16:creationId xmlns="" xmlns:a16="http://schemas.microsoft.com/office/drawing/2014/main" id="{AFA6FDAB-AF11-48B5-8DD7-CB62D8AC20C2}"/>
              </a:ext>
            </a:extLst>
          </p:cNvPr>
          <p:cNvGraphicFramePr>
            <a:graphicFrameLocks noGrp="1"/>
          </p:cNvGraphicFramePr>
          <p:nvPr>
            <p:extLst>
              <p:ext uri="{D42A27DB-BD31-4B8C-83A1-F6EECF244321}">
                <p14:modId xmlns:p14="http://schemas.microsoft.com/office/powerpoint/2010/main" val="858936715"/>
              </p:ext>
            </p:extLst>
          </p:nvPr>
        </p:nvGraphicFramePr>
        <p:xfrm>
          <a:off x="1040925" y="2377442"/>
          <a:ext cx="8362335" cy="2991944"/>
        </p:xfrm>
        <a:graphic>
          <a:graphicData uri="http://schemas.openxmlformats.org/drawingml/2006/table">
            <a:tbl>
              <a:tblPr firstRow="1" bandRow="1">
                <a:tableStyleId>{5C22544A-7EE6-4342-B048-85BDC9FD1C3A}</a:tableStyleId>
              </a:tblPr>
              <a:tblGrid>
                <a:gridCol w="2787445">
                  <a:extLst>
                    <a:ext uri="{9D8B030D-6E8A-4147-A177-3AD203B41FA5}">
                      <a16:colId xmlns="" xmlns:a16="http://schemas.microsoft.com/office/drawing/2014/main" val="1496493855"/>
                    </a:ext>
                  </a:extLst>
                </a:gridCol>
                <a:gridCol w="2787445">
                  <a:extLst>
                    <a:ext uri="{9D8B030D-6E8A-4147-A177-3AD203B41FA5}">
                      <a16:colId xmlns="" xmlns:a16="http://schemas.microsoft.com/office/drawing/2014/main" val="1521997814"/>
                    </a:ext>
                  </a:extLst>
                </a:gridCol>
                <a:gridCol w="2787445">
                  <a:extLst>
                    <a:ext uri="{9D8B030D-6E8A-4147-A177-3AD203B41FA5}">
                      <a16:colId xmlns="" xmlns:a16="http://schemas.microsoft.com/office/drawing/2014/main" val="3229355050"/>
                    </a:ext>
                  </a:extLst>
                </a:gridCol>
              </a:tblGrid>
              <a:tr h="747986">
                <a:tc>
                  <a:txBody>
                    <a:bodyPr/>
                    <a:lstStyle/>
                    <a:p>
                      <a:endParaRPr lang="fr-FR"/>
                    </a:p>
                  </a:txBody>
                  <a:tcPr/>
                </a:tc>
                <a:tc>
                  <a:txBody>
                    <a:bodyPr/>
                    <a:lstStyle/>
                    <a:p>
                      <a:r>
                        <a:rPr kumimoji="0" lang="fr-FR" sz="2800" b="1" i="0" u="none" strike="noStrike" kern="1200" cap="none" spc="0" normalizeH="0" baseline="0" noProof="0" dirty="0">
                          <a:ln>
                            <a:noFill/>
                          </a:ln>
                          <a:solidFill>
                            <a:schemeClr val="bg1"/>
                          </a:solidFill>
                          <a:effectLst/>
                          <a:uLnTx/>
                          <a:uFillTx/>
                          <a:latin typeface="Times New Roman" panose="02020603050405020304" pitchFamily="18" charset="0"/>
                          <a:ea typeface="Times New Roman" panose="02020603050405020304" pitchFamily="18" charset="0"/>
                          <a:cs typeface="+mn-cs"/>
                        </a:rPr>
                        <a:t>ASAT </a:t>
                      </a:r>
                      <a:endParaRPr lang="fr-FR" sz="2800" b="1" dirty="0">
                        <a:solidFill>
                          <a:schemeClr val="bg1"/>
                        </a:solidFill>
                      </a:endParaRPr>
                    </a:p>
                  </a:txBody>
                  <a:tcPr/>
                </a:tc>
                <a:tc>
                  <a:txBody>
                    <a:bodyPr/>
                    <a:lstStyle/>
                    <a:p>
                      <a:r>
                        <a:rPr lang="fr-FR" sz="2800" dirty="0"/>
                        <a:t>ALAT </a:t>
                      </a:r>
                    </a:p>
                  </a:txBody>
                  <a:tcPr/>
                </a:tc>
                <a:extLst>
                  <a:ext uri="{0D108BD9-81ED-4DB2-BD59-A6C34878D82A}">
                    <a16:rowId xmlns="" xmlns:a16="http://schemas.microsoft.com/office/drawing/2014/main" val="2117030450"/>
                  </a:ext>
                </a:extLst>
              </a:tr>
              <a:tr h="747986">
                <a:tc>
                  <a:txBody>
                    <a:bodyPr/>
                    <a:lstStyle/>
                    <a:p>
                      <a:r>
                        <a:rPr lang="fr-FR" sz="2800" dirty="0"/>
                        <a:t>Enfant</a:t>
                      </a:r>
                    </a:p>
                  </a:txBody>
                  <a:tcPr/>
                </a:tc>
                <a:tc>
                  <a:txBody>
                    <a:bodyPr/>
                    <a:lstStyle/>
                    <a:p>
                      <a:r>
                        <a:rPr lang="fr-FR" sz="2800" dirty="0"/>
                        <a:t>21-50 UI/L </a:t>
                      </a:r>
                    </a:p>
                  </a:txBody>
                  <a:tcPr/>
                </a:tc>
                <a:tc>
                  <a:txBody>
                    <a:bodyPr/>
                    <a:lstStyle/>
                    <a:p>
                      <a:r>
                        <a:rPr lang="fr-FR" sz="2800" dirty="0"/>
                        <a:t>8-34 UI/L</a:t>
                      </a:r>
                    </a:p>
                  </a:txBody>
                  <a:tcPr/>
                </a:tc>
                <a:extLst>
                  <a:ext uri="{0D108BD9-81ED-4DB2-BD59-A6C34878D82A}">
                    <a16:rowId xmlns="" xmlns:a16="http://schemas.microsoft.com/office/drawing/2014/main" val="2165743951"/>
                  </a:ext>
                </a:extLst>
              </a:tr>
              <a:tr h="747986">
                <a:tc>
                  <a:txBody>
                    <a:bodyPr/>
                    <a:lstStyle/>
                    <a:p>
                      <a:r>
                        <a:rPr lang="fr-FR" sz="2800" dirty="0"/>
                        <a:t>Femme</a:t>
                      </a:r>
                    </a:p>
                  </a:txBody>
                  <a:tcPr/>
                </a:tc>
                <a:tc>
                  <a:txBody>
                    <a:bodyPr/>
                    <a:lstStyle/>
                    <a:p>
                      <a:r>
                        <a:rPr lang="fr-FR" sz="2800" dirty="0"/>
                        <a:t>11-38 UI/L </a:t>
                      </a:r>
                    </a:p>
                  </a:txBody>
                  <a:tcPr/>
                </a:tc>
                <a:tc>
                  <a:txBody>
                    <a:bodyPr/>
                    <a:lstStyle/>
                    <a:p>
                      <a:r>
                        <a:rPr lang="fr-FR" sz="2800" dirty="0"/>
                        <a:t>7-45 UI/L</a:t>
                      </a:r>
                    </a:p>
                  </a:txBody>
                  <a:tcPr/>
                </a:tc>
                <a:extLst>
                  <a:ext uri="{0D108BD9-81ED-4DB2-BD59-A6C34878D82A}">
                    <a16:rowId xmlns="" xmlns:a16="http://schemas.microsoft.com/office/drawing/2014/main" val="2205405862"/>
                  </a:ext>
                </a:extLst>
              </a:tr>
              <a:tr h="747986">
                <a:tc>
                  <a:txBody>
                    <a:bodyPr/>
                    <a:lstStyle/>
                    <a:p>
                      <a:r>
                        <a:rPr lang="fr-FR" sz="2800" dirty="0"/>
                        <a:t>Homme</a:t>
                      </a:r>
                    </a:p>
                  </a:txBody>
                  <a:tcPr/>
                </a:tc>
                <a:tc>
                  <a:txBody>
                    <a:bodyPr/>
                    <a:lstStyle/>
                    <a:p>
                      <a:r>
                        <a:rPr lang="fr-FR" sz="2800" dirty="0"/>
                        <a:t>12-47 UI/L </a:t>
                      </a:r>
                    </a:p>
                  </a:txBody>
                  <a:tcPr/>
                </a:tc>
                <a:tc>
                  <a:txBody>
                    <a:bodyPr/>
                    <a:lstStyle/>
                    <a:p>
                      <a:r>
                        <a:rPr lang="fr-FR" sz="2800" dirty="0"/>
                        <a:t>11-65 UI/L</a:t>
                      </a:r>
                    </a:p>
                  </a:txBody>
                  <a:tcPr/>
                </a:tc>
                <a:extLst>
                  <a:ext uri="{0D108BD9-81ED-4DB2-BD59-A6C34878D82A}">
                    <a16:rowId xmlns="" xmlns:a16="http://schemas.microsoft.com/office/drawing/2014/main" val="152634213"/>
                  </a:ext>
                </a:extLst>
              </a:tr>
            </a:tbl>
          </a:graphicData>
        </a:graphic>
      </p:graphicFrame>
      <p:sp>
        <p:nvSpPr>
          <p:cNvPr id="5" name="ZoneTexte 4"/>
          <p:cNvSpPr txBox="1"/>
          <p:nvPr/>
        </p:nvSpPr>
        <p:spPr>
          <a:xfrm>
            <a:off x="4217437" y="5592869"/>
            <a:ext cx="4795934" cy="369332"/>
          </a:xfrm>
          <a:prstGeom prst="rect">
            <a:avLst/>
          </a:prstGeom>
          <a:noFill/>
        </p:spPr>
        <p:txBody>
          <a:bodyPr wrap="square" rtlCol="0">
            <a:spAutoFit/>
          </a:bodyPr>
          <a:lstStyle/>
          <a:p>
            <a:r>
              <a:rPr lang="fr-FR" dirty="0" smtClean="0"/>
              <a:t>De EMC du biologie</a:t>
            </a:r>
            <a:endParaRPr lang="fr-FR" dirty="0"/>
          </a:p>
        </p:txBody>
      </p:sp>
    </p:spTree>
    <p:extLst>
      <p:ext uri="{BB962C8B-B14F-4D97-AF65-F5344CB8AC3E}">
        <p14:creationId xmlns:p14="http://schemas.microsoft.com/office/powerpoint/2010/main" val="1393185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0" y="442224"/>
            <a:ext cx="9089518" cy="1320800"/>
          </a:xfrm>
        </p:spPr>
        <p:txBody>
          <a:bodyPr>
            <a:normAutofit/>
          </a:bodyPr>
          <a:lstStyle/>
          <a:p>
            <a:r>
              <a:rPr lang="fr-FR" b="1" dirty="0"/>
              <a:t>1-</a:t>
            </a:r>
            <a:r>
              <a:rPr lang="fr-FR" dirty="0"/>
              <a:t> </a:t>
            </a:r>
            <a:r>
              <a:rPr lang="fr-FR" b="1" dirty="0"/>
              <a:t>AMINOTRANSFERASES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246424" y="1214688"/>
            <a:ext cx="9700009" cy="5643311"/>
          </a:xfrm>
          <a:ln>
            <a:noFill/>
          </a:ln>
        </p:spPr>
        <p:txBody>
          <a:bodyPr>
            <a:normAutofit lnSpcReduction="10000"/>
          </a:bodyPr>
          <a:lstStyle/>
          <a:p>
            <a:pPr>
              <a:buFont typeface="Wingdings" panose="05000000000000000000" pitchFamily="2" charset="2"/>
              <a:buChar char="q"/>
            </a:pPr>
            <a:r>
              <a:rPr lang="fr-FR" sz="3200" b="1" u="sng" dirty="0">
                <a:solidFill>
                  <a:schemeClr val="accent2"/>
                </a:solidFill>
              </a:rPr>
              <a:t>Variations physiologiques</a:t>
            </a:r>
            <a:endParaRPr lang="fr-FR" sz="3200" dirty="0">
              <a:solidFill>
                <a:schemeClr val="accent2"/>
              </a:solidFill>
            </a:endParaRPr>
          </a:p>
          <a:p>
            <a:pPr lvl="1">
              <a:buFont typeface="Arial" panose="020B0604020202020204" pitchFamily="34" charset="0"/>
              <a:buChar char="•"/>
            </a:pPr>
            <a:r>
              <a:rPr lang="fr-FR" sz="3200" dirty="0"/>
              <a:t>Effort physique intense</a:t>
            </a:r>
            <a:r>
              <a:rPr lang="fr-FR" sz="3200" dirty="0">
                <a:solidFill>
                  <a:prstClr val="black">
                    <a:lumMod val="75000"/>
                    <a:lumOff val="25000"/>
                  </a:prstClr>
                </a:solidFill>
              </a:rPr>
              <a:t>              </a:t>
            </a:r>
          </a:p>
          <a:p>
            <a:pPr lvl="1">
              <a:buFont typeface="Arial" panose="020B0604020202020204" pitchFamily="34" charset="0"/>
              <a:buChar char="•"/>
            </a:pPr>
            <a:r>
              <a:rPr lang="fr-FR" sz="3200" dirty="0"/>
              <a:t>Âge </a:t>
            </a:r>
            <a:r>
              <a:rPr lang="fr-FR" sz="3200" dirty="0" smtClean="0"/>
              <a:t>(en perd la masse musculaire =&gt; donc la lyse)</a:t>
            </a:r>
            <a:endParaRPr lang="fr-FR" sz="3200" dirty="0"/>
          </a:p>
          <a:p>
            <a:pPr lvl="1">
              <a:buFont typeface="Arial" panose="020B0604020202020204" pitchFamily="34" charset="0"/>
              <a:buChar char="•"/>
            </a:pPr>
            <a:r>
              <a:rPr lang="fr-FR" sz="3200" dirty="0"/>
              <a:t>Poids (obésité</a:t>
            </a:r>
            <a:r>
              <a:rPr lang="fr-FR" sz="3200" dirty="0" smtClean="0"/>
              <a:t>)(dans le syndrome métabolique (le foie)) </a:t>
            </a:r>
            <a:endParaRPr lang="fr-FR" sz="3200" dirty="0"/>
          </a:p>
          <a:p>
            <a:pPr lvl="1">
              <a:buFont typeface="Arial" panose="020B0604020202020204" pitchFamily="34" charset="0"/>
              <a:buChar char="•"/>
            </a:pPr>
            <a:r>
              <a:rPr lang="fr-FR" sz="3200" dirty="0"/>
              <a:t>La prise d’alcool  ↑ALAT  </a:t>
            </a:r>
            <a:r>
              <a:rPr lang="fr-FR" sz="3200" dirty="0">
                <a:solidFill>
                  <a:prstClr val="black">
                    <a:lumMod val="75000"/>
                    <a:lumOff val="25000"/>
                  </a:prstClr>
                </a:solidFill>
              </a:rPr>
              <a:t>↑↑↑ ASAT</a:t>
            </a:r>
            <a:r>
              <a:rPr lang="fr-FR" sz="3200" dirty="0">
                <a:solidFill>
                  <a:schemeClr val="tx2"/>
                </a:solidFill>
              </a:rPr>
              <a:t>  </a:t>
            </a:r>
            <a:endParaRPr lang="fr-FR" sz="3200" dirty="0"/>
          </a:p>
          <a:p>
            <a:pPr lvl="1">
              <a:buFont typeface="Arial" panose="020B0604020202020204" pitchFamily="34" charset="0"/>
              <a:buChar char="•"/>
            </a:pPr>
            <a:r>
              <a:rPr lang="fr-FR" sz="3200" dirty="0"/>
              <a:t>Déficit vit B6  ↓ </a:t>
            </a:r>
            <a:r>
              <a:rPr lang="fr-FR" sz="3200" dirty="0" smtClean="0"/>
              <a:t>transaminases (les deux)</a:t>
            </a:r>
            <a:endParaRPr lang="fr-FR" sz="3200" dirty="0"/>
          </a:p>
          <a:p>
            <a:pPr lvl="1">
              <a:buFont typeface="Arial" panose="020B0604020202020204" pitchFamily="34" charset="0"/>
              <a:buChar char="•"/>
            </a:pPr>
            <a:r>
              <a:rPr lang="fr-FR" sz="3200" dirty="0"/>
              <a:t>Les transaminases ne </a:t>
            </a:r>
            <a:r>
              <a:rPr lang="fr-FR" sz="3200" dirty="0" smtClean="0">
                <a:latin typeface="Abadi Extra Light" panose="020B0204020104020204" pitchFamily="34" charset="0"/>
              </a:rPr>
              <a:t>varie</a:t>
            </a:r>
            <a:r>
              <a:rPr lang="fr-FR" sz="3200" dirty="0" smtClean="0"/>
              <a:t> </a:t>
            </a:r>
            <a:r>
              <a:rPr lang="fr-FR" sz="3200" dirty="0"/>
              <a:t>pas </a:t>
            </a:r>
            <a:r>
              <a:rPr lang="fr-FR" sz="3200" dirty="0" smtClean="0"/>
              <a:t>dans la Grossesse</a:t>
            </a:r>
            <a:endParaRPr lang="fr-FR" sz="3200" dirty="0"/>
          </a:p>
          <a:p>
            <a:pPr lvl="1">
              <a:buFont typeface="Arial" panose="020B0604020202020204" pitchFamily="34" charset="0"/>
              <a:buChar char="•"/>
            </a:pPr>
            <a:endParaRPr lang="fr-FR" sz="3200" dirty="0"/>
          </a:p>
          <a:p>
            <a:endParaRPr lang="fr-FR" dirty="0"/>
          </a:p>
        </p:txBody>
      </p:sp>
      <p:sp>
        <p:nvSpPr>
          <p:cNvPr id="4" name="Accolade fermante 3">
            <a:extLst>
              <a:ext uri="{FF2B5EF4-FFF2-40B4-BE49-F238E27FC236}">
                <a16:creationId xmlns="" xmlns:a16="http://schemas.microsoft.com/office/drawing/2014/main" id="{DB3B6200-5271-422A-B1E5-7348BA31D6D9}"/>
              </a:ext>
            </a:extLst>
          </p:cNvPr>
          <p:cNvSpPr/>
          <p:nvPr/>
        </p:nvSpPr>
        <p:spPr>
          <a:xfrm>
            <a:off x="8822488" y="1494265"/>
            <a:ext cx="1026908" cy="2082446"/>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 name="Rectangle 4">
            <a:extLst>
              <a:ext uri="{FF2B5EF4-FFF2-40B4-BE49-F238E27FC236}">
                <a16:creationId xmlns="" xmlns:a16="http://schemas.microsoft.com/office/drawing/2014/main" id="{13548817-E083-4E98-9D25-3FBE3E060DA7}"/>
              </a:ext>
            </a:extLst>
          </p:cNvPr>
          <p:cNvSpPr/>
          <p:nvPr/>
        </p:nvSpPr>
        <p:spPr>
          <a:xfrm>
            <a:off x="9840686" y="1920349"/>
            <a:ext cx="4099249" cy="12302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smtClean="0">
                <a:solidFill>
                  <a:prstClr val="black">
                    <a:lumMod val="75000"/>
                    <a:lumOff val="25000"/>
                  </a:prstClr>
                </a:solidFill>
              </a:rPr>
              <a:t>Tout sont influencée mais Surtt ↑</a:t>
            </a:r>
            <a:r>
              <a:rPr lang="fr-FR" sz="3200" dirty="0">
                <a:solidFill>
                  <a:prstClr val="black">
                    <a:lumMod val="75000"/>
                    <a:lumOff val="25000"/>
                  </a:prstClr>
                </a:solidFill>
              </a:rPr>
              <a:t>ASAT</a:t>
            </a:r>
            <a:r>
              <a:rPr lang="fr-FR" dirty="0">
                <a:solidFill>
                  <a:schemeClr val="tx2"/>
                </a:solidFill>
              </a:rPr>
              <a:t>  </a:t>
            </a:r>
          </a:p>
        </p:txBody>
      </p:sp>
    </p:spTree>
    <p:extLst>
      <p:ext uri="{BB962C8B-B14F-4D97-AF65-F5344CB8AC3E}">
        <p14:creationId xmlns:p14="http://schemas.microsoft.com/office/powerpoint/2010/main" val="312382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0" y="0"/>
            <a:ext cx="12559004" cy="3365712"/>
          </a:xfrm>
        </p:spPr>
        <p:txBody>
          <a:bodyPr>
            <a:normAutofit fontScale="92500"/>
          </a:bodyPr>
          <a:lstStyle/>
          <a:p>
            <a:endParaRPr lang="fr-FR" sz="2000" dirty="0">
              <a:latin typeface="Times New Roman" panose="02020603050405020304" pitchFamily="18" charset="0"/>
              <a:ea typeface="Times New Roman" panose="02020603050405020304" pitchFamily="18" charset="0"/>
            </a:endParaRPr>
          </a:p>
          <a:p>
            <a:pPr lvl="0">
              <a:buClr>
                <a:srgbClr val="90C226"/>
              </a:buClr>
              <a:buFont typeface="Wingdings" panose="05000000000000000000" pitchFamily="2" charset="2"/>
              <a:buChar char=""/>
            </a:pPr>
            <a:r>
              <a:rPr lang="fr-FR" sz="2800" dirty="0">
                <a:solidFill>
                  <a:schemeClr val="tx1"/>
                </a:solidFill>
                <a:latin typeface="Times New Roman" panose="02020603050405020304" pitchFamily="18" charset="0"/>
                <a:ea typeface="Times New Roman" panose="02020603050405020304" pitchFamily="18" charset="0"/>
              </a:rPr>
              <a:t>Hémolyse </a:t>
            </a:r>
            <a:r>
              <a:rPr lang="fr-FR" sz="2800" dirty="0" smtClean="0">
                <a:solidFill>
                  <a:schemeClr val="tx1"/>
                </a:solidFill>
                <a:latin typeface="Times New Roman" panose="02020603050405020304" pitchFamily="18" charset="0"/>
                <a:ea typeface="Times New Roman" panose="02020603050405020304" pitchFamily="18" charset="0"/>
              </a:rPr>
              <a:t>in vitro </a:t>
            </a:r>
            <a:r>
              <a:rPr lang="fr-FR" sz="28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2800" dirty="0" smtClean="0">
                <a:solidFill>
                  <a:schemeClr val="tx1"/>
                </a:solidFill>
                <a:latin typeface="Times New Roman" panose="02020603050405020304" pitchFamily="18" charset="0"/>
                <a:ea typeface="Times New Roman" panose="02020603050405020304" pitchFamily="18" charset="0"/>
              </a:rPr>
              <a:t>ASAT =&gt;c’est après le prélèvent un risque de destruction </a:t>
            </a:r>
            <a:r>
              <a:rPr lang="fr-FR" sz="2800" dirty="0">
                <a:solidFill>
                  <a:schemeClr val="tx1"/>
                </a:solidFill>
                <a:latin typeface="Times New Roman" panose="02020603050405020304" pitchFamily="18" charset="0"/>
                <a:ea typeface="Times New Roman" panose="02020603050405020304" pitchFamily="18" charset="0"/>
              </a:rPr>
              <a:t>des hématies </a:t>
            </a:r>
            <a:r>
              <a:rPr lang="fr-FR" sz="2800" dirty="0" smtClean="0">
                <a:solidFill>
                  <a:schemeClr val="tx1"/>
                </a:solidFill>
                <a:latin typeface="Times New Roman" panose="02020603050405020304" pitchFamily="18" charset="0"/>
                <a:ea typeface="Times New Roman" panose="02020603050405020304" pitchFamily="18" charset="0"/>
              </a:rPr>
              <a:t>(</a:t>
            </a:r>
            <a:r>
              <a:rPr lang="fr-FR" sz="2800" dirty="0">
                <a:solidFill>
                  <a:schemeClr val="tx1"/>
                </a:solidFill>
                <a:latin typeface="Times New Roman" panose="02020603050405020304" pitchFamily="18" charset="0"/>
                <a:ea typeface="Times New Roman" panose="02020603050405020304" pitchFamily="18" charset="0"/>
              </a:rPr>
              <a:t>GR) </a:t>
            </a:r>
            <a:r>
              <a:rPr lang="fr-FR" sz="2800" dirty="0" smtClean="0">
                <a:solidFill>
                  <a:schemeClr val="tx1"/>
                </a:solidFill>
                <a:latin typeface="Times New Roman" panose="02020603050405020304" pitchFamily="18" charset="0"/>
                <a:ea typeface="Times New Roman" panose="02020603050405020304" pitchFamily="18" charset="0"/>
              </a:rPr>
              <a:t>dans les tubes donc va libérer les enzymes notamment l’ASAT</a:t>
            </a:r>
          </a:p>
          <a:p>
            <a:pPr lvl="0">
              <a:buClr>
                <a:srgbClr val="90C226"/>
              </a:buClr>
              <a:buFont typeface="Wingdings" panose="05000000000000000000" pitchFamily="2" charset="2"/>
              <a:buChar char=""/>
            </a:pPr>
            <a:r>
              <a:rPr lang="fr-FR" sz="2800" dirty="0" smtClean="0">
                <a:solidFill>
                  <a:schemeClr val="tx1"/>
                </a:solidFill>
                <a:latin typeface="Times New Roman" panose="02020603050405020304" pitchFamily="18" charset="0"/>
                <a:ea typeface="Times New Roman" panose="02020603050405020304" pitchFamily="18" charset="0"/>
              </a:rPr>
              <a:t>Les causes=&gt; le garrot </a:t>
            </a:r>
            <a:r>
              <a:rPr lang="fr-FR" sz="2800" dirty="0">
                <a:solidFill>
                  <a:schemeClr val="tx1"/>
                </a:solidFill>
                <a:latin typeface="Times New Roman" panose="02020603050405020304" pitchFamily="18" charset="0"/>
                <a:ea typeface="Times New Roman" panose="02020603050405020304" pitchFamily="18" charset="0"/>
              </a:rPr>
              <a:t>prolonger/ aiguille </a:t>
            </a:r>
            <a:r>
              <a:rPr lang="fr-FR" sz="2800" dirty="0" smtClean="0">
                <a:solidFill>
                  <a:schemeClr val="tx1"/>
                </a:solidFill>
                <a:latin typeface="Times New Roman" panose="02020603050405020304" pitchFamily="18" charset="0"/>
                <a:ea typeface="Times New Roman" panose="02020603050405020304" pitchFamily="18" charset="0"/>
              </a:rPr>
              <a:t>de petit calibre/agitation/le type de transport</a:t>
            </a:r>
          </a:p>
          <a:p>
            <a:pPr lvl="0">
              <a:buClr>
                <a:srgbClr val="90C226"/>
              </a:buClr>
              <a:buFont typeface="Wingdings" panose="05000000000000000000" pitchFamily="2" charset="2"/>
              <a:buChar char=""/>
            </a:pPr>
            <a:r>
              <a:rPr lang="fr-FR" sz="2800" dirty="0" smtClean="0">
                <a:solidFill>
                  <a:schemeClr val="tx1"/>
                </a:solidFill>
                <a:latin typeface="Times New Roman" panose="02020603050405020304" pitchFamily="18" charset="0"/>
                <a:ea typeface="Times New Roman" panose="02020603050405020304" pitchFamily="18" charset="0"/>
              </a:rPr>
              <a:t>Et pour le connaitre si y a un lyse ou pas par le l’aspect du tube (après un centrifuge)  l’aspect normal=&gt;jaune citrine /dans Hémolyse in vitro=&gt;va commencer en rosée (claire puis foncée) puis devient rouge=&gt;dans ce cas en refaire le dosage</a:t>
            </a:r>
            <a:endParaRPr lang="fr-FR" sz="2800" dirty="0">
              <a:solidFill>
                <a:schemeClr val="tx1"/>
              </a:solidFill>
              <a:latin typeface="Times New Roman" panose="02020603050405020304" pitchFamily="18" charset="0"/>
              <a:ea typeface="Times New Roman" panose="02020603050405020304" pitchFamily="18" charset="0"/>
            </a:endParaRPr>
          </a:p>
          <a:p>
            <a:endParaRPr lang="fr-FR" dirty="0"/>
          </a:p>
        </p:txBody>
      </p:sp>
      <p:pic>
        <p:nvPicPr>
          <p:cNvPr id="4" name="Picture 6">
            <a:extLst>
              <a:ext uri="{FF2B5EF4-FFF2-40B4-BE49-F238E27FC236}">
                <a16:creationId xmlns="" xmlns:a16="http://schemas.microsoft.com/office/drawing/2014/main" id="{22189BD9-F598-4789-AD7E-EE6E2BB69E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4778" y="4127924"/>
            <a:ext cx="8750969" cy="273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riangle isocèle 4">
            <a:extLst>
              <a:ext uri="{FF2B5EF4-FFF2-40B4-BE49-F238E27FC236}">
                <a16:creationId xmlns="" xmlns:a16="http://schemas.microsoft.com/office/drawing/2014/main" id="{719584E6-77DB-43DA-9AA8-BFF1B8BC3C9C}"/>
              </a:ext>
            </a:extLst>
          </p:cNvPr>
          <p:cNvSpPr/>
          <p:nvPr/>
        </p:nvSpPr>
        <p:spPr>
          <a:xfrm>
            <a:off x="0" y="4127924"/>
            <a:ext cx="3344779" cy="2730076"/>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2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Hémolyse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2800" b="0" i="0" u="none" strike="noStrike" kern="1200" cap="none" spc="0" normalizeH="0" baseline="0" noProof="0" dirty="0" smtClean="0">
                <a:ln>
                  <a:noFill/>
                </a:ln>
                <a:solidFill>
                  <a:prstClr val="black"/>
                </a:solidFill>
                <a:effectLst/>
                <a:uLnTx/>
                <a:uFillTx/>
                <a:latin typeface="Times New Roman" panose="02020603050405020304" pitchFamily="18" charset="0"/>
                <a:ea typeface="Times New Roman" panose="02020603050405020304" pitchFamily="18" charset="0"/>
                <a:cs typeface="+mn-cs"/>
              </a:rPr>
              <a:t>In vitro</a:t>
            </a:r>
            <a:endParaRPr kumimoji="0" lang="fr-FR" sz="2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Trebuchet MS" panose="020B0603020202020204"/>
                <a:ea typeface="+mn-ea"/>
                <a:cs typeface="+mn-cs"/>
              </a:rPr>
              <a:t>↑ Enz </a:t>
            </a:r>
          </a:p>
        </p:txBody>
      </p:sp>
      <p:sp>
        <p:nvSpPr>
          <p:cNvPr id="2" name="ZoneTexte 1"/>
          <p:cNvSpPr txBox="1"/>
          <p:nvPr/>
        </p:nvSpPr>
        <p:spPr>
          <a:xfrm>
            <a:off x="4191082" y="-181225"/>
            <a:ext cx="3713584" cy="830997"/>
          </a:xfrm>
          <a:prstGeom prst="rect">
            <a:avLst/>
          </a:prstGeom>
          <a:noFill/>
        </p:spPr>
        <p:txBody>
          <a:bodyPr wrap="square" rtlCol="0">
            <a:spAutoFit/>
          </a:bodyPr>
          <a:lstStyle/>
          <a:p>
            <a:r>
              <a:rPr lang="fr-FR" sz="4800" dirty="0" smtClean="0">
                <a:solidFill>
                  <a:srgbClr val="FF0000"/>
                </a:solidFill>
              </a:rPr>
              <a:t>Attention</a:t>
            </a:r>
            <a:r>
              <a:rPr lang="fr-FR" sz="4800" dirty="0" smtClean="0"/>
              <a:t> </a:t>
            </a:r>
            <a:r>
              <a:rPr lang="fr-FR" sz="4800" dirty="0" smtClean="0">
                <a:solidFill>
                  <a:srgbClr val="FF0000"/>
                </a:solidFill>
              </a:rPr>
              <a:t>:</a:t>
            </a:r>
            <a:endParaRPr lang="fr-FR" sz="4800" dirty="0">
              <a:solidFill>
                <a:srgbClr val="FF0000"/>
              </a:solidFill>
            </a:endParaRPr>
          </a:p>
        </p:txBody>
      </p:sp>
    </p:spTree>
    <p:extLst>
      <p:ext uri="{BB962C8B-B14F-4D97-AF65-F5344CB8AC3E}">
        <p14:creationId xmlns:p14="http://schemas.microsoft.com/office/powerpoint/2010/main" val="391082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677334" y="609600"/>
            <a:ext cx="9089518" cy="1320800"/>
          </a:xfrm>
        </p:spPr>
        <p:txBody>
          <a:bodyPr>
            <a:normAutofit/>
          </a:bodyPr>
          <a:lstStyle/>
          <a:p>
            <a:r>
              <a:rPr lang="fr-FR" b="1" dirty="0"/>
              <a:t>1-</a:t>
            </a:r>
            <a:r>
              <a:rPr lang="fr-FR" dirty="0"/>
              <a:t> </a:t>
            </a:r>
            <a:r>
              <a:rPr lang="fr-FR" b="1" dirty="0"/>
              <a:t>AMINOTRANSFERASES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677334" y="1603717"/>
            <a:ext cx="8452598" cy="4437645"/>
          </a:xfrm>
        </p:spPr>
        <p:txBody>
          <a:bodyPr>
            <a:normAutofit fontScale="32500" lnSpcReduction="20000"/>
          </a:bodyPr>
          <a:lstStyle/>
          <a:p>
            <a:pPr>
              <a:buFont typeface="Wingdings" panose="05000000000000000000" pitchFamily="2" charset="2"/>
              <a:buChar char="q"/>
            </a:pPr>
            <a:r>
              <a:rPr lang="fr-FR" sz="10000" b="1" u="sng" dirty="0">
                <a:solidFill>
                  <a:schemeClr val="accent2"/>
                </a:solidFill>
              </a:rPr>
              <a:t>Variations pathologiques</a:t>
            </a:r>
            <a:endParaRPr lang="fr-FR" sz="10000" dirty="0">
              <a:solidFill>
                <a:schemeClr val="accent2"/>
              </a:solidFill>
            </a:endParaRPr>
          </a:p>
          <a:p>
            <a:pPr lvl="1">
              <a:buFont typeface="Wingdings" panose="05000000000000000000" pitchFamily="2" charset="2"/>
              <a:buChar char="Ø"/>
            </a:pPr>
            <a:r>
              <a:rPr lang="fr-FR" sz="9800" b="1" dirty="0">
                <a:solidFill>
                  <a:schemeClr val="accent2"/>
                </a:solidFill>
                <a:latin typeface="Abadi Extra Light" panose="020B0204020104020204" pitchFamily="34" charset="0"/>
              </a:rPr>
              <a:t>   </a:t>
            </a:r>
            <a:r>
              <a:rPr lang="fr-FR" sz="9800" b="1" u="sng" dirty="0">
                <a:solidFill>
                  <a:schemeClr val="accent2"/>
                </a:solidFill>
                <a:latin typeface="Abadi Extra Light" panose="020B0204020104020204" pitchFamily="34" charset="0"/>
              </a:rPr>
              <a:t>↑T</a:t>
            </a:r>
            <a:r>
              <a:rPr lang="fr-FR" sz="9800" b="1" u="sng" dirty="0">
                <a:solidFill>
                  <a:schemeClr val="accent2"/>
                </a:solidFill>
              </a:rPr>
              <a:t>ransaminases</a:t>
            </a:r>
          </a:p>
          <a:p>
            <a:pPr marL="0" indent="0">
              <a:buNone/>
            </a:pPr>
            <a:endParaRPr lang="fr-FR" sz="10000" b="1" u="sng" dirty="0">
              <a:solidFill>
                <a:schemeClr val="accent2"/>
              </a:solidFill>
            </a:endParaRPr>
          </a:p>
          <a:p>
            <a:pPr marL="800100" lvl="2" indent="0">
              <a:buNone/>
            </a:pPr>
            <a:r>
              <a:rPr lang="fr-FR" sz="9400" b="1" i="1" dirty="0"/>
              <a:t>    </a:t>
            </a:r>
            <a:r>
              <a:rPr lang="fr-FR" sz="9400" i="1" dirty="0"/>
              <a:t>A-Affections hépatiques</a:t>
            </a:r>
            <a:endParaRPr lang="fr-FR" sz="9400" dirty="0"/>
          </a:p>
          <a:p>
            <a:pPr marL="800100" lvl="2" indent="0">
              <a:buNone/>
            </a:pPr>
            <a:r>
              <a:rPr lang="fr-FR" sz="9400" i="1" dirty="0"/>
              <a:t>    B-Affections cardiaques</a:t>
            </a:r>
            <a:endParaRPr lang="fr-FR" sz="9400" dirty="0"/>
          </a:p>
          <a:p>
            <a:pPr marL="800100" lvl="2" indent="0">
              <a:buNone/>
            </a:pPr>
            <a:r>
              <a:rPr lang="fr-FR" sz="9400" i="1" dirty="0"/>
              <a:t>    C-Affections musculaires</a:t>
            </a:r>
            <a:endParaRPr lang="fr-FR" sz="9400" dirty="0"/>
          </a:p>
          <a:p>
            <a:pPr marL="800100" lvl="2" indent="0">
              <a:buNone/>
            </a:pPr>
            <a:r>
              <a:rPr lang="fr-FR" sz="9400" i="1" dirty="0"/>
              <a:t>    D-Autres affections  </a:t>
            </a:r>
            <a:endParaRPr lang="fr-FR" sz="9400" dirty="0"/>
          </a:p>
          <a:p>
            <a:pPr marL="800100" lvl="2" indent="0">
              <a:buNone/>
            </a:pPr>
            <a:r>
              <a:rPr lang="fr-FR" sz="9400" dirty="0"/>
              <a:t> </a:t>
            </a:r>
          </a:p>
          <a:p>
            <a:endParaRPr lang="fr-FR" dirty="0"/>
          </a:p>
        </p:txBody>
      </p:sp>
    </p:spTree>
    <p:extLst>
      <p:ext uri="{BB962C8B-B14F-4D97-AF65-F5344CB8AC3E}">
        <p14:creationId xmlns:p14="http://schemas.microsoft.com/office/powerpoint/2010/main" val="226012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0" y="117230"/>
            <a:ext cx="9089518" cy="1320800"/>
          </a:xfrm>
        </p:spPr>
        <p:txBody>
          <a:bodyPr>
            <a:normAutofit/>
          </a:bodyPr>
          <a:lstStyle/>
          <a:p>
            <a:r>
              <a:rPr lang="fr-FR" b="1" dirty="0"/>
              <a:t>1-</a:t>
            </a:r>
            <a:r>
              <a:rPr lang="fr-FR" dirty="0"/>
              <a:t> </a:t>
            </a:r>
            <a:r>
              <a:rPr lang="fr-FR" b="1" dirty="0"/>
              <a:t>AMINO 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0" y="604603"/>
            <a:ext cx="11697547" cy="6041362"/>
          </a:xfrm>
        </p:spPr>
        <p:txBody>
          <a:bodyPr>
            <a:normAutofit fontScale="92500" lnSpcReduction="10000"/>
          </a:bodyPr>
          <a:lstStyle/>
          <a:p>
            <a:pPr lvl="0">
              <a:buClr>
                <a:srgbClr val="90C226"/>
              </a:buClr>
              <a:buFont typeface="Wingdings" panose="05000000000000000000" pitchFamily="2" charset="2"/>
              <a:buChar char="q"/>
            </a:pPr>
            <a:r>
              <a:rPr lang="fr-FR" sz="3300" b="1" u="sng" dirty="0">
                <a:solidFill>
                  <a:srgbClr val="54A021"/>
                </a:solidFill>
              </a:rPr>
              <a:t>Variations pathologiques</a:t>
            </a:r>
            <a:endParaRPr lang="fr-FR" sz="3300" dirty="0">
              <a:solidFill>
                <a:srgbClr val="54A021"/>
              </a:solidFill>
            </a:endParaRPr>
          </a:p>
          <a:p>
            <a:pPr lvl="1">
              <a:buClr>
                <a:srgbClr val="90C226"/>
              </a:buClr>
              <a:buFont typeface="Wingdings" panose="05000000000000000000" pitchFamily="2" charset="2"/>
              <a:buChar char="Ø"/>
            </a:pPr>
            <a:r>
              <a:rPr lang="fr-FR" sz="3200" b="1" dirty="0">
                <a:solidFill>
                  <a:srgbClr val="54A021"/>
                </a:solidFill>
                <a:latin typeface="Abadi Extra Light" panose="020B0204020104020204" pitchFamily="34" charset="0"/>
              </a:rPr>
              <a:t>   </a:t>
            </a:r>
            <a:r>
              <a:rPr lang="fr-FR" sz="3200" b="1" u="sng" dirty="0">
                <a:solidFill>
                  <a:srgbClr val="54A021"/>
                </a:solidFill>
                <a:latin typeface="Abadi Extra Light" panose="020B0204020104020204" pitchFamily="34" charset="0"/>
              </a:rPr>
              <a:t>↑T</a:t>
            </a:r>
            <a:r>
              <a:rPr lang="fr-FR" sz="3200" b="1" u="sng" dirty="0">
                <a:solidFill>
                  <a:srgbClr val="54A021"/>
                </a:solidFill>
              </a:rPr>
              <a:t>ransaminases</a:t>
            </a:r>
            <a:endParaRPr lang="fr-FR" sz="3300" b="1" u="sng" dirty="0">
              <a:solidFill>
                <a:srgbClr val="54A021"/>
              </a:solidFill>
            </a:endParaRPr>
          </a:p>
          <a:p>
            <a:pPr marL="800100" lvl="2" indent="0">
              <a:buClr>
                <a:srgbClr val="90C226"/>
              </a:buClr>
              <a:buNone/>
            </a:pPr>
            <a:r>
              <a:rPr lang="fr-FR" sz="2800" b="1" i="1" dirty="0">
                <a:solidFill>
                  <a:prstClr val="black">
                    <a:lumMod val="75000"/>
                    <a:lumOff val="25000"/>
                  </a:prstClr>
                </a:solidFill>
              </a:rPr>
              <a:t>    A-Affections hépatiques</a:t>
            </a:r>
          </a:p>
          <a:p>
            <a:pPr lvl="4"/>
            <a:r>
              <a:rPr lang="fr-FR" sz="2800" dirty="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2800" dirty="0">
                <a:solidFill>
                  <a:prstClr val="black">
                    <a:lumMod val="75000"/>
                    <a:lumOff val="25000"/>
                  </a:prstClr>
                </a:solidFill>
                <a:latin typeface="Times New Roman" panose="02020603050405020304" pitchFamily="18" charset="0"/>
                <a:ea typeface="Times New Roman" panose="02020603050405020304" pitchFamily="18" charset="0"/>
              </a:rPr>
              <a:t>ALAT concomitante</a:t>
            </a:r>
            <a:r>
              <a:rPr lang="fr-FR" sz="2800" dirty="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2800" dirty="0">
                <a:solidFill>
                  <a:prstClr val="black">
                    <a:lumMod val="75000"/>
                    <a:lumOff val="25000"/>
                  </a:prstClr>
                </a:solidFill>
                <a:latin typeface="Times New Roman" panose="02020603050405020304" pitchFamily="18" charset="0"/>
                <a:ea typeface="Times New Roman" panose="02020603050405020304" pitchFamily="18" charset="0"/>
              </a:rPr>
              <a:t>ASAT</a:t>
            </a:r>
            <a:endParaRPr lang="fr-FR" sz="2800" dirty="0">
              <a:latin typeface="Times New Roman" panose="02020603050405020304" pitchFamily="18" charset="0"/>
              <a:ea typeface="Times New Roman" panose="02020603050405020304" pitchFamily="18" charset="0"/>
            </a:endParaRPr>
          </a:p>
          <a:p>
            <a:pPr lvl="4">
              <a:buClr>
                <a:srgbClr val="90C226"/>
              </a:buClr>
            </a:pPr>
            <a:r>
              <a:rPr lang="fr-FR" sz="2800" dirty="0">
                <a:latin typeface="Times New Roman" panose="02020603050405020304" pitchFamily="18" charset="0"/>
                <a:ea typeface="Times New Roman" panose="02020603050405020304" pitchFamily="18" charset="0"/>
              </a:rPr>
              <a:t>La cytolyse hépatique : </a:t>
            </a:r>
            <a:r>
              <a:rPr lang="fr-FR" sz="28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2800" dirty="0">
                <a:solidFill>
                  <a:srgbClr val="FF0000"/>
                </a:solidFill>
                <a:latin typeface="Times New Roman" panose="02020603050405020304" pitchFamily="18" charset="0"/>
                <a:ea typeface="Times New Roman" panose="02020603050405020304" pitchFamily="18" charset="0"/>
              </a:rPr>
              <a:t>ALAT </a:t>
            </a:r>
            <a:r>
              <a:rPr lang="fr-FR" sz="2800" dirty="0">
                <a:solidFill>
                  <a:prstClr val="black">
                    <a:lumMod val="75000"/>
                    <a:lumOff val="25000"/>
                  </a:prstClr>
                </a:solidFill>
                <a:latin typeface="Times New Roman" panose="02020603050405020304" pitchFamily="18" charset="0"/>
                <a:ea typeface="Times New Roman" panose="02020603050405020304" pitchFamily="18" charset="0"/>
              </a:rPr>
              <a:t>concomitante</a:t>
            </a:r>
            <a:r>
              <a:rPr lang="fr-FR" sz="28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2800" dirty="0" smtClean="0">
                <a:solidFill>
                  <a:schemeClr val="tx2"/>
                </a:solidFill>
                <a:latin typeface="Times New Roman" panose="02020603050405020304" pitchFamily="18" charset="0"/>
                <a:ea typeface="Times New Roman" panose="02020603050405020304" pitchFamily="18" charset="0"/>
              </a:rPr>
              <a:t>ASAT puisque y a du prédominance du ASAT et plus que l’ASAT </a:t>
            </a:r>
            <a:r>
              <a:rPr lang="fr-FR" sz="2800" dirty="0">
                <a:solidFill>
                  <a:schemeClr val="tx2"/>
                </a:solidFill>
                <a:latin typeface="Times New Roman" panose="02020603050405020304" pitchFamily="18" charset="0"/>
                <a:ea typeface="Times New Roman" panose="02020603050405020304" pitchFamily="18" charset="0"/>
              </a:rPr>
              <a:t>est </a:t>
            </a:r>
            <a:r>
              <a:rPr lang="fr-FR" sz="2800" dirty="0" err="1">
                <a:solidFill>
                  <a:schemeClr val="tx2"/>
                </a:solidFill>
                <a:latin typeface="Times New Roman" panose="02020603050405020304" pitchFamily="18" charset="0"/>
                <a:ea typeface="Times New Roman" panose="02020603050405020304" pitchFamily="18" charset="0"/>
              </a:rPr>
              <a:t>cytosolique</a:t>
            </a:r>
            <a:r>
              <a:rPr lang="fr-FR" sz="2800" dirty="0">
                <a:solidFill>
                  <a:schemeClr val="tx2"/>
                </a:solidFill>
                <a:latin typeface="Times New Roman" panose="02020603050405020304" pitchFamily="18" charset="0"/>
                <a:ea typeface="Times New Roman" panose="02020603050405020304" pitchFamily="18" charset="0"/>
              </a:rPr>
              <a:t> </a:t>
            </a:r>
            <a:r>
              <a:rPr lang="fr-FR" sz="2800" dirty="0" smtClean="0">
                <a:solidFill>
                  <a:prstClr val="black">
                    <a:lumMod val="75000"/>
                    <a:lumOff val="25000"/>
                  </a:prstClr>
                </a:solidFill>
                <a:latin typeface="Abadi" panose="020B0604020104020204" pitchFamily="34" charset="0"/>
                <a:ea typeface="Times New Roman" panose="02020603050405020304" pitchFamily="18" charset="0"/>
              </a:rPr>
              <a:t>→</a:t>
            </a:r>
            <a:r>
              <a:rPr lang="fr-FR" sz="2800" dirty="0" smtClean="0">
                <a:solidFill>
                  <a:prstClr val="black">
                    <a:lumMod val="75000"/>
                    <a:lumOff val="25000"/>
                  </a:prstClr>
                </a:solidFill>
                <a:latin typeface="Times New Roman" panose="02020603050405020304" pitchFamily="18" charset="0"/>
                <a:ea typeface="Times New Roman" panose="02020603050405020304" pitchFamily="18" charset="0"/>
              </a:rPr>
              <a:t>     </a:t>
            </a:r>
            <a:r>
              <a:rPr lang="fr-FR" sz="2800" b="1" dirty="0">
                <a:solidFill>
                  <a:srgbClr val="FF0000"/>
                </a:solidFill>
                <a:latin typeface="Times New Roman" panose="02020603050405020304" pitchFamily="18" charset="0"/>
                <a:ea typeface="Times New Roman" panose="02020603050405020304" pitchFamily="18" charset="0"/>
              </a:rPr>
              <a:t>ALAT ˃</a:t>
            </a:r>
            <a:r>
              <a:rPr lang="fr-FR" sz="2800" dirty="0">
                <a:latin typeface="Times New Roman" panose="02020603050405020304" pitchFamily="18" charset="0"/>
                <a:ea typeface="Times New Roman" panose="02020603050405020304" pitchFamily="18" charset="0"/>
              </a:rPr>
              <a:t> ASAT → </a:t>
            </a:r>
            <a:r>
              <a:rPr lang="fr-FR" sz="2800" dirty="0">
                <a:solidFill>
                  <a:srgbClr val="FF0000"/>
                </a:solidFill>
                <a:latin typeface="Times New Roman" panose="02020603050405020304" pitchFamily="18" charset="0"/>
                <a:ea typeface="Times New Roman" panose="02020603050405020304" pitchFamily="18" charset="0"/>
              </a:rPr>
              <a:t>Aff </a:t>
            </a:r>
            <a:r>
              <a:rPr lang="fr-FR" sz="2800" dirty="0" err="1">
                <a:solidFill>
                  <a:srgbClr val="FF0000"/>
                </a:solidFill>
                <a:latin typeface="Times New Roman" panose="02020603050405020304" pitchFamily="18" charset="0"/>
                <a:ea typeface="Times New Roman" panose="02020603050405020304" pitchFamily="18" charset="0"/>
              </a:rPr>
              <a:t>Hepatiques</a:t>
            </a:r>
            <a:r>
              <a:rPr lang="fr-FR" sz="2800" dirty="0">
                <a:solidFill>
                  <a:srgbClr val="FF0000"/>
                </a:solidFill>
                <a:latin typeface="Times New Roman" panose="02020603050405020304" pitchFamily="18" charset="0"/>
                <a:ea typeface="Times New Roman" panose="02020603050405020304" pitchFamily="18" charset="0"/>
              </a:rPr>
              <a:t> </a:t>
            </a:r>
          </a:p>
          <a:p>
            <a:pPr marL="1714500" lvl="4" indent="0">
              <a:buClr>
                <a:srgbClr val="90C226"/>
              </a:buClr>
              <a:buNone/>
            </a:pPr>
            <a:r>
              <a:rPr lang="fr-FR" sz="2800" dirty="0">
                <a:latin typeface="Times New Roman" panose="02020603050405020304" pitchFamily="18" charset="0"/>
                <a:ea typeface="Times New Roman" panose="02020603050405020304" pitchFamily="18" charset="0"/>
              </a:rPr>
              <a:t>    ALAT </a:t>
            </a:r>
            <a:r>
              <a:rPr lang="fr-FR" sz="2800" dirty="0" smtClean="0">
                <a:latin typeface="Times New Roman" panose="02020603050405020304" pitchFamily="18" charset="0"/>
                <a:ea typeface="Times New Roman" panose="02020603050405020304" pitchFamily="18" charset="0"/>
              </a:rPr>
              <a:t>plus </a:t>
            </a:r>
            <a:r>
              <a:rPr lang="fr-FR" sz="2800" dirty="0">
                <a:latin typeface="Times New Roman" panose="02020603050405020304" pitchFamily="18" charset="0"/>
                <a:ea typeface="Times New Roman" panose="02020603050405020304" pitchFamily="18" charset="0"/>
              </a:rPr>
              <a:t>spécifique au </a:t>
            </a:r>
            <a:r>
              <a:rPr lang="fr-FR" sz="2800" dirty="0" smtClean="0">
                <a:latin typeface="Times New Roman" panose="02020603050405020304" pitchFamily="18" charset="0"/>
                <a:ea typeface="Times New Roman" panose="02020603050405020304" pitchFamily="18" charset="0"/>
              </a:rPr>
              <a:t>foie</a:t>
            </a:r>
          </a:p>
          <a:p>
            <a:pPr marL="1714500" lvl="4" indent="0">
              <a:buClr>
                <a:srgbClr val="90C226"/>
              </a:buClr>
              <a:buNone/>
            </a:pPr>
            <a:r>
              <a:rPr lang="fr-FR" sz="2800" dirty="0" smtClean="0">
                <a:latin typeface="Times New Roman" panose="02020603050405020304" pitchFamily="18" charset="0"/>
                <a:ea typeface="Times New Roman" panose="02020603050405020304" pitchFamily="18" charset="0"/>
              </a:rPr>
              <a:t>Nécrose </a:t>
            </a:r>
            <a:r>
              <a:rPr lang="fr-FR" sz="2800" dirty="0">
                <a:latin typeface="Times New Roman" panose="02020603050405020304" pitchFamily="18" charset="0"/>
                <a:ea typeface="Times New Roman" panose="02020603050405020304" pitchFamily="18" charset="0"/>
              </a:rPr>
              <a:t>hépatocellulaire (</a:t>
            </a:r>
            <a:r>
              <a:rPr lang="fr-FR" sz="2800" dirty="0">
                <a:solidFill>
                  <a:srgbClr val="FF0000"/>
                </a:solidFill>
                <a:latin typeface="Times New Roman" panose="02020603050405020304" pitchFamily="18" charset="0"/>
                <a:ea typeface="Times New Roman" panose="02020603050405020304" pitchFamily="18" charset="0"/>
              </a:rPr>
              <a:t>atteinte sévère</a:t>
            </a:r>
            <a:r>
              <a:rPr lang="fr-FR" sz="2800" dirty="0">
                <a:latin typeface="Times New Roman" panose="02020603050405020304" pitchFamily="18" charset="0"/>
                <a:ea typeface="Times New Roman" panose="02020603050405020304" pitchFamily="18" charset="0"/>
              </a:rPr>
              <a:t>) :</a:t>
            </a:r>
            <a:r>
              <a:rPr lang="fr-FR" sz="2800" dirty="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ea typeface="Times New Roman" panose="02020603050405020304" pitchFamily="18" charset="0"/>
              </a:rPr>
              <a:t>AST  (</a:t>
            </a:r>
            <a:r>
              <a:rPr lang="fr-FR" sz="2800" b="1" dirty="0" err="1">
                <a:solidFill>
                  <a:srgbClr val="FF0000"/>
                </a:solidFill>
                <a:latin typeface="Times New Roman" panose="02020603050405020304" pitchFamily="18" charset="0"/>
                <a:ea typeface="Times New Roman" panose="02020603050405020304" pitchFamily="18" charset="0"/>
              </a:rPr>
              <a:t>ASAT</a:t>
            </a:r>
            <a:r>
              <a:rPr lang="fr-FR" sz="2000" b="1" dirty="0" err="1">
                <a:solidFill>
                  <a:srgbClr val="FF0000"/>
                </a:solidFill>
                <a:latin typeface="Times New Roman" panose="02020603050405020304" pitchFamily="18" charset="0"/>
                <a:ea typeface="Times New Roman" panose="02020603050405020304" pitchFamily="18" charset="0"/>
              </a:rPr>
              <a:t>Mit</a:t>
            </a:r>
            <a:r>
              <a:rPr lang="fr-FR" sz="3200" dirty="0">
                <a:latin typeface="Times New Roman" panose="02020603050405020304" pitchFamily="18" charset="0"/>
                <a:ea typeface="Times New Roman" panose="02020603050405020304" pitchFamily="18" charset="0"/>
              </a:rPr>
              <a:t>)</a:t>
            </a:r>
            <a:r>
              <a:rPr lang="fr-FR" sz="2800" dirty="0">
                <a:latin typeface="Times New Roman" panose="02020603050405020304" pitchFamily="18" charset="0"/>
                <a:ea typeface="Times New Roman" panose="02020603050405020304" pitchFamily="18" charset="0"/>
              </a:rPr>
              <a:t>  </a:t>
            </a:r>
            <a:r>
              <a:rPr lang="fr-FR" sz="2800" b="1" dirty="0">
                <a:solidFill>
                  <a:srgbClr val="FF0000"/>
                </a:solidFill>
                <a:latin typeface="Times New Roman" panose="02020603050405020304" pitchFamily="18" charset="0"/>
                <a:ea typeface="Times New Roman" panose="02020603050405020304" pitchFamily="18" charset="0"/>
              </a:rPr>
              <a:t>ASAT ˃ </a:t>
            </a:r>
            <a:r>
              <a:rPr lang="fr-FR" sz="2800" dirty="0">
                <a:latin typeface="Times New Roman" panose="02020603050405020304" pitchFamily="18" charset="0"/>
                <a:ea typeface="Times New Roman" panose="02020603050405020304" pitchFamily="18" charset="0"/>
              </a:rPr>
              <a:t>ALAT  (le rapport ALT/AST diminué</a:t>
            </a:r>
            <a:r>
              <a:rPr lang="fr-FR" sz="2800" dirty="0" smtClean="0">
                <a:latin typeface="Times New Roman" panose="02020603050405020304" pitchFamily="18" charset="0"/>
                <a:ea typeface="Times New Roman" panose="02020603050405020304" pitchFamily="18" charset="0"/>
              </a:rPr>
              <a:t>)=&gt; donc c’est affection est de mauvais pronostique</a:t>
            </a:r>
            <a:endParaRPr lang="fr-FR" sz="2800" dirty="0">
              <a:latin typeface="Times New Roman" panose="02020603050405020304" pitchFamily="18" charset="0"/>
              <a:ea typeface="Times New Roman" panose="02020603050405020304" pitchFamily="18" charset="0"/>
            </a:endParaRPr>
          </a:p>
          <a:p>
            <a:pPr lvl="4">
              <a:tabLst>
                <a:tab pos="3047365" algn="l"/>
              </a:tabLst>
            </a:pPr>
            <a:endParaRPr lang="fr-FR" sz="2800" dirty="0">
              <a:latin typeface="Times New Roman" panose="02020603050405020304" pitchFamily="18" charset="0"/>
              <a:ea typeface="Times New Roman" panose="02020603050405020304" pitchFamily="18" charset="0"/>
            </a:endParaRPr>
          </a:p>
          <a:p>
            <a:pPr marL="1714500" lvl="4" indent="0">
              <a:buNone/>
              <a:tabLst>
                <a:tab pos="3047365" algn="l"/>
              </a:tabLst>
            </a:pPr>
            <a:r>
              <a:rPr lang="fr-FR" sz="2800" dirty="0">
                <a:latin typeface="Times New Roman" panose="02020603050405020304" pitchFamily="18" charset="0"/>
                <a:ea typeface="Times New Roman" panose="02020603050405020304" pitchFamily="18" charset="0"/>
              </a:rPr>
              <a:t>    </a:t>
            </a:r>
            <a:endParaRPr lang="fr-FR" b="1"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22616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0" y="117230"/>
            <a:ext cx="9089518" cy="1320800"/>
          </a:xfrm>
        </p:spPr>
        <p:txBody>
          <a:bodyPr>
            <a:normAutofit/>
          </a:bodyPr>
          <a:lstStyle/>
          <a:p>
            <a:r>
              <a:rPr lang="fr-FR" b="1" dirty="0"/>
              <a:t>1-</a:t>
            </a:r>
            <a:r>
              <a:rPr lang="fr-FR" dirty="0"/>
              <a:t> </a:t>
            </a:r>
            <a:r>
              <a:rPr lang="fr-FR" b="1" dirty="0"/>
              <a:t>AMINO 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494453" y="816638"/>
            <a:ext cx="9268524" cy="6041362"/>
          </a:xfrm>
        </p:spPr>
        <p:txBody>
          <a:bodyPr>
            <a:normAutofit/>
          </a:bodyPr>
          <a:lstStyle/>
          <a:p>
            <a:pPr lvl="0">
              <a:buClr>
                <a:srgbClr val="90C226"/>
              </a:buClr>
              <a:buFont typeface="Wingdings" panose="05000000000000000000" pitchFamily="2" charset="2"/>
              <a:buChar char="q"/>
            </a:pPr>
            <a:r>
              <a:rPr lang="fr-FR" sz="3300" b="1" u="sng" dirty="0">
                <a:solidFill>
                  <a:srgbClr val="54A021"/>
                </a:solidFill>
              </a:rPr>
              <a:t>Variations pathologiques</a:t>
            </a:r>
            <a:endParaRPr lang="fr-FR" sz="3300" dirty="0">
              <a:solidFill>
                <a:srgbClr val="54A021"/>
              </a:solidFill>
            </a:endParaRPr>
          </a:p>
          <a:p>
            <a:pPr lvl="1">
              <a:buClr>
                <a:srgbClr val="90C226"/>
              </a:buClr>
              <a:buFont typeface="Wingdings" panose="05000000000000000000" pitchFamily="2" charset="2"/>
              <a:buChar char="Ø"/>
            </a:pPr>
            <a:r>
              <a:rPr lang="fr-FR" sz="3200" b="1" dirty="0">
                <a:solidFill>
                  <a:srgbClr val="54A021"/>
                </a:solidFill>
                <a:latin typeface="Abadi Extra Light" panose="020B0204020104020204" pitchFamily="34" charset="0"/>
              </a:rPr>
              <a:t>   </a:t>
            </a:r>
            <a:r>
              <a:rPr lang="fr-FR" sz="3200" b="1" u="sng" dirty="0">
                <a:solidFill>
                  <a:srgbClr val="54A021"/>
                </a:solidFill>
                <a:latin typeface="Abadi Extra Light" panose="020B0204020104020204" pitchFamily="34" charset="0"/>
              </a:rPr>
              <a:t>↑T</a:t>
            </a:r>
            <a:r>
              <a:rPr lang="fr-FR" sz="3200" b="1" u="sng" dirty="0">
                <a:solidFill>
                  <a:srgbClr val="54A021"/>
                </a:solidFill>
              </a:rPr>
              <a:t>ransaminases</a:t>
            </a:r>
            <a:endParaRPr lang="fr-FR" sz="3300" b="1" u="sng" dirty="0">
              <a:solidFill>
                <a:srgbClr val="54A021"/>
              </a:solidFill>
            </a:endParaRPr>
          </a:p>
          <a:p>
            <a:pPr marL="800100" lvl="2" indent="0">
              <a:buClr>
                <a:srgbClr val="90C226"/>
              </a:buClr>
              <a:buNone/>
            </a:pPr>
            <a:r>
              <a:rPr lang="fr-FR" sz="2800" b="1" i="1" dirty="0">
                <a:solidFill>
                  <a:prstClr val="black">
                    <a:lumMod val="75000"/>
                    <a:lumOff val="25000"/>
                  </a:prstClr>
                </a:solidFill>
              </a:rPr>
              <a:t>    A-Affections hépatiques</a:t>
            </a:r>
            <a:endParaRPr lang="fr-FR" b="1" dirty="0">
              <a:latin typeface="Times New Roman" panose="02020603050405020304" pitchFamily="18" charset="0"/>
              <a:ea typeface="Times New Roman" panose="02020603050405020304" pitchFamily="18" charset="0"/>
            </a:endParaRPr>
          </a:p>
          <a:p>
            <a:pPr marL="1714500" lvl="4" indent="0">
              <a:buNone/>
            </a:pPr>
            <a:r>
              <a:rPr lang="fr-FR" sz="2400" b="1" dirty="0">
                <a:latin typeface="Times New Roman" panose="02020603050405020304" pitchFamily="18" charset="0"/>
                <a:ea typeface="Times New Roman" panose="02020603050405020304" pitchFamily="18" charset="0"/>
              </a:rPr>
              <a:t>1- Hépatite aigue</a:t>
            </a:r>
            <a:endParaRPr lang="fr-FR" sz="2400" dirty="0">
              <a:latin typeface="Times New Roman" panose="02020603050405020304" pitchFamily="18" charset="0"/>
              <a:ea typeface="Times New Roman" panose="02020603050405020304" pitchFamily="18" charset="0"/>
            </a:endParaRPr>
          </a:p>
          <a:p>
            <a:pPr marL="1714500" lvl="4" indent="0">
              <a:buNone/>
            </a:pPr>
            <a:r>
              <a:rPr lang="fr-FR" sz="2400" b="1" dirty="0">
                <a:latin typeface="Times New Roman" panose="02020603050405020304" pitchFamily="18" charset="0"/>
                <a:ea typeface="Times New Roman" panose="02020603050405020304" pitchFamily="18" charset="0"/>
              </a:rPr>
              <a:t>2- Hépatite chronique </a:t>
            </a:r>
          </a:p>
          <a:p>
            <a:pPr marL="1714500" lvl="4" indent="0">
              <a:buNone/>
            </a:pPr>
            <a:r>
              <a:rPr lang="fr-FR" sz="2400" b="1" dirty="0">
                <a:latin typeface="Times New Roman" panose="02020603050405020304" pitchFamily="18" charset="0"/>
                <a:ea typeface="Times New Roman" panose="02020603050405020304" pitchFamily="18" charset="0"/>
              </a:rPr>
              <a:t>3- Autres affections hépatiques</a:t>
            </a:r>
            <a:endParaRPr lang="fr-FR" sz="2400" dirty="0"/>
          </a:p>
        </p:txBody>
      </p:sp>
    </p:spTree>
    <p:extLst>
      <p:ext uri="{BB962C8B-B14F-4D97-AF65-F5344CB8AC3E}">
        <p14:creationId xmlns:p14="http://schemas.microsoft.com/office/powerpoint/2010/main" val="347244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0" y="117230"/>
            <a:ext cx="9089518" cy="1320800"/>
          </a:xfrm>
        </p:spPr>
        <p:txBody>
          <a:bodyPr>
            <a:normAutofit/>
          </a:bodyPr>
          <a:lstStyle/>
          <a:p>
            <a:r>
              <a:rPr lang="fr-FR" b="1" dirty="0"/>
              <a:t>1-</a:t>
            </a:r>
            <a:r>
              <a:rPr lang="fr-FR" dirty="0"/>
              <a:t> </a:t>
            </a:r>
            <a:r>
              <a:rPr lang="fr-FR" b="1" dirty="0"/>
              <a:t>AMINO 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0" y="23924"/>
            <a:ext cx="12465698" cy="6740770"/>
          </a:xfrm>
        </p:spPr>
        <p:txBody>
          <a:bodyPr>
            <a:normAutofit/>
          </a:bodyPr>
          <a:lstStyle/>
          <a:p>
            <a:endParaRPr lang="fr-FR" b="1" dirty="0">
              <a:latin typeface="Times New Roman" panose="02020603050405020304" pitchFamily="18" charset="0"/>
              <a:ea typeface="Times New Roman" panose="02020603050405020304" pitchFamily="18" charset="0"/>
            </a:endParaRPr>
          </a:p>
          <a:p>
            <a:endParaRPr lang="fr-FR" b="1" dirty="0">
              <a:latin typeface="Times New Roman" panose="02020603050405020304" pitchFamily="18" charset="0"/>
              <a:ea typeface="Times New Roman" panose="02020603050405020304" pitchFamily="18" charset="0"/>
            </a:endParaRPr>
          </a:p>
          <a:p>
            <a:pPr lvl="0">
              <a:buClr>
                <a:srgbClr val="90C226"/>
              </a:buClr>
              <a:buFont typeface="Wingdings" panose="05000000000000000000" pitchFamily="2" charset="2"/>
              <a:buChar char="q"/>
            </a:pPr>
            <a:r>
              <a:rPr lang="fr-FR" sz="3300" b="1" u="sng" dirty="0">
                <a:solidFill>
                  <a:srgbClr val="54A021"/>
                </a:solidFill>
              </a:rPr>
              <a:t>Variations pathologiques</a:t>
            </a:r>
            <a:endParaRPr lang="fr-FR" sz="3300" dirty="0">
              <a:solidFill>
                <a:srgbClr val="54A021"/>
              </a:solidFill>
            </a:endParaRPr>
          </a:p>
          <a:p>
            <a:pPr lvl="1">
              <a:buClr>
                <a:srgbClr val="90C226"/>
              </a:buClr>
              <a:buFont typeface="Wingdings" panose="05000000000000000000" pitchFamily="2" charset="2"/>
              <a:buChar char="Ø"/>
            </a:pPr>
            <a:r>
              <a:rPr lang="fr-FR" sz="3200" b="1" dirty="0">
                <a:solidFill>
                  <a:srgbClr val="54A021"/>
                </a:solidFill>
                <a:latin typeface="Abadi Extra Light" panose="020B0204020104020204" pitchFamily="34" charset="0"/>
              </a:rPr>
              <a:t>   </a:t>
            </a:r>
            <a:r>
              <a:rPr lang="fr-FR" sz="3200" b="1" u="sng" dirty="0">
                <a:solidFill>
                  <a:srgbClr val="54A021"/>
                </a:solidFill>
                <a:latin typeface="Abadi Extra Light" panose="020B0204020104020204" pitchFamily="34" charset="0"/>
              </a:rPr>
              <a:t>↑T</a:t>
            </a:r>
            <a:r>
              <a:rPr lang="fr-FR" sz="3200" b="1" u="sng" dirty="0">
                <a:solidFill>
                  <a:srgbClr val="54A021"/>
                </a:solidFill>
              </a:rPr>
              <a:t>ransaminases</a:t>
            </a:r>
            <a:endParaRPr lang="fr-FR" sz="3300" b="1" u="sng" dirty="0">
              <a:solidFill>
                <a:srgbClr val="54A021"/>
              </a:solidFill>
            </a:endParaRPr>
          </a:p>
          <a:p>
            <a:pPr marL="800100" lvl="2" indent="0">
              <a:buClr>
                <a:srgbClr val="90C226"/>
              </a:buClr>
              <a:buNone/>
            </a:pPr>
            <a:r>
              <a:rPr lang="fr-FR" sz="2800" b="1" i="1" dirty="0">
                <a:solidFill>
                  <a:prstClr val="black">
                    <a:lumMod val="75000"/>
                    <a:lumOff val="25000"/>
                  </a:prstClr>
                </a:solidFill>
              </a:rPr>
              <a:t>    A-Affections hépatiques</a:t>
            </a:r>
            <a:endParaRPr lang="fr-FR" b="1" dirty="0">
              <a:latin typeface="Times New Roman" panose="02020603050405020304" pitchFamily="18" charset="0"/>
              <a:ea typeface="Times New Roman" panose="02020603050405020304" pitchFamily="18" charset="0"/>
            </a:endParaRPr>
          </a:p>
          <a:p>
            <a:pPr marL="1714500" lvl="4" indent="0">
              <a:buNone/>
            </a:pPr>
            <a:r>
              <a:rPr lang="fr-FR" sz="2400" b="1" dirty="0">
                <a:latin typeface="Times New Roman" panose="02020603050405020304" pitchFamily="18" charset="0"/>
                <a:ea typeface="Times New Roman" panose="02020603050405020304" pitchFamily="18" charset="0"/>
              </a:rPr>
              <a:t>1- Hépatite aigue</a:t>
            </a:r>
            <a:endParaRPr lang="fr-FR" sz="2400" dirty="0">
              <a:latin typeface="Times New Roman" panose="02020603050405020304" pitchFamily="18" charset="0"/>
              <a:ea typeface="Times New Roman" panose="02020603050405020304" pitchFamily="18" charset="0"/>
            </a:endParaRPr>
          </a:p>
          <a:p>
            <a:pPr lvl="4">
              <a:buFont typeface="Times New Roman" panose="02020603050405020304" pitchFamily="18" charset="0"/>
              <a:buChar char="-"/>
              <a:tabLst>
                <a:tab pos="3047365" algn="l"/>
              </a:tabLst>
            </a:pPr>
            <a:r>
              <a:rPr lang="fr-FR" sz="2400" dirty="0">
                <a:latin typeface="Times New Roman" panose="02020603050405020304" pitchFamily="18" charset="0"/>
                <a:ea typeface="Times New Roman" panose="02020603050405020304" pitchFamily="18" charset="0"/>
              </a:rPr>
              <a:t>Causes : virales, toxiques, Méd</a:t>
            </a:r>
          </a:p>
          <a:p>
            <a:pPr lvl="4">
              <a:buFont typeface="Times New Roman" panose="02020603050405020304" pitchFamily="18" charset="0"/>
              <a:buChar char="-"/>
              <a:tabLst>
                <a:tab pos="3047365" algn="l"/>
              </a:tabLst>
            </a:pPr>
            <a:r>
              <a:rPr lang="fr-FR" sz="2400" b="1" dirty="0">
                <a:latin typeface="Times New Roman" panose="02020603050405020304" pitchFamily="18" charset="0"/>
                <a:ea typeface="Times New Roman" panose="02020603050405020304" pitchFamily="18" charset="0"/>
              </a:rPr>
              <a:t>↑ des transaminases 15 à 150 X </a:t>
            </a:r>
            <a:r>
              <a:rPr lang="fr-FR" sz="2400" b="1" dirty="0" smtClean="0">
                <a:latin typeface="Times New Roman" panose="02020603050405020304" pitchFamily="18" charset="0"/>
                <a:ea typeface="Times New Roman" panose="02020603050405020304" pitchFamily="18" charset="0"/>
              </a:rPr>
              <a:t>VN donc c’est jusqu’à 7500ui/l  (mais tkt pas puisque l’</a:t>
            </a:r>
            <a:r>
              <a:rPr lang="fr-FR" sz="2400" b="1" dirty="0" smtClean="0">
                <a:solidFill>
                  <a:prstClr val="black">
                    <a:lumMod val="75000"/>
                    <a:lumOff val="25000"/>
                  </a:prstClr>
                </a:solidFill>
                <a:latin typeface="Times New Roman" panose="02020603050405020304" pitchFamily="18" charset="0"/>
                <a:ea typeface="Times New Roman" panose="02020603050405020304" pitchFamily="18" charset="0"/>
              </a:rPr>
              <a:t>↑ </a:t>
            </a:r>
            <a:r>
              <a:rPr lang="fr-FR" sz="2400" b="1" dirty="0">
                <a:solidFill>
                  <a:prstClr val="black">
                    <a:lumMod val="75000"/>
                    <a:lumOff val="25000"/>
                  </a:prstClr>
                </a:solidFill>
                <a:latin typeface="Times New Roman" panose="02020603050405020304" pitchFamily="18" charset="0"/>
                <a:ea typeface="Times New Roman" panose="02020603050405020304" pitchFamily="18" charset="0"/>
              </a:rPr>
              <a:t>n’est pas un signe de </a:t>
            </a:r>
            <a:r>
              <a:rPr lang="fr-FR" sz="2400" b="1" dirty="0" smtClean="0">
                <a:solidFill>
                  <a:prstClr val="black">
                    <a:lumMod val="75000"/>
                    <a:lumOff val="25000"/>
                  </a:prstClr>
                </a:solidFill>
                <a:latin typeface="Times New Roman" panose="02020603050405020304" pitchFamily="18" charset="0"/>
                <a:ea typeface="Times New Roman" panose="02020603050405020304" pitchFamily="18" charset="0"/>
              </a:rPr>
              <a:t>gravité qlqs soit le valeur)  </a:t>
            </a:r>
            <a:endParaRPr lang="fr-FR" sz="2400" b="1" dirty="0">
              <a:latin typeface="Times New Roman" panose="02020603050405020304" pitchFamily="18" charset="0"/>
              <a:ea typeface="Times New Roman" panose="02020603050405020304" pitchFamily="18" charset="0"/>
            </a:endParaRPr>
          </a:p>
          <a:p>
            <a:pPr lvl="4">
              <a:buFont typeface="Times New Roman" panose="02020603050405020304" pitchFamily="18" charset="0"/>
              <a:buChar char="-"/>
              <a:tabLst>
                <a:tab pos="2597785" algn="l"/>
              </a:tabLst>
            </a:pPr>
            <a:r>
              <a:rPr lang="fr-FR" sz="2400" dirty="0">
                <a:solidFill>
                  <a:prstClr val="black">
                    <a:lumMod val="75000"/>
                    <a:lumOff val="25000"/>
                  </a:prstClr>
                </a:solidFill>
                <a:latin typeface="Times New Roman" panose="02020603050405020304" pitchFamily="18" charset="0"/>
                <a:ea typeface="Times New Roman" panose="02020603050405020304" pitchFamily="18" charset="0"/>
              </a:rPr>
              <a:t>Le ASAT/ ALAT </a:t>
            </a:r>
            <a:r>
              <a:rPr lang="fr-FR" sz="2400" dirty="0">
                <a:solidFill>
                  <a:schemeClr val="tx1"/>
                </a:solidFill>
                <a:latin typeface="Abadi Extra Light" panose="020B0204020104020204" pitchFamily="34" charset="0"/>
                <a:ea typeface="Times New Roman" panose="02020603050405020304" pitchFamily="18" charset="0"/>
              </a:rPr>
              <a:t>est toujours</a:t>
            </a:r>
            <a:r>
              <a:rPr lang="fr-FR" sz="2400" dirty="0">
                <a:solidFill>
                  <a:prstClr val="black"/>
                </a:solidFill>
                <a:latin typeface="Abadi Extra Light" panose="020B0204020104020204" pitchFamily="34" charset="0"/>
                <a:ea typeface="Times New Roman" panose="02020603050405020304" pitchFamily="18" charset="0"/>
              </a:rPr>
              <a:t> &lt; </a:t>
            </a:r>
            <a:r>
              <a:rPr lang="fr-FR" sz="2400" dirty="0">
                <a:solidFill>
                  <a:schemeClr val="tx1"/>
                </a:solidFill>
                <a:latin typeface="Abadi Extra Light" panose="020B0204020104020204" pitchFamily="34" charset="0"/>
                <a:ea typeface="Times New Roman" panose="02020603050405020304" pitchFamily="18" charset="0"/>
              </a:rPr>
              <a:t>1</a:t>
            </a:r>
            <a:r>
              <a:rPr lang="fr-FR" sz="2400" dirty="0">
                <a:solidFill>
                  <a:schemeClr val="tx1"/>
                </a:solidFill>
                <a:latin typeface="Abadi" panose="020B0604020104020204" pitchFamily="34" charset="0"/>
                <a:ea typeface="Times New Roman" panose="02020603050405020304" pitchFamily="18" charset="0"/>
              </a:rPr>
              <a:t>→</a:t>
            </a:r>
            <a:r>
              <a:rPr lang="fr-FR" sz="2400" dirty="0">
                <a:solidFill>
                  <a:schemeClr val="tx1"/>
                </a:solidFill>
                <a:latin typeface="Times New Roman" panose="02020603050405020304" pitchFamily="18" charset="0"/>
                <a:ea typeface="Times New Roman" panose="02020603050405020304" pitchFamily="18" charset="0"/>
              </a:rPr>
              <a:t> </a:t>
            </a:r>
            <a:r>
              <a:rPr lang="fr-FR" sz="2400" dirty="0">
                <a:latin typeface="Times New Roman" panose="02020603050405020304" pitchFamily="18" charset="0"/>
                <a:ea typeface="Times New Roman" panose="02020603050405020304" pitchFamily="18" charset="0"/>
              </a:rPr>
              <a:t>ALAT &gt; ASAT </a:t>
            </a:r>
            <a:r>
              <a:rPr lang="fr-FR" sz="2400" dirty="0" smtClean="0">
                <a:latin typeface="Times New Roman" panose="02020603050405020304" pitchFamily="18" charset="0"/>
                <a:ea typeface="Times New Roman" panose="02020603050405020304" pitchFamily="18" charset="0"/>
              </a:rPr>
              <a:t>=&gt; dans l’aigu</a:t>
            </a:r>
            <a:endParaRPr lang="fr-FR" sz="2400" dirty="0">
              <a:latin typeface="Times New Roman" panose="02020603050405020304" pitchFamily="18" charset="0"/>
              <a:ea typeface="Times New Roman" panose="02020603050405020304" pitchFamily="18" charset="0"/>
            </a:endParaRPr>
          </a:p>
          <a:p>
            <a:pPr lvl="4">
              <a:buFont typeface="Times New Roman" panose="02020603050405020304" pitchFamily="18" charset="0"/>
              <a:buChar char="-"/>
              <a:tabLst>
                <a:tab pos="2597785" algn="l"/>
              </a:tabLst>
            </a:pPr>
            <a:r>
              <a:rPr lang="fr-FR" sz="2400" dirty="0">
                <a:latin typeface="Times New Roman" panose="02020603050405020304" pitchFamily="18" charset="0"/>
                <a:ea typeface="Times New Roman" panose="02020603050405020304" pitchFamily="18" charset="0"/>
              </a:rPr>
              <a:t>Si  ASAT/ ALAT ou rapport de </a:t>
            </a:r>
            <a:r>
              <a:rPr lang="fr-FR" sz="2400" dirty="0" err="1">
                <a:latin typeface="Times New Roman" panose="02020603050405020304" pitchFamily="18" charset="0"/>
                <a:ea typeface="Times New Roman" panose="02020603050405020304" pitchFamily="18" charset="0"/>
              </a:rPr>
              <a:t>Ritis</a:t>
            </a:r>
            <a:r>
              <a:rPr lang="fr-FR" sz="2400" dirty="0">
                <a:latin typeface="Times New Roman" panose="02020603050405020304" pitchFamily="18" charset="0"/>
                <a:ea typeface="Times New Roman" panose="02020603050405020304" pitchFamily="18" charset="0"/>
              </a:rPr>
              <a:t> ≈1</a:t>
            </a:r>
            <a:r>
              <a:rPr lang="fr-FR" sz="2400" dirty="0" smtClean="0">
                <a:latin typeface="Times New Roman" panose="02020603050405020304" pitchFamily="18" charset="0"/>
                <a:ea typeface="Times New Roman" panose="02020603050405020304" pitchFamily="18" charset="0"/>
              </a:rPr>
              <a:t>→donc déplacement de ASAT vers ALAT donc risque de passage vers la chronicité donc présentation des lésion grave et le malade est pas capable de guérir (puisque si ASAT est mitochondriale donc si y a ++ donc c’est une lésion profonde et nécrose)</a:t>
            </a:r>
            <a:endParaRPr lang="fr-FR" sz="2400" dirty="0">
              <a:latin typeface="Times New Roman" panose="02020603050405020304" pitchFamily="18" charset="0"/>
              <a:ea typeface="Times New Roman" panose="02020603050405020304" pitchFamily="18" charset="0"/>
            </a:endParaRPr>
          </a:p>
          <a:p>
            <a:pPr lvl="4">
              <a:buFont typeface="Times New Roman" panose="02020603050405020304" pitchFamily="18" charset="0"/>
              <a:buChar char="-"/>
              <a:tabLst>
                <a:tab pos="2597785" algn="l"/>
              </a:tabLst>
            </a:pPr>
            <a:endParaRPr lang="fr-FR" sz="240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122100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0" y="117230"/>
            <a:ext cx="9089518" cy="1320800"/>
          </a:xfrm>
        </p:spPr>
        <p:txBody>
          <a:bodyPr>
            <a:normAutofit/>
          </a:bodyPr>
          <a:lstStyle/>
          <a:p>
            <a:r>
              <a:rPr lang="fr-FR" b="1" dirty="0"/>
              <a:t>1-</a:t>
            </a:r>
            <a:r>
              <a:rPr lang="fr-FR" dirty="0"/>
              <a:t> </a:t>
            </a:r>
            <a:r>
              <a:rPr lang="fr-FR" b="1" dirty="0"/>
              <a:t>AMINO 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494453" y="816638"/>
            <a:ext cx="10571112" cy="6041362"/>
          </a:xfrm>
        </p:spPr>
        <p:txBody>
          <a:bodyPr>
            <a:normAutofit/>
          </a:bodyPr>
          <a:lstStyle/>
          <a:p>
            <a:pPr lvl="0">
              <a:buClr>
                <a:srgbClr val="90C226"/>
              </a:buClr>
              <a:buFont typeface="Wingdings" panose="05000000000000000000" pitchFamily="2" charset="2"/>
              <a:buChar char="q"/>
            </a:pPr>
            <a:r>
              <a:rPr lang="fr-FR" sz="3300" b="1" u="sng" dirty="0">
                <a:solidFill>
                  <a:srgbClr val="54A021"/>
                </a:solidFill>
              </a:rPr>
              <a:t>Variations pathologiques</a:t>
            </a:r>
            <a:endParaRPr lang="fr-FR" sz="3300" dirty="0">
              <a:solidFill>
                <a:srgbClr val="54A021"/>
              </a:solidFill>
            </a:endParaRPr>
          </a:p>
          <a:p>
            <a:pPr lvl="1">
              <a:buClr>
                <a:srgbClr val="90C226"/>
              </a:buClr>
              <a:buFont typeface="Wingdings" panose="05000000000000000000" pitchFamily="2" charset="2"/>
              <a:buChar char="Ø"/>
            </a:pPr>
            <a:r>
              <a:rPr lang="fr-FR" sz="3200" b="1" dirty="0">
                <a:solidFill>
                  <a:srgbClr val="54A021"/>
                </a:solidFill>
                <a:latin typeface="Abadi Extra Light" panose="020B0204020104020204" pitchFamily="34" charset="0"/>
              </a:rPr>
              <a:t>   </a:t>
            </a:r>
            <a:r>
              <a:rPr lang="fr-FR" sz="3200" b="1" u="sng" dirty="0">
                <a:solidFill>
                  <a:srgbClr val="54A021"/>
                </a:solidFill>
                <a:latin typeface="Abadi Extra Light" panose="020B0204020104020204" pitchFamily="34" charset="0"/>
              </a:rPr>
              <a:t>↑T</a:t>
            </a:r>
            <a:r>
              <a:rPr lang="fr-FR" sz="3200" b="1" u="sng" dirty="0">
                <a:solidFill>
                  <a:srgbClr val="54A021"/>
                </a:solidFill>
              </a:rPr>
              <a:t>ransaminases</a:t>
            </a:r>
            <a:endParaRPr lang="fr-FR" sz="3300" b="1" u="sng" dirty="0">
              <a:solidFill>
                <a:srgbClr val="54A021"/>
              </a:solidFill>
            </a:endParaRPr>
          </a:p>
          <a:p>
            <a:pPr marL="800100" lvl="2" indent="0">
              <a:buClr>
                <a:srgbClr val="90C226"/>
              </a:buClr>
              <a:buNone/>
            </a:pPr>
            <a:r>
              <a:rPr lang="fr-FR" sz="2800" b="1" i="1" dirty="0">
                <a:solidFill>
                  <a:prstClr val="black">
                    <a:lumMod val="75000"/>
                    <a:lumOff val="25000"/>
                  </a:prstClr>
                </a:solidFill>
              </a:rPr>
              <a:t>    A-Affections hépatiques</a:t>
            </a:r>
            <a:endParaRPr lang="fr-FR" b="1" dirty="0">
              <a:latin typeface="Times New Roman" panose="02020603050405020304" pitchFamily="18" charset="0"/>
              <a:ea typeface="Times New Roman" panose="02020603050405020304" pitchFamily="18" charset="0"/>
            </a:endParaRPr>
          </a:p>
          <a:p>
            <a:pPr marL="1714500" lvl="4" indent="0">
              <a:buNone/>
            </a:pPr>
            <a:r>
              <a:rPr lang="fr-FR" sz="2400" b="1" dirty="0">
                <a:latin typeface="Times New Roman" panose="02020603050405020304" pitchFamily="18" charset="0"/>
                <a:ea typeface="Times New Roman" panose="02020603050405020304" pitchFamily="18" charset="0"/>
              </a:rPr>
              <a:t>2- Hépatite chronique </a:t>
            </a:r>
            <a:endParaRPr lang="fr-FR" sz="2400" dirty="0">
              <a:latin typeface="Times New Roman" panose="02020603050405020304" pitchFamily="18" charset="0"/>
              <a:ea typeface="Times New Roman" panose="02020603050405020304" pitchFamily="18" charset="0"/>
            </a:endParaRPr>
          </a:p>
          <a:p>
            <a:pPr marL="2621280" lvl="5" indent="-342900">
              <a:buFontTx/>
              <a:buChar char="-"/>
            </a:pPr>
            <a:r>
              <a:rPr lang="fr-FR" sz="2400" dirty="0">
                <a:latin typeface="Times New Roman" panose="02020603050405020304" pitchFamily="18" charset="0"/>
                <a:ea typeface="Times New Roman" panose="02020603050405020304" pitchFamily="18" charset="0"/>
              </a:rPr>
              <a:t>Causes : </a:t>
            </a:r>
            <a:r>
              <a:rPr lang="fr-FR" sz="2400" b="1" dirty="0">
                <a:latin typeface="Times New Roman" panose="02020603050405020304" pitchFamily="18" charset="0"/>
                <a:ea typeface="Times New Roman" panose="02020603050405020304" pitchFamily="18" charset="0"/>
              </a:rPr>
              <a:t>virales</a:t>
            </a:r>
            <a:r>
              <a:rPr lang="fr-FR" sz="2400" b="1" dirty="0" smtClean="0">
                <a:latin typeface="Times New Roman" panose="02020603050405020304" pitchFamily="18" charset="0"/>
                <a:ea typeface="Times New Roman" panose="02020603050405020304" pitchFamily="18" charset="0"/>
              </a:rPr>
              <a:t>+++ qui tend vers la chronicité</a:t>
            </a:r>
            <a:r>
              <a:rPr lang="fr-FR" sz="2400" dirty="0" smtClean="0">
                <a:latin typeface="Times New Roman" panose="02020603050405020304" pitchFamily="18" charset="0"/>
                <a:ea typeface="Times New Roman" panose="02020603050405020304" pitchFamily="18" charset="0"/>
              </a:rPr>
              <a:t>, </a:t>
            </a:r>
            <a:r>
              <a:rPr lang="fr-FR" sz="2400" dirty="0">
                <a:latin typeface="Times New Roman" panose="02020603050405020304" pitchFamily="18" charset="0"/>
                <a:ea typeface="Times New Roman" panose="02020603050405020304" pitchFamily="18" charset="0"/>
              </a:rPr>
              <a:t>toxiques, Méd </a:t>
            </a:r>
          </a:p>
          <a:p>
            <a:pPr marL="2621280" lvl="5" indent="-342900">
              <a:buFontTx/>
              <a:buChar char="-"/>
            </a:pPr>
            <a:r>
              <a:rPr lang="fr-FR" sz="2400" dirty="0">
                <a:latin typeface="Times New Roman" panose="02020603050405020304" pitchFamily="18" charset="0"/>
                <a:ea typeface="Times New Roman" panose="02020603050405020304" pitchFamily="18" charset="0"/>
              </a:rPr>
              <a:t>↑ </a:t>
            </a:r>
            <a:r>
              <a:rPr lang="fr-FR" sz="2400" dirty="0" smtClean="0">
                <a:latin typeface="Times New Roman" panose="02020603050405020304" pitchFamily="18" charset="0"/>
                <a:ea typeface="Times New Roman" panose="02020603050405020304" pitchFamily="18" charset="0"/>
              </a:rPr>
              <a:t>des </a:t>
            </a:r>
            <a:r>
              <a:rPr lang="fr-FR" sz="2400" dirty="0">
                <a:latin typeface="Times New Roman" panose="02020603050405020304" pitchFamily="18" charset="0"/>
                <a:ea typeface="Times New Roman" panose="02020603050405020304" pitchFamily="18" charset="0"/>
              </a:rPr>
              <a:t>transaminases modérée : 5 à 15 X N </a:t>
            </a:r>
            <a:r>
              <a:rPr lang="fr-FR" sz="2400" dirty="0" smtClean="0">
                <a:latin typeface="Times New Roman" panose="02020603050405020304" pitchFamily="18" charset="0"/>
                <a:ea typeface="Times New Roman" panose="02020603050405020304" pitchFamily="18" charset="0"/>
              </a:rPr>
              <a:t>lorsque ce dépasse</a:t>
            </a:r>
            <a:r>
              <a:rPr lang="fr-FR" sz="2400" dirty="0">
                <a:latin typeface="Abadi Extra Light" panose="020B0204020104020204" pitchFamily="34" charset="0"/>
                <a:ea typeface="Times New Roman" panose="02020603050405020304" pitchFamily="18" charset="0"/>
              </a:rPr>
              <a:t> </a:t>
            </a:r>
            <a:r>
              <a:rPr lang="fr-FR" sz="2400" dirty="0" smtClean="0">
                <a:latin typeface="Abadi Extra Light" panose="020B0204020104020204" pitchFamily="34" charset="0"/>
                <a:ea typeface="Times New Roman" panose="02020603050405020304" pitchFamily="18" charset="0"/>
              </a:rPr>
              <a:t>période de </a:t>
            </a:r>
            <a:r>
              <a:rPr lang="fr-FR" sz="2400" dirty="0" smtClean="0">
                <a:latin typeface="Times New Roman" panose="02020603050405020304" pitchFamily="18" charset="0"/>
                <a:ea typeface="Times New Roman" panose="02020603050405020304" pitchFamily="18" charset="0"/>
              </a:rPr>
              <a:t> </a:t>
            </a:r>
            <a:r>
              <a:rPr lang="fr-FR" sz="24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6</a:t>
            </a:r>
            <a:r>
              <a:rPr lang="fr-FR" sz="2400" baseline="300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ème</a:t>
            </a:r>
            <a:r>
              <a:rPr lang="fr-FR" sz="24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1800" dirty="0">
                <a:solidFill>
                  <a:schemeClr val="tx2"/>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ea typeface="Times New Roman" panose="02020603050405020304" pitchFamily="18" charset="0"/>
                <a:cs typeface="Times New Roman" panose="02020603050405020304" pitchFamily="18" charset="0"/>
              </a:rPr>
              <a:t>mois</a:t>
            </a:r>
          </a:p>
          <a:p>
            <a:pPr marL="2621280" lvl="5" indent="-342900">
              <a:buFontTx/>
              <a:buChar char="-"/>
            </a:pPr>
            <a:r>
              <a:rPr lang="fr-FR" sz="2400" dirty="0">
                <a:latin typeface="Times New Roman" panose="02020603050405020304" pitchFamily="18" charset="0"/>
                <a:ea typeface="Times New Roman" panose="02020603050405020304" pitchFamily="18" charset="0"/>
              </a:rPr>
              <a:t>Rapport de </a:t>
            </a:r>
            <a:r>
              <a:rPr lang="fr-FR" sz="2400" dirty="0" err="1">
                <a:latin typeface="Times New Roman" panose="02020603050405020304" pitchFamily="18" charset="0"/>
                <a:ea typeface="Times New Roman" panose="02020603050405020304" pitchFamily="18" charset="0"/>
              </a:rPr>
              <a:t>Ritis</a:t>
            </a:r>
            <a:r>
              <a:rPr lang="fr-FR" sz="2400" dirty="0">
                <a:latin typeface="Times New Roman" panose="02020603050405020304" pitchFamily="18" charset="0"/>
                <a:ea typeface="Times New Roman" panose="02020603050405020304" pitchFamily="18" charset="0"/>
              </a:rPr>
              <a:t> &gt;1 Pc défavorable</a:t>
            </a:r>
          </a:p>
          <a:p>
            <a:pPr marL="3535680" lvl="7" indent="-342900">
              <a:buFontTx/>
              <a:buChar char="-"/>
            </a:pPr>
            <a:endParaRPr lang="fr-FR" sz="240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384674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0" y="117230"/>
            <a:ext cx="9089518" cy="1320800"/>
          </a:xfrm>
        </p:spPr>
        <p:txBody>
          <a:bodyPr>
            <a:normAutofit/>
          </a:bodyPr>
          <a:lstStyle/>
          <a:p>
            <a:r>
              <a:rPr lang="fr-FR" b="1" dirty="0"/>
              <a:t>1-</a:t>
            </a:r>
            <a:r>
              <a:rPr lang="fr-FR" dirty="0"/>
              <a:t> </a:t>
            </a:r>
            <a:r>
              <a:rPr lang="fr-FR" b="1" dirty="0"/>
              <a:t>AMINO 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94826" y="816638"/>
            <a:ext cx="12002347" cy="6041362"/>
          </a:xfrm>
        </p:spPr>
        <p:txBody>
          <a:bodyPr>
            <a:normAutofit lnSpcReduction="10000"/>
          </a:bodyPr>
          <a:lstStyle/>
          <a:p>
            <a:pPr lvl="0">
              <a:buClr>
                <a:srgbClr val="90C226"/>
              </a:buClr>
              <a:buFont typeface="Wingdings" panose="05000000000000000000" pitchFamily="2" charset="2"/>
              <a:buChar char="q"/>
            </a:pPr>
            <a:r>
              <a:rPr lang="fr-FR" sz="3300" b="1" u="sng" dirty="0">
                <a:solidFill>
                  <a:srgbClr val="54A021"/>
                </a:solidFill>
              </a:rPr>
              <a:t>Variations pathologiques</a:t>
            </a:r>
            <a:endParaRPr lang="fr-FR" sz="3300" dirty="0">
              <a:solidFill>
                <a:srgbClr val="54A021"/>
              </a:solidFill>
            </a:endParaRPr>
          </a:p>
          <a:p>
            <a:pPr lvl="1">
              <a:buClr>
                <a:srgbClr val="90C226"/>
              </a:buClr>
              <a:buFont typeface="Wingdings" panose="05000000000000000000" pitchFamily="2" charset="2"/>
              <a:buChar char="Ø"/>
            </a:pPr>
            <a:r>
              <a:rPr lang="fr-FR" sz="3200" b="1" dirty="0">
                <a:solidFill>
                  <a:srgbClr val="54A021"/>
                </a:solidFill>
                <a:latin typeface="Abadi Extra Light" panose="020B0204020104020204" pitchFamily="34" charset="0"/>
              </a:rPr>
              <a:t>   </a:t>
            </a:r>
            <a:r>
              <a:rPr lang="fr-FR" sz="3200" b="1" u="sng" dirty="0">
                <a:solidFill>
                  <a:srgbClr val="54A021"/>
                </a:solidFill>
                <a:latin typeface="Abadi Extra Light" panose="020B0204020104020204" pitchFamily="34" charset="0"/>
              </a:rPr>
              <a:t>↑T</a:t>
            </a:r>
            <a:r>
              <a:rPr lang="fr-FR" sz="3200" b="1" u="sng" dirty="0">
                <a:solidFill>
                  <a:srgbClr val="54A021"/>
                </a:solidFill>
              </a:rPr>
              <a:t>ransaminases</a:t>
            </a:r>
            <a:endParaRPr lang="fr-FR" sz="3300" b="1" u="sng" dirty="0">
              <a:solidFill>
                <a:srgbClr val="54A021"/>
              </a:solidFill>
            </a:endParaRPr>
          </a:p>
          <a:p>
            <a:pPr marL="800100" lvl="2" indent="0">
              <a:buClr>
                <a:srgbClr val="90C226"/>
              </a:buClr>
              <a:buNone/>
            </a:pPr>
            <a:r>
              <a:rPr lang="fr-FR" sz="2800" b="1" i="1" dirty="0">
                <a:solidFill>
                  <a:prstClr val="black">
                    <a:lumMod val="75000"/>
                    <a:lumOff val="25000"/>
                  </a:prstClr>
                </a:solidFill>
              </a:rPr>
              <a:t>    A-Affections hépatiques</a:t>
            </a:r>
            <a:endParaRPr lang="fr-FR" b="1" dirty="0">
              <a:latin typeface="Times New Roman" panose="02020603050405020304" pitchFamily="18" charset="0"/>
              <a:ea typeface="Times New Roman" panose="02020603050405020304" pitchFamily="18" charset="0"/>
            </a:endParaRPr>
          </a:p>
          <a:p>
            <a:pPr marL="1714500" lvl="4" indent="0">
              <a:buNone/>
            </a:pPr>
            <a:r>
              <a:rPr lang="fr-FR" sz="2400" b="1" dirty="0">
                <a:latin typeface="Times New Roman" panose="02020603050405020304" pitchFamily="18" charset="0"/>
                <a:ea typeface="Times New Roman" panose="02020603050405020304" pitchFamily="18" charset="0"/>
              </a:rPr>
              <a:t>3- Autres affections hépatiques </a:t>
            </a:r>
            <a:r>
              <a:rPr lang="fr-FR" sz="2400" dirty="0">
                <a:latin typeface="Times New Roman" panose="02020603050405020304" pitchFamily="18" charset="0"/>
                <a:ea typeface="Times New Roman" panose="02020603050405020304" pitchFamily="18" charset="0"/>
              </a:rPr>
              <a:t>( ↑ modérée des transaminases</a:t>
            </a:r>
            <a:r>
              <a:rPr lang="fr-FR" sz="2400" dirty="0">
                <a:solidFill>
                  <a:prstClr val="black">
                    <a:lumMod val="75000"/>
                    <a:lumOff val="25000"/>
                  </a:prstClr>
                </a:solidFill>
                <a:latin typeface="Times New Roman" panose="02020603050405020304" pitchFamily="18" charset="0"/>
                <a:ea typeface="Times New Roman" panose="02020603050405020304" pitchFamily="18" charset="0"/>
              </a:rPr>
              <a:t> 5 à 15 X N</a:t>
            </a:r>
            <a:r>
              <a:rPr lang="fr-FR" sz="2400" dirty="0">
                <a:latin typeface="Times New Roman" panose="02020603050405020304" pitchFamily="18" charset="0"/>
                <a:ea typeface="Times New Roman" panose="02020603050405020304" pitchFamily="18" charset="0"/>
              </a:rPr>
              <a:t> ) </a:t>
            </a:r>
          </a:p>
          <a:p>
            <a:pPr lvl="5">
              <a:buFont typeface="Times New Roman" panose="02020603050405020304" pitchFamily="18" charset="0"/>
              <a:buChar char="-"/>
              <a:tabLst>
                <a:tab pos="1454785" algn="l"/>
                <a:tab pos="1600200" algn="l"/>
              </a:tabLst>
            </a:pPr>
            <a:r>
              <a:rPr lang="fr-FR" sz="2400" dirty="0">
                <a:solidFill>
                  <a:prstClr val="black">
                    <a:lumMod val="75000"/>
                    <a:lumOff val="25000"/>
                  </a:prstClr>
                </a:solidFill>
                <a:latin typeface="Times New Roman" panose="02020603050405020304" pitchFamily="18" charset="0"/>
                <a:ea typeface="Times New Roman" panose="02020603050405020304" pitchFamily="18" charset="0"/>
              </a:rPr>
              <a:t>Pathologies cholestatique diverses </a:t>
            </a:r>
          </a:p>
          <a:p>
            <a:pPr lvl="5">
              <a:buFont typeface="Times New Roman" panose="02020603050405020304" pitchFamily="18" charset="0"/>
              <a:buChar char="-"/>
              <a:tabLst>
                <a:tab pos="1454785" algn="l"/>
                <a:tab pos="1600200" algn="l"/>
              </a:tabLst>
            </a:pPr>
            <a:r>
              <a:rPr lang="fr-FR" sz="2400" dirty="0">
                <a:latin typeface="Times New Roman" panose="02020603050405020304" pitchFamily="18" charset="0"/>
                <a:ea typeface="Times New Roman" panose="02020603050405020304" pitchFamily="18" charset="0"/>
              </a:rPr>
              <a:t>Cirrhose (</a:t>
            </a:r>
            <a:r>
              <a:rPr lang="fr-FR" sz="2400" dirty="0">
                <a:solidFill>
                  <a:srgbClr val="FF0000"/>
                </a:solidFill>
                <a:latin typeface="Times New Roman" panose="02020603050405020304" pitchFamily="18" charset="0"/>
                <a:ea typeface="Times New Roman" panose="02020603050405020304" pitchFamily="18" charset="0"/>
              </a:rPr>
              <a:t>ASAT/ALAT&gt;1</a:t>
            </a:r>
            <a:r>
              <a:rPr lang="fr-FR" sz="2400" dirty="0">
                <a:latin typeface="Times New Roman" panose="02020603050405020304" pitchFamily="18" charset="0"/>
                <a:ea typeface="Times New Roman" panose="02020603050405020304" pitchFamily="18" charset="0"/>
              </a:rPr>
              <a:t>) </a:t>
            </a:r>
            <a:r>
              <a:rPr lang="fr-FR" sz="2400" dirty="0" smtClean="0">
                <a:latin typeface="Times New Roman" panose="02020603050405020304" pitchFamily="18" charset="0"/>
                <a:ea typeface="Times New Roman" panose="02020603050405020304" pitchFamily="18" charset="0"/>
              </a:rPr>
              <a:t>=&gt; atteinte grave</a:t>
            </a:r>
            <a:endParaRPr lang="fr-FR" sz="2400" dirty="0">
              <a:latin typeface="Times New Roman" panose="02020603050405020304" pitchFamily="18" charset="0"/>
              <a:ea typeface="Times New Roman" panose="02020603050405020304" pitchFamily="18" charset="0"/>
            </a:endParaRPr>
          </a:p>
          <a:p>
            <a:pPr lvl="5">
              <a:buFont typeface="Times New Roman" panose="02020603050405020304" pitchFamily="18" charset="0"/>
              <a:buChar char="-"/>
              <a:tabLst>
                <a:tab pos="1454785" algn="l"/>
                <a:tab pos="1600200" algn="l"/>
              </a:tabLst>
            </a:pPr>
            <a:r>
              <a:rPr lang="fr-FR" sz="2400" dirty="0">
                <a:latin typeface="Times New Roman" panose="02020603050405020304" pitchFamily="18" charset="0"/>
                <a:ea typeface="Times New Roman" panose="02020603050405020304" pitchFamily="18" charset="0"/>
              </a:rPr>
              <a:t>Stéatose alcoolique, stéatosique non alcoolique</a:t>
            </a:r>
          </a:p>
          <a:p>
            <a:pPr lvl="5">
              <a:buFont typeface="Times New Roman" panose="02020603050405020304" pitchFamily="18" charset="0"/>
              <a:buChar char="-"/>
              <a:tabLst>
                <a:tab pos="1454785" algn="l"/>
                <a:tab pos="1600200" algn="l"/>
              </a:tabLst>
            </a:pPr>
            <a:r>
              <a:rPr lang="fr-FR" sz="2400" dirty="0">
                <a:latin typeface="Times New Roman" panose="02020603050405020304" pitchFamily="18" charset="0"/>
                <a:ea typeface="Times New Roman" panose="02020603050405020304" pitchFamily="18" charset="0"/>
              </a:rPr>
              <a:t>Tm foie </a:t>
            </a:r>
          </a:p>
          <a:p>
            <a:pPr lvl="6">
              <a:buFont typeface="Times New Roman" panose="02020603050405020304" pitchFamily="18" charset="0"/>
              <a:buChar char="-"/>
              <a:tabLst>
                <a:tab pos="1454785" algn="l"/>
                <a:tab pos="1600200" algn="l"/>
              </a:tabLst>
            </a:pPr>
            <a:r>
              <a:rPr lang="fr-FR" sz="2400" dirty="0" err="1">
                <a:latin typeface="Arial" panose="020B0604020202020204" pitchFamily="34" charset="0"/>
                <a:ea typeface="Times New Roman" panose="02020603050405020304" pitchFamily="18" charset="0"/>
              </a:rPr>
              <a:t>I</a:t>
            </a:r>
            <a:r>
              <a:rPr lang="fr-FR" sz="2400" baseline="30000" dirty="0" err="1">
                <a:latin typeface="Arial" panose="020B0604020202020204" pitchFamily="34" charset="0"/>
                <a:ea typeface="Times New Roman" panose="02020603050405020304" pitchFamily="18" charset="0"/>
              </a:rPr>
              <a:t>ives</a:t>
            </a:r>
            <a:r>
              <a:rPr lang="fr-FR" sz="2400" baseline="30000" dirty="0">
                <a:latin typeface="Arial" panose="020B0604020202020204" pitchFamily="34" charset="0"/>
                <a:ea typeface="Times New Roman" panose="02020603050405020304" pitchFamily="18" charset="0"/>
              </a:rPr>
              <a:t>     </a:t>
            </a:r>
            <a:r>
              <a:rPr lang="fr-FR" sz="2400" dirty="0">
                <a:latin typeface="Times New Roman" panose="02020603050405020304" pitchFamily="18" charset="0"/>
                <a:ea typeface="Times New Roman" panose="02020603050405020304" pitchFamily="18" charset="0"/>
              </a:rPr>
              <a:t>: carcinome hépato-₡   </a:t>
            </a:r>
            <a:r>
              <a:rPr lang="fr-FR" sz="2400" dirty="0" smtClean="0">
                <a:latin typeface="Times New Roman" panose="02020603050405020304" pitchFamily="18" charset="0"/>
                <a:ea typeface="Times New Roman" panose="02020603050405020304" pitchFamily="18" charset="0"/>
              </a:rPr>
              <a:t>(Carcinome Hépato Cellulaire +++++) </a:t>
            </a:r>
            <a:endParaRPr lang="fr-FR" sz="2400" dirty="0">
              <a:latin typeface="Times New Roman" panose="02020603050405020304" pitchFamily="18" charset="0"/>
              <a:ea typeface="Times New Roman" panose="02020603050405020304" pitchFamily="18" charset="0"/>
            </a:endParaRPr>
          </a:p>
          <a:p>
            <a:pPr lvl="6">
              <a:buFont typeface="Times New Roman" panose="02020603050405020304" pitchFamily="18" charset="0"/>
              <a:buChar char="-"/>
              <a:tabLst>
                <a:tab pos="1454785" algn="l"/>
                <a:tab pos="1600200" algn="l"/>
              </a:tabLst>
            </a:pPr>
            <a:r>
              <a:rPr lang="fr-FR" sz="2400" dirty="0" err="1">
                <a:latin typeface="Arial" panose="020B0604020202020204" pitchFamily="34" charset="0"/>
                <a:ea typeface="Times New Roman" panose="02020603050405020304" pitchFamily="18" charset="0"/>
              </a:rPr>
              <a:t>II</a:t>
            </a:r>
            <a:r>
              <a:rPr lang="fr-FR" sz="2400" baseline="30000" dirty="0" err="1">
                <a:latin typeface="Arial" panose="020B0604020202020204" pitchFamily="34" charset="0"/>
                <a:ea typeface="Times New Roman" panose="02020603050405020304" pitchFamily="18" charset="0"/>
              </a:rPr>
              <a:t>aires</a:t>
            </a:r>
            <a:r>
              <a:rPr lang="fr-FR" sz="2400" baseline="30000" dirty="0">
                <a:latin typeface="Times New Roman" panose="02020603050405020304" pitchFamily="18" charset="0"/>
                <a:ea typeface="Times New Roman" panose="02020603050405020304" pitchFamily="18" charset="0"/>
              </a:rPr>
              <a:t>    </a:t>
            </a:r>
            <a:r>
              <a:rPr lang="fr-FR" sz="2400" dirty="0">
                <a:latin typeface="Times New Roman" panose="02020603050405020304" pitchFamily="18" charset="0"/>
                <a:ea typeface="Times New Roman" panose="02020603050405020304" pitchFamily="18" charset="0"/>
              </a:rPr>
              <a:t>:Métastases </a:t>
            </a:r>
            <a:r>
              <a:rPr lang="fr-FR" sz="2400" dirty="0" smtClean="0">
                <a:latin typeface="Times New Roman" panose="02020603050405020304" pitchFamily="18" charset="0"/>
                <a:ea typeface="Times New Roman" panose="02020603050405020304" pitchFamily="18" charset="0"/>
              </a:rPr>
              <a:t>secondaire (chez la femme le seine et le prostate chez l’homme)</a:t>
            </a:r>
            <a:endParaRPr lang="fr-FR" sz="2400" dirty="0">
              <a:latin typeface="Times New Roman" panose="02020603050405020304" pitchFamily="18" charset="0"/>
              <a:ea typeface="Times New Roman" panose="02020603050405020304" pitchFamily="18" charset="0"/>
            </a:endParaRPr>
          </a:p>
          <a:p>
            <a:pPr lvl="5">
              <a:buFont typeface="Times New Roman" panose="02020603050405020304" pitchFamily="18" charset="0"/>
              <a:buChar char="-"/>
              <a:tabLst>
                <a:tab pos="1454785" algn="l"/>
                <a:tab pos="1600200" algn="l"/>
              </a:tabLst>
            </a:pPr>
            <a:r>
              <a:rPr lang="fr-FR" sz="2400" dirty="0" smtClean="0">
                <a:latin typeface="Times New Roman" panose="02020603050405020304" pitchFamily="18" charset="0"/>
                <a:ea typeface="Times New Roman" panose="02020603050405020304" pitchFamily="18" charset="0"/>
              </a:rPr>
              <a:t>LVBP=&gt;lithiase du voie biliaire principale</a:t>
            </a:r>
            <a:endParaRPr lang="fr-FR" sz="240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8301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0" y="0"/>
            <a:ext cx="6064898" cy="313993"/>
          </a:xfrm>
        </p:spPr>
        <p:txBody>
          <a:bodyPr>
            <a:normAutofit fontScale="90000"/>
          </a:bodyPr>
          <a:lstStyle/>
          <a:p>
            <a:r>
              <a:rPr lang="fr-FR" sz="2400" b="1" dirty="0"/>
              <a:t>1-</a:t>
            </a:r>
            <a:r>
              <a:rPr lang="fr-FR" sz="2400" dirty="0"/>
              <a:t> </a:t>
            </a:r>
            <a:r>
              <a:rPr lang="fr-FR" sz="2400" b="1" dirty="0"/>
              <a:t>AMINO TRANSFERASES (</a:t>
            </a:r>
            <a:r>
              <a:rPr lang="fr-FR" sz="2400"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2088502" y="313993"/>
            <a:ext cx="17157052" cy="6925007"/>
          </a:xfrm>
        </p:spPr>
        <p:txBody>
          <a:bodyPr>
            <a:normAutofit fontScale="25000" lnSpcReduction="20000"/>
          </a:bodyPr>
          <a:lstStyle/>
          <a:p>
            <a:pPr lvl="0">
              <a:buClr>
                <a:srgbClr val="90C226"/>
              </a:buClr>
              <a:buFont typeface="Wingdings" panose="05000000000000000000" pitchFamily="2" charset="2"/>
              <a:buChar char="q"/>
            </a:pPr>
            <a:r>
              <a:rPr lang="fr-FR" sz="12800" b="1" u="sng" dirty="0">
                <a:solidFill>
                  <a:srgbClr val="54A021"/>
                </a:solidFill>
              </a:rPr>
              <a:t>Variations pathologiques</a:t>
            </a:r>
            <a:endParaRPr lang="fr-FR" sz="12800" b="1" dirty="0">
              <a:solidFill>
                <a:srgbClr val="54A021"/>
              </a:solidFill>
            </a:endParaRPr>
          </a:p>
          <a:p>
            <a:pPr lvl="1">
              <a:buClr>
                <a:srgbClr val="90C226"/>
              </a:buClr>
              <a:buFont typeface="Wingdings" panose="05000000000000000000" pitchFamily="2" charset="2"/>
              <a:buChar char="Ø"/>
            </a:pPr>
            <a:r>
              <a:rPr lang="fr-FR" sz="12800" b="1" dirty="0">
                <a:solidFill>
                  <a:srgbClr val="54A021"/>
                </a:solidFill>
                <a:latin typeface="Abadi Extra Light" panose="020B0204020104020204" pitchFamily="34" charset="0"/>
              </a:rPr>
              <a:t>   </a:t>
            </a:r>
            <a:r>
              <a:rPr lang="fr-FR" sz="12800" b="1" u="sng" dirty="0">
                <a:solidFill>
                  <a:srgbClr val="54A021"/>
                </a:solidFill>
                <a:latin typeface="Abadi Extra Light" panose="020B0204020104020204" pitchFamily="34" charset="0"/>
              </a:rPr>
              <a:t>↑</a:t>
            </a:r>
            <a:r>
              <a:rPr lang="fr-FR" sz="12800" b="1" u="sng" dirty="0" smtClean="0">
                <a:solidFill>
                  <a:srgbClr val="54A021"/>
                </a:solidFill>
                <a:latin typeface="Abadi Extra Light" panose="020B0204020104020204" pitchFamily="34" charset="0"/>
              </a:rPr>
              <a:t>T</a:t>
            </a:r>
            <a:r>
              <a:rPr lang="fr-FR" sz="12800" b="1" u="sng" dirty="0" smtClean="0">
                <a:solidFill>
                  <a:srgbClr val="54A021"/>
                </a:solidFill>
              </a:rPr>
              <a:t>ransaminases</a:t>
            </a:r>
            <a:endParaRPr lang="fr-FR" sz="5300" b="1" u="sng" dirty="0">
              <a:solidFill>
                <a:srgbClr val="54A021"/>
              </a:solidFill>
            </a:endParaRPr>
          </a:p>
          <a:p>
            <a:pPr marL="800100" lvl="2" indent="0">
              <a:buClr>
                <a:srgbClr val="90C226"/>
              </a:buClr>
              <a:buNone/>
            </a:pPr>
            <a:r>
              <a:rPr lang="fr-FR" sz="9600" b="1" dirty="0">
                <a:latin typeface="Times New Roman" panose="02020603050405020304" pitchFamily="18" charset="0"/>
                <a:ea typeface="Times New Roman" panose="02020603050405020304" pitchFamily="18" charset="0"/>
              </a:rPr>
              <a:t>B-Aff cardiaques : </a:t>
            </a:r>
            <a:r>
              <a:rPr lang="fr-FR" sz="9000" b="1" dirty="0">
                <a:latin typeface="Times New Roman" panose="02020603050405020304" pitchFamily="18" charset="0"/>
                <a:ea typeface="Times New Roman" panose="02020603050405020304" pitchFamily="18" charset="0"/>
              </a:rPr>
              <a:t>IDM </a:t>
            </a:r>
            <a:r>
              <a:rPr lang="fr-FR" sz="9000" b="1" dirty="0" smtClean="0">
                <a:latin typeface="Times New Roman" panose="02020603050405020304" pitchFamily="18" charset="0"/>
                <a:ea typeface="Times New Roman" panose="02020603050405020304" pitchFamily="18" charset="0"/>
              </a:rPr>
              <a:t>=&gt; pas de vascularisation donc nécrose =&gt;</a:t>
            </a:r>
            <a:r>
              <a:rPr lang="fr-FR" sz="9000" b="1"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fr-FR" sz="9200" b="1" dirty="0" smtClean="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 les deux mais +modérée </a:t>
            </a:r>
            <a:r>
              <a:rPr lang="fr-FR" sz="9000" b="1" dirty="0">
                <a:solidFill>
                  <a:srgbClr val="FF0000"/>
                </a:solidFill>
                <a:latin typeface="Times New Roman" panose="02020603050405020304" pitchFamily="18" charset="0"/>
                <a:ea typeface="Times New Roman" panose="02020603050405020304" pitchFamily="18" charset="0"/>
              </a:rPr>
              <a:t>ASAT</a:t>
            </a:r>
            <a:r>
              <a:rPr lang="fr-FR" sz="9000" b="1" dirty="0">
                <a:latin typeface="Times New Roman" panose="02020603050405020304" pitchFamily="18" charset="0"/>
                <a:ea typeface="Times New Roman" panose="02020603050405020304" pitchFamily="18" charset="0"/>
              </a:rPr>
              <a:t> 5-15X VN (cœur </a:t>
            </a:r>
            <a:r>
              <a:rPr lang="fr-FR" sz="9000" b="1" dirty="0" smtClean="0">
                <a:latin typeface="Times New Roman" panose="02020603050405020304" pitchFamily="18" charset="0"/>
                <a:ea typeface="Times New Roman" panose="02020603050405020304" pitchFamily="18" charset="0"/>
              </a:rPr>
              <a:t>plus </a:t>
            </a:r>
            <a:r>
              <a:rPr lang="fr-FR" sz="9000" b="1" dirty="0">
                <a:latin typeface="Times New Roman" panose="02020603050405020304" pitchFamily="18" charset="0"/>
                <a:ea typeface="Times New Roman" panose="02020603050405020304" pitchFamily="18" charset="0"/>
              </a:rPr>
              <a:t>riche </a:t>
            </a:r>
            <a:r>
              <a:rPr lang="fr-FR" sz="9000" b="1" dirty="0" smtClean="0">
                <a:latin typeface="Times New Roman" panose="02020603050405020304" pitchFamily="18" charset="0"/>
                <a:ea typeface="Times New Roman" panose="02020603050405020304" pitchFamily="18" charset="0"/>
              </a:rPr>
              <a:t>en ASAT</a:t>
            </a:r>
            <a:r>
              <a:rPr lang="fr-FR" sz="9000" b="1" dirty="0">
                <a:latin typeface="Times New Roman" panose="02020603050405020304" pitchFamily="18" charset="0"/>
                <a:ea typeface="Times New Roman" panose="02020603050405020304" pitchFamily="18" charset="0"/>
              </a:rPr>
              <a:t>) </a:t>
            </a:r>
          </a:p>
          <a:p>
            <a:pPr lvl="4">
              <a:buFont typeface="Times New Roman" panose="02020603050405020304" pitchFamily="18" charset="0"/>
              <a:buChar char="-"/>
              <a:tabLst>
                <a:tab pos="914400" algn="l"/>
                <a:tab pos="1821180" algn="l"/>
              </a:tabLst>
            </a:pPr>
            <a:r>
              <a:rPr lang="fr-FR" sz="9200" b="1" dirty="0">
                <a:latin typeface="Times New Roman" panose="02020603050405020304" pitchFamily="18" charset="0"/>
                <a:ea typeface="Times New Roman" panose="02020603050405020304" pitchFamily="18" charset="0"/>
              </a:rPr>
              <a:t>Début </a:t>
            </a:r>
            <a:r>
              <a:rPr lang="fr-FR" sz="9200" b="1" dirty="0" smtClean="0">
                <a:latin typeface="Times New Roman" panose="02020603050405020304" pitchFamily="18" charset="0"/>
                <a:ea typeface="Times New Roman" panose="02020603050405020304" pitchFamily="18" charset="0"/>
              </a:rPr>
              <a:t> après</a:t>
            </a:r>
            <a:r>
              <a:rPr lang="fr-FR" sz="9200" b="1" dirty="0" smtClean="0">
                <a:latin typeface="Abadi Extra Light" panose="020B0204020104020204" pitchFamily="34" charset="0"/>
                <a:ea typeface="Times New Roman" panose="02020603050405020304" pitchFamily="18" charset="0"/>
              </a:rPr>
              <a:t>↑</a:t>
            </a:r>
            <a:r>
              <a:rPr lang="fr-FR" sz="9200" b="1" dirty="0" smtClean="0">
                <a:latin typeface="Times New Roman" panose="02020603050405020304" pitchFamily="18" charset="0"/>
                <a:ea typeface="Times New Roman" panose="02020603050405020304" pitchFamily="18" charset="0"/>
              </a:rPr>
              <a:t> </a:t>
            </a:r>
            <a:r>
              <a:rPr lang="fr-FR" sz="9200" b="1" dirty="0">
                <a:latin typeface="Times New Roman" panose="02020603050405020304" pitchFamily="18" charset="0"/>
                <a:ea typeface="Times New Roman" panose="02020603050405020304" pitchFamily="18" charset="0"/>
              </a:rPr>
              <a:t>12 h </a:t>
            </a:r>
          </a:p>
          <a:p>
            <a:pPr lvl="4">
              <a:buFont typeface="Times New Roman" panose="02020603050405020304" pitchFamily="18" charset="0"/>
              <a:buChar char="-"/>
              <a:tabLst>
                <a:tab pos="914400" algn="l"/>
                <a:tab pos="1821180" algn="l"/>
              </a:tabLst>
            </a:pPr>
            <a:r>
              <a:rPr lang="fr-FR" sz="9200" b="1" dirty="0">
                <a:latin typeface="Times New Roman" panose="02020603050405020304" pitchFamily="18" charset="0"/>
                <a:ea typeface="Times New Roman" panose="02020603050405020304" pitchFamily="18" charset="0"/>
              </a:rPr>
              <a:t>Max </a:t>
            </a:r>
            <a:r>
              <a:rPr lang="fr-FR" sz="9200" b="1" dirty="0" smtClean="0">
                <a:latin typeface="Times New Roman" panose="02020603050405020304" pitchFamily="18" charset="0"/>
                <a:ea typeface="Times New Roman" panose="02020603050405020304" pitchFamily="18" charset="0"/>
              </a:rPr>
              <a:t>donc le </a:t>
            </a:r>
            <a:r>
              <a:rPr lang="fr-FR" sz="9200" b="1" dirty="0">
                <a:latin typeface="Times New Roman" panose="02020603050405020304" pitchFamily="18" charset="0"/>
                <a:ea typeface="Times New Roman" panose="02020603050405020304" pitchFamily="18" charset="0"/>
              </a:rPr>
              <a:t>pic au </a:t>
            </a:r>
            <a:r>
              <a:rPr lang="fr-FR" sz="9200" b="1" dirty="0" smtClean="0">
                <a:latin typeface="Times New Roman" panose="02020603050405020304" pitchFamily="18" charset="0"/>
                <a:ea typeface="Times New Roman" panose="02020603050405020304" pitchFamily="18" charset="0"/>
              </a:rPr>
              <a:t>bout 24 </a:t>
            </a:r>
            <a:r>
              <a:rPr lang="fr-FR" sz="9200" b="1" dirty="0">
                <a:latin typeface="Times New Roman" panose="02020603050405020304" pitchFamily="18" charset="0"/>
                <a:ea typeface="Times New Roman" panose="02020603050405020304" pitchFamily="18" charset="0"/>
              </a:rPr>
              <a:t>h </a:t>
            </a:r>
          </a:p>
          <a:p>
            <a:pPr lvl="4">
              <a:buFont typeface="Times New Roman" panose="02020603050405020304" pitchFamily="18" charset="0"/>
              <a:buChar char="-"/>
              <a:tabLst>
                <a:tab pos="914400" algn="l"/>
                <a:tab pos="1896745" algn="l"/>
              </a:tabLst>
            </a:pPr>
            <a:r>
              <a:rPr lang="fr-FR" sz="9200" b="1" dirty="0">
                <a:latin typeface="Times New Roman" panose="02020603050405020304" pitchFamily="18" charset="0"/>
                <a:ea typeface="Times New Roman" panose="02020603050405020304" pitchFamily="18" charset="0"/>
              </a:rPr>
              <a:t>Retour N 4- 5 j </a:t>
            </a:r>
            <a:r>
              <a:rPr lang="fr-FR" sz="9200" b="1" dirty="0" smtClean="0">
                <a:latin typeface="Times New Roman" panose="02020603050405020304" pitchFamily="18" charset="0"/>
                <a:ea typeface="Times New Roman" panose="02020603050405020304" pitchFamily="18" charset="0"/>
              </a:rPr>
              <a:t>après l’IDM</a:t>
            </a:r>
            <a:endParaRPr lang="fr-FR" sz="9200" b="1" dirty="0">
              <a:latin typeface="Times New Roman" panose="02020603050405020304" pitchFamily="18" charset="0"/>
              <a:ea typeface="Times New Roman" panose="02020603050405020304" pitchFamily="18" charset="0"/>
            </a:endParaRPr>
          </a:p>
          <a:p>
            <a:pPr marL="0" indent="0">
              <a:buNone/>
            </a:pPr>
            <a:r>
              <a:rPr lang="fr-FR" sz="9600" b="1" dirty="0">
                <a:latin typeface="Times New Roman" panose="02020603050405020304" pitchFamily="18" charset="0"/>
                <a:ea typeface="Times New Roman" panose="02020603050405020304" pitchFamily="18" charset="0"/>
              </a:rPr>
              <a:t>            C-Aff  musculaires : </a:t>
            </a:r>
            <a:r>
              <a:rPr lang="fr-FR" sz="9200" b="1" dirty="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 modérée </a:t>
            </a:r>
            <a:r>
              <a:rPr lang="fr-FR" sz="9200" b="1" dirty="0" smtClean="0">
                <a:solidFill>
                  <a:prstClr val="black">
                    <a:lumMod val="75000"/>
                    <a:lumOff val="25000"/>
                  </a:prstClr>
                </a:solidFill>
                <a:latin typeface="Times New Roman" panose="02020603050405020304" pitchFamily="18" charset="0"/>
                <a:ea typeface="Times New Roman" panose="02020603050405020304" pitchFamily="18" charset="0"/>
                <a:cs typeface="Times New Roman" panose="02020603050405020304" pitchFamily="18" charset="0"/>
              </a:rPr>
              <a:t>mais+++</a:t>
            </a:r>
            <a:r>
              <a:rPr lang="fr-FR" sz="9200" b="1" dirty="0" smtClean="0">
                <a:solidFill>
                  <a:srgbClr val="FF0000"/>
                </a:solidFill>
                <a:latin typeface="Times New Roman" panose="02020603050405020304" pitchFamily="18" charset="0"/>
                <a:ea typeface="Times New Roman" panose="02020603050405020304" pitchFamily="18" charset="0"/>
              </a:rPr>
              <a:t>ASAT</a:t>
            </a:r>
            <a:r>
              <a:rPr lang="fr-FR" sz="9200" b="1" dirty="0" smtClean="0">
                <a:solidFill>
                  <a:prstClr val="black">
                    <a:lumMod val="75000"/>
                    <a:lumOff val="25000"/>
                  </a:prstClr>
                </a:solidFill>
                <a:latin typeface="Times New Roman" panose="02020603050405020304" pitchFamily="18" charset="0"/>
                <a:ea typeface="Times New Roman" panose="02020603050405020304" pitchFamily="18" charset="0"/>
              </a:rPr>
              <a:t> </a:t>
            </a:r>
            <a:r>
              <a:rPr lang="fr-FR" sz="9200" b="1" dirty="0">
                <a:solidFill>
                  <a:prstClr val="black">
                    <a:lumMod val="75000"/>
                    <a:lumOff val="25000"/>
                  </a:prstClr>
                </a:solidFill>
                <a:latin typeface="Times New Roman" panose="02020603050405020304" pitchFamily="18" charset="0"/>
                <a:ea typeface="Times New Roman" panose="02020603050405020304" pitchFamily="18" charset="0"/>
              </a:rPr>
              <a:t>5-15X VN </a:t>
            </a:r>
            <a:endParaRPr lang="fr-FR" sz="9600" b="1" dirty="0">
              <a:latin typeface="Times New Roman" panose="02020603050405020304" pitchFamily="18" charset="0"/>
              <a:ea typeface="Times New Roman" panose="02020603050405020304" pitchFamily="18" charset="0"/>
            </a:endParaRPr>
          </a:p>
          <a:p>
            <a:pPr lvl="3">
              <a:buFont typeface="Times New Roman" panose="02020603050405020304" pitchFamily="18" charset="0"/>
              <a:buChar char="-"/>
              <a:tabLst>
                <a:tab pos="2117725" algn="l"/>
                <a:tab pos="2263140" algn="l"/>
              </a:tabLst>
            </a:pPr>
            <a:r>
              <a:rPr lang="fr-FR" sz="9000" b="1" dirty="0">
                <a:latin typeface="Times New Roman" panose="02020603050405020304" pitchFamily="18" charset="0"/>
                <a:ea typeface="Times New Roman" panose="02020603050405020304" pitchFamily="18" charset="0"/>
              </a:rPr>
              <a:t>Lésions musculaires étendues, dermatomyosite, myopathies, </a:t>
            </a:r>
            <a:r>
              <a:rPr lang="fr-FR" sz="9000" b="1" dirty="0" smtClean="0">
                <a:latin typeface="Times New Roman" panose="02020603050405020304" pitchFamily="18" charset="0"/>
                <a:ea typeface="Times New Roman" panose="02020603050405020304" pitchFamily="18" charset="0"/>
              </a:rPr>
              <a:t>rhabdomyolyse</a:t>
            </a:r>
            <a:endParaRPr lang="fr-FR" sz="9000" b="1" dirty="0">
              <a:latin typeface="Times New Roman" panose="02020603050405020304" pitchFamily="18" charset="0"/>
              <a:ea typeface="Times New Roman" panose="02020603050405020304" pitchFamily="18" charset="0"/>
            </a:endParaRPr>
          </a:p>
          <a:p>
            <a:pPr marL="400050" lvl="1" indent="0">
              <a:buNone/>
            </a:pPr>
            <a:r>
              <a:rPr lang="fr-FR" sz="9400" b="1" dirty="0">
                <a:latin typeface="Times New Roman" panose="02020603050405020304" pitchFamily="18" charset="0"/>
                <a:ea typeface="Times New Roman" panose="02020603050405020304" pitchFamily="18" charset="0"/>
              </a:rPr>
              <a:t>      D-Autres Aff : ↑modérée des </a:t>
            </a:r>
            <a:r>
              <a:rPr lang="fr-FR" sz="9400" b="1" dirty="0">
                <a:solidFill>
                  <a:srgbClr val="FF0000"/>
                </a:solidFill>
                <a:latin typeface="Times New Roman" panose="02020603050405020304" pitchFamily="18" charset="0"/>
                <a:ea typeface="Times New Roman" panose="02020603050405020304" pitchFamily="18" charset="0"/>
              </a:rPr>
              <a:t>transaminases</a:t>
            </a:r>
            <a:r>
              <a:rPr lang="fr-FR" sz="9400" b="1" dirty="0">
                <a:latin typeface="Times New Roman" panose="02020603050405020304" pitchFamily="18" charset="0"/>
                <a:ea typeface="Times New Roman" panose="02020603050405020304" pitchFamily="18" charset="0"/>
              </a:rPr>
              <a:t> </a:t>
            </a:r>
            <a:r>
              <a:rPr lang="fr-FR" sz="9200" b="1" dirty="0">
                <a:solidFill>
                  <a:prstClr val="black">
                    <a:lumMod val="75000"/>
                    <a:lumOff val="25000"/>
                  </a:prstClr>
                </a:solidFill>
                <a:latin typeface="Times New Roman" panose="02020603050405020304" pitchFamily="18" charset="0"/>
                <a:ea typeface="Times New Roman" panose="02020603050405020304" pitchFamily="18" charset="0"/>
              </a:rPr>
              <a:t>5-15X VN </a:t>
            </a:r>
            <a:endParaRPr lang="fr-FR" sz="9400" b="1" dirty="0">
              <a:latin typeface="Times New Roman" panose="02020603050405020304" pitchFamily="18" charset="0"/>
              <a:ea typeface="Times New Roman" panose="02020603050405020304" pitchFamily="18" charset="0"/>
            </a:endParaRPr>
          </a:p>
          <a:p>
            <a:pPr lvl="3">
              <a:buFont typeface="Times New Roman" panose="02020603050405020304" pitchFamily="18" charset="0"/>
              <a:buChar char="-"/>
              <a:tabLst>
                <a:tab pos="2263140" algn="l"/>
                <a:tab pos="2338705" algn="l"/>
              </a:tabLst>
            </a:pPr>
            <a:r>
              <a:rPr lang="fr-FR" sz="9000" b="1" dirty="0" smtClean="0">
                <a:latin typeface="Times New Roman" panose="02020603050405020304" pitchFamily="18" charset="0"/>
                <a:ea typeface="Times New Roman" panose="02020603050405020304" pitchFamily="18" charset="0"/>
              </a:rPr>
              <a:t>Mala</a:t>
            </a:r>
            <a:r>
              <a:rPr lang="fr-FR" sz="8000" b="1" dirty="0" smtClean="0">
                <a:latin typeface="Times New Roman" panose="02020603050405020304" pitchFamily="18" charset="0"/>
                <a:ea typeface="Times New Roman" panose="02020603050405020304" pitchFamily="18" charset="0"/>
              </a:rPr>
              <a:t>dies</a:t>
            </a:r>
            <a:r>
              <a:rPr lang="fr-FR" sz="9000" b="1" dirty="0" smtClean="0">
                <a:latin typeface="Times New Roman" panose="02020603050405020304" pitchFamily="18" charset="0"/>
                <a:ea typeface="Times New Roman" panose="02020603050405020304" pitchFamily="18" charset="0"/>
              </a:rPr>
              <a:t> </a:t>
            </a:r>
            <a:r>
              <a:rPr lang="fr-FR" sz="9000" b="1" dirty="0">
                <a:latin typeface="Times New Roman" panose="02020603050405020304" pitchFamily="18" charset="0"/>
                <a:ea typeface="Times New Roman" panose="02020603050405020304" pitchFamily="18" charset="0"/>
              </a:rPr>
              <a:t>de surcharge : hémochromatose, </a:t>
            </a:r>
            <a:r>
              <a:rPr lang="fr-FR" sz="9000" b="1" dirty="0" smtClean="0">
                <a:latin typeface="Times New Roman" panose="02020603050405020304" pitchFamily="18" charset="0"/>
                <a:ea typeface="Times New Roman" panose="02020603050405020304" pitchFamily="18" charset="0"/>
              </a:rPr>
              <a:t>Mala</a:t>
            </a:r>
            <a:r>
              <a:rPr lang="fr-FR" sz="8000" b="1" dirty="0" smtClean="0">
                <a:latin typeface="Times New Roman" panose="02020603050405020304" pitchFamily="18" charset="0"/>
                <a:ea typeface="Times New Roman" panose="02020603050405020304" pitchFamily="18" charset="0"/>
              </a:rPr>
              <a:t>die</a:t>
            </a:r>
            <a:r>
              <a:rPr lang="fr-FR" sz="9000" b="1" dirty="0" smtClean="0">
                <a:latin typeface="Times New Roman" panose="02020603050405020304" pitchFamily="18" charset="0"/>
                <a:ea typeface="Times New Roman" panose="02020603050405020304" pitchFamily="18" charset="0"/>
              </a:rPr>
              <a:t> </a:t>
            </a:r>
            <a:r>
              <a:rPr lang="fr-FR" sz="9000" b="1" dirty="0">
                <a:latin typeface="Times New Roman" panose="02020603050405020304" pitchFamily="18" charset="0"/>
                <a:ea typeface="Times New Roman" panose="02020603050405020304" pitchFamily="18" charset="0"/>
              </a:rPr>
              <a:t>de Wilson</a:t>
            </a:r>
          </a:p>
          <a:p>
            <a:pPr lvl="3">
              <a:buFont typeface="Times New Roman" panose="02020603050405020304" pitchFamily="18" charset="0"/>
              <a:buChar char="-"/>
              <a:tabLst>
                <a:tab pos="2263140" algn="l"/>
                <a:tab pos="2338705" algn="l"/>
              </a:tabLst>
            </a:pPr>
            <a:r>
              <a:rPr lang="fr-FR" sz="9000" b="1" dirty="0">
                <a:latin typeface="Times New Roman" panose="02020603050405020304" pitchFamily="18" charset="0"/>
                <a:ea typeface="Times New Roman" panose="02020603050405020304" pitchFamily="18" charset="0"/>
              </a:rPr>
              <a:t>Diabète, déficit ɑ1 antitrypsine</a:t>
            </a:r>
            <a:endParaRPr lang="fr-FR" sz="8000" b="1" dirty="0">
              <a:latin typeface="Times New Roman" panose="02020603050405020304" pitchFamily="18" charset="0"/>
              <a:ea typeface="Times New Roman" panose="02020603050405020304" pitchFamily="18" charset="0"/>
            </a:endParaRPr>
          </a:p>
          <a:p>
            <a:pPr lvl="3">
              <a:buFont typeface="Times New Roman" panose="02020603050405020304" pitchFamily="18" charset="0"/>
              <a:buChar char="-"/>
              <a:tabLst>
                <a:tab pos="2263140" algn="l"/>
                <a:tab pos="2338705" algn="l"/>
              </a:tabLst>
            </a:pPr>
            <a:r>
              <a:rPr lang="fr-FR" sz="9600" b="1" dirty="0">
                <a:latin typeface="Times New Roman" panose="02020603050405020304" pitchFamily="18" charset="0"/>
                <a:ea typeface="Times New Roman" panose="02020603050405020304" pitchFamily="18" charset="0"/>
              </a:rPr>
              <a:t>Embolie </a:t>
            </a:r>
            <a:r>
              <a:rPr lang="fr-FR" sz="9600" b="1" dirty="0" smtClean="0">
                <a:latin typeface="Times New Roman" panose="02020603050405020304" pitchFamily="18" charset="0"/>
                <a:ea typeface="Times New Roman" panose="02020603050405020304" pitchFamily="18" charset="0"/>
              </a:rPr>
              <a:t>Pulmonaire </a:t>
            </a:r>
            <a:r>
              <a:rPr lang="fr-FR" sz="9600" b="1" dirty="0">
                <a:latin typeface="Times New Roman" panose="02020603050405020304" pitchFamily="18" charset="0"/>
                <a:ea typeface="Times New Roman" panose="02020603050405020304" pitchFamily="18" charset="0"/>
              </a:rPr>
              <a:t>, </a:t>
            </a:r>
            <a:r>
              <a:rPr lang="fr-FR" sz="9600" b="1" dirty="0" smtClean="0">
                <a:latin typeface="Times New Roman" panose="02020603050405020304" pitchFamily="18" charset="0"/>
                <a:ea typeface="Times New Roman" panose="02020603050405020304" pitchFamily="18" charset="0"/>
              </a:rPr>
              <a:t>Anémie Hémolytiques =&gt;hémolyse en vivo</a:t>
            </a:r>
            <a:endParaRPr lang="fr-FR" sz="9600" b="1" dirty="0">
              <a:latin typeface="Times New Roman" panose="02020603050405020304" pitchFamily="18" charset="0"/>
              <a:ea typeface="Times New Roman" panose="02020603050405020304" pitchFamily="18" charset="0"/>
            </a:endParaRPr>
          </a:p>
          <a:p>
            <a:pPr lvl="3">
              <a:buFont typeface="Times New Roman" panose="02020603050405020304" pitchFamily="18" charset="0"/>
              <a:buChar char="-"/>
              <a:tabLst>
                <a:tab pos="2263140" algn="l"/>
                <a:tab pos="2338705" algn="l"/>
              </a:tabLst>
            </a:pPr>
            <a:r>
              <a:rPr lang="fr-FR" sz="9600" b="1" dirty="0" smtClean="0">
                <a:latin typeface="Times New Roman" panose="02020603050405020304" pitchFamily="18" charset="0"/>
                <a:ea typeface="Times New Roman" panose="02020603050405020304" pitchFamily="18" charset="0"/>
              </a:rPr>
              <a:t>Si en recherche toute ses pathologies et y a aucune signe clinique ou biologique ou radiologique en favoris de cette augmentation et l’explique donc c’est évoque en dernier mieux la Macro enzyme=&gt;Enz en niveau sang se lie différente </a:t>
            </a:r>
            <a:r>
              <a:rPr lang="fr-FR" sz="9600" b="1" dirty="0" smtClean="0">
                <a:solidFill>
                  <a:srgbClr val="FF0000"/>
                </a:solidFill>
                <a:latin typeface="Times New Roman" panose="02020603050405020304" pitchFamily="18" charset="0"/>
                <a:ea typeface="Times New Roman" panose="02020603050405020304" pitchFamily="18" charset="0"/>
              </a:rPr>
              <a:t>IG </a:t>
            </a:r>
            <a:r>
              <a:rPr lang="fr-FR" sz="9600" b="1" dirty="0" smtClean="0">
                <a:latin typeface="Times New Roman" panose="02020603050405020304" pitchFamily="18" charset="0"/>
                <a:ea typeface="Times New Roman" panose="02020603050405020304" pitchFamily="18" charset="0"/>
              </a:rPr>
              <a:t>se forme complexe </a:t>
            </a:r>
            <a:r>
              <a:rPr lang="fr-FR" sz="9600" b="1" dirty="0">
                <a:solidFill>
                  <a:srgbClr val="FF0000"/>
                </a:solidFill>
                <a:latin typeface="Times New Roman" panose="02020603050405020304" pitchFamily="18" charset="0"/>
                <a:ea typeface="Times New Roman" panose="02020603050405020304" pitchFamily="18" charset="0"/>
              </a:rPr>
              <a:t>Enz-IG</a:t>
            </a:r>
            <a:r>
              <a:rPr lang="fr-FR" sz="9600" b="1" dirty="0">
                <a:latin typeface="Times New Roman" panose="02020603050405020304" pitchFamily="18" charset="0"/>
                <a:ea typeface="Times New Roman" panose="02020603050405020304" pitchFamily="18" charset="0"/>
              </a:rPr>
              <a:t> (</a:t>
            </a:r>
            <a:r>
              <a:rPr lang="fr-FR" sz="9600" b="1" dirty="0">
                <a:solidFill>
                  <a:srgbClr val="FF0000"/>
                </a:solidFill>
                <a:latin typeface="Times New Roman" panose="02020603050405020304" pitchFamily="18" charset="0"/>
                <a:ea typeface="Times New Roman" panose="02020603050405020304" pitchFamily="18" charset="0"/>
              </a:rPr>
              <a:t>poids M</a:t>
            </a:r>
            <a:r>
              <a:rPr lang="fr-FR" sz="9600" b="1" dirty="0">
                <a:latin typeface="Times New Roman" panose="02020603050405020304" pitchFamily="18" charset="0"/>
                <a:ea typeface="Times New Roman" panose="02020603050405020304" pitchFamily="18" charset="0"/>
              </a:rPr>
              <a:t>↑↑↑) </a:t>
            </a:r>
            <a:r>
              <a:rPr lang="fr-FR" sz="9600" b="1" dirty="0" smtClean="0">
                <a:latin typeface="Times New Roman" panose="02020603050405020304" pitchFamily="18" charset="0"/>
                <a:ea typeface="Times New Roman" panose="02020603050405020304" pitchFamily="18" charset="0"/>
              </a:rPr>
              <a:t>donc lorsque en dose l’enzyme en dose le complexe par erreur donc fausse augmentation=&gt; en peut refaire le dosage par des méthode entraine la lyse de la liaison et donc la libération d’enzyme</a:t>
            </a:r>
            <a:endParaRPr lang="fr-FR" sz="9600" b="1" dirty="0">
              <a:latin typeface="Times New Roman" panose="02020603050405020304" pitchFamily="18" charset="0"/>
              <a:ea typeface="Times New Roman" panose="02020603050405020304" pitchFamily="18" charset="0"/>
            </a:endParaRPr>
          </a:p>
          <a:p>
            <a:pPr lvl="3">
              <a:buFont typeface="Times New Roman" panose="02020603050405020304" pitchFamily="18" charset="0"/>
              <a:buChar char="-"/>
              <a:tabLst>
                <a:tab pos="2263140" algn="l"/>
                <a:tab pos="2338705" algn="l"/>
              </a:tabLst>
            </a:pPr>
            <a:endParaRPr lang="fr-FR" sz="8000" dirty="0">
              <a:latin typeface="Times New Roman" panose="02020603050405020304" pitchFamily="18" charset="0"/>
              <a:ea typeface="Times New Roman" panose="02020603050405020304" pitchFamily="18" charset="0"/>
            </a:endParaRPr>
          </a:p>
          <a:p>
            <a:pPr lvl="3">
              <a:buFont typeface="Times New Roman" panose="02020603050405020304" pitchFamily="18" charset="0"/>
              <a:buChar char="-"/>
              <a:tabLst>
                <a:tab pos="2263140" algn="l"/>
                <a:tab pos="2338705" algn="l"/>
              </a:tabLst>
            </a:pPr>
            <a:endParaRPr lang="fr-FR" sz="8000" dirty="0">
              <a:latin typeface="Times New Roman" panose="02020603050405020304" pitchFamily="18" charset="0"/>
              <a:ea typeface="Times New Roman" panose="02020603050405020304" pitchFamily="18" charset="0"/>
            </a:endParaRPr>
          </a:p>
          <a:p>
            <a:pPr marL="800100" lvl="2" indent="0">
              <a:buNone/>
            </a:pPr>
            <a:r>
              <a:rPr lang="fr-FR" sz="9200" dirty="0"/>
              <a:t> </a:t>
            </a:r>
          </a:p>
          <a:p>
            <a:endParaRPr lang="fr-FR" dirty="0"/>
          </a:p>
        </p:txBody>
      </p:sp>
    </p:spTree>
    <p:extLst>
      <p:ext uri="{BB962C8B-B14F-4D97-AF65-F5344CB8AC3E}">
        <p14:creationId xmlns:p14="http://schemas.microsoft.com/office/powerpoint/2010/main" val="551520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4D4B00-31E3-4505-AD69-18F9C647E176}"/>
              </a:ext>
            </a:extLst>
          </p:cNvPr>
          <p:cNvSpPr>
            <a:spLocks noGrp="1"/>
          </p:cNvSpPr>
          <p:nvPr>
            <p:ph type="title"/>
          </p:nvPr>
        </p:nvSpPr>
        <p:spPr>
          <a:xfrm>
            <a:off x="677334" y="609600"/>
            <a:ext cx="9089518" cy="1320800"/>
          </a:xfrm>
        </p:spPr>
        <p:txBody>
          <a:bodyPr>
            <a:normAutofit/>
          </a:bodyPr>
          <a:lstStyle/>
          <a:p>
            <a:r>
              <a:rPr lang="fr-FR" b="1" dirty="0"/>
              <a:t>1-</a:t>
            </a:r>
            <a:r>
              <a:rPr lang="fr-FR" dirty="0"/>
              <a:t> </a:t>
            </a:r>
            <a:r>
              <a:rPr lang="fr-FR" b="1" dirty="0"/>
              <a:t>AMINO TRANSFERASES (</a:t>
            </a:r>
            <a:r>
              <a:rPr lang="fr-FR" dirty="0"/>
              <a:t>transaminases)</a:t>
            </a:r>
          </a:p>
        </p:txBody>
      </p:sp>
      <p:sp>
        <p:nvSpPr>
          <p:cNvPr id="3" name="Espace réservé du contenu 2">
            <a:extLst>
              <a:ext uri="{FF2B5EF4-FFF2-40B4-BE49-F238E27FC236}">
                <a16:creationId xmlns="" xmlns:a16="http://schemas.microsoft.com/office/drawing/2014/main" id="{E9B78DA2-330D-4869-B56E-3B4166F97664}"/>
              </a:ext>
            </a:extLst>
          </p:cNvPr>
          <p:cNvSpPr>
            <a:spLocks noGrp="1"/>
          </p:cNvSpPr>
          <p:nvPr>
            <p:ph idx="1"/>
          </p:nvPr>
        </p:nvSpPr>
        <p:spPr>
          <a:xfrm>
            <a:off x="677333" y="1815548"/>
            <a:ext cx="10374979" cy="3112053"/>
          </a:xfrm>
        </p:spPr>
        <p:txBody>
          <a:bodyPr>
            <a:normAutofit fontScale="92500" lnSpcReduction="10000"/>
          </a:bodyPr>
          <a:lstStyle/>
          <a:p>
            <a:pPr>
              <a:buFont typeface="Wingdings" panose="05000000000000000000" pitchFamily="2" charset="2"/>
              <a:buChar char="q"/>
            </a:pPr>
            <a:r>
              <a:rPr lang="fr-FR" sz="3900" b="1" u="sng" dirty="0">
                <a:solidFill>
                  <a:schemeClr val="accent2"/>
                </a:solidFill>
              </a:rPr>
              <a:t>Interférences médicamenteuses </a:t>
            </a:r>
          </a:p>
          <a:p>
            <a:pPr marL="0" indent="0">
              <a:buNone/>
            </a:pPr>
            <a:endParaRPr lang="fr-FR" sz="4000" dirty="0"/>
          </a:p>
          <a:p>
            <a:pPr lvl="1">
              <a:buFont typeface="Arial" panose="020B0604020202020204" pitchFamily="34" charset="0"/>
              <a:buChar char="•"/>
            </a:pPr>
            <a:r>
              <a:rPr lang="fr-FR" sz="3500" b="1" dirty="0"/>
              <a:t>Contraceptifs oraux</a:t>
            </a:r>
          </a:p>
          <a:p>
            <a:pPr lvl="1">
              <a:buFont typeface="Arial" panose="020B0604020202020204" pitchFamily="34" charset="0"/>
              <a:buChar char="•"/>
            </a:pPr>
            <a:r>
              <a:rPr lang="fr-FR" sz="3500" b="1" dirty="0"/>
              <a:t>Antiépileptiques</a:t>
            </a:r>
          </a:p>
          <a:p>
            <a:pPr marL="0" indent="0">
              <a:buNone/>
            </a:pPr>
            <a:r>
              <a:rPr lang="fr-FR" sz="4000" dirty="0"/>
              <a:t> </a:t>
            </a:r>
          </a:p>
          <a:p>
            <a:endParaRPr lang="fr-FR" dirty="0"/>
          </a:p>
        </p:txBody>
      </p:sp>
      <p:sp>
        <p:nvSpPr>
          <p:cNvPr id="4" name="Rectangle 3">
            <a:extLst>
              <a:ext uri="{FF2B5EF4-FFF2-40B4-BE49-F238E27FC236}">
                <a16:creationId xmlns="" xmlns:a16="http://schemas.microsoft.com/office/drawing/2014/main" id="{855D3435-1FA3-4B49-8265-6440EB9C4C6A}"/>
              </a:ext>
            </a:extLst>
          </p:cNvPr>
          <p:cNvSpPr/>
          <p:nvPr/>
        </p:nvSpPr>
        <p:spPr>
          <a:xfrm>
            <a:off x="5864822" y="3348382"/>
            <a:ext cx="3865150" cy="5875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solidFill>
                  <a:schemeClr val="accent1"/>
                </a:solidFill>
                <a:latin typeface="Abadi" panose="020B0604020202020204" pitchFamily="34" charset="0"/>
              </a:rPr>
              <a:t>→</a:t>
            </a:r>
            <a:r>
              <a:rPr lang="fr-FR" sz="2800" dirty="0">
                <a:solidFill>
                  <a:schemeClr val="accent1"/>
                </a:solidFill>
                <a:latin typeface="Abadi Extra Light" panose="020B0604020202020204" pitchFamily="34" charset="0"/>
              </a:rPr>
              <a:t>↑</a:t>
            </a:r>
            <a:r>
              <a:rPr lang="fr-FR" sz="2800" b="1" dirty="0">
                <a:solidFill>
                  <a:schemeClr val="accent1"/>
                </a:solidFill>
                <a:latin typeface="Abadi Extra Light" panose="020B0604020202020204" pitchFamily="34" charset="0"/>
              </a:rPr>
              <a:t>T</a:t>
            </a:r>
            <a:r>
              <a:rPr lang="fr-FR" sz="2800" b="1" dirty="0">
                <a:solidFill>
                  <a:schemeClr val="accent1"/>
                </a:solidFill>
              </a:rPr>
              <a:t>ransaminases</a:t>
            </a:r>
          </a:p>
        </p:txBody>
      </p:sp>
      <p:sp>
        <p:nvSpPr>
          <p:cNvPr id="5" name="Accolade fermante 4">
            <a:extLst>
              <a:ext uri="{FF2B5EF4-FFF2-40B4-BE49-F238E27FC236}">
                <a16:creationId xmlns="" xmlns:a16="http://schemas.microsoft.com/office/drawing/2014/main" id="{1DAE01E0-9C8E-49A0-8E1C-41628EE95727}"/>
              </a:ext>
            </a:extLst>
          </p:cNvPr>
          <p:cNvSpPr/>
          <p:nvPr/>
        </p:nvSpPr>
        <p:spPr>
          <a:xfrm>
            <a:off x="5777948" y="2981739"/>
            <a:ext cx="318052" cy="1320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164391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 xmlns:a16="http://schemas.microsoft.com/office/drawing/2014/main" id="{675C81A1-834F-4E28-9658-938807D7C021}"/>
              </a:ext>
            </a:extLst>
          </p:cNvPr>
          <p:cNvGraphicFramePr>
            <a:graphicFrameLocks noGrp="1"/>
          </p:cNvGraphicFramePr>
          <p:nvPr>
            <p:ph idx="1"/>
            <p:extLst>
              <p:ext uri="{D42A27DB-BD31-4B8C-83A1-F6EECF244321}">
                <p14:modId xmlns:p14="http://schemas.microsoft.com/office/powerpoint/2010/main" val="2733027556"/>
              </p:ext>
            </p:extLst>
          </p:nvPr>
        </p:nvGraphicFramePr>
        <p:xfrm>
          <a:off x="-1884783" y="597159"/>
          <a:ext cx="15843379" cy="5454399"/>
        </p:xfrm>
        <a:graphic>
          <a:graphicData uri="http://schemas.openxmlformats.org/drawingml/2006/table">
            <a:tbl>
              <a:tblPr firstRow="1" bandRow="1">
                <a:effectLst/>
                <a:tableStyleId>{5C22544A-7EE6-4342-B048-85BDC9FD1C3A}</a:tableStyleId>
              </a:tblPr>
              <a:tblGrid>
                <a:gridCol w="4369966">
                  <a:extLst>
                    <a:ext uri="{9D8B030D-6E8A-4147-A177-3AD203B41FA5}">
                      <a16:colId xmlns="" xmlns:a16="http://schemas.microsoft.com/office/drawing/2014/main" val="3841899803"/>
                    </a:ext>
                  </a:extLst>
                </a:gridCol>
                <a:gridCol w="4370825">
                  <a:extLst>
                    <a:ext uri="{9D8B030D-6E8A-4147-A177-3AD203B41FA5}">
                      <a16:colId xmlns="" xmlns:a16="http://schemas.microsoft.com/office/drawing/2014/main" val="2397938910"/>
                    </a:ext>
                  </a:extLst>
                </a:gridCol>
                <a:gridCol w="7102588">
                  <a:extLst>
                    <a:ext uri="{9D8B030D-6E8A-4147-A177-3AD203B41FA5}">
                      <a16:colId xmlns="" xmlns:a16="http://schemas.microsoft.com/office/drawing/2014/main" val="2586260630"/>
                    </a:ext>
                  </a:extLst>
                </a:gridCol>
              </a:tblGrid>
              <a:tr h="1171350">
                <a:tc gridSpan="3">
                  <a:txBody>
                    <a:bodyPr/>
                    <a:lstStyle/>
                    <a:p>
                      <a:pPr algn="ctr"/>
                      <a:endParaRPr lang="fr-FR" sz="3200" dirty="0">
                        <a:solidFill>
                          <a:schemeClr val="tx1"/>
                        </a:solidFill>
                      </a:endParaRPr>
                    </a:p>
                    <a:p>
                      <a:pPr algn="ctr"/>
                      <a:r>
                        <a:rPr lang="fr-FR" sz="3200" dirty="0">
                          <a:solidFill>
                            <a:schemeClr val="tx1"/>
                          </a:solidFill>
                        </a:rPr>
                        <a:t>AUGMENTATION DES TRANSAMINASES</a:t>
                      </a:r>
                    </a:p>
                  </a:txBody>
                  <a:tcPr/>
                </a:tc>
                <a:tc hMerge="1">
                  <a:txBody>
                    <a:bodyPr/>
                    <a:lstStyle/>
                    <a:p>
                      <a:endParaRPr lang="fr-FR" dirty="0"/>
                    </a:p>
                  </a:txBody>
                  <a:tcPr/>
                </a:tc>
                <a:tc hMerge="1">
                  <a:txBody>
                    <a:bodyPr/>
                    <a:lstStyle/>
                    <a:p>
                      <a:pPr algn="ctr"/>
                      <a:endParaRPr lang="fr-FR" sz="3200" dirty="0">
                        <a:solidFill>
                          <a:schemeClr val="tx1"/>
                        </a:solidFill>
                      </a:endParaRPr>
                    </a:p>
                  </a:txBody>
                  <a:tcPr/>
                </a:tc>
                <a:extLst>
                  <a:ext uri="{0D108BD9-81ED-4DB2-BD59-A6C34878D82A}">
                    <a16:rowId xmlns="" xmlns:a16="http://schemas.microsoft.com/office/drawing/2014/main" val="32324308"/>
                  </a:ext>
                </a:extLst>
              </a:tr>
              <a:tr h="1212885">
                <a:tc gridSpan="2">
                  <a:txBody>
                    <a:bodyPr/>
                    <a:lstStyle/>
                    <a:p>
                      <a:pPr algn="ctr"/>
                      <a:r>
                        <a:rPr lang="fr-FR" sz="3200" dirty="0"/>
                        <a:t>↑ALAT+↑ASAT</a:t>
                      </a:r>
                    </a:p>
                    <a:p>
                      <a:pPr algn="ctr"/>
                      <a:endParaRPr lang="fr-FR" sz="3200" dirty="0"/>
                    </a:p>
                    <a:p>
                      <a:pPr algn="ctr"/>
                      <a:r>
                        <a:rPr lang="fr-FR" sz="3200" dirty="0"/>
                        <a:t>+++ </a:t>
                      </a:r>
                      <a:r>
                        <a:rPr kumimoji="0" lang="fr-FR"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fr-FR" sz="3200" b="1" i="0" u="none" strike="noStrike" kern="1200" cap="none" spc="0" normalizeH="0" baseline="0" noProof="0" dirty="0" smtClean="0">
                          <a:ln>
                            <a:noFill/>
                          </a:ln>
                          <a:solidFill>
                            <a:prstClr val="black"/>
                          </a:solidFill>
                          <a:effectLst/>
                          <a:uLnTx/>
                          <a:uFillTx/>
                          <a:latin typeface="+mn-lt"/>
                          <a:ea typeface="+mn-ea"/>
                          <a:cs typeface="+mn-cs"/>
                        </a:rPr>
                        <a:t>ALAT au niveau hépatique</a:t>
                      </a:r>
                      <a:endParaRPr lang="fr-FR" dirty="0"/>
                    </a:p>
                  </a:txBody>
                  <a:tcPr>
                    <a:solidFill>
                      <a:schemeClr val="accent2">
                        <a:lumMod val="60000"/>
                        <a:lumOff val="40000"/>
                      </a:schemeClr>
                    </a:solidFill>
                  </a:tcPr>
                </a:tc>
                <a:tc hMerge="1">
                  <a:txBody>
                    <a:bodyPr/>
                    <a:lstStyle/>
                    <a:p>
                      <a:endParaRPr lang="fr-FR" dirty="0"/>
                    </a:p>
                  </a:txBody>
                  <a:tcPr>
                    <a:solidFill>
                      <a:schemeClr val="accent2">
                        <a:lumMod val="60000"/>
                        <a:lumOff val="4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0" i="0" u="none" strike="noStrike" kern="1200" cap="none" spc="0" normalizeH="0" baseline="0" noProof="0" dirty="0">
                          <a:ln>
                            <a:noFill/>
                          </a:ln>
                          <a:solidFill>
                            <a:prstClr val="black"/>
                          </a:solidFill>
                          <a:effectLst/>
                          <a:uLnTx/>
                          <a:uFillTx/>
                          <a:latin typeface="+mn-lt"/>
                          <a:ea typeface="+mn-ea"/>
                          <a:cs typeface="+mn-cs"/>
                        </a:rPr>
                        <a:t>↑ALAT+↑ASAT</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3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0" i="0" u="none" strike="noStrike" kern="1200" cap="none" spc="0" normalizeH="0" baseline="0" noProof="0" dirty="0">
                          <a:ln>
                            <a:noFill/>
                          </a:ln>
                          <a:solidFill>
                            <a:prstClr val="black"/>
                          </a:solidFill>
                          <a:effectLst/>
                          <a:uLnTx/>
                          <a:uFillTx/>
                          <a:latin typeface="+mn-lt"/>
                          <a:ea typeface="+mn-ea"/>
                          <a:cs typeface="+mn-cs"/>
                        </a:rPr>
                        <a:t>+++ </a:t>
                      </a:r>
                      <a:r>
                        <a:rPr kumimoji="0" lang="fr-FR"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fr-FR" sz="3200" b="1" i="0" u="none" strike="noStrike" kern="1200" cap="none" spc="0" normalizeH="0" baseline="0" noProof="0" dirty="0">
                          <a:ln>
                            <a:noFill/>
                          </a:ln>
                          <a:solidFill>
                            <a:prstClr val="black"/>
                          </a:solidFill>
                          <a:effectLst/>
                          <a:uLnTx/>
                          <a:uFillTx/>
                          <a:latin typeface="+mn-lt"/>
                          <a:ea typeface="+mn-ea"/>
                          <a:cs typeface="+mn-cs"/>
                        </a:rPr>
                        <a:t>ASAT</a:t>
                      </a:r>
                      <a:endParaRPr kumimoji="0" lang="fr-FR" sz="1800" b="0" i="0" u="none" strike="noStrike" kern="1200" cap="none" spc="0" normalizeH="0" baseline="0" noProof="0" dirty="0">
                        <a:ln>
                          <a:noFill/>
                        </a:ln>
                        <a:solidFill>
                          <a:prstClr val="black"/>
                        </a:solidFill>
                        <a:effectLst/>
                        <a:uLnTx/>
                        <a:uFillTx/>
                        <a:latin typeface="+mn-lt"/>
                        <a:ea typeface="+mn-ea"/>
                        <a:cs typeface="+mn-cs"/>
                      </a:endParaRPr>
                    </a:p>
                  </a:txBody>
                  <a:tcPr>
                    <a:solidFill>
                      <a:schemeClr val="accent2">
                        <a:lumMod val="60000"/>
                        <a:lumOff val="40000"/>
                      </a:schemeClr>
                    </a:solidFill>
                  </a:tcPr>
                </a:tc>
                <a:extLst>
                  <a:ext uri="{0D108BD9-81ED-4DB2-BD59-A6C34878D82A}">
                    <a16:rowId xmlns="" xmlns:a16="http://schemas.microsoft.com/office/drawing/2014/main" val="1272439806"/>
                  </a:ext>
                </a:extLst>
              </a:tr>
              <a:tr h="2728569">
                <a:tc>
                  <a:txBody>
                    <a:bodyPr/>
                    <a:lstStyle/>
                    <a:p>
                      <a:pPr algn="ctr"/>
                      <a:r>
                        <a:rPr lang="fr-FR" sz="3600" b="1" dirty="0"/>
                        <a:t> </a:t>
                      </a:r>
                      <a:r>
                        <a:rPr lang="fr-FR" sz="3600" b="1" dirty="0">
                          <a:solidFill>
                            <a:srgbClr val="FF0000"/>
                          </a:solidFill>
                        </a:rPr>
                        <a:t>15-150 </a:t>
                      </a:r>
                      <a:r>
                        <a:rPr lang="fr-FR" sz="3600" b="1" dirty="0" smtClean="0">
                          <a:solidFill>
                            <a:srgbClr val="FF0000"/>
                          </a:solidFill>
                        </a:rPr>
                        <a:t>VN=sévère</a:t>
                      </a:r>
                      <a:endParaRPr lang="fr-FR" sz="3600" b="1" dirty="0">
                        <a:solidFill>
                          <a:srgbClr val="FF0000"/>
                        </a:solidFill>
                      </a:endParaRPr>
                    </a:p>
                    <a:p>
                      <a:pPr marL="571500" indent="-571500" algn="l">
                        <a:buFont typeface="Wingdings" panose="05000000000000000000" pitchFamily="2" charset="2"/>
                        <a:buChar char="§"/>
                      </a:pPr>
                      <a:r>
                        <a:rPr lang="fr-FR" sz="2800" b="1" dirty="0"/>
                        <a:t>Hépatite </a:t>
                      </a:r>
                      <a:r>
                        <a:rPr lang="fr-FR" sz="2800" b="1" dirty="0" smtClean="0"/>
                        <a:t>Aigu</a:t>
                      </a:r>
                      <a:endParaRPr lang="fr-FR" sz="2800" b="1" dirty="0"/>
                    </a:p>
                  </a:txBody>
                  <a:tcPr>
                    <a:solidFill>
                      <a:schemeClr val="accent2">
                        <a:lumMod val="60000"/>
                        <a:lumOff val="40000"/>
                      </a:schemeClr>
                    </a:solidFill>
                  </a:tcPr>
                </a:tc>
                <a:tc>
                  <a:txBody>
                    <a:bodyPr/>
                    <a:lstStyle/>
                    <a:p>
                      <a:pPr algn="ctr"/>
                      <a:r>
                        <a:rPr lang="fr-FR" sz="3600" b="1" dirty="0">
                          <a:solidFill>
                            <a:srgbClr val="002060"/>
                          </a:solidFill>
                        </a:rPr>
                        <a:t>5-15 </a:t>
                      </a:r>
                      <a:r>
                        <a:rPr lang="fr-FR" sz="3600" b="1" dirty="0" smtClean="0">
                          <a:solidFill>
                            <a:srgbClr val="002060"/>
                          </a:solidFill>
                        </a:rPr>
                        <a:t>VN=modérée </a:t>
                      </a:r>
                      <a:endParaRPr lang="fr-FR" sz="3600" b="1" dirty="0">
                        <a:solidFill>
                          <a:srgbClr val="002060"/>
                        </a:solidFill>
                      </a:endParaRPr>
                    </a:p>
                    <a:p>
                      <a:pPr marL="571500" marR="0" lvl="0" indent="-5715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2800" b="1" i="0" u="none" strike="noStrike" kern="1200" cap="none" spc="0" normalizeH="0" baseline="0" noProof="0" dirty="0">
                          <a:ln>
                            <a:noFill/>
                          </a:ln>
                          <a:solidFill>
                            <a:prstClr val="black"/>
                          </a:solidFill>
                          <a:effectLst/>
                          <a:uLnTx/>
                          <a:uFillTx/>
                          <a:latin typeface="+mn-lt"/>
                          <a:ea typeface="+mn-ea"/>
                          <a:cs typeface="+mn-cs"/>
                        </a:rPr>
                        <a:t>Hépatite </a:t>
                      </a:r>
                      <a:r>
                        <a:rPr kumimoji="0" lang="fr-FR" sz="2800" b="1" i="0" u="none" strike="noStrike" kern="1200" cap="none" spc="0" normalizeH="0" baseline="0" noProof="0" dirty="0" smtClean="0">
                          <a:ln>
                            <a:noFill/>
                          </a:ln>
                          <a:solidFill>
                            <a:prstClr val="black"/>
                          </a:solidFill>
                          <a:effectLst/>
                          <a:uLnTx/>
                          <a:uFillTx/>
                          <a:latin typeface="+mn-lt"/>
                          <a:ea typeface="+mn-ea"/>
                          <a:cs typeface="+mn-cs"/>
                        </a:rPr>
                        <a:t>Chronique</a:t>
                      </a:r>
                      <a:endParaRPr kumimoji="0" lang="fr-FR" sz="28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fr-FR" sz="2400" b="1" i="0" u="none" strike="noStrike" kern="1200" cap="none" spc="0" normalizeH="0" baseline="0" noProof="0" dirty="0">
                          <a:ln>
                            <a:noFill/>
                          </a:ln>
                          <a:solidFill>
                            <a:schemeClr val="tx1"/>
                          </a:solidFill>
                          <a:effectLst/>
                          <a:uLnTx/>
                          <a:uFillTx/>
                          <a:latin typeface="Abadi Extra Light" panose="020B0204020104020204" pitchFamily="34" charset="0"/>
                          <a:ea typeface="Times New Roman" panose="02020603050405020304" pitchFamily="18" charset="0"/>
                          <a:cs typeface="+mn-cs"/>
                        </a:rPr>
                        <a:t>     </a:t>
                      </a:r>
                      <a:r>
                        <a:rPr kumimoji="0" lang="fr-FR"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fr-FR" sz="2400" b="1" i="0" u="none" strike="noStrike" kern="1200" cap="none" spc="0" normalizeH="0" baseline="0" noProof="0" dirty="0">
                          <a:ln>
                            <a:noFill/>
                          </a:ln>
                          <a:solidFill>
                            <a:schemeClr val="tx1"/>
                          </a:solidFill>
                          <a:effectLst/>
                          <a:uLnTx/>
                          <a:uFillTx/>
                          <a:latin typeface="Abadi Extra Light" panose="020B0204020104020204" pitchFamily="34" charset="0"/>
                          <a:ea typeface="Times New Roman" panose="02020603050405020304" pitchFamily="18" charset="0"/>
                          <a:cs typeface="+mn-cs"/>
                        </a:rPr>
                        <a:t>&gt;</a:t>
                      </a:r>
                      <a:r>
                        <a:rPr kumimoji="0" lang="fr-FR" sz="2400" b="1"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mn-cs"/>
                        </a:rPr>
                        <a:t> </a:t>
                      </a:r>
                      <a:r>
                        <a:rPr kumimoji="0" lang="fr-FR" sz="2400" b="1"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6</a:t>
                      </a:r>
                      <a:r>
                        <a:rPr kumimoji="0" lang="fr-FR" sz="2400" b="1" i="0" u="none" strike="noStrike" kern="1200" cap="none" spc="0" normalizeH="0" baseline="3000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ème</a:t>
                      </a:r>
                      <a:r>
                        <a:rPr kumimoji="0" lang="fr-FR" sz="2400" b="1"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fr-FR" sz="2400" b="1"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mois</a:t>
                      </a:r>
                      <a:endParaRPr kumimoji="0" lang="fr-FR" sz="2800" b="1" i="0" u="none" strike="noStrike" kern="1200" cap="none" spc="0" normalizeH="0" baseline="0" noProof="0" dirty="0">
                        <a:ln>
                          <a:noFill/>
                        </a:ln>
                        <a:solidFill>
                          <a:schemeClr val="tx1"/>
                        </a:solidFill>
                        <a:effectLst/>
                        <a:uLnTx/>
                        <a:uFillTx/>
                        <a:latin typeface="+mn-lt"/>
                        <a:ea typeface="+mn-ea"/>
                        <a:cs typeface="+mn-cs"/>
                      </a:endParaRPr>
                    </a:p>
                    <a:p>
                      <a:pPr marL="571500" indent="-571500" algn="l">
                        <a:buFont typeface="Wingdings" panose="05000000000000000000" pitchFamily="2" charset="2"/>
                        <a:buChar char="§"/>
                      </a:pPr>
                      <a:r>
                        <a:rPr lang="fr-FR" sz="2800" b="1" dirty="0"/>
                        <a:t>Autres Aff hépatiques</a:t>
                      </a:r>
                    </a:p>
                  </a:txBody>
                  <a:tcPr>
                    <a:solidFill>
                      <a:schemeClr val="accent2">
                        <a:lumMod val="60000"/>
                        <a:lumOff val="40000"/>
                      </a:schemeClr>
                    </a:solidFill>
                  </a:tcPr>
                </a:tc>
                <a:tc>
                  <a:txBody>
                    <a:bodyPr/>
                    <a:lstStyle/>
                    <a:p>
                      <a:pPr algn="ctr"/>
                      <a:r>
                        <a:rPr lang="fr-FR" sz="3600" b="1" dirty="0">
                          <a:solidFill>
                            <a:srgbClr val="002060"/>
                          </a:solidFill>
                        </a:rPr>
                        <a:t>5-15 </a:t>
                      </a:r>
                      <a:r>
                        <a:rPr lang="fr-FR" sz="3600" b="1" dirty="0" smtClean="0">
                          <a:solidFill>
                            <a:srgbClr val="002060"/>
                          </a:solidFill>
                        </a:rPr>
                        <a:t>VN=modérée</a:t>
                      </a:r>
                      <a:endParaRPr lang="fr-FR" sz="3600" b="1" dirty="0">
                        <a:solidFill>
                          <a:srgbClr val="002060"/>
                        </a:solidFill>
                      </a:endParaRPr>
                    </a:p>
                    <a:p>
                      <a:pPr marL="457200" indent="-457200" algn="l">
                        <a:buFont typeface="Wingdings" panose="05000000000000000000" pitchFamily="2" charset="2"/>
                        <a:buChar char="§"/>
                      </a:pPr>
                      <a:r>
                        <a:rPr lang="fr-FR" sz="2800" b="1" dirty="0">
                          <a:solidFill>
                            <a:schemeClr val="tx1"/>
                          </a:solidFill>
                        </a:rPr>
                        <a:t>IDM</a:t>
                      </a:r>
                    </a:p>
                    <a:p>
                      <a:pPr marL="457200" indent="-457200" algn="l">
                        <a:buFont typeface="Wingdings" panose="05000000000000000000" pitchFamily="2" charset="2"/>
                        <a:buChar char="§"/>
                      </a:pPr>
                      <a:r>
                        <a:rPr kumimoji="0" lang="fr-FR" sz="2800" b="1" i="0" u="none" strike="noStrike" kern="120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mn-cs"/>
                        </a:rPr>
                        <a:t>Aff  musculaires :</a:t>
                      </a:r>
                      <a:r>
                        <a:rPr lang="fr-FR" sz="2800" b="1" dirty="0">
                          <a:solidFill>
                            <a:schemeClr val="tx1"/>
                          </a:solidFill>
                          <a:effectLst/>
                          <a:latin typeface="Times New Roman" panose="02020603050405020304" pitchFamily="18" charset="0"/>
                          <a:ea typeface="Times New Roman" panose="02020603050405020304" pitchFamily="18" charset="0"/>
                        </a:rPr>
                        <a:t>rhabdomyolyse,…….</a:t>
                      </a:r>
                    </a:p>
                    <a:p>
                      <a:pPr marL="457200" indent="-457200" algn="l">
                        <a:buFont typeface="Wingdings" panose="05000000000000000000" pitchFamily="2" charset="2"/>
                        <a:buChar char="§"/>
                      </a:pPr>
                      <a:r>
                        <a:rPr lang="fr-FR" sz="2800" b="1" dirty="0">
                          <a:solidFill>
                            <a:schemeClr val="tx1"/>
                          </a:solidFill>
                          <a:effectLst/>
                          <a:latin typeface="Times New Roman" panose="02020603050405020304" pitchFamily="18" charset="0"/>
                        </a:rPr>
                        <a:t>Cirrhoses</a:t>
                      </a:r>
                      <a:endParaRPr lang="fr-FR" sz="2800" b="1" dirty="0">
                        <a:solidFill>
                          <a:schemeClr val="tx1"/>
                        </a:solidFill>
                      </a:endParaRPr>
                    </a:p>
                    <a:p>
                      <a:pPr algn="ctr"/>
                      <a:endParaRPr lang="fr-FR" sz="3600" dirty="0"/>
                    </a:p>
                  </a:txBody>
                  <a:tcPr>
                    <a:solidFill>
                      <a:schemeClr val="accent2">
                        <a:lumMod val="60000"/>
                        <a:lumOff val="40000"/>
                      </a:schemeClr>
                    </a:solidFill>
                  </a:tcPr>
                </a:tc>
                <a:extLst>
                  <a:ext uri="{0D108BD9-81ED-4DB2-BD59-A6C34878D82A}">
                    <a16:rowId xmlns="" xmlns:a16="http://schemas.microsoft.com/office/drawing/2014/main" val="573155322"/>
                  </a:ext>
                </a:extLst>
              </a:tr>
            </a:tbl>
          </a:graphicData>
        </a:graphic>
      </p:graphicFrame>
    </p:spTree>
    <p:extLst>
      <p:ext uri="{BB962C8B-B14F-4D97-AF65-F5344CB8AC3E}">
        <p14:creationId xmlns:p14="http://schemas.microsoft.com/office/powerpoint/2010/main" val="1029646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107490" y="1448135"/>
            <a:ext cx="11156858" cy="3880773"/>
          </a:xfrm>
        </p:spPr>
        <p:txBody>
          <a:bodyPr/>
          <a:lstStyle/>
          <a:p>
            <a:pPr>
              <a:buFont typeface="Wingdings" panose="05000000000000000000" pitchFamily="2" charset="2"/>
              <a:buChar char="q"/>
            </a:pPr>
            <a:r>
              <a:rPr lang="fr-FR" sz="3200" b="1" u="sng" dirty="0">
                <a:solidFill>
                  <a:schemeClr val="accent2"/>
                </a:solidFill>
                <a:latin typeface="Times New Roman" panose="02020603050405020304" pitchFamily="18" charset="0"/>
                <a:ea typeface="Times New Roman" panose="02020603050405020304" pitchFamily="18" charset="0"/>
              </a:rPr>
              <a:t>Définition</a:t>
            </a:r>
            <a:r>
              <a:rPr lang="fr-FR" sz="3200" b="1" dirty="0">
                <a:solidFill>
                  <a:schemeClr val="accent2"/>
                </a:solidFill>
                <a:latin typeface="Times New Roman" panose="02020603050405020304" pitchFamily="18" charset="0"/>
                <a:ea typeface="Times New Roman" panose="02020603050405020304" pitchFamily="18" charset="0"/>
              </a:rPr>
              <a:t> :</a:t>
            </a:r>
          </a:p>
          <a:p>
            <a:pPr lvl="1">
              <a:buFont typeface="Arial" panose="020B0604020202020204" pitchFamily="34" charset="0"/>
              <a:buChar char="•"/>
            </a:pPr>
            <a:r>
              <a:rPr lang="fr-FR" sz="2400" dirty="0">
                <a:latin typeface="Times New Roman" panose="02020603050405020304" pitchFamily="18" charset="0"/>
                <a:ea typeface="Times New Roman" panose="02020603050405020304" pitchFamily="18" charset="0"/>
              </a:rPr>
              <a:t>hydrolyse liaison ester – phosphorique + libération </a:t>
            </a:r>
            <a:r>
              <a:rPr lang="fr-FR" sz="2400" dirty="0" smtClean="0">
                <a:latin typeface="Times New Roman" panose="02020603050405020304" pitchFamily="18" charset="0"/>
                <a:ea typeface="Times New Roman" panose="02020603050405020304" pitchFamily="18" charset="0"/>
              </a:rPr>
              <a:t>Acide </a:t>
            </a:r>
            <a:r>
              <a:rPr lang="fr-FR" sz="2400" dirty="0">
                <a:latin typeface="Times New Roman" panose="02020603050405020304" pitchFamily="18" charset="0"/>
                <a:ea typeface="Times New Roman" panose="02020603050405020304" pitchFamily="18" charset="0"/>
              </a:rPr>
              <a:t>ortho </a:t>
            </a:r>
            <a:r>
              <a:rPr lang="fr-FR" sz="2400" dirty="0" smtClean="0">
                <a:latin typeface="Times New Roman" panose="02020603050405020304" pitchFamily="18" charset="0"/>
                <a:ea typeface="Times New Roman" panose="02020603050405020304" pitchFamily="18" charset="0"/>
              </a:rPr>
              <a:t>phosphorique+(PI phosphate inorganique)</a:t>
            </a:r>
            <a:endParaRPr lang="fr-FR" sz="2400" dirty="0">
              <a:latin typeface="Times New Roman" panose="02020603050405020304" pitchFamily="18" charset="0"/>
              <a:ea typeface="Times New Roman" panose="02020603050405020304" pitchFamily="18" charset="0"/>
            </a:endParaRPr>
          </a:p>
          <a:p>
            <a:pPr lvl="1">
              <a:buFont typeface="Arial" panose="020B0604020202020204" pitchFamily="34" charset="0"/>
              <a:buChar char="•"/>
            </a:pPr>
            <a:r>
              <a:rPr lang="fr-FR" sz="2400" dirty="0">
                <a:latin typeface="Times New Roman" panose="02020603050405020304" pitchFamily="18" charset="0"/>
                <a:ea typeface="Times New Roman" panose="02020603050405020304" pitchFamily="18" charset="0"/>
              </a:rPr>
              <a:t>pH alcalin : 7,5- 9.6 </a:t>
            </a:r>
            <a:r>
              <a:rPr lang="fr-FR" sz="2400" dirty="0" smtClean="0">
                <a:latin typeface="Times New Roman" panose="02020603050405020304" pitchFamily="18" charset="0"/>
                <a:ea typeface="Times New Roman" panose="02020603050405020304" pitchFamily="18" charset="0"/>
              </a:rPr>
              <a:t>milieux d’activité maximale</a:t>
            </a:r>
            <a:endParaRPr lang="fr-FR" sz="2400" dirty="0">
              <a:latin typeface="Times New Roman" panose="02020603050405020304" pitchFamily="18" charset="0"/>
              <a:ea typeface="Times New Roman" panose="02020603050405020304" pitchFamily="18" charset="0"/>
            </a:endParaRPr>
          </a:p>
          <a:p>
            <a:pPr lvl="1">
              <a:buFont typeface="Arial" panose="020B0604020202020204" pitchFamily="34" charset="0"/>
              <a:buChar char="•"/>
            </a:pPr>
            <a:r>
              <a:rPr lang="fr-FR" sz="2400" dirty="0">
                <a:latin typeface="Times New Roman" panose="02020603050405020304" pitchFamily="18" charset="0"/>
                <a:ea typeface="Times New Roman" panose="02020603050405020304" pitchFamily="18" charset="0"/>
              </a:rPr>
              <a:t>Ion activateur Mg</a:t>
            </a:r>
            <a:r>
              <a:rPr lang="fr-FR" sz="2400" baseline="30000" dirty="0">
                <a:latin typeface="Times New Roman" panose="02020603050405020304" pitchFamily="18" charset="0"/>
                <a:ea typeface="Times New Roman" panose="02020603050405020304" pitchFamily="18" charset="0"/>
              </a:rPr>
              <a:t>++  </a:t>
            </a:r>
            <a:r>
              <a:rPr lang="fr-FR" sz="2400" baseline="30000" dirty="0" smtClean="0">
                <a:latin typeface="Times New Roman" panose="02020603050405020304" pitchFamily="18" charset="0"/>
                <a:ea typeface="Times New Roman" panose="02020603050405020304" pitchFamily="18" charset="0"/>
              </a:rPr>
              <a:t>bivalent</a:t>
            </a:r>
            <a:endParaRPr lang="fr-FR" sz="2400" dirty="0">
              <a:latin typeface="Times New Roman" panose="02020603050405020304" pitchFamily="18" charset="0"/>
              <a:ea typeface="Times New Roman" panose="02020603050405020304" pitchFamily="18" charset="0"/>
            </a:endParaRPr>
          </a:p>
          <a:p>
            <a:pPr lvl="1">
              <a:buFont typeface="Arial" panose="020B0604020202020204" pitchFamily="34" charset="0"/>
              <a:buChar char="•"/>
            </a:pPr>
            <a:r>
              <a:rPr lang="fr-FR" sz="2400" dirty="0">
                <a:latin typeface="Times New Roman" panose="02020603050405020304" pitchFamily="18" charset="0"/>
                <a:ea typeface="Times New Roman" panose="02020603050405020304" pitchFamily="18" charset="0"/>
              </a:rPr>
              <a:t>Centre actif Zn</a:t>
            </a:r>
            <a:r>
              <a:rPr lang="fr-FR" sz="2400" baseline="30000" dirty="0" smtClean="0">
                <a:latin typeface="Times New Roman" panose="02020603050405020304" pitchFamily="18" charset="0"/>
                <a:ea typeface="Times New Roman" panose="02020603050405020304" pitchFamily="18" charset="0"/>
              </a:rPr>
              <a:t>++</a:t>
            </a:r>
            <a:endParaRPr lang="fr-FR" dirty="0"/>
          </a:p>
        </p:txBody>
      </p:sp>
      <p:pic>
        <p:nvPicPr>
          <p:cNvPr id="4" name="Image 3">
            <a:extLst>
              <a:ext uri="{FF2B5EF4-FFF2-40B4-BE49-F238E27FC236}">
                <a16:creationId xmlns="" xmlns:a16="http://schemas.microsoft.com/office/drawing/2014/main" id="{67A0791A-5B8F-4B1A-8D50-736C15FB365D}"/>
              </a:ext>
            </a:extLst>
          </p:cNvPr>
          <p:cNvPicPr>
            <a:picLocks noChangeAspect="1"/>
          </p:cNvPicPr>
          <p:nvPr/>
        </p:nvPicPr>
        <p:blipFill>
          <a:blip r:embed="rId3"/>
          <a:stretch>
            <a:fillRect/>
          </a:stretch>
        </p:blipFill>
        <p:spPr>
          <a:xfrm>
            <a:off x="107490" y="4333460"/>
            <a:ext cx="11822558" cy="1424907"/>
          </a:xfrm>
          <a:prstGeom prst="rect">
            <a:avLst/>
          </a:prstGeom>
        </p:spPr>
      </p:pic>
      <p:cxnSp>
        <p:nvCxnSpPr>
          <p:cNvPr id="6" name="Connecteur droit avec flèche 5">
            <a:extLst>
              <a:ext uri="{FF2B5EF4-FFF2-40B4-BE49-F238E27FC236}">
                <a16:creationId xmlns="" xmlns:a16="http://schemas.microsoft.com/office/drawing/2014/main" id="{B9AC8A25-CEBE-4D1B-8A9A-936D21A5F24C}"/>
              </a:ext>
            </a:extLst>
          </p:cNvPr>
          <p:cNvCxnSpPr/>
          <p:nvPr/>
        </p:nvCxnSpPr>
        <p:spPr>
          <a:xfrm>
            <a:off x="2385391" y="4794121"/>
            <a:ext cx="0" cy="72887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89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1488613"/>
            <a:ext cx="11959389" cy="3880773"/>
          </a:xfrm>
        </p:spPr>
        <p:txBody>
          <a:bodyPr>
            <a:normAutofit/>
          </a:bodyPr>
          <a:lstStyle/>
          <a:p>
            <a:pPr>
              <a:buFont typeface="Wingdings" panose="05000000000000000000" pitchFamily="2" charset="2"/>
              <a:buChar char="q"/>
            </a:pPr>
            <a:r>
              <a:rPr lang="fr-FR" sz="3200" b="1" u="sng" dirty="0">
                <a:solidFill>
                  <a:srgbClr val="00B050"/>
                </a:solidFill>
                <a:latin typeface="Times New Roman" panose="02020603050405020304" pitchFamily="18" charset="0"/>
                <a:ea typeface="Times New Roman" panose="02020603050405020304" pitchFamily="18" charset="0"/>
              </a:rPr>
              <a:t>Rôle</a:t>
            </a:r>
          </a:p>
          <a:p>
            <a:pPr lvl="1">
              <a:buFont typeface="Wingdings" panose="05000000000000000000" pitchFamily="2" charset="2"/>
              <a:buChar char="§"/>
            </a:pPr>
            <a:r>
              <a:rPr lang="fr-FR" sz="2800" dirty="0">
                <a:latin typeface="Times New Roman" panose="02020603050405020304" pitchFamily="18" charset="0"/>
                <a:ea typeface="Times New Roman" panose="02020603050405020304" pitchFamily="18" charset="0"/>
              </a:rPr>
              <a:t>Hydrolyse P organiques →libération P minéraux insolubles indispensables à la calcification et la minéralisation du </a:t>
            </a:r>
            <a:r>
              <a:rPr lang="fr-FR" sz="2800" dirty="0" smtClean="0">
                <a:latin typeface="Times New Roman" panose="02020603050405020304" pitchFamily="18" charset="0"/>
                <a:ea typeface="Times New Roman" panose="02020603050405020304" pitchFamily="18" charset="0"/>
              </a:rPr>
              <a:t>squelette(os)</a:t>
            </a:r>
            <a:endParaRPr lang="fr-FR" sz="3200"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2800" dirty="0">
                <a:latin typeface="Times New Roman" panose="02020603050405020304" pitchFamily="18" charset="0"/>
                <a:ea typeface="Times New Roman" panose="02020603050405020304" pitchFamily="18" charset="0"/>
              </a:rPr>
              <a:t>Transporteur radicaux P et autres </a:t>
            </a:r>
            <a:r>
              <a:rPr lang="fr-FR" sz="2800" dirty="0" smtClean="0">
                <a:latin typeface="Times New Roman" panose="02020603050405020304" pitchFamily="18" charset="0"/>
                <a:ea typeface="Times New Roman" panose="02020603050405020304" pitchFamily="18" charset="0"/>
              </a:rPr>
              <a:t>substances </a:t>
            </a:r>
            <a:r>
              <a:rPr lang="fr-FR" sz="2800" dirty="0">
                <a:latin typeface="Times New Roman" panose="02020603050405020304" pitchFamily="18" charset="0"/>
                <a:ea typeface="Times New Roman" panose="02020603050405020304" pitchFamily="18" charset="0"/>
              </a:rPr>
              <a:t>(lipides ,</a:t>
            </a:r>
            <a:r>
              <a:rPr lang="fr-FR" sz="2800" dirty="0">
                <a:solidFill>
                  <a:srgbClr val="404040"/>
                </a:solidFill>
                <a:latin typeface="Times New Roman" panose="02020603050405020304" pitchFamily="18" charset="0"/>
                <a:ea typeface="Times New Roman" panose="02020603050405020304" pitchFamily="18" charset="0"/>
              </a:rPr>
              <a:t>Ca</a:t>
            </a:r>
            <a:r>
              <a:rPr lang="fr-FR" sz="2800" baseline="30000" dirty="0">
                <a:solidFill>
                  <a:srgbClr val="404040"/>
                </a:solidFill>
                <a:latin typeface="Times New Roman" panose="02020603050405020304" pitchFamily="18" charset="0"/>
                <a:ea typeface="Times New Roman" panose="02020603050405020304" pitchFamily="18" charset="0"/>
              </a:rPr>
              <a:t>++ </a:t>
            </a:r>
            <a:r>
              <a:rPr lang="fr-FR" sz="2800" dirty="0">
                <a:latin typeface="Times New Roman" panose="02020603050405020304" pitchFamily="18" charset="0"/>
                <a:ea typeface="Times New Roman" panose="02020603050405020304" pitchFamily="18" charset="0"/>
              </a:rPr>
              <a:t>au niveau de l’intestin)</a:t>
            </a:r>
            <a:endParaRPr lang="fr-FR" sz="3200" dirty="0">
              <a:latin typeface="Times New Roman" panose="02020603050405020304" pitchFamily="18" charset="0"/>
              <a:ea typeface="Times New Roman" panose="02020603050405020304" pitchFamily="18" charset="0"/>
            </a:endParaRPr>
          </a:p>
          <a:p>
            <a:pPr marL="0" indent="0">
              <a:buNone/>
            </a:pPr>
            <a:endParaRPr lang="fr-FR" sz="240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196592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1426818"/>
            <a:ext cx="11209866" cy="4470400"/>
          </a:xfrm>
        </p:spPr>
        <p:txBody>
          <a:bodyPr>
            <a:normAutofit fontScale="92500" lnSpcReduction="20000"/>
          </a:bodyPr>
          <a:lstStyle/>
          <a:p>
            <a:pPr>
              <a:buFont typeface="Wingdings" panose="05000000000000000000" pitchFamily="2" charset="2"/>
              <a:buChar char="q"/>
            </a:pPr>
            <a:r>
              <a:rPr lang="fr-FR" sz="3600" b="1" u="sng" dirty="0">
                <a:solidFill>
                  <a:schemeClr val="accent2"/>
                </a:solidFill>
                <a:latin typeface="Times New Roman" panose="02020603050405020304" pitchFamily="18" charset="0"/>
                <a:ea typeface="Times New Roman" panose="02020603050405020304" pitchFamily="18" charset="0"/>
              </a:rPr>
              <a:t>Répartition :</a:t>
            </a:r>
            <a:r>
              <a:rPr lang="fr-FR" sz="3600" b="1" dirty="0">
                <a:solidFill>
                  <a:schemeClr val="accent2"/>
                </a:solidFill>
                <a:latin typeface="Times New Roman" panose="02020603050405020304" pitchFamily="18" charset="0"/>
                <a:ea typeface="Times New Roman" panose="02020603050405020304" pitchFamily="18" charset="0"/>
              </a:rPr>
              <a:t> </a:t>
            </a:r>
          </a:p>
          <a:p>
            <a:endParaRPr lang="fr-FR" sz="3600" dirty="0">
              <a:solidFill>
                <a:schemeClr val="accent2"/>
              </a:solidFill>
              <a:latin typeface="Times New Roman" panose="02020603050405020304" pitchFamily="18" charset="0"/>
              <a:ea typeface="Times New Roman" panose="02020603050405020304" pitchFamily="18" charset="0"/>
            </a:endParaRPr>
          </a:p>
          <a:p>
            <a:pPr lvl="1">
              <a:buFont typeface="Wingdings" panose="05000000000000000000" pitchFamily="2" charset="2"/>
              <a:buChar char="Ø"/>
              <a:tabLst>
                <a:tab pos="4406265" algn="l"/>
              </a:tabLst>
            </a:pPr>
            <a:r>
              <a:rPr lang="fr-FR" sz="3000" b="1" dirty="0">
                <a:latin typeface="Times New Roman" panose="02020603050405020304" pitchFamily="18" charset="0"/>
                <a:ea typeface="Times New Roman" panose="02020603050405020304" pitchFamily="18" charset="0"/>
              </a:rPr>
              <a:t>Tissulaire</a:t>
            </a:r>
            <a:r>
              <a:rPr lang="fr-FR" sz="3000" dirty="0">
                <a:latin typeface="Times New Roman" panose="02020603050405020304" pitchFamily="18" charset="0"/>
                <a:ea typeface="Times New Roman" panose="02020603050405020304" pitchFamily="18" charset="0"/>
              </a:rPr>
              <a:t> : </a:t>
            </a:r>
          </a:p>
          <a:p>
            <a:pPr marL="457200" lvl="1" indent="0">
              <a:buNone/>
              <a:tabLst>
                <a:tab pos="4406265" algn="l"/>
              </a:tabLst>
            </a:pPr>
            <a:r>
              <a:rPr lang="fr-FR" sz="3000" dirty="0">
                <a:solidFill>
                  <a:srgbClr val="FF0000"/>
                </a:solidFill>
                <a:latin typeface="Times New Roman" panose="02020603050405020304" pitchFamily="18" charset="0"/>
                <a:ea typeface="Times New Roman" panose="02020603050405020304" pitchFamily="18" charset="0"/>
              </a:rPr>
              <a:t>Foie, os, placentaire(concernant </a:t>
            </a:r>
            <a:r>
              <a:rPr lang="fr-FR" sz="3000" dirty="0" smtClean="0">
                <a:solidFill>
                  <a:srgbClr val="FF0000"/>
                </a:solidFill>
                <a:latin typeface="Times New Roman" panose="02020603050405020304" pitchFamily="18" charset="0"/>
                <a:ea typeface="Times New Roman" panose="02020603050405020304" pitchFamily="18" charset="0"/>
              </a:rPr>
              <a:t>la femme enceinte)</a:t>
            </a:r>
            <a:r>
              <a:rPr lang="fr-FR" sz="3000" dirty="0" smtClean="0">
                <a:latin typeface="Times New Roman" panose="02020603050405020304" pitchFamily="18" charset="0"/>
                <a:ea typeface="Times New Roman" panose="02020603050405020304" pitchFamily="18" charset="0"/>
              </a:rPr>
              <a:t>,</a:t>
            </a:r>
            <a:r>
              <a:rPr lang="fr-FR" sz="3000" dirty="0" smtClean="0">
                <a:solidFill>
                  <a:prstClr val="black"/>
                </a:solidFill>
                <a:latin typeface="Times New Roman" panose="02020603050405020304" pitchFamily="18" charset="0"/>
                <a:ea typeface="Times New Roman" panose="02020603050405020304" pitchFamily="18" charset="0"/>
              </a:rPr>
              <a:t> </a:t>
            </a:r>
            <a:r>
              <a:rPr lang="fr-FR" sz="3000" dirty="0">
                <a:solidFill>
                  <a:prstClr val="black"/>
                </a:solidFill>
                <a:latin typeface="Times New Roman" panose="02020603050405020304" pitchFamily="18" charset="0"/>
                <a:ea typeface="Times New Roman" panose="02020603050405020304" pitchFamily="18" charset="0"/>
              </a:rPr>
              <a:t>intestins, rein</a:t>
            </a:r>
            <a:r>
              <a:rPr lang="fr-FR" sz="3000" dirty="0">
                <a:latin typeface="Times New Roman" panose="02020603050405020304" pitchFamily="18" charset="0"/>
                <a:ea typeface="Times New Roman" panose="02020603050405020304" pitchFamily="18" charset="0"/>
              </a:rPr>
              <a:t> ,cerveau, Pm, rate, leucocytes</a:t>
            </a:r>
          </a:p>
          <a:p>
            <a:pPr lvl="1">
              <a:buFont typeface="Times New Roman" panose="02020603050405020304" pitchFamily="18" charset="0"/>
              <a:buChar char="-"/>
              <a:tabLst>
                <a:tab pos="4406265" algn="l"/>
              </a:tabLst>
            </a:pPr>
            <a:endParaRPr lang="fr-FR" sz="3000" dirty="0">
              <a:latin typeface="Times New Roman" panose="02020603050405020304" pitchFamily="18" charset="0"/>
              <a:ea typeface="Times New Roman" panose="02020603050405020304" pitchFamily="18" charset="0"/>
            </a:endParaRPr>
          </a:p>
          <a:p>
            <a:pPr lvl="1">
              <a:buFont typeface="Wingdings" panose="05000000000000000000" pitchFamily="2" charset="2"/>
              <a:buChar char="Ø"/>
              <a:tabLst>
                <a:tab pos="4406265" algn="l"/>
              </a:tabLst>
            </a:pPr>
            <a:r>
              <a:rPr lang="fr-FR" sz="3000" b="1" dirty="0">
                <a:latin typeface="Times New Roman" panose="02020603050405020304" pitchFamily="18" charset="0"/>
                <a:ea typeface="Times New Roman" panose="02020603050405020304" pitchFamily="18" charset="0"/>
              </a:rPr>
              <a:t>Cellulaire </a:t>
            </a:r>
            <a:r>
              <a:rPr lang="fr-FR" sz="3000" dirty="0">
                <a:latin typeface="Times New Roman" panose="02020603050405020304" pitchFamily="18" charset="0"/>
                <a:ea typeface="Times New Roman" panose="02020603050405020304" pitchFamily="18" charset="0"/>
              </a:rPr>
              <a:t>:Enz </a:t>
            </a:r>
            <a:r>
              <a:rPr lang="fr-FR" sz="3000" dirty="0" smtClean="0">
                <a:latin typeface="Times New Roman" panose="02020603050405020304" pitchFamily="18" charset="0"/>
                <a:ea typeface="Times New Roman" panose="02020603050405020304" pitchFamily="18" charset="0"/>
              </a:rPr>
              <a:t>Membranaire=&gt;c’est sensible mais en peut avoir</a:t>
            </a:r>
            <a:endParaRPr lang="fr-FR" sz="3000" dirty="0">
              <a:latin typeface="Times New Roman" panose="02020603050405020304" pitchFamily="18" charset="0"/>
              <a:ea typeface="Times New Roman" panose="02020603050405020304" pitchFamily="18" charset="0"/>
            </a:endParaRPr>
          </a:p>
          <a:p>
            <a:pPr lvl="2">
              <a:buFont typeface="Times New Roman" panose="02020603050405020304" pitchFamily="18" charset="0"/>
              <a:buChar char="-"/>
              <a:tabLst>
                <a:tab pos="4406265" algn="l"/>
              </a:tabLst>
            </a:pPr>
            <a:r>
              <a:rPr lang="fr-FR" sz="2800" dirty="0">
                <a:latin typeface="Times New Roman" panose="02020603050405020304" pitchFamily="18" charset="0"/>
                <a:ea typeface="Times New Roman" panose="02020603050405020304" pitchFamily="18" charset="0"/>
              </a:rPr>
              <a:t>Mb Cytoplasmiques</a:t>
            </a:r>
          </a:p>
          <a:p>
            <a:pPr lvl="2">
              <a:buFont typeface="Times New Roman" panose="02020603050405020304" pitchFamily="18" charset="0"/>
              <a:buChar char="-"/>
              <a:tabLst>
                <a:tab pos="4406265" algn="l"/>
              </a:tabLst>
            </a:pPr>
            <a:r>
              <a:rPr lang="fr-FR" sz="2800" dirty="0">
                <a:latin typeface="Times New Roman" panose="02020603050405020304" pitchFamily="18" charset="0"/>
                <a:ea typeface="Times New Roman" panose="02020603050405020304" pitchFamily="18" charset="0"/>
              </a:rPr>
              <a:t>Mb  organites (App de Golgi, lysosomes,….,….)</a:t>
            </a:r>
          </a:p>
          <a:p>
            <a:endParaRPr lang="fr-FR" dirty="0"/>
          </a:p>
        </p:txBody>
      </p:sp>
    </p:spTree>
    <p:extLst>
      <p:ext uri="{BB962C8B-B14F-4D97-AF65-F5344CB8AC3E}">
        <p14:creationId xmlns:p14="http://schemas.microsoft.com/office/powerpoint/2010/main" val="406547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1488613"/>
            <a:ext cx="12985657" cy="3880773"/>
          </a:xfrm>
        </p:spPr>
        <p:txBody>
          <a:bodyPr/>
          <a:lstStyle/>
          <a:p>
            <a:pPr>
              <a:buFont typeface="Wingdings" panose="05000000000000000000" pitchFamily="2" charset="2"/>
              <a:buChar char="q"/>
            </a:pPr>
            <a:r>
              <a:rPr lang="fr-FR" sz="3600" b="1" u="sng" dirty="0">
                <a:solidFill>
                  <a:schemeClr val="accent2"/>
                </a:solidFill>
                <a:latin typeface="Times New Roman" panose="02020603050405020304" pitchFamily="18" charset="0"/>
                <a:ea typeface="Times New Roman" panose="02020603050405020304" pitchFamily="18" charset="0"/>
              </a:rPr>
              <a:t>Isoformes de la PAL :</a:t>
            </a:r>
            <a:r>
              <a:rPr lang="fr-FR" sz="3600" b="1" dirty="0">
                <a:latin typeface="Times New Roman" panose="02020603050405020304" pitchFamily="18" charset="0"/>
                <a:ea typeface="Times New Roman" panose="02020603050405020304" pitchFamily="18" charset="0"/>
              </a:rPr>
              <a:t> </a:t>
            </a:r>
            <a:r>
              <a:rPr lang="fr-FR" sz="3600" dirty="0">
                <a:latin typeface="Times New Roman" panose="02020603050405020304" pitchFamily="18" charset="0"/>
                <a:ea typeface="Times New Roman" panose="02020603050405020304" pitchFamily="18" charset="0"/>
              </a:rPr>
              <a:t> </a:t>
            </a:r>
          </a:p>
          <a:p>
            <a:pPr lvl="1">
              <a:buFont typeface="Calibri" panose="020F0502020204030204" pitchFamily="34" charset="0"/>
              <a:buChar char="‐"/>
            </a:pPr>
            <a:r>
              <a:rPr lang="fr-FR" sz="3400" dirty="0">
                <a:latin typeface="Times New Roman" panose="02020603050405020304" pitchFamily="18" charset="0"/>
                <a:ea typeface="Times New Roman" panose="02020603050405020304" pitchFamily="18" charset="0"/>
              </a:rPr>
              <a:t>PAL hépatique </a:t>
            </a:r>
          </a:p>
          <a:p>
            <a:pPr lvl="1">
              <a:buFont typeface="Calibri" panose="020F0502020204030204" pitchFamily="34" charset="0"/>
              <a:buChar char="‐"/>
            </a:pPr>
            <a:r>
              <a:rPr lang="fr-FR" sz="3400" dirty="0">
                <a:latin typeface="Times New Roman" panose="02020603050405020304" pitchFamily="18" charset="0"/>
                <a:ea typeface="Times New Roman" panose="02020603050405020304" pitchFamily="18" charset="0"/>
              </a:rPr>
              <a:t>PAL osseuse</a:t>
            </a:r>
          </a:p>
          <a:p>
            <a:pPr lvl="1">
              <a:buFont typeface="Calibri" panose="020F0502020204030204" pitchFamily="34" charset="0"/>
              <a:buChar char="‐"/>
            </a:pPr>
            <a:r>
              <a:rPr lang="fr-FR" sz="3400" dirty="0">
                <a:latin typeface="Times New Roman" panose="02020603050405020304" pitchFamily="18" charset="0"/>
                <a:ea typeface="Times New Roman" panose="02020603050405020304" pitchFamily="18" charset="0"/>
              </a:rPr>
              <a:t>PAL placentaire </a:t>
            </a:r>
            <a:r>
              <a:rPr lang="fr-FR" sz="3400" dirty="0">
                <a:latin typeface="Abadi" panose="020B0604020104020204" pitchFamily="34" charset="0"/>
                <a:ea typeface="Times New Roman" panose="02020603050405020304" pitchFamily="18" charset="0"/>
              </a:rPr>
              <a:t>→ </a:t>
            </a:r>
            <a:r>
              <a:rPr lang="fr-FR" sz="3400" dirty="0">
                <a:latin typeface="Times New Roman" panose="02020603050405020304" pitchFamily="18" charset="0"/>
                <a:ea typeface="Times New Roman" panose="02020603050405020304" pitchFamily="18" charset="0"/>
              </a:rPr>
              <a:t>Grossesse</a:t>
            </a:r>
          </a:p>
          <a:p>
            <a:pPr lvl="1">
              <a:buFont typeface="Calibri" panose="020F0502020204030204" pitchFamily="34" charset="0"/>
              <a:buChar char="‐"/>
            </a:pPr>
            <a:r>
              <a:rPr lang="fr-FR" sz="3400" dirty="0" smtClean="0">
                <a:latin typeface="Times New Roman" panose="02020603050405020304" pitchFamily="18" charset="0"/>
                <a:ea typeface="Times New Roman" panose="02020603050405020304" pitchFamily="18" charset="0"/>
              </a:rPr>
              <a:t>Et aussi un PAL pathologique rénale</a:t>
            </a:r>
            <a:endParaRPr lang="fr-FR" sz="3400" dirty="0">
              <a:latin typeface="Times New Roman" panose="02020603050405020304" pitchFamily="18" charset="0"/>
              <a:ea typeface="Times New Roman" panose="02020603050405020304" pitchFamily="18" charset="0"/>
            </a:endParaRPr>
          </a:p>
          <a:p>
            <a:endParaRPr lang="fr-FR" dirty="0"/>
          </a:p>
        </p:txBody>
      </p:sp>
      <p:sp>
        <p:nvSpPr>
          <p:cNvPr id="4" name="Rectangle 3">
            <a:extLst>
              <a:ext uri="{FF2B5EF4-FFF2-40B4-BE49-F238E27FC236}">
                <a16:creationId xmlns="" xmlns:a16="http://schemas.microsoft.com/office/drawing/2014/main" id="{B5B79861-7B33-4CAC-B388-C87601132343}"/>
              </a:ext>
            </a:extLst>
          </p:cNvPr>
          <p:cNvSpPr/>
          <p:nvPr/>
        </p:nvSpPr>
        <p:spPr>
          <a:xfrm>
            <a:off x="3960740" y="2542920"/>
            <a:ext cx="3420719" cy="886079"/>
          </a:xfrm>
          <a:prstGeom prst="rect">
            <a:avLst/>
          </a:prstGeom>
          <a:solidFill>
            <a:sysClr val="window" lastClr="FFFFFF"/>
          </a:solidFill>
          <a:ln w="25400" cap="flat" cmpd="sng" algn="ctr">
            <a:solidFill>
              <a:sysClr val="window" lastClr="FFFFFF"/>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3200" kern="0" dirty="0">
                <a:solidFill>
                  <a:srgbClr val="FF0000"/>
                </a:solidFill>
                <a:latin typeface="Times New Roman" panose="02020603050405020304" pitchFamily="18" charset="0"/>
                <a:ea typeface="Times New Roman" panose="02020603050405020304" pitchFamily="18" charset="0"/>
              </a:rPr>
              <a:t>S</a:t>
            </a:r>
            <a:r>
              <a:rPr kumimoji="0" lang="fr-FR" sz="3200" b="0" i="0" u="none" strike="noStrike" kern="0" cap="none" spc="0" normalizeH="0" baseline="0" noProof="0" dirty="0" err="1">
                <a:ln>
                  <a:noFill/>
                </a:ln>
                <a:solidFill>
                  <a:srgbClr val="FF0000"/>
                </a:solidFill>
                <a:effectLst/>
                <a:uLnTx/>
                <a:uFillTx/>
                <a:latin typeface="Times New Roman" panose="02020603050405020304" pitchFamily="18" charset="0"/>
                <a:ea typeface="Times New Roman" panose="02020603050405020304" pitchFamily="18" charset="0"/>
                <a:cs typeface="+mn-cs"/>
              </a:rPr>
              <a:t>ujet</a:t>
            </a:r>
            <a:r>
              <a:rPr kumimoji="0" lang="fr-FR" sz="3200" b="0" i="0" u="none" strike="noStrike" kern="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 sain  </a:t>
            </a:r>
          </a:p>
          <a:p>
            <a:pPr marL="457200" marR="0" lvl="0" indent="-228600" defTabSz="914400" eaLnBrk="1" fontAlgn="auto" latinLnBrk="0" hangingPunct="1">
              <a:lnSpc>
                <a:spcPct val="100000"/>
              </a:lnSpc>
              <a:spcBef>
                <a:spcPts val="0"/>
              </a:spcBef>
              <a:spcAft>
                <a:spcPts val="0"/>
              </a:spcAft>
              <a:buClrTx/>
              <a:buSzTx/>
              <a:buFontTx/>
              <a:buNone/>
              <a:tabLst/>
              <a:defRPr/>
            </a:pPr>
            <a:r>
              <a:rPr kumimoji="0" lang="fr-FR" sz="3200" b="0" i="0" u="none" strike="noStrike" kern="0" cap="none" spc="0" normalizeH="0" baseline="0" noProof="0" dirty="0">
                <a:ln>
                  <a:noFill/>
                </a:ln>
                <a:solidFill>
                  <a:sysClr val="window" lastClr="FFFFFF"/>
                </a:solidFill>
                <a:effectLst/>
                <a:uLnTx/>
                <a:uFillTx/>
                <a:latin typeface="Times New Roman" panose="02020603050405020304" pitchFamily="18" charset="0"/>
                <a:ea typeface="Times New Roman" panose="02020603050405020304" pitchFamily="18" charset="0"/>
                <a:cs typeface="+mn-cs"/>
              </a:rPr>
              <a:t>PAL osseuse.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ysClr val="window" lastClr="FFFFFF"/>
                </a:solidFill>
                <a:effectLst/>
                <a:uLnTx/>
                <a:uFillTx/>
                <a:latin typeface="Times New Roman" panose="02020603050405020304" pitchFamily="18" charset="0"/>
                <a:ea typeface="Times New Roman" panose="02020603050405020304" pitchFamily="18" charset="0"/>
                <a:cs typeface="+mn-cs"/>
              </a:rPr>
              <a:t> </a:t>
            </a:r>
          </a:p>
        </p:txBody>
      </p:sp>
      <p:sp>
        <p:nvSpPr>
          <p:cNvPr id="5" name="Accolade fermante 4">
            <a:extLst>
              <a:ext uri="{FF2B5EF4-FFF2-40B4-BE49-F238E27FC236}">
                <a16:creationId xmlns="" xmlns:a16="http://schemas.microsoft.com/office/drawing/2014/main" id="{20CD8D2E-99C2-4D99-BA8B-E88ED6B36559}"/>
              </a:ext>
            </a:extLst>
          </p:cNvPr>
          <p:cNvSpPr/>
          <p:nvPr/>
        </p:nvSpPr>
        <p:spPr>
          <a:xfrm>
            <a:off x="3213651" y="2251075"/>
            <a:ext cx="490331" cy="11779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73022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9564" y="692150"/>
            <a:ext cx="8583186" cy="5024327"/>
          </a:xfrm>
        </p:spPr>
      </p:pic>
    </p:spTree>
    <p:extLst>
      <p:ext uri="{BB962C8B-B14F-4D97-AF65-F5344CB8AC3E}">
        <p14:creationId xmlns:p14="http://schemas.microsoft.com/office/powerpoint/2010/main" val="1027744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a:xfrm>
            <a:off x="0" y="0"/>
            <a:ext cx="6695016" cy="647700"/>
          </a:xfrm>
        </p:spPr>
        <p:txBody>
          <a:bodyPr>
            <a:normAutofit fontScale="90000"/>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647700"/>
            <a:ext cx="12192000" cy="5467350"/>
          </a:xfrm>
        </p:spPr>
        <p:txBody>
          <a:bodyPr>
            <a:normAutofit/>
          </a:bodyPr>
          <a:lstStyle/>
          <a:p>
            <a:pPr>
              <a:buFont typeface="Wingdings" panose="05000000000000000000" pitchFamily="2" charset="2"/>
              <a:buChar char="q"/>
            </a:pPr>
            <a:r>
              <a:rPr lang="fr-FR" sz="3600" b="1" u="sng" dirty="0">
                <a:solidFill>
                  <a:schemeClr val="accent2"/>
                </a:solidFill>
                <a:latin typeface="Times New Roman" panose="02020603050405020304" pitchFamily="18" charset="0"/>
                <a:ea typeface="Times New Roman" panose="02020603050405020304" pitchFamily="18" charset="0"/>
              </a:rPr>
              <a:t>Valeurs normales</a:t>
            </a:r>
          </a:p>
          <a:p>
            <a:endParaRPr lang="fr-FR" sz="3600" dirty="0">
              <a:latin typeface="Times New Roman" panose="02020603050405020304" pitchFamily="18" charset="0"/>
              <a:ea typeface="Times New Roman" panose="02020603050405020304" pitchFamily="18" charset="0"/>
            </a:endParaRPr>
          </a:p>
          <a:p>
            <a:pPr lvl="1">
              <a:buFont typeface="Times New Roman" panose="02020603050405020304" pitchFamily="18" charset="0"/>
              <a:buChar char="-"/>
              <a:tabLst>
                <a:tab pos="4503420" algn="l"/>
              </a:tabLst>
            </a:pPr>
            <a:r>
              <a:rPr lang="fr-FR" sz="3400" dirty="0">
                <a:latin typeface="Times New Roman" panose="02020603050405020304" pitchFamily="18" charset="0"/>
                <a:ea typeface="Times New Roman" panose="02020603050405020304" pitchFamily="18" charset="0"/>
              </a:rPr>
              <a:t>Adulte : </a:t>
            </a:r>
            <a:r>
              <a:rPr lang="fr-FR" sz="3400" dirty="0">
                <a:solidFill>
                  <a:srgbClr val="FF0000"/>
                </a:solidFill>
                <a:latin typeface="Times New Roman" panose="02020603050405020304" pitchFamily="18" charset="0"/>
                <a:ea typeface="Times New Roman" panose="02020603050405020304" pitchFamily="18" charset="0"/>
              </a:rPr>
              <a:t>40-120 </a:t>
            </a:r>
            <a:r>
              <a:rPr lang="fr-FR" sz="3400" dirty="0">
                <a:latin typeface="Times New Roman" panose="02020603050405020304" pitchFamily="18" charset="0"/>
                <a:ea typeface="Times New Roman" panose="02020603050405020304" pitchFamily="18" charset="0"/>
              </a:rPr>
              <a:t>UI / L</a:t>
            </a:r>
          </a:p>
          <a:p>
            <a:pPr lvl="1">
              <a:buFont typeface="Times New Roman" panose="02020603050405020304" pitchFamily="18" charset="0"/>
              <a:buChar char="-"/>
              <a:tabLst>
                <a:tab pos="4503420" algn="l"/>
              </a:tabLst>
            </a:pPr>
            <a:r>
              <a:rPr lang="fr-FR" sz="3400" dirty="0">
                <a:latin typeface="Times New Roman" panose="02020603050405020304" pitchFamily="18" charset="0"/>
                <a:ea typeface="Times New Roman" panose="02020603050405020304" pitchFamily="18" charset="0"/>
              </a:rPr>
              <a:t>Enfant (3-15ans) : </a:t>
            </a:r>
            <a:r>
              <a:rPr lang="fr-FR" sz="3400" dirty="0">
                <a:solidFill>
                  <a:srgbClr val="FF0000"/>
                </a:solidFill>
                <a:latin typeface="Times New Roman" panose="02020603050405020304" pitchFamily="18" charset="0"/>
                <a:ea typeface="Times New Roman" panose="02020603050405020304" pitchFamily="18" charset="0"/>
              </a:rPr>
              <a:t>120-400 </a:t>
            </a:r>
            <a:r>
              <a:rPr lang="fr-FR" sz="3400" dirty="0">
                <a:latin typeface="Times New Roman" panose="02020603050405020304" pitchFamily="18" charset="0"/>
                <a:ea typeface="Times New Roman" panose="02020603050405020304" pitchFamily="18" charset="0"/>
              </a:rPr>
              <a:t>UI/ </a:t>
            </a:r>
            <a:r>
              <a:rPr lang="fr-FR" sz="3400" dirty="0" smtClean="0">
                <a:latin typeface="Times New Roman" panose="02020603050405020304" pitchFamily="18" charset="0"/>
                <a:ea typeface="Times New Roman" panose="02020603050405020304" pitchFamily="18" charset="0"/>
              </a:rPr>
              <a:t>L =&gt; puisque y a la croissance osseuse donc remaniement permanente du tissu osseuse et diminuer après la puberté et y pas de différente entre le deux sexe</a:t>
            </a:r>
            <a:endParaRPr lang="fr-FR" sz="340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33694841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a:xfrm>
            <a:off x="0" y="0"/>
            <a:ext cx="6515100" cy="647700"/>
          </a:xfrm>
        </p:spPr>
        <p:txBody>
          <a:bodyPr>
            <a:normAutofit fontScale="90000"/>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647700"/>
            <a:ext cx="9639300" cy="4424597"/>
          </a:xfrm>
        </p:spPr>
        <p:txBody>
          <a:bodyPr>
            <a:normAutofit/>
          </a:bodyPr>
          <a:lstStyle/>
          <a:p>
            <a:pPr>
              <a:buFont typeface="Wingdings" panose="05000000000000000000" pitchFamily="2" charset="2"/>
              <a:buChar char="q"/>
            </a:pPr>
            <a:r>
              <a:rPr lang="fr-FR" sz="3200" b="1" u="sng" dirty="0">
                <a:solidFill>
                  <a:schemeClr val="accent2"/>
                </a:solidFill>
                <a:latin typeface="Times New Roman" panose="02020603050405020304" pitchFamily="18" charset="0"/>
                <a:ea typeface="Times New Roman" panose="02020603050405020304" pitchFamily="18" charset="0"/>
              </a:rPr>
              <a:t>Variations physiologiques</a:t>
            </a:r>
            <a:endParaRPr lang="fr-FR" sz="3200" dirty="0">
              <a:solidFill>
                <a:schemeClr val="accent2"/>
              </a:solidFill>
              <a:latin typeface="Times New Roman" panose="02020603050405020304" pitchFamily="18" charset="0"/>
              <a:ea typeface="Times New Roman" panose="02020603050405020304" pitchFamily="18" charset="0"/>
            </a:endParaRPr>
          </a:p>
          <a:p>
            <a:pPr lvl="2">
              <a:buFont typeface="Wingdings" panose="05000000000000000000" pitchFamily="2" charset="2"/>
              <a:buChar char="Ø"/>
            </a:pPr>
            <a:r>
              <a:rPr lang="fr-FR" sz="2800" b="1" dirty="0">
                <a:latin typeface="Times New Roman" panose="02020603050405020304" pitchFamily="18" charset="0"/>
                <a:ea typeface="Times New Roman" panose="02020603050405020304" pitchFamily="18" charset="0"/>
              </a:rPr>
              <a:t>↑PAL </a:t>
            </a:r>
            <a:r>
              <a:rPr lang="fr-FR" sz="2800" b="1" dirty="0" smtClean="0">
                <a:latin typeface="Times New Roman" panose="02020603050405020304" pitchFamily="18" charset="0"/>
                <a:ea typeface="Times New Roman" panose="02020603050405020304" pitchFamily="18" charset="0"/>
              </a:rPr>
              <a:t>croissance (remodelasse osseuse)</a:t>
            </a:r>
            <a:endParaRPr lang="fr-FR" sz="2800" b="1" dirty="0">
              <a:latin typeface="Times New Roman" panose="02020603050405020304" pitchFamily="18" charset="0"/>
              <a:ea typeface="Times New Roman" panose="02020603050405020304" pitchFamily="18" charset="0"/>
            </a:endParaRPr>
          </a:p>
          <a:p>
            <a:pPr lvl="2">
              <a:buFont typeface="Wingdings" panose="05000000000000000000" pitchFamily="2" charset="2"/>
              <a:buChar char="Ø"/>
            </a:pPr>
            <a:r>
              <a:rPr lang="fr-FR" sz="2800" b="1" dirty="0">
                <a:latin typeface="Times New Roman" panose="02020603050405020304" pitchFamily="18" charset="0"/>
                <a:ea typeface="Times New Roman" panose="02020603050405020304" pitchFamily="18" charset="0"/>
              </a:rPr>
              <a:t>Au cours de la grossesse (PAL placentaire ↑)</a:t>
            </a:r>
          </a:p>
          <a:p>
            <a:pPr lvl="3">
              <a:buFont typeface="Arial" panose="020B0604020202020204" pitchFamily="34" charset="0"/>
              <a:buChar char="•"/>
            </a:pPr>
            <a:r>
              <a:rPr lang="fr-FR" sz="2800" b="1" dirty="0" smtClean="0">
                <a:latin typeface="Times New Roman" panose="02020603050405020304" pitchFamily="18" charset="0"/>
                <a:ea typeface="Times New Roman" panose="02020603050405020304" pitchFamily="18" charset="0"/>
              </a:rPr>
              <a:t>Commence d’↑ PAL </a:t>
            </a:r>
            <a:r>
              <a:rPr lang="fr-FR" sz="2800" b="1" dirty="0">
                <a:latin typeface="Times New Roman" panose="02020603050405020304" pitchFamily="18" charset="0"/>
                <a:ea typeface="Times New Roman" panose="02020603050405020304" pitchFamily="18" charset="0"/>
              </a:rPr>
              <a:t>à partir de la </a:t>
            </a:r>
            <a:r>
              <a:rPr lang="fr-FR" sz="3000" b="1" dirty="0">
                <a:latin typeface="Times New Roman" panose="02020603050405020304" pitchFamily="18" charset="0"/>
                <a:ea typeface="Times New Roman" panose="02020603050405020304" pitchFamily="18" charset="0"/>
              </a:rPr>
              <a:t>20</a:t>
            </a:r>
            <a:r>
              <a:rPr lang="fr-FR" sz="3000" b="1" baseline="30000" dirty="0">
                <a:latin typeface="Times New Roman" panose="02020603050405020304" pitchFamily="18" charset="0"/>
                <a:ea typeface="Times New Roman" panose="02020603050405020304" pitchFamily="18" charset="0"/>
              </a:rPr>
              <a:t>ème  </a:t>
            </a:r>
            <a:r>
              <a:rPr lang="fr-FR" sz="2800" b="1" dirty="0">
                <a:latin typeface="Times New Roman" panose="02020603050405020304" pitchFamily="18" charset="0"/>
                <a:ea typeface="Times New Roman" panose="02020603050405020304" pitchFamily="18" charset="0"/>
              </a:rPr>
              <a:t>S </a:t>
            </a:r>
            <a:r>
              <a:rPr lang="fr-FR" sz="2800" b="1" dirty="0" smtClean="0">
                <a:latin typeface="Times New Roman" panose="02020603050405020304" pitchFamily="18" charset="0"/>
                <a:ea typeface="Times New Roman" panose="02020603050405020304" pitchFamily="18" charset="0"/>
              </a:rPr>
              <a:t>d'aménorrhée 2-3 de sa valeur normal</a:t>
            </a:r>
            <a:endParaRPr lang="fr-FR" sz="2800" b="1" dirty="0">
              <a:latin typeface="Times New Roman" panose="02020603050405020304" pitchFamily="18" charset="0"/>
              <a:ea typeface="Times New Roman" panose="02020603050405020304" pitchFamily="18" charset="0"/>
            </a:endParaRPr>
          </a:p>
          <a:p>
            <a:pPr lvl="3">
              <a:buFont typeface="Arial" panose="020B0604020202020204" pitchFamily="34" charset="0"/>
              <a:buChar char="•"/>
            </a:pPr>
            <a:r>
              <a:rPr lang="fr-FR" sz="2800" b="1" dirty="0">
                <a:latin typeface="Times New Roman" panose="02020603050405020304" pitchFamily="18" charset="0"/>
                <a:ea typeface="Times New Roman" panose="02020603050405020304" pitchFamily="18" charset="0"/>
              </a:rPr>
              <a:t>PAL </a:t>
            </a:r>
            <a:r>
              <a:rPr lang="fr-FR" sz="2800" b="1" dirty="0" smtClean="0">
                <a:latin typeface="Times New Roman" panose="02020603050405020304" pitchFamily="18" charset="0"/>
                <a:ea typeface="Times New Roman" panose="02020603050405020304" pitchFamily="18" charset="0"/>
              </a:rPr>
              <a:t>reprend sa Valeur normal </a:t>
            </a:r>
            <a:r>
              <a:rPr lang="fr-FR" sz="2800" b="1" dirty="0">
                <a:latin typeface="Times New Roman" panose="02020603050405020304" pitchFamily="18" charset="0"/>
                <a:ea typeface="Times New Roman" panose="02020603050405020304" pitchFamily="18" charset="0"/>
              </a:rPr>
              <a:t>2-3 </a:t>
            </a:r>
            <a:r>
              <a:rPr lang="fr-FR" sz="2800" b="1" dirty="0" smtClean="0">
                <a:latin typeface="Times New Roman" panose="02020603050405020304" pitchFamily="18" charset="0"/>
                <a:ea typeface="Times New Roman" panose="02020603050405020304" pitchFamily="18" charset="0"/>
              </a:rPr>
              <a:t>Semaine </a:t>
            </a:r>
            <a:r>
              <a:rPr lang="fr-FR" sz="2800" b="1" dirty="0">
                <a:latin typeface="Times New Roman" panose="02020603050405020304" pitchFamily="18" charset="0"/>
                <a:ea typeface="Times New Roman" panose="02020603050405020304" pitchFamily="18" charset="0"/>
              </a:rPr>
              <a:t>après l’accouchement</a:t>
            </a:r>
          </a:p>
          <a:p>
            <a:pPr lvl="2">
              <a:buFont typeface="Wingdings" panose="05000000000000000000" pitchFamily="2" charset="2"/>
              <a:buChar char="Ø"/>
            </a:pPr>
            <a:r>
              <a:rPr lang="fr-FR" sz="2800" b="1" dirty="0">
                <a:latin typeface="Times New Roman" panose="02020603050405020304" pitchFamily="18" charset="0"/>
                <a:ea typeface="Times New Roman" panose="02020603050405020304" pitchFamily="18" charset="0"/>
              </a:rPr>
              <a:t>↓PAL chez le sujet </a:t>
            </a:r>
            <a:r>
              <a:rPr lang="fr-FR" sz="2800" b="1" dirty="0" smtClean="0">
                <a:latin typeface="Times New Roman" panose="02020603050405020304" pitchFamily="18" charset="0"/>
                <a:ea typeface="Times New Roman" panose="02020603050405020304" pitchFamily="18" charset="0"/>
              </a:rPr>
              <a:t>âgé =&gt;avec l'âge</a:t>
            </a:r>
            <a:endParaRPr lang="fr-FR" sz="2800" b="1"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343032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a:xfrm>
            <a:off x="0" y="0"/>
            <a:ext cx="6553200" cy="647700"/>
          </a:xfrm>
        </p:spPr>
        <p:txBody>
          <a:bodyPr>
            <a:normAutofit fontScale="90000"/>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1270000"/>
            <a:ext cx="10657416" cy="3880773"/>
          </a:xfrm>
        </p:spPr>
        <p:txBody>
          <a:bodyPr>
            <a:normAutofit/>
          </a:bodyPr>
          <a:lstStyle/>
          <a:p>
            <a:pPr>
              <a:buFont typeface="Wingdings" panose="05000000000000000000" pitchFamily="2" charset="2"/>
              <a:buChar char="q"/>
            </a:pPr>
            <a:r>
              <a:rPr lang="fr-FR" sz="4000" b="1" u="sng" dirty="0">
                <a:solidFill>
                  <a:schemeClr val="accent2"/>
                </a:solidFill>
                <a:latin typeface="Times New Roman" panose="02020603050405020304" pitchFamily="18" charset="0"/>
                <a:ea typeface="Times New Roman" panose="02020603050405020304" pitchFamily="18" charset="0"/>
              </a:rPr>
              <a:t>Variations pathologiques:</a:t>
            </a:r>
            <a:endParaRPr lang="fr-FR" sz="4000" dirty="0">
              <a:solidFill>
                <a:schemeClr val="accent2"/>
              </a:solidFill>
              <a:latin typeface="Times New Roman" panose="02020603050405020304" pitchFamily="18" charset="0"/>
              <a:ea typeface="Times New Roman" panose="02020603050405020304" pitchFamily="18" charset="0"/>
            </a:endParaRPr>
          </a:p>
          <a:p>
            <a:pPr marL="1078230" lvl="1" indent="-571500">
              <a:buFont typeface="Wingdings" panose="05000000000000000000" pitchFamily="2" charset="2"/>
              <a:buChar char="Ø"/>
            </a:pPr>
            <a:r>
              <a:rPr lang="fr-FR" sz="3400" b="1" dirty="0">
                <a:latin typeface="Times New Roman" panose="02020603050405020304" pitchFamily="18" charset="0"/>
                <a:ea typeface="Times New Roman" panose="02020603050405020304" pitchFamily="18" charset="0"/>
              </a:rPr>
              <a:t>   Elévation de la PAL </a:t>
            </a:r>
            <a:r>
              <a:rPr lang="fr-FR" sz="3400" b="1" dirty="0" smtClean="0">
                <a:latin typeface="Times New Roman" panose="02020603050405020304" pitchFamily="18" charset="0"/>
                <a:ea typeface="Times New Roman" panose="02020603050405020304" pitchFamily="18" charset="0"/>
              </a:rPr>
              <a:t>(c’est le plus fréquents)</a:t>
            </a:r>
            <a:endParaRPr lang="fr-FR" sz="3400" dirty="0">
              <a:latin typeface="Times New Roman" panose="02020603050405020304" pitchFamily="18" charset="0"/>
              <a:ea typeface="Times New Roman" panose="02020603050405020304" pitchFamily="18" charset="0"/>
            </a:endParaRPr>
          </a:p>
          <a:p>
            <a:pPr marL="1078230" lvl="1" indent="-571500">
              <a:buFont typeface="Wingdings" panose="05000000000000000000" pitchFamily="2" charset="2"/>
              <a:buChar char="Ø"/>
            </a:pPr>
            <a:r>
              <a:rPr lang="fr-FR" sz="3400" b="1" dirty="0">
                <a:latin typeface="Times New Roman" panose="02020603050405020304" pitchFamily="18" charset="0"/>
                <a:ea typeface="Times New Roman" panose="02020603050405020304" pitchFamily="18" charset="0"/>
              </a:rPr>
              <a:t>   Diminution de la PAL </a:t>
            </a:r>
            <a:endParaRPr lang="fr-FR" sz="3400" dirty="0"/>
          </a:p>
        </p:txBody>
      </p:sp>
    </p:spTree>
    <p:extLst>
      <p:ext uri="{BB962C8B-B14F-4D97-AF65-F5344CB8AC3E}">
        <p14:creationId xmlns:p14="http://schemas.microsoft.com/office/powerpoint/2010/main" val="1195086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p:txBody>
          <a:bodyPr>
            <a:normAutofit/>
          </a:bodyPr>
          <a:lstStyle/>
          <a:p>
            <a:pPr>
              <a:buFont typeface="Wingdings" panose="05000000000000000000" pitchFamily="2" charset="2"/>
              <a:buChar char="q"/>
            </a:pPr>
            <a:r>
              <a:rPr lang="fr-FR" sz="4000" b="1" u="sng" dirty="0">
                <a:solidFill>
                  <a:schemeClr val="accent2"/>
                </a:solidFill>
                <a:latin typeface="Times New Roman" panose="02020603050405020304" pitchFamily="18" charset="0"/>
                <a:ea typeface="Times New Roman" panose="02020603050405020304" pitchFamily="18" charset="0"/>
              </a:rPr>
              <a:t>Variations pathologiques:</a:t>
            </a:r>
            <a:endParaRPr lang="fr-FR" sz="4000" dirty="0">
              <a:solidFill>
                <a:schemeClr val="accent2"/>
              </a:solidFill>
              <a:latin typeface="Times New Roman" panose="02020603050405020304" pitchFamily="18" charset="0"/>
              <a:ea typeface="Times New Roman" panose="02020603050405020304" pitchFamily="18" charset="0"/>
            </a:endParaRPr>
          </a:p>
          <a:p>
            <a:pPr marL="678180" indent="-571500">
              <a:buFont typeface="Wingdings" panose="05000000000000000000" pitchFamily="2" charset="2"/>
              <a:buChar char="Ø"/>
            </a:pPr>
            <a:r>
              <a:rPr lang="fr-FR" sz="4000" b="1" dirty="0">
                <a:latin typeface="Times New Roman" panose="02020603050405020304" pitchFamily="18" charset="0"/>
                <a:ea typeface="Times New Roman" panose="02020603050405020304" pitchFamily="18" charset="0"/>
              </a:rPr>
              <a:t>   </a:t>
            </a:r>
            <a:r>
              <a:rPr lang="fr-FR" sz="4000" b="1" u="sng" dirty="0">
                <a:latin typeface="Times New Roman" panose="02020603050405020304" pitchFamily="18" charset="0"/>
                <a:ea typeface="Times New Roman" panose="02020603050405020304" pitchFamily="18" charset="0"/>
              </a:rPr>
              <a:t>Elévation de la PAL </a:t>
            </a:r>
            <a:endParaRPr lang="fr-FR" sz="4000" dirty="0">
              <a:latin typeface="Times New Roman" panose="02020603050405020304" pitchFamily="18" charset="0"/>
              <a:ea typeface="Times New Roman" panose="02020603050405020304" pitchFamily="18" charset="0"/>
            </a:endParaRPr>
          </a:p>
          <a:p>
            <a:pPr marL="506730" lvl="1" indent="0" algn="justLow">
              <a:buNone/>
            </a:pPr>
            <a:r>
              <a:rPr lang="fr-FR" sz="4000" dirty="0">
                <a:latin typeface="Times New Roman" panose="02020603050405020304" pitchFamily="18" charset="0"/>
                <a:ea typeface="Times New Roman" panose="02020603050405020304" pitchFamily="18" charset="0"/>
              </a:rPr>
              <a:t>       1-Affections osseuses </a:t>
            </a:r>
          </a:p>
          <a:p>
            <a:pPr marL="506730" lvl="1" indent="0" algn="justLow">
              <a:buNone/>
            </a:pPr>
            <a:r>
              <a:rPr lang="fr-FR" sz="4000" dirty="0">
                <a:latin typeface="Times New Roman" panose="02020603050405020304" pitchFamily="18" charset="0"/>
                <a:ea typeface="Times New Roman" panose="02020603050405020304" pitchFamily="18" charset="0"/>
              </a:rPr>
              <a:t>       2-Affections hépatobiliaires </a:t>
            </a:r>
          </a:p>
          <a:p>
            <a:pPr marL="106680" indent="0" algn="justLow">
              <a:buNone/>
            </a:pPr>
            <a:endParaRPr lang="fr-FR" dirty="0"/>
          </a:p>
        </p:txBody>
      </p:sp>
    </p:spTree>
    <p:extLst>
      <p:ext uri="{BB962C8B-B14F-4D97-AF65-F5344CB8AC3E}">
        <p14:creationId xmlns:p14="http://schemas.microsoft.com/office/powerpoint/2010/main" val="318217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1270000"/>
            <a:ext cx="9810750" cy="4954684"/>
          </a:xfrm>
        </p:spPr>
        <p:txBody>
          <a:bodyPr>
            <a:normAutofit fontScale="55000" lnSpcReduction="20000"/>
          </a:bodyPr>
          <a:lstStyle/>
          <a:p>
            <a:pPr>
              <a:buFont typeface="Wingdings" panose="05000000000000000000" pitchFamily="2" charset="2"/>
              <a:buChar char="q"/>
            </a:pPr>
            <a:r>
              <a:rPr lang="fr-FR" sz="5800" b="1" u="sng" dirty="0">
                <a:solidFill>
                  <a:schemeClr val="accent2"/>
                </a:solidFill>
                <a:latin typeface="Times New Roman" panose="02020603050405020304" pitchFamily="18" charset="0"/>
                <a:ea typeface="Times New Roman" panose="02020603050405020304" pitchFamily="18" charset="0"/>
              </a:rPr>
              <a:t>Variations pathologiques:</a:t>
            </a:r>
          </a:p>
          <a:p>
            <a:pPr>
              <a:buFont typeface="Wingdings" panose="05000000000000000000" pitchFamily="2" charset="2"/>
              <a:buChar char="Ø"/>
            </a:pPr>
            <a:r>
              <a:rPr lang="fr-FR" sz="4000" b="1" dirty="0">
                <a:latin typeface="Times New Roman" panose="02020603050405020304" pitchFamily="18" charset="0"/>
                <a:ea typeface="Times New Roman" panose="02020603050405020304" pitchFamily="18" charset="0"/>
              </a:rPr>
              <a:t> </a:t>
            </a:r>
            <a:r>
              <a:rPr lang="fr-FR" sz="4000" b="1" u="sng" dirty="0">
                <a:latin typeface="Times New Roman" panose="02020603050405020304" pitchFamily="18" charset="0"/>
                <a:ea typeface="Times New Roman" panose="02020603050405020304" pitchFamily="18" charset="0"/>
              </a:rPr>
              <a:t>Elévation de la PAL :</a:t>
            </a:r>
            <a:endParaRPr lang="fr-FR" sz="4000" dirty="0">
              <a:latin typeface="Times New Roman" panose="02020603050405020304" pitchFamily="18" charset="0"/>
              <a:ea typeface="Times New Roman" panose="02020603050405020304" pitchFamily="18" charset="0"/>
            </a:endParaRPr>
          </a:p>
          <a:p>
            <a:pPr marL="506730" lvl="1" indent="0" algn="justLow">
              <a:buNone/>
            </a:pPr>
            <a:r>
              <a:rPr lang="fr-FR" sz="4000" dirty="0">
                <a:latin typeface="Times New Roman" panose="02020603050405020304" pitchFamily="18" charset="0"/>
                <a:ea typeface="Times New Roman" panose="02020603050405020304" pitchFamily="18" charset="0"/>
              </a:rPr>
              <a:t>      </a:t>
            </a:r>
            <a:r>
              <a:rPr lang="fr-FR" sz="4000" b="1" dirty="0">
                <a:latin typeface="Times New Roman" panose="02020603050405020304" pitchFamily="18" charset="0"/>
                <a:ea typeface="Times New Roman" panose="02020603050405020304" pitchFamily="18" charset="0"/>
              </a:rPr>
              <a:t>1-Affections osseuses </a:t>
            </a:r>
          </a:p>
          <a:p>
            <a:pPr marL="906780" lvl="2" indent="0" algn="justLow">
              <a:buNone/>
            </a:pPr>
            <a:r>
              <a:rPr lang="fr-FR" sz="3800" dirty="0">
                <a:latin typeface="Times New Roman" panose="02020603050405020304" pitchFamily="18" charset="0"/>
                <a:ea typeface="Times New Roman" panose="02020603050405020304" pitchFamily="18" charset="0"/>
              </a:rPr>
              <a:t>       -	</a:t>
            </a:r>
            <a:r>
              <a:rPr lang="fr-FR" sz="4000" dirty="0">
                <a:latin typeface="Times New Roman" panose="02020603050405020304" pitchFamily="18" charset="0"/>
                <a:ea typeface="Times New Roman" panose="02020603050405020304" pitchFamily="18" charset="0"/>
              </a:rPr>
              <a:t>Maladie de Paget </a:t>
            </a:r>
            <a:r>
              <a:rPr lang="fr-FR" sz="4000" dirty="0">
                <a:solidFill>
                  <a:schemeClr val="tx1"/>
                </a:solidFill>
                <a:latin typeface="Times New Roman" panose="02020603050405020304" pitchFamily="18" charset="0"/>
                <a:ea typeface="Times New Roman" panose="02020603050405020304" pitchFamily="18" charset="0"/>
              </a:rPr>
              <a:t>(</a:t>
            </a:r>
            <a:r>
              <a:rPr lang="fr-FR" sz="4000" kern="0" dirty="0">
                <a:solidFill>
                  <a:srgbClr val="FF0000"/>
                </a:solidFill>
                <a:latin typeface="Times New Roman" panose="02020603050405020304" pitchFamily="18" charset="0"/>
                <a:ea typeface="Times New Roman" panose="02020603050405020304" pitchFamily="18" charset="0"/>
              </a:rPr>
              <a:t>↑ PAL</a:t>
            </a:r>
            <a:r>
              <a:rPr lang="fr-FR" sz="4000" dirty="0">
                <a:solidFill>
                  <a:srgbClr val="FF0000"/>
                </a:solidFill>
                <a:latin typeface="Times New Roman" panose="02020603050405020304" pitchFamily="18" charset="0"/>
                <a:ea typeface="Times New Roman" panose="02020603050405020304" pitchFamily="18" charset="0"/>
              </a:rPr>
              <a:t> +10 X VN</a:t>
            </a:r>
            <a:r>
              <a:rPr lang="fr-FR" sz="4000" dirty="0">
                <a:latin typeface="Times New Roman" panose="02020603050405020304" pitchFamily="18" charset="0"/>
                <a:ea typeface="Times New Roman" panose="02020603050405020304" pitchFamily="18" charset="0"/>
              </a:rPr>
              <a:t>)</a:t>
            </a:r>
          </a:p>
          <a:p>
            <a:pPr marL="1363980" lvl="3" indent="0" algn="justLow">
              <a:buNone/>
            </a:pPr>
            <a:r>
              <a:rPr lang="fr-FR" sz="4000" dirty="0">
                <a:solidFill>
                  <a:prstClr val="black">
                    <a:lumMod val="75000"/>
                    <a:lumOff val="25000"/>
                  </a:prstClr>
                </a:solidFill>
                <a:latin typeface="Times New Roman" panose="02020603050405020304" pitchFamily="18" charset="0"/>
                <a:ea typeface="Times New Roman" panose="02020603050405020304" pitchFamily="18" charset="0"/>
              </a:rPr>
              <a:t>-     Ostéomalacie </a:t>
            </a:r>
            <a:r>
              <a:rPr lang="fr-FR" sz="4000" dirty="0" smtClean="0">
                <a:solidFill>
                  <a:prstClr val="black">
                    <a:lumMod val="75000"/>
                    <a:lumOff val="25000"/>
                  </a:prstClr>
                </a:solidFill>
                <a:latin typeface="Times New Roman" panose="02020603050405020304" pitchFamily="18" charset="0"/>
                <a:ea typeface="Times New Roman" panose="02020603050405020304" pitchFamily="18" charset="0"/>
              </a:rPr>
              <a:t>(chez adulte</a:t>
            </a:r>
            <a:r>
              <a:rPr lang="fr-FR" sz="4000" dirty="0">
                <a:solidFill>
                  <a:prstClr val="black">
                    <a:lumMod val="75000"/>
                    <a:lumOff val="25000"/>
                  </a:prstClr>
                </a:solidFill>
                <a:latin typeface="Times New Roman" panose="02020603050405020304" pitchFamily="18" charset="0"/>
                <a:ea typeface="Times New Roman" panose="02020603050405020304" pitchFamily="18" charset="0"/>
              </a:rPr>
              <a:t>)</a:t>
            </a:r>
          </a:p>
          <a:p>
            <a:pPr marL="1363980" lvl="3" indent="0" algn="justLow">
              <a:buClr>
                <a:srgbClr val="90C226"/>
              </a:buClr>
              <a:buNone/>
            </a:pPr>
            <a:r>
              <a:rPr lang="fr-FR" sz="4000" dirty="0">
                <a:solidFill>
                  <a:prstClr val="black">
                    <a:lumMod val="75000"/>
                    <a:lumOff val="25000"/>
                  </a:prstClr>
                </a:solidFill>
                <a:latin typeface="Times New Roman" panose="02020603050405020304" pitchFamily="18" charset="0"/>
                <a:ea typeface="Times New Roman" panose="02020603050405020304" pitchFamily="18" charset="0"/>
              </a:rPr>
              <a:t>-	Rachitisme </a:t>
            </a:r>
            <a:r>
              <a:rPr lang="fr-FR" sz="4000" dirty="0" smtClean="0">
                <a:solidFill>
                  <a:prstClr val="black">
                    <a:lumMod val="75000"/>
                    <a:lumOff val="25000"/>
                  </a:prstClr>
                </a:solidFill>
                <a:latin typeface="Times New Roman" panose="02020603050405020304" pitchFamily="18" charset="0"/>
                <a:ea typeface="Times New Roman" panose="02020603050405020304" pitchFamily="18" charset="0"/>
              </a:rPr>
              <a:t>(chez Enfante)</a:t>
            </a:r>
            <a:endParaRPr lang="fr-FR" sz="4000" dirty="0">
              <a:latin typeface="Times New Roman" panose="02020603050405020304" pitchFamily="18" charset="0"/>
              <a:ea typeface="Times New Roman" panose="02020603050405020304" pitchFamily="18" charset="0"/>
            </a:endParaRPr>
          </a:p>
          <a:p>
            <a:pPr marL="1363980" lvl="3" indent="0" algn="justLow">
              <a:buNone/>
            </a:pPr>
            <a:r>
              <a:rPr lang="fr-FR" sz="4000" dirty="0">
                <a:latin typeface="Times New Roman" panose="02020603050405020304" pitchFamily="18" charset="0"/>
                <a:ea typeface="Times New Roman" panose="02020603050405020304" pitchFamily="18" charset="0"/>
              </a:rPr>
              <a:t>-	Hyperparathyroïdie </a:t>
            </a:r>
            <a:r>
              <a:rPr lang="fr-FR" sz="3800" dirty="0">
                <a:latin typeface="Times New Roman" panose="02020603050405020304" pitchFamily="18" charset="0"/>
                <a:ea typeface="Times New Roman" panose="02020603050405020304" pitchFamily="18" charset="0"/>
              </a:rPr>
              <a:t>(</a:t>
            </a:r>
            <a:r>
              <a:rPr lang="fr-FR" sz="3800" dirty="0"/>
              <a:t>I</a:t>
            </a:r>
            <a:r>
              <a:rPr lang="fr-FR" sz="3800" baseline="30000" dirty="0"/>
              <a:t>aire</a:t>
            </a:r>
            <a:r>
              <a:rPr lang="fr-FR" sz="3800" dirty="0"/>
              <a:t> , II</a:t>
            </a:r>
            <a:r>
              <a:rPr lang="fr-FR" sz="3800" baseline="30000" dirty="0"/>
              <a:t>aire</a:t>
            </a:r>
            <a:r>
              <a:rPr lang="fr-FR" sz="3800" dirty="0">
                <a:latin typeface="Times New Roman" panose="02020603050405020304" pitchFamily="18" charset="0"/>
                <a:ea typeface="Times New Roman" panose="02020603050405020304" pitchFamily="18" charset="0"/>
              </a:rPr>
              <a:t> </a:t>
            </a:r>
            <a:r>
              <a:rPr lang="fr-FR" sz="3800" dirty="0" smtClean="0">
                <a:latin typeface="Times New Roman" panose="02020603050405020304" pitchFamily="18" charset="0"/>
                <a:ea typeface="Times New Roman" panose="02020603050405020304" pitchFamily="18" charset="0"/>
              </a:rPr>
              <a:t>) =&gt;régule le métabolisme </a:t>
            </a:r>
            <a:r>
              <a:rPr lang="fr-FR" sz="3800" dirty="0" err="1" smtClean="0">
                <a:latin typeface="Times New Roman" panose="02020603050405020304" pitchFamily="18" charset="0"/>
                <a:ea typeface="Times New Roman" panose="02020603050405020304" pitchFamily="18" charset="0"/>
              </a:rPr>
              <a:t>phospho</a:t>
            </a:r>
            <a:r>
              <a:rPr lang="fr-FR" sz="3800" dirty="0" smtClean="0">
                <a:latin typeface="Times New Roman" panose="02020603050405020304" pitchFamily="18" charset="0"/>
                <a:ea typeface="Times New Roman" panose="02020603050405020304" pitchFamily="18" charset="0"/>
              </a:rPr>
              <a:t> calcique </a:t>
            </a:r>
            <a:endParaRPr lang="fr-FR" sz="3800" dirty="0">
              <a:latin typeface="Times New Roman" panose="02020603050405020304" pitchFamily="18" charset="0"/>
              <a:ea typeface="Times New Roman" panose="02020603050405020304" pitchFamily="18" charset="0"/>
            </a:endParaRPr>
          </a:p>
          <a:p>
            <a:pPr marL="1363980" lvl="3" indent="0" algn="justLow">
              <a:buNone/>
            </a:pPr>
            <a:r>
              <a:rPr lang="fr-FR" sz="4000" dirty="0">
                <a:latin typeface="Times New Roman" panose="02020603050405020304" pitchFamily="18" charset="0"/>
                <a:ea typeface="Times New Roman" panose="02020603050405020304" pitchFamily="18" charset="0"/>
              </a:rPr>
              <a:t>-	Myélome multiple ou </a:t>
            </a:r>
            <a:r>
              <a:rPr lang="fr-FR" sz="4000" dirty="0" smtClean="0">
                <a:latin typeface="Times New Roman" panose="02020603050405020304" pitchFamily="18" charset="0"/>
                <a:ea typeface="Times New Roman" panose="02020603050405020304" pitchFamily="18" charset="0"/>
              </a:rPr>
              <a:t>Maladie</a:t>
            </a:r>
            <a:r>
              <a:rPr lang="fr-FR" sz="3200" dirty="0">
                <a:latin typeface="Times New Roman" panose="02020603050405020304" pitchFamily="18" charset="0"/>
                <a:ea typeface="Times New Roman" panose="02020603050405020304" pitchFamily="18" charset="0"/>
              </a:rPr>
              <a:t> </a:t>
            </a:r>
            <a:r>
              <a:rPr lang="fr-FR" sz="3200" dirty="0" smtClean="0">
                <a:latin typeface="Times New Roman" panose="02020603050405020304" pitchFamily="18" charset="0"/>
                <a:ea typeface="Times New Roman" panose="02020603050405020304" pitchFamily="18" charset="0"/>
              </a:rPr>
              <a:t>du</a:t>
            </a:r>
            <a:r>
              <a:rPr lang="fr-FR" sz="4000" dirty="0" smtClean="0">
                <a:latin typeface="Times New Roman" panose="02020603050405020304" pitchFamily="18" charset="0"/>
                <a:ea typeface="Times New Roman" panose="02020603050405020304" pitchFamily="18" charset="0"/>
              </a:rPr>
              <a:t> Kahler </a:t>
            </a:r>
            <a:endParaRPr lang="fr-FR" sz="4000" dirty="0">
              <a:latin typeface="Times New Roman" panose="02020603050405020304" pitchFamily="18" charset="0"/>
              <a:ea typeface="Times New Roman" panose="02020603050405020304" pitchFamily="18" charset="0"/>
            </a:endParaRPr>
          </a:p>
          <a:p>
            <a:pPr marL="1363980" lvl="3" indent="0" algn="justLow">
              <a:buNone/>
            </a:pPr>
            <a:r>
              <a:rPr lang="fr-FR" sz="4000" dirty="0">
                <a:latin typeface="Times New Roman" panose="02020603050405020304" pitchFamily="18" charset="0"/>
                <a:ea typeface="Times New Roman" panose="02020603050405020304" pitchFamily="18" charset="0"/>
              </a:rPr>
              <a:t>-	Tm osseuses </a:t>
            </a:r>
          </a:p>
          <a:p>
            <a:pPr marL="1363980" lvl="3" indent="0" algn="justLow">
              <a:buNone/>
            </a:pPr>
            <a:r>
              <a:rPr lang="fr-FR" sz="4000" dirty="0">
                <a:latin typeface="Times New Roman" panose="02020603050405020304" pitchFamily="18" charset="0"/>
                <a:ea typeface="Times New Roman" panose="02020603050405020304" pitchFamily="18" charset="0"/>
              </a:rPr>
              <a:t>-	Consolidation de fractures osseuses (</a:t>
            </a:r>
            <a:r>
              <a:rPr lang="fr-FR" sz="4000" dirty="0">
                <a:solidFill>
                  <a:srgbClr val="FF0000"/>
                </a:solidFill>
                <a:latin typeface="Abadi Extra Light" panose="020B0204020104020204" pitchFamily="34" charset="0"/>
                <a:ea typeface="Times New Roman" panose="02020603050405020304" pitchFamily="18" charset="0"/>
              </a:rPr>
              <a:t>↑</a:t>
            </a:r>
            <a:r>
              <a:rPr lang="fr-FR" sz="4000" dirty="0">
                <a:solidFill>
                  <a:srgbClr val="FF0000"/>
                </a:solidFill>
                <a:latin typeface="Times New Roman" panose="02020603050405020304" pitchFamily="18" charset="0"/>
                <a:ea typeface="Times New Roman" panose="02020603050405020304" pitchFamily="18" charset="0"/>
              </a:rPr>
              <a:t> transitoire PAL </a:t>
            </a:r>
            <a:r>
              <a:rPr lang="fr-FR" sz="4000" dirty="0">
                <a:solidFill>
                  <a:srgbClr val="FF0000"/>
                </a:solidFill>
              </a:rPr>
              <a:t>≈ </a:t>
            </a:r>
            <a:r>
              <a:rPr lang="fr-FR" sz="4000" dirty="0">
                <a:solidFill>
                  <a:srgbClr val="FF0000"/>
                </a:solidFill>
                <a:latin typeface="Times New Roman" panose="02020603050405020304" pitchFamily="18" charset="0"/>
                <a:ea typeface="Times New Roman" panose="02020603050405020304" pitchFamily="18" charset="0"/>
              </a:rPr>
              <a:t>40j</a:t>
            </a:r>
            <a:r>
              <a:rPr lang="fr-FR" sz="4000" dirty="0">
                <a:latin typeface="Times New Roman" panose="02020603050405020304" pitchFamily="18" charset="0"/>
                <a:ea typeface="Times New Roman" panose="02020603050405020304" pitchFamily="18" charset="0"/>
              </a:rPr>
              <a:t>) </a:t>
            </a:r>
            <a:r>
              <a:rPr lang="fr-FR" sz="4000" dirty="0" smtClean="0">
                <a:latin typeface="Times New Roman" panose="02020603050405020304" pitchFamily="18" charset="0"/>
                <a:ea typeface="Times New Roman" panose="02020603050405020304" pitchFamily="18" charset="0"/>
              </a:rPr>
              <a:t>=&gt;lorsque y a un fracture il se forme le cal osseuse pour rapprocher les berges et fermer la fracture y a un augmentation transitoire </a:t>
            </a:r>
            <a:endParaRPr lang="fr-FR" sz="4000" dirty="0">
              <a:latin typeface="Times New Roman" panose="02020603050405020304" pitchFamily="18" charset="0"/>
              <a:ea typeface="Times New Roman" panose="02020603050405020304" pitchFamily="18" charset="0"/>
            </a:endParaRPr>
          </a:p>
          <a:p>
            <a:pPr marL="906780" lvl="2" indent="0" algn="justLow">
              <a:buNone/>
            </a:pPr>
            <a:endParaRPr lang="fr-FR" sz="4000" dirty="0">
              <a:latin typeface="Times New Roman" panose="02020603050405020304" pitchFamily="18" charset="0"/>
              <a:ea typeface="Times New Roman" panose="02020603050405020304" pitchFamily="18" charset="0"/>
            </a:endParaRPr>
          </a:p>
          <a:p>
            <a:pPr marL="106680" indent="0" algn="justLow">
              <a:buNone/>
            </a:pPr>
            <a:endParaRPr lang="fr-FR" dirty="0"/>
          </a:p>
        </p:txBody>
      </p:sp>
      <p:sp>
        <p:nvSpPr>
          <p:cNvPr id="4" name="Accolade fermante 3">
            <a:extLst>
              <a:ext uri="{FF2B5EF4-FFF2-40B4-BE49-F238E27FC236}">
                <a16:creationId xmlns="" xmlns:a16="http://schemas.microsoft.com/office/drawing/2014/main" id="{FDE0F3CF-046B-4EB0-B5B3-0293B55B05CA}"/>
              </a:ext>
            </a:extLst>
          </p:cNvPr>
          <p:cNvSpPr/>
          <p:nvPr/>
        </p:nvSpPr>
        <p:spPr>
          <a:xfrm>
            <a:off x="9524907" y="3050058"/>
            <a:ext cx="583096" cy="190831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 name="Rectangle 4">
            <a:extLst>
              <a:ext uri="{FF2B5EF4-FFF2-40B4-BE49-F238E27FC236}">
                <a16:creationId xmlns="" xmlns:a16="http://schemas.microsoft.com/office/drawing/2014/main" id="{59DE7A7E-59B3-464D-8167-CCE30562DF9D}"/>
              </a:ext>
            </a:extLst>
          </p:cNvPr>
          <p:cNvSpPr/>
          <p:nvPr/>
        </p:nvSpPr>
        <p:spPr>
          <a:xfrm>
            <a:off x="10108003" y="3843830"/>
            <a:ext cx="2117898" cy="353884"/>
          </a:xfrm>
          <a:prstGeom prst="rect">
            <a:avLst/>
          </a:prstGeom>
          <a:solidFill>
            <a:sysClr val="window" lastClr="FFFFFF"/>
          </a:solidFill>
          <a:ln w="25400" cap="flat" cmpd="sng" algn="ctr">
            <a:solidFill>
              <a:sysClr val="window" lastClr="FFFFFF"/>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mn-cs"/>
              </a:rPr>
              <a:t>↑ modérée PAL</a:t>
            </a:r>
          </a:p>
        </p:txBody>
      </p:sp>
      <p:sp>
        <p:nvSpPr>
          <p:cNvPr id="6" name="Accolade fermante 5">
            <a:extLst>
              <a:ext uri="{FF2B5EF4-FFF2-40B4-BE49-F238E27FC236}">
                <a16:creationId xmlns="" xmlns:a16="http://schemas.microsoft.com/office/drawing/2014/main" id="{FDE0F3CF-046B-4EB0-B5B3-0293B55B05CA}"/>
              </a:ext>
            </a:extLst>
          </p:cNvPr>
          <p:cNvSpPr/>
          <p:nvPr/>
        </p:nvSpPr>
        <p:spPr>
          <a:xfrm>
            <a:off x="5233757" y="3036120"/>
            <a:ext cx="583096" cy="909728"/>
          </a:xfrm>
          <a:prstGeom prst="rightBrace">
            <a:avLst>
              <a:gd name="adj1" fmla="val 8181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7" name="Rectangle 6"/>
          <p:cNvSpPr/>
          <p:nvPr/>
        </p:nvSpPr>
        <p:spPr>
          <a:xfrm>
            <a:off x="5816853" y="3063996"/>
            <a:ext cx="3273252" cy="7056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C’est maladie qui est due au carence en vitamine D</a:t>
            </a:r>
            <a:endParaRPr lang="fr-FR" b="1" dirty="0"/>
          </a:p>
        </p:txBody>
      </p:sp>
    </p:spTree>
    <p:extLst>
      <p:ext uri="{BB962C8B-B14F-4D97-AF65-F5344CB8AC3E}">
        <p14:creationId xmlns:p14="http://schemas.microsoft.com/office/powerpoint/2010/main" val="218499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1488613"/>
            <a:ext cx="10613518" cy="3880773"/>
          </a:xfrm>
        </p:spPr>
        <p:txBody>
          <a:bodyPr>
            <a:normAutofit fontScale="92500" lnSpcReduction="10000"/>
          </a:bodyPr>
          <a:lstStyle/>
          <a:p>
            <a:pPr>
              <a:buFont typeface="Wingdings" panose="05000000000000000000" pitchFamily="2" charset="2"/>
              <a:buChar char="q"/>
            </a:pPr>
            <a:r>
              <a:rPr lang="fr-FR" sz="4000" b="1" u="sng" dirty="0">
                <a:solidFill>
                  <a:schemeClr val="accent2"/>
                </a:solidFill>
                <a:latin typeface="Times New Roman" panose="02020603050405020304" pitchFamily="18" charset="0"/>
                <a:ea typeface="Times New Roman" panose="02020603050405020304" pitchFamily="18" charset="0"/>
              </a:rPr>
              <a:t>Variations pathologiques:</a:t>
            </a:r>
            <a:endParaRPr lang="fr-FR" sz="4000" dirty="0">
              <a:solidFill>
                <a:schemeClr val="accent2"/>
              </a:solidFill>
              <a:latin typeface="Times New Roman" panose="02020603050405020304" pitchFamily="18" charset="0"/>
              <a:ea typeface="Times New Roman" panose="02020603050405020304" pitchFamily="18" charset="0"/>
            </a:endParaRPr>
          </a:p>
          <a:p>
            <a:pPr marL="678180" indent="-571500">
              <a:buFont typeface="Wingdings" panose="05000000000000000000" pitchFamily="2" charset="2"/>
              <a:buChar char="Ø"/>
            </a:pPr>
            <a:r>
              <a:rPr lang="fr-FR" sz="4000" b="1" u="sng" dirty="0">
                <a:latin typeface="Times New Roman" panose="02020603050405020304" pitchFamily="18" charset="0"/>
                <a:ea typeface="Times New Roman" panose="02020603050405020304" pitchFamily="18" charset="0"/>
              </a:rPr>
              <a:t>Elévation de la PAL :</a:t>
            </a:r>
            <a:endParaRPr lang="fr-FR" sz="4000" dirty="0">
              <a:latin typeface="Times New Roman" panose="02020603050405020304" pitchFamily="18" charset="0"/>
              <a:ea typeface="Times New Roman" panose="02020603050405020304" pitchFamily="18" charset="0"/>
            </a:endParaRPr>
          </a:p>
          <a:p>
            <a:pPr marL="506730" lvl="1" indent="0" algn="justLow">
              <a:buNone/>
            </a:pPr>
            <a:r>
              <a:rPr lang="fr-FR" sz="4000" dirty="0">
                <a:latin typeface="Times New Roman" panose="02020603050405020304" pitchFamily="18" charset="0"/>
                <a:ea typeface="Times New Roman" panose="02020603050405020304" pitchFamily="18" charset="0"/>
              </a:rPr>
              <a:t>       2-Affections hépatobiliaires :</a:t>
            </a:r>
          </a:p>
          <a:p>
            <a:pPr marL="506730" lvl="1" indent="0" algn="justLow">
              <a:buNone/>
            </a:pPr>
            <a:r>
              <a:rPr lang="fr-FR" sz="4000" dirty="0">
                <a:latin typeface="Times New Roman" panose="02020603050405020304" pitchFamily="18" charset="0"/>
                <a:ea typeface="Times New Roman" panose="02020603050405020304" pitchFamily="18" charset="0"/>
              </a:rPr>
              <a:t>           </a:t>
            </a:r>
            <a:r>
              <a:rPr lang="fr-FR" sz="4000" dirty="0">
                <a:latin typeface="Abadi" panose="020B0604020104020204" pitchFamily="34" charset="0"/>
                <a:ea typeface="Times New Roman" panose="02020603050405020304" pitchFamily="18" charset="0"/>
              </a:rPr>
              <a:t>→ </a:t>
            </a:r>
            <a:r>
              <a:rPr lang="fr-FR" sz="4000" dirty="0">
                <a:latin typeface="Times New Roman" panose="02020603050405020304" pitchFamily="18" charset="0"/>
                <a:ea typeface="Times New Roman" panose="02020603050405020304" pitchFamily="18" charset="0"/>
              </a:rPr>
              <a:t>Cholestase </a:t>
            </a:r>
            <a:r>
              <a:rPr lang="fr-FR" sz="4000" dirty="0" smtClean="0">
                <a:latin typeface="Times New Roman" panose="02020603050405020304" pitchFamily="18" charset="0"/>
                <a:ea typeface="Times New Roman" panose="02020603050405020304" pitchFamily="18" charset="0"/>
              </a:rPr>
              <a:t>(+++++++)</a:t>
            </a:r>
            <a:endParaRPr lang="fr-FR" sz="4000" dirty="0">
              <a:latin typeface="Times New Roman" panose="02020603050405020304" pitchFamily="18" charset="0"/>
              <a:ea typeface="Times New Roman" panose="02020603050405020304" pitchFamily="18" charset="0"/>
            </a:endParaRPr>
          </a:p>
          <a:p>
            <a:pPr marL="2849880" lvl="5" indent="-571500" algn="justLow">
              <a:buFont typeface="Wingdings" panose="05000000000000000000" pitchFamily="2" charset="2"/>
              <a:buChar char="ü"/>
            </a:pPr>
            <a:r>
              <a:rPr lang="fr-FR" sz="3600" dirty="0">
                <a:latin typeface="Times New Roman" panose="02020603050405020304" pitchFamily="18" charset="0"/>
                <a:ea typeface="Times New Roman" panose="02020603050405020304" pitchFamily="18" charset="0"/>
              </a:rPr>
              <a:t>Extra-hépatique  </a:t>
            </a:r>
            <a:r>
              <a:rPr lang="fr-FR" sz="3600" dirty="0">
                <a:solidFill>
                  <a:srgbClr val="FF0000"/>
                </a:solidFill>
                <a:latin typeface="Times New Roman" panose="02020603050405020304" pitchFamily="18" charset="0"/>
                <a:ea typeface="Times New Roman" panose="02020603050405020304" pitchFamily="18" charset="0"/>
              </a:rPr>
              <a:t>↑ ↑ ↑ PAL</a:t>
            </a:r>
          </a:p>
          <a:p>
            <a:pPr marL="2849880" lvl="5" indent="-571500" algn="justLow">
              <a:buFont typeface="Wingdings" panose="05000000000000000000" pitchFamily="2" charset="2"/>
              <a:buChar char="ü"/>
            </a:pPr>
            <a:r>
              <a:rPr lang="fr-FR" sz="3600" dirty="0">
                <a:latin typeface="Times New Roman" panose="02020603050405020304" pitchFamily="18" charset="0"/>
                <a:ea typeface="Times New Roman" panose="02020603050405020304" pitchFamily="18" charset="0"/>
              </a:rPr>
              <a:t>Intra-hépatique</a:t>
            </a:r>
          </a:p>
          <a:p>
            <a:pPr marL="106680" indent="0" algn="justLow">
              <a:buNone/>
            </a:pPr>
            <a:endParaRPr lang="fr-FR" dirty="0"/>
          </a:p>
        </p:txBody>
      </p:sp>
    </p:spTree>
    <p:extLst>
      <p:ext uri="{BB962C8B-B14F-4D97-AF65-F5344CB8AC3E}">
        <p14:creationId xmlns:p14="http://schemas.microsoft.com/office/powerpoint/2010/main" val="395491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CF88A04-E32A-442D-A3FA-E828215AEA85}"/>
              </a:ext>
            </a:extLst>
          </p:cNvPr>
          <p:cNvSpPr>
            <a:spLocks noGrp="1"/>
          </p:cNvSpPr>
          <p:nvPr>
            <p:ph type="title"/>
          </p:nvPr>
        </p:nvSpPr>
        <p:spPr>
          <a:xfrm>
            <a:off x="1994544" y="0"/>
            <a:ext cx="7753350" cy="533399"/>
          </a:xfrm>
        </p:spPr>
        <p:txBody>
          <a:bodyPr>
            <a:normAutofit fontScale="90000"/>
          </a:bodyPr>
          <a:lstStyle/>
          <a:p>
            <a:r>
              <a:rPr lang="fr-FR" dirty="0">
                <a:solidFill>
                  <a:srgbClr val="FF0000"/>
                </a:solidFill>
              </a:rPr>
              <a:t>C’EST QUOI UNE CHOLESTASE  ?</a:t>
            </a:r>
          </a:p>
        </p:txBody>
      </p:sp>
      <p:sp>
        <p:nvSpPr>
          <p:cNvPr id="3" name="Espace réservé du contenu 2">
            <a:extLst>
              <a:ext uri="{FF2B5EF4-FFF2-40B4-BE49-F238E27FC236}">
                <a16:creationId xmlns="" xmlns:a16="http://schemas.microsoft.com/office/drawing/2014/main" id="{6FB59AC7-16E1-4EFC-AE41-17C92482866B}"/>
              </a:ext>
            </a:extLst>
          </p:cNvPr>
          <p:cNvSpPr>
            <a:spLocks noGrp="1"/>
          </p:cNvSpPr>
          <p:nvPr>
            <p:ph idx="1"/>
          </p:nvPr>
        </p:nvSpPr>
        <p:spPr>
          <a:xfrm>
            <a:off x="0" y="1028701"/>
            <a:ext cx="11742438" cy="5586371"/>
          </a:xfrm>
        </p:spPr>
        <p:txBody>
          <a:bodyPr>
            <a:normAutofit fontScale="77500" lnSpcReduction="20000"/>
          </a:bodyPr>
          <a:lstStyle/>
          <a:p>
            <a:r>
              <a:rPr lang="fr-FR" sz="3200" b="1" dirty="0"/>
              <a:t>Grec: </a:t>
            </a:r>
            <a:r>
              <a:rPr lang="fr-FR" sz="3200" b="1" dirty="0" err="1" smtClean="0"/>
              <a:t>Khole</a:t>
            </a:r>
            <a:r>
              <a:rPr lang="fr-FR" sz="3200" b="1" dirty="0" smtClean="0"/>
              <a:t>=bile / </a:t>
            </a:r>
            <a:r>
              <a:rPr lang="fr-FR" sz="3200" b="1" dirty="0" err="1" smtClean="0"/>
              <a:t>Stasis</a:t>
            </a:r>
            <a:r>
              <a:rPr lang="fr-FR" sz="3200" b="1" dirty="0" smtClean="0"/>
              <a:t> </a:t>
            </a:r>
            <a:r>
              <a:rPr lang="fr-FR" sz="3200" b="1" dirty="0">
                <a:solidFill>
                  <a:prstClr val="black">
                    <a:lumMod val="75000"/>
                    <a:lumOff val="25000"/>
                  </a:prstClr>
                </a:solidFill>
              </a:rPr>
              <a:t>= </a:t>
            </a:r>
            <a:r>
              <a:rPr lang="fr-FR" sz="3200" b="1" dirty="0" smtClean="0"/>
              <a:t>arrêt</a:t>
            </a:r>
            <a:endParaRPr lang="fr-FR" sz="3200" b="1" dirty="0"/>
          </a:p>
          <a:p>
            <a:r>
              <a:rPr lang="fr-FR" sz="3500" dirty="0" smtClean="0"/>
              <a:t>Cliniquement =&gt;Rétention </a:t>
            </a:r>
            <a:r>
              <a:rPr lang="fr-FR" sz="3500" dirty="0"/>
              <a:t>de la bile, dont les éléments constitutifs, n'étant plus évacués par les voies biliaires vers le duodénum, refluent dans le sang : bilirubine </a:t>
            </a:r>
            <a:r>
              <a:rPr lang="fr-FR" sz="3500" dirty="0" smtClean="0"/>
              <a:t>c'est </a:t>
            </a:r>
            <a:r>
              <a:rPr lang="fr-FR" sz="3500" dirty="0"/>
              <a:t>l’ictère, (ou jaunisse) mais il faut le </a:t>
            </a:r>
            <a:r>
              <a:rPr lang="fr-FR" sz="3500" dirty="0" smtClean="0"/>
              <a:t>bilirubine dépasse certain seuil (pas tjr dans le cholestase)</a:t>
            </a:r>
            <a:endParaRPr lang="fr-FR" sz="3500" dirty="0"/>
          </a:p>
          <a:p>
            <a:pPr marL="0" indent="0">
              <a:buNone/>
            </a:pPr>
            <a:endParaRPr lang="fr-FR" sz="3500" dirty="0"/>
          </a:p>
          <a:p>
            <a:r>
              <a:rPr lang="fr-FR" sz="3500" dirty="0"/>
              <a:t>La cholestase biologique : </a:t>
            </a:r>
            <a:r>
              <a:rPr lang="fr-FR" sz="3500" dirty="0" smtClean="0"/>
              <a:t>définition biologique c’est l’accompagnement de tout c’est paramètres (si sont présent donc c’est cholestase biologique)</a:t>
            </a:r>
            <a:endParaRPr lang="fr-FR" sz="3500" dirty="0"/>
          </a:p>
          <a:p>
            <a:pPr lvl="2">
              <a:buFont typeface="Arial" panose="020B0604020202020204" pitchFamily="34" charset="0"/>
              <a:buChar char="•"/>
            </a:pPr>
            <a:r>
              <a:rPr lang="fr-FR" sz="3300" dirty="0">
                <a:solidFill>
                  <a:srgbClr val="FF0000"/>
                </a:solidFill>
                <a:latin typeface="Abadi Extra Light" panose="020B0204020104020204" pitchFamily="34" charset="0"/>
              </a:rPr>
              <a:t>↑ </a:t>
            </a:r>
            <a:r>
              <a:rPr lang="fr-FR" sz="3300" dirty="0">
                <a:solidFill>
                  <a:srgbClr val="FF0000"/>
                </a:solidFill>
              </a:rPr>
              <a:t>PAL </a:t>
            </a:r>
          </a:p>
          <a:p>
            <a:pPr lvl="2">
              <a:buFont typeface="Arial" panose="020B0604020202020204" pitchFamily="34" charset="0"/>
              <a:buChar char="•"/>
            </a:pPr>
            <a:r>
              <a:rPr lang="fr-FR" sz="3300" dirty="0">
                <a:solidFill>
                  <a:srgbClr val="FF0000"/>
                </a:solidFill>
                <a:latin typeface="Abadi Extra Light" panose="020B0204020104020204" pitchFamily="34" charset="0"/>
              </a:rPr>
              <a:t>↑ </a:t>
            </a:r>
            <a:r>
              <a:rPr lang="el-GR" sz="3300" dirty="0">
                <a:solidFill>
                  <a:srgbClr val="FF0000"/>
                </a:solidFill>
              </a:rPr>
              <a:t>γ</a:t>
            </a:r>
            <a:r>
              <a:rPr lang="fr-FR" sz="3300" dirty="0">
                <a:solidFill>
                  <a:srgbClr val="FF0000"/>
                </a:solidFill>
              </a:rPr>
              <a:t>GT</a:t>
            </a:r>
          </a:p>
          <a:p>
            <a:pPr lvl="2">
              <a:buFont typeface="Arial" panose="020B0604020202020204" pitchFamily="34" charset="0"/>
              <a:buChar char="•"/>
            </a:pPr>
            <a:r>
              <a:rPr lang="fr-FR" sz="3300" dirty="0">
                <a:solidFill>
                  <a:prstClr val="black">
                    <a:lumMod val="75000"/>
                    <a:lumOff val="25000"/>
                  </a:prstClr>
                </a:solidFill>
                <a:latin typeface="Abadi Extra Light" panose="020B0204020104020204" pitchFamily="34" charset="0"/>
              </a:rPr>
              <a:t>↑ </a:t>
            </a:r>
            <a:r>
              <a:rPr lang="fr-FR" sz="3300" dirty="0"/>
              <a:t>5’nucléotidase </a:t>
            </a:r>
          </a:p>
          <a:p>
            <a:pPr lvl="2">
              <a:buFont typeface="Arial" panose="020B0604020202020204" pitchFamily="34" charset="0"/>
              <a:buChar char="•"/>
            </a:pPr>
            <a:r>
              <a:rPr lang="fr-FR" sz="3300" dirty="0">
                <a:solidFill>
                  <a:prstClr val="black">
                    <a:lumMod val="75000"/>
                    <a:lumOff val="25000"/>
                  </a:prstClr>
                </a:solidFill>
                <a:latin typeface="Abadi Extra Light" panose="020B0204020104020204" pitchFamily="34" charset="0"/>
              </a:rPr>
              <a:t>↑ </a:t>
            </a:r>
            <a:r>
              <a:rPr lang="fr-FR" sz="3300" dirty="0"/>
              <a:t>bilirubine conjuguée</a:t>
            </a:r>
          </a:p>
          <a:p>
            <a:pPr>
              <a:buFont typeface="Arial" panose="020B0604020202020204" pitchFamily="34" charset="0"/>
              <a:buChar char="•"/>
            </a:pPr>
            <a:endParaRPr lang="fr-FR" sz="2400" dirty="0"/>
          </a:p>
          <a:p>
            <a:endParaRPr lang="fr-FR" dirty="0"/>
          </a:p>
        </p:txBody>
      </p:sp>
      <p:sp>
        <p:nvSpPr>
          <p:cNvPr id="4" name="Accolade ouvrante 3">
            <a:extLst>
              <a:ext uri="{FF2B5EF4-FFF2-40B4-BE49-F238E27FC236}">
                <a16:creationId xmlns="" xmlns:a16="http://schemas.microsoft.com/office/drawing/2014/main" id="{9356604D-2363-43A8-949C-2E970D0EC689}"/>
              </a:ext>
            </a:extLst>
          </p:cNvPr>
          <p:cNvSpPr/>
          <p:nvPr/>
        </p:nvSpPr>
        <p:spPr>
          <a:xfrm>
            <a:off x="720587" y="4420981"/>
            <a:ext cx="384313" cy="192266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2810520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1BE76221-86D1-4597-93B3-F965EE252BB9}"/>
              </a:ext>
            </a:extLst>
          </p:cNvPr>
          <p:cNvSpPr>
            <a:spLocks noGrp="1"/>
          </p:cNvSpPr>
          <p:nvPr>
            <p:ph type="title"/>
          </p:nvPr>
        </p:nvSpPr>
        <p:spPr>
          <a:xfrm>
            <a:off x="-2038350" y="0"/>
            <a:ext cx="6172200" cy="762000"/>
          </a:xfrm>
        </p:spPr>
        <p:txBody>
          <a:bodyPr>
            <a:normAutofit/>
          </a:bodyPr>
          <a:lstStyle/>
          <a:p>
            <a:r>
              <a:rPr lang="fr-FR" sz="4400" b="1" dirty="0">
                <a:solidFill>
                  <a:schemeClr val="accent2"/>
                </a:solidFill>
              </a:rPr>
              <a:t>            CHOLESTASE  ?</a:t>
            </a:r>
          </a:p>
        </p:txBody>
      </p:sp>
      <p:sp>
        <p:nvSpPr>
          <p:cNvPr id="3" name="Espace réservé du contenu 2">
            <a:extLst>
              <a:ext uri="{FF2B5EF4-FFF2-40B4-BE49-F238E27FC236}">
                <a16:creationId xmlns="" xmlns:a16="http://schemas.microsoft.com/office/drawing/2014/main" id="{500AA7C3-2727-44AF-B6FD-C092BECBFFCE}"/>
              </a:ext>
            </a:extLst>
          </p:cNvPr>
          <p:cNvSpPr>
            <a:spLocks noGrp="1"/>
          </p:cNvSpPr>
          <p:nvPr>
            <p:ph idx="1"/>
          </p:nvPr>
        </p:nvSpPr>
        <p:spPr>
          <a:xfrm>
            <a:off x="0" y="762000"/>
            <a:ext cx="12192000" cy="6096000"/>
          </a:xfrm>
        </p:spPr>
        <p:txBody>
          <a:bodyPr>
            <a:normAutofit fontScale="77500" lnSpcReduction="20000"/>
          </a:bodyPr>
          <a:lstStyle/>
          <a:p>
            <a:pPr lvl="0" algn="justLow">
              <a:buFont typeface="Times New Roman" panose="02020603050405020304" pitchFamily="18" charset="0"/>
              <a:buChar char="-"/>
            </a:pPr>
            <a:r>
              <a:rPr lang="fr-FR" sz="3600" b="1" dirty="0">
                <a:solidFill>
                  <a:schemeClr val="accent2"/>
                </a:solidFill>
                <a:latin typeface="Times New Roman" panose="02020603050405020304" pitchFamily="18" charset="0"/>
                <a:ea typeface="Times New Roman" panose="02020603050405020304" pitchFamily="18" charset="0"/>
              </a:rPr>
              <a:t>Cholestase intra-hépatique : </a:t>
            </a:r>
            <a:r>
              <a:rPr lang="fr-FR" sz="3600" dirty="0">
                <a:latin typeface="Times New Roman" panose="02020603050405020304" pitchFamily="18" charset="0"/>
                <a:ea typeface="Times New Roman" panose="02020603050405020304" pitchFamily="18" charset="0"/>
              </a:rPr>
              <a:t>liée à des anomalies </a:t>
            </a:r>
            <a:r>
              <a:rPr lang="fr-FR" sz="3600" dirty="0" smtClean="0">
                <a:latin typeface="Times New Roman" panose="02020603050405020304" pitchFamily="18" charset="0"/>
                <a:ea typeface="Times New Roman" panose="02020603050405020304" pitchFamily="18" charset="0"/>
              </a:rPr>
              <a:t>Fonction des </a:t>
            </a:r>
            <a:r>
              <a:rPr lang="fr-FR" sz="3600" dirty="0">
                <a:latin typeface="Times New Roman" panose="02020603050405020304" pitchFamily="18" charset="0"/>
                <a:ea typeface="Times New Roman" panose="02020603050405020304" pitchFamily="18" charset="0"/>
              </a:rPr>
              <a:t>₡ hépatiques ou des petits canaux biliaires </a:t>
            </a:r>
            <a:r>
              <a:rPr lang="fr-FR" sz="3600" dirty="0" smtClean="0">
                <a:latin typeface="Times New Roman" panose="02020603050405020304" pitchFamily="18" charset="0"/>
                <a:ea typeface="Times New Roman" panose="02020603050405020304" pitchFamily="18" charset="0"/>
              </a:rPr>
              <a:t>(donc tt les pathologies du foie)</a:t>
            </a:r>
            <a:endParaRPr lang="fr-FR" sz="3600" dirty="0">
              <a:latin typeface="Times New Roman" panose="02020603050405020304" pitchFamily="18" charset="0"/>
              <a:ea typeface="Times New Roman" panose="02020603050405020304" pitchFamily="18" charset="0"/>
            </a:endParaRPr>
          </a:p>
          <a:p>
            <a:pPr lvl="2" algn="justLow">
              <a:buFont typeface="Times New Roman" panose="02020603050405020304" pitchFamily="18" charset="0"/>
              <a:buChar char="-"/>
            </a:pPr>
            <a:r>
              <a:rPr lang="fr-FR" sz="3200" dirty="0">
                <a:latin typeface="Times New Roman" panose="02020603050405020304" pitchFamily="18" charset="0"/>
                <a:ea typeface="Times New Roman" panose="02020603050405020304" pitchFamily="18" charset="0"/>
              </a:rPr>
              <a:t>Hépatites (virale, méd, alcoolique)</a:t>
            </a:r>
          </a:p>
          <a:p>
            <a:pPr lvl="2" algn="justLow">
              <a:buFont typeface="Times New Roman" panose="02020603050405020304" pitchFamily="18" charset="0"/>
              <a:buChar char="-"/>
            </a:pPr>
            <a:r>
              <a:rPr lang="fr-FR" sz="3200" dirty="0">
                <a:latin typeface="Times New Roman" panose="02020603050405020304" pitchFamily="18" charset="0"/>
                <a:ea typeface="Times New Roman" panose="02020603050405020304" pitchFamily="18" charset="0"/>
              </a:rPr>
              <a:t>Tm du foie ((</a:t>
            </a:r>
            <a:r>
              <a:rPr lang="fr-FR" sz="3200" dirty="0" smtClean="0">
                <a:latin typeface="Times New Roman" panose="02020603050405020304" pitchFamily="18" charset="0"/>
                <a:ea typeface="Times New Roman" panose="02020603050405020304" pitchFamily="18" charset="0"/>
              </a:rPr>
              <a:t>I</a:t>
            </a:r>
            <a:r>
              <a:rPr lang="fr-FR" sz="3200" baseline="30000" dirty="0" smtClean="0"/>
              <a:t>aire(carcinome hépatocellulaire)</a:t>
            </a:r>
            <a:r>
              <a:rPr lang="fr-FR" sz="3200" dirty="0" smtClean="0"/>
              <a:t> </a:t>
            </a:r>
            <a:r>
              <a:rPr lang="fr-FR" sz="3200" dirty="0"/>
              <a:t>ou II</a:t>
            </a:r>
            <a:r>
              <a:rPr lang="fr-FR" sz="3200" baseline="30000" dirty="0"/>
              <a:t>aire</a:t>
            </a:r>
            <a:r>
              <a:rPr lang="fr-FR" sz="3200" dirty="0">
                <a:latin typeface="Times New Roman" panose="02020603050405020304" pitchFamily="18" charset="0"/>
                <a:ea typeface="Times New Roman" panose="02020603050405020304" pitchFamily="18" charset="0"/>
              </a:rPr>
              <a:t> )</a:t>
            </a:r>
          </a:p>
          <a:p>
            <a:pPr lvl="2" algn="justLow">
              <a:buFont typeface="Times New Roman" panose="02020603050405020304" pitchFamily="18" charset="0"/>
              <a:buChar char="-"/>
            </a:pPr>
            <a:r>
              <a:rPr lang="fr-FR" sz="3200" dirty="0" smtClean="0">
                <a:latin typeface="Times New Roman" panose="02020603050405020304" pitchFamily="18" charset="0"/>
                <a:ea typeface="Times New Roman" panose="02020603050405020304" pitchFamily="18" charset="0"/>
              </a:rPr>
              <a:t>Cirrhose(alcool,,,,,,), </a:t>
            </a:r>
            <a:r>
              <a:rPr lang="fr-FR" sz="3200" dirty="0">
                <a:latin typeface="Times New Roman" panose="02020603050405020304" pitchFamily="18" charset="0"/>
                <a:ea typeface="Times New Roman" panose="02020603050405020304" pitchFamily="18" charset="0"/>
              </a:rPr>
              <a:t>cirrhose biliaire primitive</a:t>
            </a:r>
          </a:p>
          <a:p>
            <a:pPr lvl="2" algn="justLow">
              <a:buFont typeface="Times New Roman" panose="02020603050405020304" pitchFamily="18" charset="0"/>
              <a:buChar char="-"/>
            </a:pPr>
            <a:r>
              <a:rPr lang="fr-FR" sz="3200" dirty="0">
                <a:latin typeface="Times New Roman" panose="02020603050405020304" pitchFamily="18" charset="0"/>
                <a:ea typeface="Times New Roman" panose="02020603050405020304" pitchFamily="18" charset="0"/>
              </a:rPr>
              <a:t>Abcès et kyste hydatique</a:t>
            </a:r>
          </a:p>
          <a:p>
            <a:pPr lvl="2" algn="justLow">
              <a:buFont typeface="Times New Roman" panose="02020603050405020304" pitchFamily="18" charset="0"/>
              <a:buChar char="-"/>
            </a:pPr>
            <a:r>
              <a:rPr lang="fr-FR" sz="3200" dirty="0">
                <a:latin typeface="Times New Roman" panose="02020603050405020304" pitchFamily="18" charset="0"/>
                <a:ea typeface="Times New Roman" panose="02020603050405020304" pitchFamily="18" charset="0"/>
              </a:rPr>
              <a:t> </a:t>
            </a:r>
            <a:r>
              <a:rPr lang="fr-FR" sz="3200" dirty="0" smtClean="0">
                <a:latin typeface="Times New Roman" panose="02020603050405020304" pitchFamily="18" charset="0"/>
                <a:ea typeface="Times New Roman" panose="02020603050405020304" pitchFamily="18" charset="0"/>
              </a:rPr>
              <a:t>Stéatose=&gt;soit alcool soit non (consomme le sucre et le graisse) donc des sujets obeses=&gt;cliniquement=&gt;stéatorrhée donc des sels riche en graisse</a:t>
            </a:r>
            <a:endParaRPr lang="fr-FR" sz="3600" dirty="0">
              <a:latin typeface="Times New Roman" panose="02020603050405020304" pitchFamily="18" charset="0"/>
              <a:ea typeface="Times New Roman" panose="02020603050405020304" pitchFamily="18" charset="0"/>
            </a:endParaRPr>
          </a:p>
          <a:p>
            <a:pPr lvl="0" algn="justLow">
              <a:buFont typeface="Times New Roman" panose="02020603050405020304" pitchFamily="18" charset="0"/>
              <a:buChar char="-"/>
            </a:pPr>
            <a:r>
              <a:rPr lang="fr-FR" sz="3600" b="1" dirty="0">
                <a:solidFill>
                  <a:schemeClr val="accent2"/>
                </a:solidFill>
                <a:latin typeface="Times New Roman" panose="02020603050405020304" pitchFamily="18" charset="0"/>
                <a:ea typeface="Times New Roman" panose="02020603050405020304" pitchFamily="18" charset="0"/>
              </a:rPr>
              <a:t>Cholestase extra-hépatique : </a:t>
            </a:r>
            <a:r>
              <a:rPr lang="fr-FR" sz="3600" dirty="0">
                <a:latin typeface="Times New Roman" panose="02020603050405020304" pitchFamily="18" charset="0"/>
                <a:ea typeface="Times New Roman" panose="02020603050405020304" pitchFamily="18" charset="0"/>
              </a:rPr>
              <a:t>liée à une obstruction des voies biliaires </a:t>
            </a:r>
            <a:r>
              <a:rPr lang="fr-FR" sz="3600" dirty="0" smtClean="0">
                <a:latin typeface="Times New Roman" panose="02020603050405020304" pitchFamily="18" charset="0"/>
                <a:ea typeface="Times New Roman" panose="02020603050405020304" pitchFamily="18" charset="0"/>
              </a:rPr>
              <a:t>(surtt les cancers prés du foie)</a:t>
            </a:r>
            <a:endParaRPr lang="fr-FR" sz="3600" dirty="0">
              <a:latin typeface="Times New Roman" panose="02020603050405020304" pitchFamily="18" charset="0"/>
              <a:ea typeface="Times New Roman" panose="02020603050405020304" pitchFamily="18" charset="0"/>
            </a:endParaRPr>
          </a:p>
          <a:p>
            <a:pPr lvl="2" algn="justLow">
              <a:buFont typeface="Times New Roman" panose="02020603050405020304" pitchFamily="18" charset="0"/>
              <a:buChar char="-"/>
            </a:pPr>
            <a:r>
              <a:rPr lang="fr-FR" sz="3200" dirty="0">
                <a:latin typeface="Times New Roman" panose="02020603050405020304" pitchFamily="18" charset="0"/>
                <a:ea typeface="Times New Roman" panose="02020603050405020304" pitchFamily="18" charset="0"/>
              </a:rPr>
              <a:t>Lithiase </a:t>
            </a:r>
            <a:r>
              <a:rPr lang="fr-FR" sz="3200" dirty="0" smtClean="0">
                <a:latin typeface="Times New Roman" panose="02020603050405020304" pitchFamily="18" charset="0"/>
                <a:ea typeface="Times New Roman" panose="02020603050405020304" pitchFamily="18" charset="0"/>
              </a:rPr>
              <a:t>=&gt;obstacle du voie principale</a:t>
            </a:r>
            <a:endParaRPr lang="fr-FR" sz="3200" dirty="0">
              <a:latin typeface="Times New Roman" panose="02020603050405020304" pitchFamily="18" charset="0"/>
              <a:ea typeface="Times New Roman" panose="02020603050405020304" pitchFamily="18" charset="0"/>
            </a:endParaRPr>
          </a:p>
          <a:p>
            <a:pPr lvl="2" algn="justLow">
              <a:buFont typeface="Times New Roman" panose="02020603050405020304" pitchFamily="18" charset="0"/>
              <a:buChar char="-"/>
            </a:pPr>
            <a:r>
              <a:rPr lang="fr-FR" sz="3200" dirty="0">
                <a:latin typeface="Times New Roman" panose="02020603050405020304" pitchFamily="18" charset="0"/>
                <a:ea typeface="Times New Roman" panose="02020603050405020304" pitchFamily="18" charset="0"/>
              </a:rPr>
              <a:t>Tm </a:t>
            </a:r>
            <a:r>
              <a:rPr lang="fr-FR" sz="3200" dirty="0" smtClean="0">
                <a:latin typeface="Times New Roman" panose="02020603050405020304" pitchFamily="18" charset="0"/>
                <a:ea typeface="Times New Roman" panose="02020603050405020304" pitchFamily="18" charset="0"/>
              </a:rPr>
              <a:t>biliaires=&gt;obstacle</a:t>
            </a:r>
            <a:endParaRPr lang="fr-FR" sz="3200" dirty="0">
              <a:latin typeface="Times New Roman" panose="02020603050405020304" pitchFamily="18" charset="0"/>
              <a:ea typeface="Times New Roman" panose="02020603050405020304" pitchFamily="18" charset="0"/>
            </a:endParaRPr>
          </a:p>
          <a:p>
            <a:pPr lvl="2" algn="justLow">
              <a:buFont typeface="Times New Roman" panose="02020603050405020304" pitchFamily="18" charset="0"/>
              <a:buChar char="-"/>
            </a:pPr>
            <a:r>
              <a:rPr lang="fr-FR" sz="3200" dirty="0">
                <a:latin typeface="Times New Roman" panose="02020603050405020304" pitchFamily="18" charset="0"/>
                <a:ea typeface="Times New Roman" panose="02020603050405020304" pitchFamily="18" charset="0"/>
              </a:rPr>
              <a:t>Tm </a:t>
            </a:r>
            <a:r>
              <a:rPr lang="fr-FR" sz="3200" dirty="0" smtClean="0">
                <a:latin typeface="Times New Roman" panose="02020603050405020304" pitchFamily="18" charset="0"/>
                <a:ea typeface="Times New Roman" panose="02020603050405020304" pitchFamily="18" charset="0"/>
              </a:rPr>
              <a:t>du tète du pancréas=&gt;compression</a:t>
            </a:r>
          </a:p>
          <a:p>
            <a:pPr lvl="2" algn="justLow">
              <a:buFont typeface="Times New Roman" panose="02020603050405020304" pitchFamily="18" charset="0"/>
              <a:buChar char="-"/>
            </a:pPr>
            <a:r>
              <a:rPr lang="fr-FR" sz="3200" dirty="0" smtClean="0">
                <a:latin typeface="Times New Roman" panose="02020603050405020304" pitchFamily="18" charset="0"/>
                <a:ea typeface="Times New Roman" panose="02020603050405020304" pitchFamily="18" charset="0"/>
              </a:rPr>
              <a:t>Adénopathie (qlqs soit l’origine (lymphome ou métastase) qui obstrue les voie biliaires extra hépatique</a:t>
            </a:r>
            <a:endParaRPr lang="fr-FR" dirty="0"/>
          </a:p>
        </p:txBody>
      </p:sp>
    </p:spTree>
    <p:extLst>
      <p:ext uri="{BB962C8B-B14F-4D97-AF65-F5344CB8AC3E}">
        <p14:creationId xmlns:p14="http://schemas.microsoft.com/office/powerpoint/2010/main" val="187717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B087CB-B03B-4C4C-9E0D-CB2C3E805912}"/>
              </a:ext>
            </a:extLst>
          </p:cNvPr>
          <p:cNvSpPr>
            <a:spLocks noGrp="1"/>
          </p:cNvSpPr>
          <p:nvPr>
            <p:ph type="title"/>
          </p:nvPr>
        </p:nvSpPr>
        <p:spPr>
          <a:xfrm>
            <a:off x="0" y="225287"/>
            <a:ext cx="8596668" cy="1320800"/>
          </a:xfrm>
        </p:spPr>
        <p:txBody>
          <a:bodyPr/>
          <a:lstStyle/>
          <a:p>
            <a:r>
              <a:rPr lang="fr-FR" b="1" dirty="0"/>
              <a:t>2- LES PHOSPHATASES ALCALINES</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6924D5B9-39C6-4F72-BA00-2C1006F08C40}"/>
              </a:ext>
            </a:extLst>
          </p:cNvPr>
          <p:cNvSpPr>
            <a:spLocks noGrp="1"/>
          </p:cNvSpPr>
          <p:nvPr>
            <p:ph idx="1"/>
          </p:nvPr>
        </p:nvSpPr>
        <p:spPr>
          <a:xfrm>
            <a:off x="0" y="1289589"/>
            <a:ext cx="11383617" cy="4464353"/>
          </a:xfrm>
        </p:spPr>
        <p:txBody>
          <a:bodyPr>
            <a:normAutofit/>
          </a:bodyPr>
          <a:lstStyle/>
          <a:p>
            <a:pPr>
              <a:buFont typeface="Wingdings" panose="05000000000000000000" pitchFamily="2" charset="2"/>
              <a:buChar char="q"/>
            </a:pPr>
            <a:r>
              <a:rPr lang="fr-FR" sz="4000" b="1" u="sng" dirty="0">
                <a:solidFill>
                  <a:schemeClr val="accent2"/>
                </a:solidFill>
                <a:latin typeface="Times New Roman" panose="02020603050405020304" pitchFamily="18" charset="0"/>
                <a:ea typeface="Times New Roman" panose="02020603050405020304" pitchFamily="18" charset="0"/>
              </a:rPr>
              <a:t>Variations pathologiques:</a:t>
            </a:r>
            <a:endParaRPr lang="fr-FR" sz="4000" dirty="0">
              <a:solidFill>
                <a:schemeClr val="accent2"/>
              </a:solidFill>
              <a:latin typeface="Times New Roman" panose="02020603050405020304" pitchFamily="18" charset="0"/>
              <a:ea typeface="Times New Roman" panose="02020603050405020304" pitchFamily="18" charset="0"/>
            </a:endParaRPr>
          </a:p>
          <a:p>
            <a:pPr marL="678180" indent="-571500">
              <a:buFont typeface="Wingdings" panose="05000000000000000000" pitchFamily="2" charset="2"/>
              <a:buChar char="Ø"/>
            </a:pPr>
            <a:r>
              <a:rPr lang="fr-FR" sz="3600" b="1" u="sng" dirty="0">
                <a:latin typeface="Times New Roman" panose="02020603050405020304" pitchFamily="18" charset="0"/>
                <a:ea typeface="Times New Roman" panose="02020603050405020304" pitchFamily="18" charset="0"/>
              </a:rPr>
              <a:t>Diminution de la PAL </a:t>
            </a:r>
            <a:r>
              <a:rPr lang="fr-FR" sz="3600" dirty="0">
                <a:latin typeface="Times New Roman" panose="02020603050405020304" pitchFamily="18" charset="0"/>
                <a:ea typeface="Times New Roman" panose="02020603050405020304" pitchFamily="18" charset="0"/>
              </a:rPr>
              <a:t>:- - </a:t>
            </a:r>
            <a:r>
              <a:rPr lang="fr-FR" sz="3600" dirty="0" smtClean="0">
                <a:latin typeface="Times New Roman" panose="02020603050405020304" pitchFamily="18" charset="0"/>
                <a:ea typeface="Times New Roman" panose="02020603050405020304" pitchFamily="18" charset="0"/>
              </a:rPr>
              <a:t>- c’est très rare  </a:t>
            </a:r>
            <a:endParaRPr lang="fr-FR" sz="3600" dirty="0">
              <a:latin typeface="Times New Roman" panose="02020603050405020304" pitchFamily="18" charset="0"/>
              <a:ea typeface="Times New Roman" panose="02020603050405020304" pitchFamily="18" charset="0"/>
            </a:endParaRPr>
          </a:p>
          <a:p>
            <a:pPr marL="106680" indent="0">
              <a:buNone/>
            </a:pPr>
            <a:r>
              <a:rPr lang="fr-FR" sz="3600" dirty="0">
                <a:latin typeface="Times New Roman" panose="02020603050405020304" pitchFamily="18" charset="0"/>
                <a:ea typeface="Times New Roman" panose="02020603050405020304" pitchFamily="18" charset="0"/>
              </a:rPr>
              <a:t>Hypophosphatasie </a:t>
            </a:r>
            <a:r>
              <a:rPr lang="fr-FR" sz="3600" dirty="0" smtClean="0">
                <a:latin typeface="Times New Roman" panose="02020603050405020304" pitchFamily="18" charset="0"/>
                <a:ea typeface="Times New Roman" panose="02020603050405020304" pitchFamily="18" charset="0"/>
              </a:rPr>
              <a:t>ou hypophosphaturie </a:t>
            </a:r>
            <a:r>
              <a:rPr lang="fr-FR" sz="3600" dirty="0">
                <a:latin typeface="Times New Roman" panose="02020603050405020304" pitchFamily="18" charset="0"/>
                <a:ea typeface="Times New Roman" panose="02020603050405020304" pitchFamily="18" charset="0"/>
              </a:rPr>
              <a:t>héréditaire </a:t>
            </a:r>
            <a:r>
              <a:rPr lang="fr-FR" sz="3600" dirty="0" smtClean="0">
                <a:latin typeface="Times New Roman" panose="02020603050405020304" pitchFamily="18" charset="0"/>
                <a:ea typeface="Times New Roman" panose="02020603050405020304" pitchFamily="18" charset="0"/>
              </a:rPr>
              <a:t>TAR =&gt; a Transmission </a:t>
            </a:r>
            <a:r>
              <a:rPr lang="fr-FR" sz="3600" dirty="0">
                <a:latin typeface="Times New Roman" panose="02020603050405020304" pitchFamily="18" charset="0"/>
                <a:ea typeface="Times New Roman" panose="02020603050405020304" pitchFamily="18" charset="0"/>
              </a:rPr>
              <a:t>A</a:t>
            </a:r>
            <a:r>
              <a:rPr lang="fr-FR" sz="3600" dirty="0" smtClean="0">
                <a:latin typeface="Times New Roman" panose="02020603050405020304" pitchFamily="18" charset="0"/>
                <a:ea typeface="Times New Roman" panose="02020603050405020304" pitchFamily="18" charset="0"/>
              </a:rPr>
              <a:t>utosomique </a:t>
            </a:r>
            <a:r>
              <a:rPr lang="fr-FR" sz="3600" dirty="0">
                <a:latin typeface="Times New Roman" panose="02020603050405020304" pitchFamily="18" charset="0"/>
                <a:ea typeface="Times New Roman" panose="02020603050405020304" pitchFamily="18" charset="0"/>
              </a:rPr>
              <a:t>R</a:t>
            </a:r>
            <a:r>
              <a:rPr lang="fr-FR" sz="3600" dirty="0" smtClean="0">
                <a:latin typeface="Times New Roman" panose="02020603050405020304" pitchFamily="18" charset="0"/>
                <a:ea typeface="Times New Roman" panose="02020603050405020304" pitchFamily="18" charset="0"/>
              </a:rPr>
              <a:t>écessive</a:t>
            </a:r>
            <a:endParaRPr lang="fr-FR" sz="3600" dirty="0">
              <a:latin typeface="Times New Roman" panose="02020603050405020304" pitchFamily="18" charset="0"/>
              <a:ea typeface="Times New Roman" panose="02020603050405020304" pitchFamily="18" charset="0"/>
            </a:endParaRPr>
          </a:p>
          <a:p>
            <a:pPr marL="449580">
              <a:buFont typeface="Wingdings" panose="05000000000000000000" pitchFamily="2" charset="2"/>
              <a:buChar char="q"/>
            </a:pPr>
            <a:endParaRPr lang="fr-FR" dirty="0"/>
          </a:p>
        </p:txBody>
      </p:sp>
    </p:spTree>
    <p:extLst>
      <p:ext uri="{BB962C8B-B14F-4D97-AF65-F5344CB8AC3E}">
        <p14:creationId xmlns:p14="http://schemas.microsoft.com/office/powerpoint/2010/main" val="101137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9B34DE4-5E26-4979-A12C-D05B45D4E0BA}"/>
              </a:ext>
            </a:extLst>
          </p:cNvPr>
          <p:cNvSpPr>
            <a:spLocks noGrp="1"/>
          </p:cNvSpPr>
          <p:nvPr>
            <p:ph type="title"/>
          </p:nvPr>
        </p:nvSpPr>
        <p:spPr>
          <a:xfrm>
            <a:off x="0" y="207909"/>
            <a:ext cx="8596668" cy="1320800"/>
          </a:xfrm>
        </p:spPr>
        <p:txBody>
          <a:bodyPr/>
          <a:lstStyle/>
          <a:p>
            <a:r>
              <a:rPr lang="fr-FR" b="1" dirty="0">
                <a:solidFill>
                  <a:srgbClr val="90C226"/>
                </a:solidFill>
              </a:rPr>
              <a:t>2- LES PHOSPHATASES ALCALINES</a:t>
            </a:r>
            <a:endParaRPr lang="fr-FR" dirty="0"/>
          </a:p>
        </p:txBody>
      </p:sp>
      <p:sp>
        <p:nvSpPr>
          <p:cNvPr id="3" name="Espace réservé du contenu 2">
            <a:extLst>
              <a:ext uri="{FF2B5EF4-FFF2-40B4-BE49-F238E27FC236}">
                <a16:creationId xmlns="" xmlns:a16="http://schemas.microsoft.com/office/drawing/2014/main" id="{00994E1E-07E0-4814-A738-5E33253161D8}"/>
              </a:ext>
            </a:extLst>
          </p:cNvPr>
          <p:cNvSpPr>
            <a:spLocks noGrp="1"/>
          </p:cNvSpPr>
          <p:nvPr>
            <p:ph idx="1"/>
          </p:nvPr>
        </p:nvSpPr>
        <p:spPr>
          <a:xfrm>
            <a:off x="0" y="781051"/>
            <a:ext cx="8324850" cy="6076949"/>
          </a:xfrm>
          <a:ln>
            <a:solidFill>
              <a:schemeClr val="bg1"/>
            </a:solidFill>
          </a:ln>
        </p:spPr>
        <p:style>
          <a:lnRef idx="2">
            <a:schemeClr val="accent1"/>
          </a:lnRef>
          <a:fillRef idx="1">
            <a:schemeClr val="lt1"/>
          </a:fillRef>
          <a:effectRef idx="0">
            <a:schemeClr val="accent1"/>
          </a:effectRef>
          <a:fontRef idx="minor">
            <a:schemeClr val="dk1"/>
          </a:fontRef>
        </p:style>
        <p:txBody>
          <a:bodyPr>
            <a:normAutofit fontScale="40000" lnSpcReduction="20000"/>
          </a:bodyPr>
          <a:lstStyle/>
          <a:p>
            <a:pPr>
              <a:buFont typeface="Wingdings" panose="05000000000000000000" pitchFamily="2" charset="2"/>
              <a:buChar char="q"/>
            </a:pPr>
            <a:r>
              <a:rPr lang="fr-FR" sz="5400" b="1" u="sng" dirty="0">
                <a:solidFill>
                  <a:schemeClr val="accent2"/>
                </a:solidFill>
              </a:rPr>
              <a:t>Interférences médicamenteuses  </a:t>
            </a:r>
            <a:endParaRPr lang="fr-FR" sz="5400" b="1" dirty="0">
              <a:solidFill>
                <a:schemeClr val="accent2"/>
              </a:solidFill>
            </a:endParaRPr>
          </a:p>
          <a:p>
            <a:pPr lvl="1">
              <a:buFont typeface="Arial" panose="020B0604020202020204" pitchFamily="34" charset="0"/>
              <a:buChar char="•"/>
            </a:pPr>
            <a:r>
              <a:rPr lang="fr-FR" sz="5200" b="1" dirty="0" err="1" smtClean="0"/>
              <a:t>Hypolipémiants</a:t>
            </a:r>
            <a:r>
              <a:rPr lang="fr-FR" sz="5200" b="1" dirty="0" smtClean="0"/>
              <a:t>=&gt;médicaments « n généralement pour dyslipidémie </a:t>
            </a:r>
            <a:endParaRPr lang="fr-FR" sz="5200" b="1" dirty="0"/>
          </a:p>
          <a:p>
            <a:pPr lvl="1">
              <a:buFont typeface="Arial" panose="020B0604020202020204" pitchFamily="34" charset="0"/>
              <a:buChar char="•"/>
            </a:pPr>
            <a:r>
              <a:rPr lang="fr-FR" sz="5200" b="1" dirty="0" err="1" smtClean="0"/>
              <a:t>Antiangoreux</a:t>
            </a:r>
            <a:r>
              <a:rPr lang="fr-FR" sz="5200" b="1" dirty="0" smtClean="0"/>
              <a:t>=&gt;traitement du goute articulaire  (++acide urique) </a:t>
            </a:r>
            <a:endParaRPr lang="fr-FR" sz="5200" b="1" dirty="0"/>
          </a:p>
          <a:p>
            <a:pPr lvl="1">
              <a:buFont typeface="Arial" panose="020B0604020202020204" pitchFamily="34" charset="0"/>
              <a:buChar char="•"/>
            </a:pPr>
            <a:r>
              <a:rPr lang="fr-FR" sz="5200" b="1" dirty="0"/>
              <a:t>Antidiabétiques               </a:t>
            </a:r>
          </a:p>
          <a:p>
            <a:pPr lvl="1">
              <a:buFont typeface="Arial" panose="020B0604020202020204" pitchFamily="34" charset="0"/>
              <a:buChar char="•"/>
            </a:pPr>
            <a:r>
              <a:rPr lang="fr-FR" sz="5200" b="1" dirty="0"/>
              <a:t>Antihypertenseurs</a:t>
            </a:r>
          </a:p>
          <a:p>
            <a:pPr lvl="1">
              <a:buFont typeface="Arial" panose="020B0604020202020204" pitchFamily="34" charset="0"/>
              <a:buChar char="•"/>
            </a:pPr>
            <a:r>
              <a:rPr lang="fr-FR" sz="5200" b="1" dirty="0"/>
              <a:t>Contraceptifs </a:t>
            </a:r>
            <a:r>
              <a:rPr lang="fr-FR" sz="5200" b="1" dirty="0" smtClean="0"/>
              <a:t>oraux</a:t>
            </a:r>
            <a:endParaRPr lang="fr-FR" sz="5200" b="1" dirty="0"/>
          </a:p>
          <a:p>
            <a:pPr lvl="1">
              <a:buFont typeface="Arial" panose="020B0604020202020204" pitchFamily="34" charset="0"/>
              <a:buChar char="•"/>
            </a:pPr>
            <a:r>
              <a:rPr lang="fr-FR" sz="5200" b="1" dirty="0" smtClean="0"/>
              <a:t>Anticoagulants =&gt; curatif=&gt;embolie</a:t>
            </a:r>
            <a:r>
              <a:rPr lang="fr-FR" sz="5200" b="1" dirty="0" smtClean="0">
                <a:sym typeface="Wingdings" panose="05000000000000000000" pitchFamily="2" charset="2"/>
              </a:rPr>
              <a:t> /// préventif=&gt;par ex le covid-19</a:t>
            </a:r>
            <a:endParaRPr lang="fr-FR" sz="5200" b="1" dirty="0"/>
          </a:p>
          <a:p>
            <a:pPr lvl="1">
              <a:buFont typeface="Arial" panose="020B0604020202020204" pitchFamily="34" charset="0"/>
              <a:buChar char="•"/>
            </a:pPr>
            <a:r>
              <a:rPr lang="fr-FR" sz="5200" b="1" dirty="0"/>
              <a:t>Antiépileptiques</a:t>
            </a:r>
          </a:p>
          <a:p>
            <a:pPr lvl="1"/>
            <a:endParaRPr lang="fr-FR" sz="5200" b="1" dirty="0"/>
          </a:p>
          <a:p>
            <a:pPr lvl="1">
              <a:buFont typeface="Arial" panose="020B0604020202020204" pitchFamily="34" charset="0"/>
              <a:buChar char="•"/>
            </a:pPr>
            <a:r>
              <a:rPr lang="fr-FR" sz="5200" b="1" dirty="0" smtClean="0"/>
              <a:t>Hypotoniques</a:t>
            </a:r>
            <a:endParaRPr lang="fr-FR" sz="5200" b="1" dirty="0"/>
          </a:p>
          <a:p>
            <a:pPr lvl="1">
              <a:buFont typeface="Arial" panose="020B0604020202020204" pitchFamily="34" charset="0"/>
              <a:buChar char="•"/>
            </a:pPr>
            <a:r>
              <a:rPr lang="fr-FR" sz="5200" b="1" dirty="0"/>
              <a:t>Antidépresseurs           </a:t>
            </a:r>
          </a:p>
          <a:p>
            <a:pPr lvl="1">
              <a:buFont typeface="Arial" panose="020B0604020202020204" pitchFamily="34" charset="0"/>
              <a:buChar char="•"/>
            </a:pPr>
            <a:r>
              <a:rPr lang="fr-FR" sz="5200" b="1" dirty="0" err="1" smtClean="0"/>
              <a:t>AntiTBC</a:t>
            </a:r>
            <a:r>
              <a:rPr lang="fr-FR" sz="5200" b="1" dirty="0" smtClean="0"/>
              <a:t>=&gt;tuberculose</a:t>
            </a:r>
            <a:endParaRPr lang="fr-FR" sz="5200" b="1" dirty="0"/>
          </a:p>
          <a:p>
            <a:pPr lvl="1">
              <a:buFont typeface="Arial" panose="020B0604020202020204" pitchFamily="34" charset="0"/>
              <a:buChar char="•"/>
            </a:pPr>
            <a:r>
              <a:rPr lang="fr-FR" sz="5200" b="1" dirty="0" smtClean="0"/>
              <a:t>Analgésiques=&gt; contre la doleur</a:t>
            </a:r>
            <a:endParaRPr lang="fr-FR" b="1" dirty="0"/>
          </a:p>
        </p:txBody>
      </p:sp>
      <p:sp>
        <p:nvSpPr>
          <p:cNvPr id="4" name="Accolade fermante 3">
            <a:extLst>
              <a:ext uri="{FF2B5EF4-FFF2-40B4-BE49-F238E27FC236}">
                <a16:creationId xmlns="" xmlns:a16="http://schemas.microsoft.com/office/drawing/2014/main" id="{2ED05D00-6820-4055-9A68-36EDDD905274}"/>
              </a:ext>
            </a:extLst>
          </p:cNvPr>
          <p:cNvSpPr/>
          <p:nvPr/>
        </p:nvSpPr>
        <p:spPr>
          <a:xfrm>
            <a:off x="8093823" y="1073937"/>
            <a:ext cx="516834" cy="349864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 name="Accolade fermante 4">
            <a:extLst>
              <a:ext uri="{FF2B5EF4-FFF2-40B4-BE49-F238E27FC236}">
                <a16:creationId xmlns="" xmlns:a16="http://schemas.microsoft.com/office/drawing/2014/main" id="{DA4C9A36-6AA6-4C84-8927-A928AA53A130}"/>
              </a:ext>
            </a:extLst>
          </p:cNvPr>
          <p:cNvSpPr/>
          <p:nvPr/>
        </p:nvSpPr>
        <p:spPr>
          <a:xfrm>
            <a:off x="4931466" y="5048005"/>
            <a:ext cx="516834" cy="150403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6" name="Rectangle 5">
            <a:extLst>
              <a:ext uri="{FF2B5EF4-FFF2-40B4-BE49-F238E27FC236}">
                <a16:creationId xmlns="" xmlns:a16="http://schemas.microsoft.com/office/drawing/2014/main" id="{F8BC0C70-D03E-4402-9204-1036DAEAA971}"/>
              </a:ext>
            </a:extLst>
          </p:cNvPr>
          <p:cNvSpPr/>
          <p:nvPr/>
        </p:nvSpPr>
        <p:spPr>
          <a:xfrm>
            <a:off x="8831527" y="2326558"/>
            <a:ext cx="1709530" cy="46382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tx2"/>
                </a:solidFill>
              </a:rPr>
              <a:t>↓PAL</a:t>
            </a:r>
            <a:endParaRPr lang="fr-FR" sz="2800" dirty="0">
              <a:solidFill>
                <a:schemeClr val="tx2"/>
              </a:solidFill>
            </a:endParaRPr>
          </a:p>
        </p:txBody>
      </p:sp>
      <p:sp>
        <p:nvSpPr>
          <p:cNvPr id="7" name="Rectangle 6">
            <a:extLst>
              <a:ext uri="{FF2B5EF4-FFF2-40B4-BE49-F238E27FC236}">
                <a16:creationId xmlns="" xmlns:a16="http://schemas.microsoft.com/office/drawing/2014/main" id="{BEB79CAD-401C-4ECE-A83B-1759B657306C}"/>
              </a:ext>
            </a:extLst>
          </p:cNvPr>
          <p:cNvSpPr/>
          <p:nvPr/>
        </p:nvSpPr>
        <p:spPr>
          <a:xfrm>
            <a:off x="5529883" y="5609522"/>
            <a:ext cx="1189383" cy="3810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prstClr val="black"/>
                </a:solidFill>
              </a:rPr>
              <a:t>↑ PAL</a:t>
            </a:r>
            <a:endParaRPr lang="fr-FR" sz="2800" dirty="0"/>
          </a:p>
        </p:txBody>
      </p:sp>
    </p:spTree>
    <p:extLst>
      <p:ext uri="{BB962C8B-B14F-4D97-AF65-F5344CB8AC3E}">
        <p14:creationId xmlns:p14="http://schemas.microsoft.com/office/powerpoint/2010/main" val="335707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30DA1D5-EFE4-409C-882F-06D59B0B4BD6}"/>
              </a:ext>
            </a:extLst>
          </p:cNvPr>
          <p:cNvSpPr>
            <a:spLocks noGrp="1"/>
          </p:cNvSpPr>
          <p:nvPr>
            <p:ph type="title"/>
          </p:nvPr>
        </p:nvSpPr>
        <p:spPr>
          <a:xfrm>
            <a:off x="250745" y="494749"/>
            <a:ext cx="9023257" cy="1320800"/>
          </a:xfrm>
        </p:spPr>
        <p:txBody>
          <a:bodyPr>
            <a:normAutofit fontScale="90000"/>
          </a:bodyPr>
          <a:lstStyle/>
          <a:p>
            <a:pPr>
              <a:spcAft>
                <a:spcPts val="0"/>
              </a:spcAft>
            </a:pPr>
            <a:r>
              <a:rPr lang="fr-FR" b="1" u="sng" dirty="0">
                <a:latin typeface="Times New Roman" panose="02020603050405020304" pitchFamily="18" charset="0"/>
                <a:ea typeface="Times New Roman" panose="02020603050405020304" pitchFamily="18" charset="0"/>
              </a:rPr>
              <a:t>3-GAMMA-GLUTAMYLTRANSFERASE (</a:t>
            </a:r>
            <a:r>
              <a:rPr lang="el-GR" b="1" dirty="0">
                <a:latin typeface="Times New Roman" panose="02020603050405020304" pitchFamily="18" charset="0"/>
                <a:ea typeface="Times New Roman" panose="02020603050405020304" pitchFamily="18" charset="0"/>
              </a:rPr>
              <a:t>γ</a:t>
            </a:r>
            <a:r>
              <a:rPr lang="fr-FR" b="1" dirty="0">
                <a:latin typeface="Times New Roman" panose="02020603050405020304" pitchFamily="18" charset="0"/>
                <a:ea typeface="Times New Roman" panose="02020603050405020304" pitchFamily="18" charset="0"/>
              </a:rPr>
              <a:t>GT)</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endParaRPr lang="fr-FR" dirty="0"/>
          </a:p>
        </p:txBody>
      </p:sp>
      <p:sp>
        <p:nvSpPr>
          <p:cNvPr id="3" name="Espace réservé du contenu 2">
            <a:extLst>
              <a:ext uri="{FF2B5EF4-FFF2-40B4-BE49-F238E27FC236}">
                <a16:creationId xmlns="" xmlns:a16="http://schemas.microsoft.com/office/drawing/2014/main" id="{A9D9756F-3241-4445-B70F-F53F2B54378F}"/>
              </a:ext>
            </a:extLst>
          </p:cNvPr>
          <p:cNvSpPr>
            <a:spLocks noGrp="1"/>
          </p:cNvSpPr>
          <p:nvPr>
            <p:ph idx="1"/>
          </p:nvPr>
        </p:nvSpPr>
        <p:spPr>
          <a:xfrm>
            <a:off x="0" y="1155148"/>
            <a:ext cx="12668250" cy="4998001"/>
          </a:xfrm>
        </p:spPr>
        <p:txBody>
          <a:bodyPr>
            <a:normAutofit/>
          </a:bodyPr>
          <a:lstStyle/>
          <a:p>
            <a:pPr>
              <a:buFont typeface="Wingdings" panose="05000000000000000000" pitchFamily="2" charset="2"/>
              <a:buChar char="q"/>
            </a:pPr>
            <a:r>
              <a:rPr lang="fr-FR" sz="3200" b="1" u="sng" dirty="0">
                <a:solidFill>
                  <a:schemeClr val="accent2"/>
                </a:solidFill>
                <a:latin typeface="Times New Roman" panose="02020603050405020304" pitchFamily="18" charset="0"/>
                <a:ea typeface="Times New Roman" panose="02020603050405020304" pitchFamily="18" charset="0"/>
              </a:rPr>
              <a:t>Définition </a:t>
            </a:r>
            <a:r>
              <a:rPr lang="fr-FR" sz="3200" b="1" dirty="0">
                <a:solidFill>
                  <a:schemeClr val="accent2"/>
                </a:solidFill>
                <a:latin typeface="Times New Roman" panose="02020603050405020304" pitchFamily="18" charset="0"/>
                <a:ea typeface="Times New Roman" panose="02020603050405020304" pitchFamily="18" charset="0"/>
              </a:rPr>
              <a:t>: </a:t>
            </a:r>
            <a:r>
              <a:rPr lang="fr-FR" sz="3200" b="1" dirty="0" smtClean="0">
                <a:solidFill>
                  <a:schemeClr val="accent2"/>
                </a:solidFill>
                <a:latin typeface="Times New Roman" panose="02020603050405020304" pitchFamily="18" charset="0"/>
                <a:ea typeface="Times New Roman" panose="02020603050405020304" pitchFamily="18" charset="0"/>
              </a:rPr>
              <a:t>c’est un transférase</a:t>
            </a:r>
            <a:endParaRPr lang="fr-FR" sz="3200" b="1" dirty="0">
              <a:solidFill>
                <a:schemeClr val="accent2"/>
              </a:solidFill>
              <a:latin typeface="Times New Roman" panose="02020603050405020304" pitchFamily="18" charset="0"/>
              <a:ea typeface="Times New Roman" panose="02020603050405020304" pitchFamily="18" charset="0"/>
            </a:endParaRPr>
          </a:p>
          <a:p>
            <a:pPr lvl="1">
              <a:buFont typeface="Arial" panose="020B0604020202020204" pitchFamily="34" charset="0"/>
              <a:buChar char="•"/>
            </a:pPr>
            <a:r>
              <a:rPr lang="fr-FR" sz="2000" b="1" dirty="0" smtClean="0">
                <a:solidFill>
                  <a:prstClr val="black">
                    <a:lumMod val="75000"/>
                    <a:lumOff val="25000"/>
                  </a:prstClr>
                </a:solidFill>
                <a:latin typeface="Times New Roman" panose="02020603050405020304" pitchFamily="18" charset="0"/>
                <a:ea typeface="Times New Roman" panose="02020603050405020304" pitchFamily="18" charset="0"/>
              </a:rPr>
              <a:t>Gamma-</a:t>
            </a:r>
            <a:r>
              <a:rPr lang="fr-FR" sz="2000" b="1" dirty="0" err="1" smtClean="0">
                <a:solidFill>
                  <a:prstClr val="black">
                    <a:lumMod val="75000"/>
                    <a:lumOff val="25000"/>
                  </a:prstClr>
                </a:solidFill>
                <a:latin typeface="Times New Roman" panose="02020603050405020304" pitchFamily="18" charset="0"/>
                <a:ea typeface="Times New Roman" panose="02020603050405020304" pitchFamily="18" charset="0"/>
              </a:rPr>
              <a:t>glutamyl</a:t>
            </a:r>
            <a:r>
              <a:rPr lang="fr-FR" sz="2000" b="1" dirty="0" smtClean="0">
                <a:solidFill>
                  <a:prstClr val="black">
                    <a:lumMod val="75000"/>
                    <a:lumOff val="25000"/>
                  </a:prstClr>
                </a:solidFill>
                <a:latin typeface="Times New Roman" panose="02020603050405020304" pitchFamily="18" charset="0"/>
                <a:ea typeface="Times New Roman" panose="02020603050405020304" pitchFamily="18" charset="0"/>
              </a:rPr>
              <a:t> transférase ou gamma-</a:t>
            </a:r>
            <a:r>
              <a:rPr lang="fr-FR" sz="2000" b="1" dirty="0" err="1" smtClean="0">
                <a:solidFill>
                  <a:prstClr val="black">
                    <a:lumMod val="75000"/>
                    <a:lumOff val="25000"/>
                  </a:prstClr>
                </a:solidFill>
                <a:latin typeface="Times New Roman" panose="02020603050405020304" pitchFamily="18" charset="0"/>
                <a:ea typeface="Times New Roman" panose="02020603050405020304" pitchFamily="18" charset="0"/>
              </a:rPr>
              <a:t>glutamyl</a:t>
            </a:r>
            <a:r>
              <a:rPr lang="fr-FR" sz="2000" b="1" dirty="0" smtClean="0">
                <a:solidFill>
                  <a:prstClr val="black">
                    <a:lumMod val="75000"/>
                    <a:lumOff val="25000"/>
                  </a:prstClr>
                </a:solidFill>
                <a:latin typeface="Times New Roman" panose="02020603050405020304" pitchFamily="18" charset="0"/>
                <a:ea typeface="Times New Roman" panose="02020603050405020304" pitchFamily="18" charset="0"/>
              </a:rPr>
              <a:t> </a:t>
            </a:r>
            <a:r>
              <a:rPr lang="fr-FR" sz="2000" b="1" dirty="0" err="1" smtClean="0">
                <a:solidFill>
                  <a:prstClr val="black">
                    <a:lumMod val="75000"/>
                    <a:lumOff val="25000"/>
                  </a:prstClr>
                </a:solidFill>
                <a:latin typeface="Times New Roman" panose="02020603050405020304" pitchFamily="18" charset="0"/>
                <a:ea typeface="Times New Roman" panose="02020603050405020304" pitchFamily="18" charset="0"/>
              </a:rPr>
              <a:t>transpeptidase</a:t>
            </a:r>
            <a:r>
              <a:rPr lang="fr-FR" sz="2000" b="1" dirty="0" smtClean="0">
                <a:solidFill>
                  <a:prstClr val="black">
                    <a:lumMod val="75000"/>
                    <a:lumOff val="25000"/>
                  </a:prstClr>
                </a:solidFill>
                <a:latin typeface="Times New Roman" panose="02020603050405020304" pitchFamily="18" charset="0"/>
                <a:ea typeface="Times New Roman" panose="02020603050405020304" pitchFamily="18" charset="0"/>
              </a:rPr>
              <a:t> </a:t>
            </a:r>
            <a:endParaRPr lang="fr-FR" sz="2000" b="1" dirty="0">
              <a:solidFill>
                <a:prstClr val="black">
                  <a:lumMod val="75000"/>
                  <a:lumOff val="25000"/>
                </a:prstClr>
              </a:solidFill>
              <a:latin typeface="Times New Roman" panose="02020603050405020304" pitchFamily="18" charset="0"/>
              <a:ea typeface="Times New Roman" panose="02020603050405020304" pitchFamily="18" charset="0"/>
            </a:endParaRPr>
          </a:p>
          <a:p>
            <a:pPr lvl="1">
              <a:buClr>
                <a:srgbClr val="90C226"/>
              </a:buClr>
              <a:buFont typeface="Arial" panose="020B0604020202020204" pitchFamily="34" charset="0"/>
              <a:buChar char="•"/>
            </a:pPr>
            <a:r>
              <a:rPr lang="fr-FR" sz="2000" b="1" dirty="0">
                <a:solidFill>
                  <a:prstClr val="black">
                    <a:lumMod val="75000"/>
                    <a:lumOff val="25000"/>
                  </a:prstClr>
                </a:solidFill>
                <a:latin typeface="Times New Roman" panose="02020603050405020304" pitchFamily="18" charset="0"/>
                <a:ea typeface="Times New Roman" panose="02020603050405020304" pitchFamily="18" charset="0"/>
              </a:rPr>
              <a:t>Glycopeptide hétérodimérique </a:t>
            </a:r>
            <a:endParaRPr lang="fr-FR" sz="2000" b="1" dirty="0">
              <a:latin typeface="Times New Roman" panose="02020603050405020304" pitchFamily="18" charset="0"/>
              <a:ea typeface="Times New Roman" panose="02020603050405020304" pitchFamily="18" charset="0"/>
            </a:endParaRPr>
          </a:p>
          <a:p>
            <a:pPr lvl="1">
              <a:buFont typeface="Arial" panose="020B0604020202020204" pitchFamily="34" charset="0"/>
              <a:buChar char="•"/>
            </a:pPr>
            <a:r>
              <a:rPr lang="fr-FR" sz="2000" b="1" dirty="0" smtClean="0">
                <a:latin typeface="Times New Roman" panose="02020603050405020304" pitchFamily="18" charset="0"/>
                <a:ea typeface="Times New Roman" panose="02020603050405020304" pitchFamily="18" charset="0"/>
              </a:rPr>
              <a:t>Le fonction =&gt; </a:t>
            </a:r>
            <a:r>
              <a:rPr lang="fr-FR" sz="2000" b="1" dirty="0">
                <a:latin typeface="Times New Roman" panose="02020603050405020304" pitchFamily="18" charset="0"/>
                <a:ea typeface="Times New Roman" panose="02020603050405020304" pitchFamily="18" charset="0"/>
              </a:rPr>
              <a:t>Transpeptidase (</a:t>
            </a:r>
            <a:r>
              <a:rPr lang="fr-FR" sz="2000" b="1" dirty="0">
                <a:solidFill>
                  <a:srgbClr val="FF0000"/>
                </a:solidFill>
                <a:latin typeface="Times New Roman" panose="02020603050405020304" pitchFamily="18" charset="0"/>
                <a:ea typeface="Times New Roman" panose="02020603050405020304" pitchFamily="18" charset="0"/>
              </a:rPr>
              <a:t>hydrolyse</a:t>
            </a:r>
            <a:r>
              <a:rPr lang="fr-FR" sz="2000" b="1" dirty="0">
                <a:latin typeface="Times New Roman" panose="02020603050405020304" pitchFamily="18" charset="0"/>
                <a:ea typeface="Times New Roman" panose="02020603050405020304" pitchFamily="18" charset="0"/>
              </a:rPr>
              <a:t> + </a:t>
            </a:r>
            <a:r>
              <a:rPr lang="fr-FR" sz="2000" b="1" dirty="0">
                <a:solidFill>
                  <a:srgbClr val="00B0F0"/>
                </a:solidFill>
                <a:latin typeface="Times New Roman" panose="02020603050405020304" pitchFamily="18" charset="0"/>
                <a:ea typeface="Times New Roman" panose="02020603050405020304" pitchFamily="18" charset="0"/>
              </a:rPr>
              <a:t>transfert</a:t>
            </a:r>
            <a:r>
              <a:rPr lang="fr-FR" sz="2000" b="1" dirty="0">
                <a:latin typeface="Times New Roman" panose="02020603050405020304" pitchFamily="18" charset="0"/>
                <a:ea typeface="Times New Roman" panose="02020603050405020304" pitchFamily="18" charset="0"/>
              </a:rPr>
              <a:t>) </a:t>
            </a:r>
          </a:p>
          <a:p>
            <a:pPr lvl="2">
              <a:buFont typeface="Arial" panose="020B0604020202020204" pitchFamily="34" charset="0"/>
              <a:buChar char="•"/>
            </a:pPr>
            <a:r>
              <a:rPr lang="fr-FR" sz="2000" b="1" dirty="0" smtClean="0">
                <a:solidFill>
                  <a:srgbClr val="FF0000"/>
                </a:solidFill>
                <a:latin typeface="Times New Roman" panose="02020603050405020304" pitchFamily="18" charset="0"/>
                <a:ea typeface="Times New Roman" panose="02020603050405020304" pitchFamily="18" charset="0"/>
              </a:rPr>
              <a:t>Clive ou hydrolyse </a:t>
            </a:r>
            <a:r>
              <a:rPr lang="fr-FR" sz="2000" b="1" dirty="0">
                <a:solidFill>
                  <a:srgbClr val="FF0000"/>
                </a:solidFill>
                <a:latin typeface="Times New Roman" panose="02020603050405020304" pitchFamily="18" charset="0"/>
                <a:ea typeface="Times New Roman" panose="02020603050405020304" pitchFamily="18" charset="0"/>
              </a:rPr>
              <a:t>la liaison glutamyl d’un donneur </a:t>
            </a:r>
            <a:r>
              <a:rPr lang="fr-FR" sz="2000" b="1" dirty="0" smtClean="0">
                <a:solidFill>
                  <a:srgbClr val="FF0000"/>
                </a:solidFill>
                <a:latin typeface="Times New Roman" panose="02020603050405020304" pitchFamily="18" charset="0"/>
                <a:ea typeface="Times New Roman" panose="02020603050405020304" pitchFamily="18" charset="0"/>
              </a:rPr>
              <a:t>(soit un peptide ou </a:t>
            </a:r>
            <a:r>
              <a:rPr lang="fr-FR" sz="2000" b="1" dirty="0">
                <a:solidFill>
                  <a:srgbClr val="FF0000"/>
                </a:solidFill>
                <a:latin typeface="Times New Roman" panose="02020603050405020304" pitchFamily="18" charset="0"/>
                <a:ea typeface="Times New Roman" panose="02020603050405020304" pitchFamily="18" charset="0"/>
              </a:rPr>
              <a:t>glutathion) </a:t>
            </a:r>
          </a:p>
          <a:p>
            <a:pPr lvl="2">
              <a:buFont typeface="Arial" panose="020B0604020202020204" pitchFamily="34" charset="0"/>
              <a:buChar char="•"/>
            </a:pPr>
            <a:r>
              <a:rPr lang="fr-FR" sz="2000" b="1" dirty="0">
                <a:solidFill>
                  <a:srgbClr val="00B0F0"/>
                </a:solidFill>
                <a:latin typeface="Times New Roman" panose="02020603050405020304" pitchFamily="18" charset="0"/>
                <a:ea typeface="Times New Roman" panose="02020603050405020304" pitchFamily="18" charset="0"/>
              </a:rPr>
              <a:t>Transfert le radical glutamyl sur un accepteur</a:t>
            </a:r>
          </a:p>
          <a:p>
            <a:endParaRPr lang="fr-FR" dirty="0">
              <a:latin typeface="Times New Roman" panose="02020603050405020304" pitchFamily="18" charset="0"/>
              <a:ea typeface="Times New Roman" panose="02020603050405020304" pitchFamily="18" charset="0"/>
            </a:endParaRPr>
          </a:p>
          <a:p>
            <a:endParaRPr lang="fr-FR" dirty="0"/>
          </a:p>
        </p:txBody>
      </p:sp>
      <p:pic>
        <p:nvPicPr>
          <p:cNvPr id="4" name="Image 3">
            <a:extLst>
              <a:ext uri="{FF2B5EF4-FFF2-40B4-BE49-F238E27FC236}">
                <a16:creationId xmlns="" xmlns:a16="http://schemas.microsoft.com/office/drawing/2014/main" id="{1F23F6F5-00D5-451F-ABED-CEB09F5C8229}"/>
              </a:ext>
            </a:extLst>
          </p:cNvPr>
          <p:cNvPicPr>
            <a:picLocks noChangeAspect="1"/>
          </p:cNvPicPr>
          <p:nvPr/>
        </p:nvPicPr>
        <p:blipFill>
          <a:blip r:embed="rId3"/>
          <a:stretch>
            <a:fillRect/>
          </a:stretch>
        </p:blipFill>
        <p:spPr>
          <a:xfrm>
            <a:off x="658283" y="5083020"/>
            <a:ext cx="9550850" cy="1730528"/>
          </a:xfrm>
          <a:prstGeom prst="rect">
            <a:avLst/>
          </a:prstGeom>
        </p:spPr>
      </p:pic>
      <p:sp>
        <p:nvSpPr>
          <p:cNvPr id="5" name="Ellipse 4">
            <a:extLst>
              <a:ext uri="{FF2B5EF4-FFF2-40B4-BE49-F238E27FC236}">
                <a16:creationId xmlns="" xmlns:a16="http://schemas.microsoft.com/office/drawing/2014/main" id="{E8B222E5-84D3-40FD-BF79-2CCFECF2F7F7}"/>
              </a:ext>
            </a:extLst>
          </p:cNvPr>
          <p:cNvSpPr/>
          <p:nvPr/>
        </p:nvSpPr>
        <p:spPr>
          <a:xfrm>
            <a:off x="810683" y="5122100"/>
            <a:ext cx="1456267" cy="620099"/>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a:extLst>
              <a:ext uri="{FF2B5EF4-FFF2-40B4-BE49-F238E27FC236}">
                <a16:creationId xmlns="" xmlns:a16="http://schemas.microsoft.com/office/drawing/2014/main" id="{61395C95-E8C5-46A3-8A6B-1DE041017C88}"/>
              </a:ext>
            </a:extLst>
          </p:cNvPr>
          <p:cNvPicPr>
            <a:picLocks noChangeAspect="1"/>
          </p:cNvPicPr>
          <p:nvPr/>
        </p:nvPicPr>
        <p:blipFill>
          <a:blip r:embed="rId4"/>
          <a:stretch>
            <a:fillRect/>
          </a:stretch>
        </p:blipFill>
        <p:spPr>
          <a:xfrm>
            <a:off x="6586329" y="5122100"/>
            <a:ext cx="1281019" cy="640135"/>
          </a:xfrm>
          <a:prstGeom prst="rect">
            <a:avLst/>
          </a:prstGeom>
        </p:spPr>
      </p:pic>
    </p:spTree>
    <p:extLst>
      <p:ext uri="{BB962C8B-B14F-4D97-AF65-F5344CB8AC3E}">
        <p14:creationId xmlns:p14="http://schemas.microsoft.com/office/powerpoint/2010/main" val="342692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30DA1D5-EFE4-409C-882F-06D59B0B4BD6}"/>
              </a:ext>
            </a:extLst>
          </p:cNvPr>
          <p:cNvSpPr>
            <a:spLocks noGrp="1"/>
          </p:cNvSpPr>
          <p:nvPr>
            <p:ph type="title"/>
          </p:nvPr>
        </p:nvSpPr>
        <p:spPr>
          <a:xfrm>
            <a:off x="677333" y="609600"/>
            <a:ext cx="9023257" cy="1320800"/>
          </a:xfrm>
        </p:spPr>
        <p:txBody>
          <a:bodyPr>
            <a:normAutofit fontScale="90000"/>
          </a:bodyPr>
          <a:lstStyle/>
          <a:p>
            <a:pPr>
              <a:spcAft>
                <a:spcPts val="0"/>
              </a:spcAft>
            </a:pPr>
            <a:r>
              <a:rPr lang="fr-FR" b="1" u="sng" dirty="0">
                <a:latin typeface="Times New Roman" panose="02020603050405020304" pitchFamily="18" charset="0"/>
                <a:ea typeface="Times New Roman" panose="02020603050405020304" pitchFamily="18" charset="0"/>
              </a:rPr>
              <a:t>3-GAMMA-GLUTAMYLTRANSFERASE (</a:t>
            </a:r>
            <a:r>
              <a:rPr lang="el-GR" b="1" dirty="0">
                <a:latin typeface="Times New Roman" panose="02020603050405020304" pitchFamily="18" charset="0"/>
                <a:ea typeface="Times New Roman" panose="02020603050405020304" pitchFamily="18" charset="0"/>
              </a:rPr>
              <a:t>γ</a:t>
            </a:r>
            <a:r>
              <a:rPr lang="fr-FR" b="1" dirty="0">
                <a:latin typeface="Times New Roman" panose="02020603050405020304" pitchFamily="18" charset="0"/>
                <a:ea typeface="Times New Roman" panose="02020603050405020304" pitchFamily="18" charset="0"/>
              </a:rPr>
              <a:t>GT)</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endParaRPr lang="fr-FR" dirty="0"/>
          </a:p>
        </p:txBody>
      </p:sp>
      <p:sp>
        <p:nvSpPr>
          <p:cNvPr id="3" name="Espace réservé du contenu 2">
            <a:extLst>
              <a:ext uri="{FF2B5EF4-FFF2-40B4-BE49-F238E27FC236}">
                <a16:creationId xmlns="" xmlns:a16="http://schemas.microsoft.com/office/drawing/2014/main" id="{A9D9756F-3241-4445-B70F-F53F2B54378F}"/>
              </a:ext>
            </a:extLst>
          </p:cNvPr>
          <p:cNvSpPr>
            <a:spLocks noGrp="1"/>
          </p:cNvSpPr>
          <p:nvPr>
            <p:ph idx="1"/>
          </p:nvPr>
        </p:nvSpPr>
        <p:spPr>
          <a:xfrm>
            <a:off x="94238" y="1488613"/>
            <a:ext cx="12097761" cy="4645487"/>
          </a:xfrm>
        </p:spPr>
        <p:txBody>
          <a:bodyPr>
            <a:normAutofit/>
          </a:bodyPr>
          <a:lstStyle/>
          <a:p>
            <a:pPr>
              <a:buFont typeface="Wingdings" panose="05000000000000000000" pitchFamily="2" charset="2"/>
              <a:buChar char="q"/>
            </a:pPr>
            <a:r>
              <a:rPr lang="fr-FR" sz="2800" b="1" u="sng" dirty="0">
                <a:solidFill>
                  <a:schemeClr val="accent2"/>
                </a:solidFill>
              </a:rPr>
              <a:t>Répartition</a:t>
            </a:r>
          </a:p>
          <a:p>
            <a:pPr marL="0" indent="0">
              <a:buNone/>
            </a:pPr>
            <a:endParaRPr lang="fr-FR" sz="2800" b="1" u="sng" dirty="0">
              <a:solidFill>
                <a:schemeClr val="accent2"/>
              </a:solidFill>
            </a:endParaRPr>
          </a:p>
          <a:p>
            <a:pPr lvl="1">
              <a:buFont typeface="Arial" panose="020B0604020202020204" pitchFamily="34" charset="0"/>
              <a:buChar char="•"/>
            </a:pPr>
            <a:r>
              <a:rPr lang="fr-FR" sz="2600" b="1" dirty="0">
                <a:solidFill>
                  <a:schemeClr val="tx1"/>
                </a:solidFill>
              </a:rPr>
              <a:t>Tissulaire : </a:t>
            </a:r>
            <a:r>
              <a:rPr lang="fr-FR" sz="2600" dirty="0">
                <a:solidFill>
                  <a:srgbClr val="FF0000"/>
                </a:solidFill>
              </a:rPr>
              <a:t>Foie </a:t>
            </a:r>
            <a:r>
              <a:rPr lang="fr-FR" sz="2600" dirty="0" smtClean="0">
                <a:solidFill>
                  <a:srgbClr val="FF0000"/>
                </a:solidFill>
              </a:rPr>
              <a:t>++ (en explore le foie dans certain maladie) </a:t>
            </a:r>
            <a:r>
              <a:rPr lang="fr-FR" sz="2600" dirty="0">
                <a:solidFill>
                  <a:schemeClr val="tx1"/>
                </a:solidFill>
              </a:rPr>
              <a:t>, rein , rate , intestin , pancréas, rate, poumon, endomètre, prostate</a:t>
            </a:r>
          </a:p>
          <a:p>
            <a:pPr lvl="1">
              <a:buFont typeface="Arial" panose="020B0604020202020204" pitchFamily="34" charset="0"/>
              <a:buChar char="•"/>
            </a:pPr>
            <a:endParaRPr lang="fr-FR" sz="2600" dirty="0">
              <a:solidFill>
                <a:schemeClr val="tx1"/>
              </a:solidFill>
            </a:endParaRPr>
          </a:p>
          <a:p>
            <a:pPr lvl="1">
              <a:buFont typeface="Arial" panose="020B0604020202020204" pitchFamily="34" charset="0"/>
              <a:buChar char="•"/>
            </a:pPr>
            <a:r>
              <a:rPr lang="fr-FR" sz="2600" b="1" dirty="0">
                <a:solidFill>
                  <a:schemeClr val="tx1"/>
                </a:solidFill>
              </a:rPr>
              <a:t>Cellulaire : </a:t>
            </a:r>
            <a:r>
              <a:rPr lang="fr-FR" sz="2600" dirty="0" smtClean="0">
                <a:solidFill>
                  <a:schemeClr val="tx1"/>
                </a:solidFill>
              </a:rPr>
              <a:t>+++</a:t>
            </a:r>
            <a:r>
              <a:rPr lang="fr-FR" sz="2600" dirty="0">
                <a:solidFill>
                  <a:schemeClr val="tx1"/>
                </a:solidFill>
              </a:rPr>
              <a:t>Mb plasmique (face Ext</a:t>
            </a:r>
            <a:r>
              <a:rPr lang="fr-FR" sz="2600" dirty="0" smtClean="0">
                <a:solidFill>
                  <a:schemeClr val="tx1"/>
                </a:solidFill>
              </a:rPr>
              <a:t>)=&gt;donc c’est très sensible</a:t>
            </a:r>
          </a:p>
          <a:p>
            <a:pPr marL="457200" lvl="1" indent="0">
              <a:buNone/>
            </a:pPr>
            <a:r>
              <a:rPr lang="fr-FR" sz="2600" dirty="0" smtClean="0">
                <a:solidFill>
                  <a:schemeClr val="tx1"/>
                </a:solidFill>
              </a:rPr>
              <a:t>Aussi dans le cytosol </a:t>
            </a:r>
            <a:endParaRPr lang="fr-FR" sz="2600" dirty="0">
              <a:solidFill>
                <a:schemeClr val="tx1"/>
              </a:solidFill>
            </a:endParaRPr>
          </a:p>
          <a:p>
            <a:pPr marL="457200" lvl="1" indent="0">
              <a:buNone/>
            </a:pPr>
            <a:r>
              <a:rPr lang="fr-FR" sz="2600" dirty="0">
                <a:solidFill>
                  <a:schemeClr val="tx1"/>
                </a:solidFill>
              </a:rPr>
              <a:t> </a:t>
            </a:r>
          </a:p>
          <a:p>
            <a:pPr lvl="1">
              <a:buFont typeface="Arial" panose="020B0604020202020204" pitchFamily="34" charset="0"/>
              <a:buChar char="•"/>
            </a:pPr>
            <a:endParaRPr lang="fr-FR" sz="2600" b="1" dirty="0">
              <a:solidFill>
                <a:schemeClr val="tx1"/>
              </a:solidFill>
            </a:endParaRPr>
          </a:p>
          <a:p>
            <a:endParaRPr lang="fr-FR" dirty="0"/>
          </a:p>
        </p:txBody>
      </p:sp>
    </p:spTree>
    <p:extLst>
      <p:ext uri="{BB962C8B-B14F-4D97-AF65-F5344CB8AC3E}">
        <p14:creationId xmlns:p14="http://schemas.microsoft.com/office/powerpoint/2010/main" val="378742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30DA1D5-EFE4-409C-882F-06D59B0B4BD6}"/>
              </a:ext>
            </a:extLst>
          </p:cNvPr>
          <p:cNvSpPr>
            <a:spLocks noGrp="1"/>
          </p:cNvSpPr>
          <p:nvPr>
            <p:ph type="title"/>
          </p:nvPr>
        </p:nvSpPr>
        <p:spPr>
          <a:xfrm>
            <a:off x="0" y="0"/>
            <a:ext cx="9023257" cy="861391"/>
          </a:xfrm>
        </p:spPr>
        <p:txBody>
          <a:bodyPr>
            <a:normAutofit fontScale="90000"/>
          </a:bodyPr>
          <a:lstStyle/>
          <a:p>
            <a:pPr>
              <a:spcAft>
                <a:spcPts val="0"/>
              </a:spcAft>
            </a:pPr>
            <a:r>
              <a:rPr lang="fr-FR" b="1" u="sng" dirty="0">
                <a:latin typeface="Times New Roman" panose="02020603050405020304" pitchFamily="18" charset="0"/>
                <a:ea typeface="Times New Roman" panose="02020603050405020304" pitchFamily="18" charset="0"/>
              </a:rPr>
              <a:t>3-GAMMA-GLUTAMYLTRANSFERASE (</a:t>
            </a:r>
            <a:r>
              <a:rPr lang="el-GR" b="1" dirty="0">
                <a:latin typeface="Times New Roman" panose="02020603050405020304" pitchFamily="18" charset="0"/>
                <a:ea typeface="Times New Roman" panose="02020603050405020304" pitchFamily="18" charset="0"/>
              </a:rPr>
              <a:t>γ</a:t>
            </a:r>
            <a:r>
              <a:rPr lang="fr-FR" b="1" dirty="0">
                <a:latin typeface="Times New Roman" panose="02020603050405020304" pitchFamily="18" charset="0"/>
                <a:ea typeface="Times New Roman" panose="02020603050405020304" pitchFamily="18" charset="0"/>
              </a:rPr>
              <a:t>GT)</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endParaRPr lang="fr-FR" dirty="0"/>
          </a:p>
        </p:txBody>
      </p:sp>
      <p:sp>
        <p:nvSpPr>
          <p:cNvPr id="3" name="Espace réservé du contenu 2">
            <a:extLst>
              <a:ext uri="{FF2B5EF4-FFF2-40B4-BE49-F238E27FC236}">
                <a16:creationId xmlns="" xmlns:a16="http://schemas.microsoft.com/office/drawing/2014/main" id="{A9D9756F-3241-4445-B70F-F53F2B54378F}"/>
              </a:ext>
            </a:extLst>
          </p:cNvPr>
          <p:cNvSpPr>
            <a:spLocks noGrp="1"/>
          </p:cNvSpPr>
          <p:nvPr>
            <p:ph idx="1"/>
          </p:nvPr>
        </p:nvSpPr>
        <p:spPr>
          <a:xfrm>
            <a:off x="0" y="861391"/>
            <a:ext cx="12192000" cy="5996609"/>
          </a:xfrm>
        </p:spPr>
        <p:txBody>
          <a:bodyPr>
            <a:normAutofit fontScale="92500" lnSpcReduction="20000"/>
          </a:bodyPr>
          <a:lstStyle/>
          <a:p>
            <a:pPr algn="justLow">
              <a:buFont typeface="Wingdings" panose="05000000000000000000" pitchFamily="2" charset="2"/>
              <a:buChar char="q"/>
            </a:pPr>
            <a:r>
              <a:rPr lang="fr-FR" sz="3600" b="1" u="sng" dirty="0">
                <a:solidFill>
                  <a:schemeClr val="accent2"/>
                </a:solidFill>
                <a:latin typeface="Times New Roman" panose="02020603050405020304" pitchFamily="18" charset="0"/>
                <a:ea typeface="Times New Roman" panose="02020603050405020304" pitchFamily="18" charset="0"/>
              </a:rPr>
              <a:t>Valeurs normales</a:t>
            </a:r>
            <a:r>
              <a:rPr lang="fr-FR" sz="3600" b="1" dirty="0">
                <a:solidFill>
                  <a:schemeClr val="accent2"/>
                </a:solidFill>
                <a:latin typeface="Times New Roman" panose="02020603050405020304" pitchFamily="18" charset="0"/>
                <a:ea typeface="Times New Roman" panose="02020603050405020304" pitchFamily="18" charset="0"/>
              </a:rPr>
              <a:t> </a:t>
            </a:r>
            <a:endParaRPr lang="fr-FR" sz="3600" dirty="0">
              <a:solidFill>
                <a:schemeClr val="accent2"/>
              </a:solidFill>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400" b="1" dirty="0">
                <a:solidFill>
                  <a:schemeClr val="tx1"/>
                </a:solidFill>
                <a:latin typeface="Times New Roman" panose="02020603050405020304" pitchFamily="18" charset="0"/>
                <a:ea typeface="Times New Roman" panose="02020603050405020304" pitchFamily="18" charset="0"/>
              </a:rPr>
              <a:t>&lt; 61 UI/l chez l’homme </a:t>
            </a:r>
          </a:p>
          <a:p>
            <a:pPr lvl="1" algn="justLow">
              <a:buFont typeface="Arial" panose="020B0604020202020204" pitchFamily="34" charset="0"/>
              <a:buChar char="•"/>
            </a:pPr>
            <a:r>
              <a:rPr lang="fr-FR" sz="3400" b="1" dirty="0">
                <a:solidFill>
                  <a:schemeClr val="tx1"/>
                </a:solidFill>
                <a:latin typeface="Times New Roman" panose="02020603050405020304" pitchFamily="18" charset="0"/>
                <a:ea typeface="Times New Roman" panose="02020603050405020304" pitchFamily="18" charset="0"/>
              </a:rPr>
              <a:t>&lt; 36 UI/l chez la femme </a:t>
            </a:r>
            <a:endParaRPr lang="fr-FR" sz="3600" dirty="0">
              <a:solidFill>
                <a:schemeClr val="tx1"/>
              </a:solidFill>
              <a:latin typeface="Times New Roman" panose="02020603050405020304" pitchFamily="18" charset="0"/>
              <a:ea typeface="Times New Roman" panose="02020603050405020304" pitchFamily="18" charset="0"/>
            </a:endParaRPr>
          </a:p>
          <a:p>
            <a:pPr algn="justLow">
              <a:buFont typeface="Wingdings" panose="05000000000000000000" pitchFamily="2" charset="2"/>
              <a:buChar char="q"/>
            </a:pPr>
            <a:r>
              <a:rPr lang="fr-FR" sz="3600" b="1" u="sng" dirty="0">
                <a:solidFill>
                  <a:schemeClr val="accent2"/>
                </a:solidFill>
                <a:latin typeface="Times New Roman" panose="02020603050405020304" pitchFamily="18" charset="0"/>
                <a:ea typeface="Times New Roman" panose="02020603050405020304" pitchFamily="18" charset="0"/>
              </a:rPr>
              <a:t>Variations physiologiques </a:t>
            </a:r>
            <a:endParaRPr lang="fr-FR" sz="3600" dirty="0">
              <a:solidFill>
                <a:schemeClr val="accent2"/>
              </a:solidFill>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400" b="1" dirty="0">
                <a:latin typeface="Times New Roman" panose="02020603050405020304" pitchFamily="18" charset="0"/>
                <a:ea typeface="Times New Roman" panose="02020603050405020304" pitchFamily="18" charset="0"/>
              </a:rPr>
              <a:t>Le taux  γGT </a:t>
            </a:r>
            <a:r>
              <a:rPr lang="fr-FR" sz="3400" b="1" dirty="0">
                <a:latin typeface="Abadi Extra Light" panose="020B0204020104020204" pitchFamily="34" charset="0"/>
                <a:ea typeface="Times New Roman" panose="02020603050405020304" pitchFamily="18" charset="0"/>
              </a:rPr>
              <a:t>~</a:t>
            </a:r>
            <a:r>
              <a:rPr lang="fr-FR" sz="3400" b="1" dirty="0">
                <a:latin typeface="Times New Roman" panose="02020603050405020304" pitchFamily="18" charset="0"/>
                <a:ea typeface="Times New Roman" panose="02020603050405020304" pitchFamily="18" charset="0"/>
              </a:rPr>
              <a:t> en Fx :</a:t>
            </a:r>
          </a:p>
          <a:p>
            <a:pPr lvl="2" algn="justLow">
              <a:buFont typeface="Wingdings" panose="05000000000000000000" pitchFamily="2" charset="2"/>
              <a:buChar char="ü"/>
            </a:pPr>
            <a:r>
              <a:rPr lang="fr-FR" sz="3200" b="1" dirty="0" smtClean="0">
                <a:latin typeface="Times New Roman" panose="02020603050405020304" pitchFamily="18" charset="0"/>
                <a:ea typeface="Times New Roman" panose="02020603050405020304" pitchFamily="18" charset="0"/>
              </a:rPr>
              <a:t>Âge </a:t>
            </a:r>
            <a:endParaRPr lang="fr-FR" sz="3200" b="1" dirty="0">
              <a:latin typeface="Times New Roman" panose="02020603050405020304" pitchFamily="18" charset="0"/>
              <a:ea typeface="Times New Roman" panose="02020603050405020304" pitchFamily="18" charset="0"/>
            </a:endParaRPr>
          </a:p>
          <a:p>
            <a:pPr lvl="2" algn="justLow">
              <a:buFont typeface="Wingdings" panose="05000000000000000000" pitchFamily="2" charset="2"/>
              <a:buChar char="ü"/>
            </a:pPr>
            <a:r>
              <a:rPr lang="fr-FR" sz="3200" b="1" dirty="0" smtClean="0">
                <a:latin typeface="Times New Roman" panose="02020603050405020304" pitchFamily="18" charset="0"/>
                <a:ea typeface="Times New Roman" panose="02020603050405020304" pitchFamily="18" charset="0"/>
              </a:rPr>
              <a:t>Sexe</a:t>
            </a:r>
            <a:endParaRPr lang="fr-FR" sz="3200" b="1" dirty="0">
              <a:latin typeface="Times New Roman" panose="02020603050405020304" pitchFamily="18" charset="0"/>
              <a:ea typeface="Times New Roman" panose="02020603050405020304" pitchFamily="18" charset="0"/>
            </a:endParaRPr>
          </a:p>
          <a:p>
            <a:pPr lvl="2" algn="justLow">
              <a:buFont typeface="Wingdings" panose="05000000000000000000" pitchFamily="2" charset="2"/>
              <a:buChar char="ü"/>
            </a:pPr>
            <a:r>
              <a:rPr lang="fr-FR" sz="3200" b="1" dirty="0">
                <a:latin typeface="Times New Roman" panose="02020603050405020304" pitchFamily="18" charset="0"/>
                <a:ea typeface="Times New Roman" panose="02020603050405020304" pitchFamily="18" charset="0"/>
              </a:rPr>
              <a:t>Surcharge </a:t>
            </a:r>
            <a:r>
              <a:rPr lang="fr-FR" sz="3200" b="1" dirty="0" smtClean="0">
                <a:latin typeface="Times New Roman" panose="02020603050405020304" pitchFamily="18" charset="0"/>
                <a:ea typeface="Times New Roman" panose="02020603050405020304" pitchFamily="18" charset="0"/>
              </a:rPr>
              <a:t>pondérale=&gt; + obèse + augmenter</a:t>
            </a:r>
            <a:endParaRPr lang="fr-FR" sz="3200" b="1" dirty="0">
              <a:latin typeface="Times New Roman" panose="02020603050405020304" pitchFamily="18" charset="0"/>
              <a:ea typeface="Times New Roman" panose="02020603050405020304" pitchFamily="18" charset="0"/>
            </a:endParaRPr>
          </a:p>
          <a:p>
            <a:pPr lvl="2" algn="justLow">
              <a:buFont typeface="Wingdings" panose="05000000000000000000" pitchFamily="2" charset="2"/>
              <a:buChar char="ü"/>
            </a:pPr>
            <a:r>
              <a:rPr lang="fr-FR" sz="3200" b="1" dirty="0">
                <a:latin typeface="Times New Roman" panose="02020603050405020304" pitchFamily="18" charset="0"/>
                <a:ea typeface="Times New Roman" panose="02020603050405020304" pitchFamily="18" charset="0"/>
              </a:rPr>
              <a:t>Facteurs </a:t>
            </a:r>
            <a:r>
              <a:rPr lang="fr-FR" sz="3200" b="1" dirty="0" smtClean="0">
                <a:latin typeface="Times New Roman" panose="02020603050405020304" pitchFamily="18" charset="0"/>
                <a:ea typeface="Times New Roman" panose="02020603050405020304" pitchFamily="18" charset="0"/>
              </a:rPr>
              <a:t>génétiques=&gt;certain  génétiquement exposer a un ++ </a:t>
            </a:r>
            <a:endParaRPr lang="fr-FR" sz="3200" b="1"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400" b="1" dirty="0">
                <a:solidFill>
                  <a:srgbClr val="FF0000"/>
                </a:solidFill>
                <a:latin typeface="Arial" panose="020B0604020202020204" pitchFamily="34" charset="0"/>
                <a:ea typeface="Times New Roman" panose="02020603050405020304" pitchFamily="18" charset="0"/>
              </a:rPr>
              <a:t>↑</a:t>
            </a:r>
            <a:r>
              <a:rPr lang="fr-FR" sz="3400" b="1" dirty="0">
                <a:solidFill>
                  <a:schemeClr val="tx2"/>
                </a:solidFill>
                <a:latin typeface="Times New Roman" panose="02020603050405020304" pitchFamily="18" charset="0"/>
                <a:ea typeface="Times New Roman" panose="02020603050405020304" pitchFamily="18" charset="0"/>
              </a:rPr>
              <a:t>âge, </a:t>
            </a:r>
            <a:r>
              <a:rPr lang="fr-FR" sz="3400" b="1" dirty="0">
                <a:latin typeface="Times New Roman" panose="02020603050405020304" pitchFamily="18" charset="0"/>
                <a:ea typeface="Times New Roman" panose="02020603050405020304" pitchFamily="18" charset="0"/>
              </a:rPr>
              <a:t>obésité,</a:t>
            </a:r>
            <a:r>
              <a:rPr lang="fr-FR" sz="3400" b="1" dirty="0">
                <a:solidFill>
                  <a:srgbClr val="FF0000"/>
                </a:solidFill>
                <a:latin typeface="Times New Roman" panose="02020603050405020304" pitchFamily="18" charset="0"/>
                <a:ea typeface="Times New Roman" panose="02020603050405020304" pitchFamily="18" charset="0"/>
              </a:rPr>
              <a:t> </a:t>
            </a:r>
            <a:r>
              <a:rPr lang="fr-FR" sz="3400" b="1" dirty="0">
                <a:latin typeface="Times New Roman" panose="02020603050405020304" pitchFamily="18" charset="0"/>
                <a:ea typeface="Times New Roman" panose="02020603050405020304" pitchFamily="18" charset="0"/>
              </a:rPr>
              <a:t>hypertriglycéridémie, prise d’alcool, tabagisme </a:t>
            </a:r>
          </a:p>
          <a:p>
            <a:pPr lvl="1" algn="justLow">
              <a:buFont typeface="Arial" panose="020B0604020202020204" pitchFamily="34" charset="0"/>
              <a:buChar char="•"/>
            </a:pPr>
            <a:r>
              <a:rPr lang="fr-FR" sz="3400" b="1" dirty="0">
                <a:solidFill>
                  <a:srgbClr val="FF0000"/>
                </a:solidFill>
                <a:latin typeface="Arial" panose="020B0604020202020204" pitchFamily="34" charset="0"/>
                <a:ea typeface="Times New Roman" panose="02020603050405020304" pitchFamily="18" charset="0"/>
              </a:rPr>
              <a:t>↓</a:t>
            </a:r>
            <a:r>
              <a:rPr lang="fr-FR" sz="3400" b="1" dirty="0" smtClean="0">
                <a:latin typeface="Times New Roman" panose="02020603050405020304" pitchFamily="18" charset="0"/>
                <a:ea typeface="Times New Roman" panose="02020603050405020304" pitchFamily="18" charset="0"/>
              </a:rPr>
              <a:t>grossesse=&gt;peut être </a:t>
            </a:r>
            <a:r>
              <a:rPr lang="fr-FR" sz="3400" b="1" dirty="0">
                <a:latin typeface="Times New Roman" panose="02020603050405020304" pitchFamily="18" charset="0"/>
                <a:ea typeface="Times New Roman" panose="02020603050405020304" pitchFamily="18" charset="0"/>
              </a:rPr>
              <a:t>les hormones contraception</a:t>
            </a:r>
            <a:endParaRPr lang="fr-FR" dirty="0"/>
          </a:p>
        </p:txBody>
      </p:sp>
    </p:spTree>
    <p:extLst>
      <p:ext uri="{BB962C8B-B14F-4D97-AF65-F5344CB8AC3E}">
        <p14:creationId xmlns:p14="http://schemas.microsoft.com/office/powerpoint/2010/main" val="290626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30DA1D5-EFE4-409C-882F-06D59B0B4BD6}"/>
              </a:ext>
            </a:extLst>
          </p:cNvPr>
          <p:cNvSpPr>
            <a:spLocks noGrp="1"/>
          </p:cNvSpPr>
          <p:nvPr>
            <p:ph type="title"/>
          </p:nvPr>
        </p:nvSpPr>
        <p:spPr>
          <a:xfrm>
            <a:off x="0" y="0"/>
            <a:ext cx="9023257" cy="666750"/>
          </a:xfrm>
        </p:spPr>
        <p:txBody>
          <a:bodyPr>
            <a:normAutofit fontScale="90000"/>
          </a:bodyPr>
          <a:lstStyle/>
          <a:p>
            <a:pPr>
              <a:spcAft>
                <a:spcPts val="0"/>
              </a:spcAft>
            </a:pPr>
            <a:r>
              <a:rPr lang="fr-FR" b="1" u="sng" dirty="0">
                <a:latin typeface="Times New Roman" panose="02020603050405020304" pitchFamily="18" charset="0"/>
                <a:ea typeface="Times New Roman" panose="02020603050405020304" pitchFamily="18" charset="0"/>
              </a:rPr>
              <a:t>3-GAMMA-GLUTAMYLTRANSFERASE (</a:t>
            </a:r>
            <a:r>
              <a:rPr lang="el-GR" b="1" dirty="0">
                <a:latin typeface="Times New Roman" panose="02020603050405020304" pitchFamily="18" charset="0"/>
                <a:ea typeface="Times New Roman" panose="02020603050405020304" pitchFamily="18" charset="0"/>
              </a:rPr>
              <a:t>γ</a:t>
            </a:r>
            <a:r>
              <a:rPr lang="fr-FR" b="1" dirty="0">
                <a:latin typeface="Times New Roman" panose="02020603050405020304" pitchFamily="18" charset="0"/>
                <a:ea typeface="Times New Roman" panose="02020603050405020304" pitchFamily="18" charset="0"/>
              </a:rPr>
              <a:t>GT)</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endParaRPr lang="fr-FR" dirty="0"/>
          </a:p>
        </p:txBody>
      </p:sp>
      <p:sp>
        <p:nvSpPr>
          <p:cNvPr id="3" name="Espace réservé du contenu 2">
            <a:extLst>
              <a:ext uri="{FF2B5EF4-FFF2-40B4-BE49-F238E27FC236}">
                <a16:creationId xmlns="" xmlns:a16="http://schemas.microsoft.com/office/drawing/2014/main" id="{A9D9756F-3241-4445-B70F-F53F2B54378F}"/>
              </a:ext>
            </a:extLst>
          </p:cNvPr>
          <p:cNvSpPr>
            <a:spLocks noGrp="1"/>
          </p:cNvSpPr>
          <p:nvPr>
            <p:ph idx="1"/>
          </p:nvPr>
        </p:nvSpPr>
        <p:spPr>
          <a:xfrm>
            <a:off x="1" y="511038"/>
            <a:ext cx="12192000" cy="6346962"/>
          </a:xfrm>
        </p:spPr>
        <p:txBody>
          <a:bodyPr>
            <a:normAutofit fontScale="92500" lnSpcReduction="10000"/>
          </a:bodyPr>
          <a:lstStyle/>
          <a:p>
            <a:pPr>
              <a:buFont typeface="Wingdings" panose="05000000000000000000" pitchFamily="2" charset="2"/>
              <a:buChar char="q"/>
            </a:pPr>
            <a:r>
              <a:rPr lang="fr-FR" sz="2400" b="1" u="sng" dirty="0">
                <a:solidFill>
                  <a:schemeClr val="accent2"/>
                </a:solidFill>
              </a:rPr>
              <a:t>Variations pathologiques </a:t>
            </a:r>
            <a:endParaRPr lang="fr-FR" sz="2400" b="1" dirty="0">
              <a:solidFill>
                <a:schemeClr val="accent2"/>
              </a:solidFill>
            </a:endParaRPr>
          </a:p>
          <a:p>
            <a:pPr marL="0" lvl="0" indent="0" algn="justLow">
              <a:buNone/>
            </a:pPr>
            <a:r>
              <a:rPr lang="fr-FR" sz="2400" b="1" dirty="0">
                <a:latin typeface="Times New Roman" panose="02020603050405020304" pitchFamily="18" charset="0"/>
                <a:ea typeface="Times New Roman" panose="02020603050405020304" pitchFamily="18" charset="0"/>
              </a:rPr>
              <a:t>1-Aff hépatiques : </a:t>
            </a:r>
          </a:p>
          <a:p>
            <a:pPr lvl="1" algn="justLow">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Cholestase (intra ou extra-H) : ↑ </a:t>
            </a:r>
            <a:r>
              <a:rPr lang="el-GR" sz="2400" b="1" dirty="0">
                <a:latin typeface="Times New Roman" panose="02020603050405020304" pitchFamily="18" charset="0"/>
                <a:ea typeface="Times New Roman" panose="02020603050405020304" pitchFamily="18" charset="0"/>
              </a:rPr>
              <a:t>γ</a:t>
            </a:r>
            <a:r>
              <a:rPr lang="fr-FR" sz="2400" b="1" dirty="0">
                <a:latin typeface="Times New Roman" panose="02020603050405020304" pitchFamily="18" charset="0"/>
                <a:ea typeface="Times New Roman" panose="02020603050405020304" pitchFamily="18" charset="0"/>
              </a:rPr>
              <a:t>GT 5-30X VN (persiste </a:t>
            </a:r>
            <a:r>
              <a:rPr lang="fr-FR" sz="2400" b="1" dirty="0" smtClean="0">
                <a:latin typeface="Times New Roman" panose="02020603050405020304" pitchFamily="18" charset="0"/>
                <a:ea typeface="Times New Roman" panose="02020603050405020304" pitchFamily="18" charset="0"/>
              </a:rPr>
              <a:t>bcp plus longue temps que PAL) </a:t>
            </a:r>
            <a:r>
              <a:rPr lang="fr-FR" sz="2400" b="1" dirty="0">
                <a:latin typeface="Times New Roman" panose="02020603050405020304" pitchFamily="18" charset="0"/>
                <a:ea typeface="Times New Roman" panose="02020603050405020304" pitchFamily="18" charset="0"/>
              </a:rPr>
              <a:t>avant  Enzs :</a:t>
            </a:r>
            <a:r>
              <a:rPr lang="fr-FR" sz="2400" b="1" dirty="0">
                <a:solidFill>
                  <a:prstClr val="black">
                    <a:lumMod val="75000"/>
                    <a:lumOff val="25000"/>
                  </a:prstClr>
                </a:solidFill>
                <a:latin typeface="Times New Roman" panose="02020603050405020304" pitchFamily="18" charset="0"/>
                <a:ea typeface="Times New Roman" panose="02020603050405020304" pitchFamily="18" charset="0"/>
              </a:rPr>
              <a:t>↑ </a:t>
            </a:r>
            <a:r>
              <a:rPr lang="fr-FR" sz="2400" b="1" dirty="0">
                <a:latin typeface="Times New Roman" panose="02020603050405020304" pitchFamily="18" charset="0"/>
                <a:ea typeface="Times New Roman" panose="02020603050405020304" pitchFamily="18" charset="0"/>
              </a:rPr>
              <a:t>PAL</a:t>
            </a:r>
          </a:p>
          <a:p>
            <a:pPr marL="400050" lvl="1" indent="0" algn="justLow">
              <a:buNone/>
            </a:pPr>
            <a:r>
              <a:rPr lang="fr-FR" sz="2400" b="1" dirty="0">
                <a:solidFill>
                  <a:srgbClr val="FF0000"/>
                </a:solidFill>
                <a:latin typeface="Times New Roman" panose="02020603050405020304" pitchFamily="18" charset="0"/>
                <a:ea typeface="Times New Roman" panose="02020603050405020304" pitchFamily="18" charset="0"/>
              </a:rPr>
              <a:t>                                                  </a:t>
            </a:r>
            <a:r>
              <a:rPr lang="fr-FR" sz="2800" b="1" dirty="0" smtClean="0">
                <a:solidFill>
                  <a:srgbClr val="FF0000"/>
                </a:solidFill>
                <a:latin typeface="Times New Roman" panose="02020603050405020304" pitchFamily="18" charset="0"/>
                <a:ea typeface="Times New Roman" panose="02020603050405020304" pitchFamily="18" charset="0"/>
              </a:rPr>
              <a:t>PAL+</a:t>
            </a:r>
            <a:r>
              <a:rPr lang="el-GR" sz="2800" b="1" dirty="0" smtClean="0">
                <a:solidFill>
                  <a:srgbClr val="FF0000"/>
                </a:solidFill>
                <a:latin typeface="Times New Roman" panose="02020603050405020304" pitchFamily="18" charset="0"/>
                <a:ea typeface="Times New Roman" panose="02020603050405020304" pitchFamily="18" charset="0"/>
              </a:rPr>
              <a:t>γ</a:t>
            </a:r>
            <a:r>
              <a:rPr lang="fr-FR" sz="2800" b="1" dirty="0">
                <a:solidFill>
                  <a:srgbClr val="FF0000"/>
                </a:solidFill>
                <a:latin typeface="Times New Roman" panose="02020603050405020304" pitchFamily="18" charset="0"/>
                <a:ea typeface="Times New Roman" panose="02020603050405020304" pitchFamily="18" charset="0"/>
              </a:rPr>
              <a:t>GT bon marqueurs de la </a:t>
            </a:r>
            <a:r>
              <a:rPr lang="fr-FR" sz="2800" b="1" dirty="0" smtClean="0">
                <a:solidFill>
                  <a:srgbClr val="FF0000"/>
                </a:solidFill>
                <a:latin typeface="Times New Roman" panose="02020603050405020304" pitchFamily="18" charset="0"/>
                <a:ea typeface="Times New Roman" panose="02020603050405020304" pitchFamily="18" charset="0"/>
              </a:rPr>
              <a:t>cholestase (100/100)</a:t>
            </a:r>
            <a:endParaRPr lang="fr-FR" sz="2800" b="1" dirty="0">
              <a:latin typeface="Times New Roman" panose="02020603050405020304" pitchFamily="18" charset="0"/>
              <a:ea typeface="Times New Roman" panose="02020603050405020304" pitchFamily="18" charset="0"/>
            </a:endParaRPr>
          </a:p>
          <a:p>
            <a:pPr lvl="1" algn="justLow">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Cirrhose </a:t>
            </a:r>
            <a:r>
              <a:rPr lang="fr-FR" sz="2400" b="1" dirty="0">
                <a:solidFill>
                  <a:srgbClr val="FF0000"/>
                </a:solidFill>
                <a:latin typeface="Times New Roman" panose="02020603050405020304" pitchFamily="18" charset="0"/>
                <a:ea typeface="Times New Roman" panose="02020603050405020304" pitchFamily="18" charset="0"/>
              </a:rPr>
              <a:t>alcoolique</a:t>
            </a:r>
            <a:r>
              <a:rPr lang="fr-FR" sz="2400" b="1" dirty="0">
                <a:latin typeface="Times New Roman" panose="02020603050405020304" pitchFamily="18" charset="0"/>
                <a:ea typeface="Times New Roman" panose="02020603050405020304" pitchFamily="18" charset="0"/>
              </a:rPr>
              <a:t> </a:t>
            </a:r>
            <a:r>
              <a:rPr lang="fr-FR" sz="2400" b="1" dirty="0">
                <a:solidFill>
                  <a:srgbClr val="FF0000"/>
                </a:solidFill>
                <a:latin typeface="Times New Roman" panose="02020603050405020304" pitchFamily="18" charset="0"/>
                <a:ea typeface="Times New Roman" panose="02020603050405020304" pitchFamily="18" charset="0"/>
              </a:rPr>
              <a:t>:</a:t>
            </a:r>
            <a:r>
              <a:rPr lang="fr-FR" sz="2400" b="1" dirty="0">
                <a:latin typeface="Times New Roman" panose="02020603050405020304" pitchFamily="18" charset="0"/>
                <a:ea typeface="Times New Roman" panose="02020603050405020304" pitchFamily="18" charset="0"/>
              </a:rPr>
              <a:t>↑ isolée </a:t>
            </a:r>
            <a:r>
              <a:rPr lang="el-GR" sz="2400" b="1" dirty="0">
                <a:latin typeface="Times New Roman" panose="02020603050405020304" pitchFamily="18" charset="0"/>
                <a:ea typeface="Times New Roman" panose="02020603050405020304" pitchFamily="18" charset="0"/>
              </a:rPr>
              <a:t>γ</a:t>
            </a:r>
            <a:r>
              <a:rPr lang="fr-FR" sz="2400" b="1" dirty="0">
                <a:latin typeface="Times New Roman" panose="02020603050405020304" pitchFamily="18" charset="0"/>
                <a:ea typeface="Times New Roman" panose="02020603050405020304" pitchFamily="18" charset="0"/>
              </a:rPr>
              <a:t>GT ( </a:t>
            </a:r>
            <a:r>
              <a:rPr lang="fr-FR" sz="2400" b="1" dirty="0">
                <a:solidFill>
                  <a:srgbClr val="FF0000"/>
                </a:solidFill>
                <a:latin typeface="Times New Roman" panose="02020603050405020304" pitchFamily="18" charset="0"/>
                <a:ea typeface="Times New Roman" panose="02020603050405020304" pitchFamily="18" charset="0"/>
              </a:rPr>
              <a:t>VN après sevrage</a:t>
            </a:r>
            <a:r>
              <a:rPr lang="fr-FR" sz="2400" b="1" dirty="0">
                <a:latin typeface="Times New Roman" panose="02020603050405020304" pitchFamily="18" charset="0"/>
                <a:ea typeface="Times New Roman" panose="02020603050405020304" pitchFamily="18" charset="0"/>
              </a:rPr>
              <a:t>) </a:t>
            </a:r>
          </a:p>
          <a:p>
            <a:pPr lvl="1" algn="justLow">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Cytolyse hépato₡ : hépatite virale </a:t>
            </a:r>
            <a:r>
              <a:rPr lang="fr-FR" sz="2400" b="1" dirty="0" smtClean="0">
                <a:latin typeface="Times New Roman" panose="02020603050405020304" pitchFamily="18" charset="0"/>
                <a:ea typeface="Times New Roman" panose="02020603050405020304" pitchFamily="18" charset="0"/>
              </a:rPr>
              <a:t>A,C</a:t>
            </a:r>
            <a:r>
              <a:rPr lang="fr-FR" sz="2400" b="1" dirty="0">
                <a:latin typeface="Times New Roman" panose="02020603050405020304" pitchFamily="18" charset="0"/>
                <a:ea typeface="Times New Roman" panose="02020603050405020304" pitchFamily="18" charset="0"/>
              </a:rPr>
              <a:t> (↑ modérée la </a:t>
            </a:r>
            <a:r>
              <a:rPr lang="fr-FR" sz="2400" b="1" dirty="0" smtClean="0">
                <a:latin typeface="Times New Roman" panose="02020603050405020304" pitchFamily="18" charset="0"/>
                <a:ea typeface="Times New Roman" panose="02020603050405020304" pitchFamily="18" charset="0"/>
              </a:rPr>
              <a:t>γGT &lt;&lt;&lt;&lt; dans le cholestase)</a:t>
            </a:r>
            <a:r>
              <a:rPr lang="fr-FR" sz="2400" b="1" dirty="0" smtClean="0">
                <a:solidFill>
                  <a:schemeClr val="tx1"/>
                </a:solidFill>
                <a:latin typeface="Abadi" panose="020B0604020104020204" pitchFamily="34" charset="0"/>
                <a:ea typeface="Times New Roman" panose="02020603050405020304" pitchFamily="18" charset="0"/>
              </a:rPr>
              <a:t>→si en doute en assoie le</a:t>
            </a:r>
            <a:r>
              <a:rPr lang="fr-FR" sz="2400" b="1" dirty="0">
                <a:solidFill>
                  <a:schemeClr val="tx1"/>
                </a:solidFill>
                <a:latin typeface="Times New Roman" panose="02020603050405020304" pitchFamily="18" charset="0"/>
                <a:ea typeface="Times New Roman" panose="02020603050405020304" pitchFamily="18" charset="0"/>
              </a:rPr>
              <a:t> </a:t>
            </a:r>
            <a:r>
              <a:rPr lang="fr-FR" sz="2400" b="1" dirty="0" smtClean="0">
                <a:solidFill>
                  <a:schemeClr val="tx1"/>
                </a:solidFill>
                <a:latin typeface="Times New Roman" panose="02020603050405020304" pitchFamily="18" charset="0"/>
                <a:ea typeface="Times New Roman" panose="02020603050405020304" pitchFamily="18" charset="0"/>
              </a:rPr>
              <a:t>dosage du ASAT/ALAT pour confirmer =&gt; le meilleur indicateur des hépatites</a:t>
            </a:r>
            <a:endParaRPr lang="fr-FR" sz="2400" b="1" dirty="0">
              <a:solidFill>
                <a:schemeClr val="tx1"/>
              </a:solidFill>
              <a:latin typeface="Times New Roman" panose="02020603050405020304" pitchFamily="18" charset="0"/>
              <a:ea typeface="Times New Roman" panose="02020603050405020304" pitchFamily="18" charset="0"/>
            </a:endParaRPr>
          </a:p>
          <a:p>
            <a:pPr lvl="1" algn="justLow">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Stéatose hépatique : ↑  γGT 2-5 X VN </a:t>
            </a:r>
          </a:p>
          <a:p>
            <a:pPr lvl="1" algn="justLow">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Cancer hépatique: Iive (CHC) +IIaire :↑ γGT</a:t>
            </a:r>
            <a:r>
              <a:rPr lang="fr-FR" sz="2400" b="1" dirty="0">
                <a:solidFill>
                  <a:prstClr val="black">
                    <a:lumMod val="75000"/>
                    <a:lumOff val="25000"/>
                  </a:prstClr>
                </a:solidFill>
                <a:latin typeface="Times New Roman" panose="02020603050405020304" pitchFamily="18" charset="0"/>
                <a:ea typeface="Times New Roman" panose="02020603050405020304" pitchFamily="18" charset="0"/>
              </a:rPr>
              <a:t> précoce + Imp</a:t>
            </a:r>
          </a:p>
          <a:p>
            <a:pPr marL="0" lvl="0" indent="0" algn="justLow">
              <a:buNone/>
            </a:pPr>
            <a:r>
              <a:rPr lang="fr-FR" sz="2400" b="1" dirty="0">
                <a:latin typeface="Times New Roman" panose="02020603050405020304" pitchFamily="18" charset="0"/>
                <a:ea typeface="Times New Roman" panose="02020603050405020304" pitchFamily="18" charset="0"/>
              </a:rPr>
              <a:t>2- Aff pancréatiques : pancréatite </a:t>
            </a:r>
            <a:r>
              <a:rPr lang="fr-FR" sz="2400" b="1" dirty="0" smtClean="0">
                <a:latin typeface="Times New Roman" panose="02020603050405020304" pitchFamily="18" charset="0"/>
                <a:ea typeface="Times New Roman" panose="02020603050405020304" pitchFamily="18" charset="0"/>
              </a:rPr>
              <a:t>aigüe/aussi le chronique, cancer du </a:t>
            </a:r>
            <a:r>
              <a:rPr lang="fr-FR" sz="2400" b="1" dirty="0">
                <a:latin typeface="Times New Roman" panose="02020603050405020304" pitchFamily="18" charset="0"/>
                <a:ea typeface="Times New Roman" panose="02020603050405020304" pitchFamily="18" charset="0"/>
              </a:rPr>
              <a:t>tête du pancréas :↑  </a:t>
            </a:r>
            <a:r>
              <a:rPr lang="el-GR" sz="2400" b="1" dirty="0">
                <a:latin typeface="Times New Roman" panose="02020603050405020304" pitchFamily="18" charset="0"/>
                <a:ea typeface="Times New Roman" panose="02020603050405020304" pitchFamily="18" charset="0"/>
              </a:rPr>
              <a:t>γ</a:t>
            </a:r>
            <a:r>
              <a:rPr lang="fr-FR" sz="2400" b="1" dirty="0">
                <a:latin typeface="Times New Roman" panose="02020603050405020304" pitchFamily="18" charset="0"/>
                <a:ea typeface="Times New Roman" panose="02020603050405020304" pitchFamily="18" charset="0"/>
              </a:rPr>
              <a:t>GT 5-15 </a:t>
            </a:r>
            <a:r>
              <a:rPr lang="fr-FR" sz="2400" b="1" dirty="0">
                <a:solidFill>
                  <a:prstClr val="black">
                    <a:lumMod val="75000"/>
                    <a:lumOff val="25000"/>
                  </a:prstClr>
                </a:solidFill>
                <a:latin typeface="Times New Roman" panose="02020603050405020304" pitchFamily="18" charset="0"/>
                <a:ea typeface="Times New Roman" panose="02020603050405020304" pitchFamily="18" charset="0"/>
              </a:rPr>
              <a:t>X VN </a:t>
            </a:r>
          </a:p>
          <a:p>
            <a:pPr marL="0" lvl="0" indent="0" algn="justLow">
              <a:buNone/>
            </a:pPr>
            <a:r>
              <a:rPr lang="fr-FR" sz="2400" b="1" dirty="0">
                <a:latin typeface="Times New Roman" panose="02020603050405020304" pitchFamily="18" charset="0"/>
                <a:ea typeface="Times New Roman" panose="02020603050405020304" pitchFamily="18" charset="0"/>
              </a:rPr>
              <a:t>3- Autres </a:t>
            </a:r>
            <a:r>
              <a:rPr lang="fr-FR" sz="2400" b="1" dirty="0">
                <a:solidFill>
                  <a:srgbClr val="000000"/>
                </a:solidFill>
                <a:latin typeface="Times New Roman" panose="02020603050405020304" pitchFamily="18" charset="0"/>
                <a:ea typeface="Times New Roman" panose="02020603050405020304" pitchFamily="18" charset="0"/>
              </a:rPr>
              <a:t>: </a:t>
            </a:r>
            <a:r>
              <a:rPr lang="fr-FR" sz="2400" b="1" dirty="0" smtClean="0">
                <a:solidFill>
                  <a:srgbClr val="000000"/>
                </a:solidFill>
                <a:latin typeface="Times New Roman" panose="02020603050405020304" pitchFamily="18" charset="0"/>
                <a:ea typeface="Times New Roman" panose="02020603050405020304" pitchFamily="18" charset="0"/>
              </a:rPr>
              <a:t>diabète=&gt;obésité,</a:t>
            </a:r>
            <a:r>
              <a:rPr lang="fr-FR" sz="2400" b="1" dirty="0" smtClean="0">
                <a:solidFill>
                  <a:prstClr val="black">
                    <a:lumMod val="75000"/>
                    <a:lumOff val="25000"/>
                  </a:prstClr>
                </a:solidFill>
                <a:latin typeface="Times New Roman" panose="02020603050405020304" pitchFamily="18" charset="0"/>
                <a:ea typeface="Times New Roman" panose="02020603050405020304" pitchFamily="18" charset="0"/>
              </a:rPr>
              <a:t> </a:t>
            </a:r>
            <a:r>
              <a:rPr lang="fr-FR" sz="2400" b="1" dirty="0" smtClean="0">
                <a:solidFill>
                  <a:srgbClr val="FF0000"/>
                </a:solidFill>
                <a:latin typeface="Times New Roman" panose="02020603050405020304" pitchFamily="18" charset="0"/>
                <a:ea typeface="Times New Roman" panose="02020603050405020304" pitchFamily="18" charset="0"/>
              </a:rPr>
              <a:t>l’éthylisme</a:t>
            </a:r>
            <a:r>
              <a:rPr lang="fr-FR" sz="2400" b="1" dirty="0" smtClean="0">
                <a:solidFill>
                  <a:prstClr val="black">
                    <a:lumMod val="75000"/>
                    <a:lumOff val="25000"/>
                  </a:prstClr>
                </a:solidFill>
                <a:latin typeface="Times New Roman" panose="02020603050405020304" pitchFamily="18" charset="0"/>
                <a:ea typeface="Times New Roman" panose="02020603050405020304" pitchFamily="18" charset="0"/>
              </a:rPr>
              <a:t>=&gt;consommation excessive d’alcool+++,</a:t>
            </a:r>
            <a:r>
              <a:rPr lang="fr-FR" sz="2400" b="1" dirty="0" smtClean="0">
                <a:solidFill>
                  <a:srgbClr val="000000"/>
                </a:solidFill>
                <a:latin typeface="Times New Roman" panose="02020603050405020304" pitchFamily="18" charset="0"/>
                <a:ea typeface="Times New Roman" panose="02020603050405020304" pitchFamily="18" charset="0"/>
              </a:rPr>
              <a:t> </a:t>
            </a:r>
            <a:r>
              <a:rPr lang="fr-FR" sz="2400" b="1" dirty="0">
                <a:solidFill>
                  <a:srgbClr val="000000"/>
                </a:solidFill>
                <a:latin typeface="Times New Roman" panose="02020603050405020304" pitchFamily="18" charset="0"/>
                <a:ea typeface="Times New Roman" panose="02020603050405020304" pitchFamily="18" charset="0"/>
              </a:rPr>
              <a:t>malnutrition, </a:t>
            </a:r>
          </a:p>
          <a:p>
            <a:pPr marL="0" lvl="0" indent="0" algn="justLow">
              <a:buNone/>
            </a:pPr>
            <a:r>
              <a:rPr lang="fr-FR" sz="2400" b="1" dirty="0">
                <a:solidFill>
                  <a:srgbClr val="000000"/>
                </a:solidFill>
                <a:latin typeface="Times New Roman" panose="02020603050405020304" pitchFamily="18" charset="0"/>
                <a:ea typeface="Times New Roman" panose="02020603050405020304" pitchFamily="18" charset="0"/>
              </a:rPr>
              <a:t>                   </a:t>
            </a:r>
            <a:r>
              <a:rPr lang="fr-FR" sz="2400" b="1" dirty="0">
                <a:solidFill>
                  <a:schemeClr val="tx1"/>
                </a:solidFill>
                <a:latin typeface="Times New Roman" panose="02020603050405020304" pitchFamily="18" charset="0"/>
                <a:ea typeface="Times New Roman" panose="02020603050405020304" pitchFamily="18" charset="0"/>
              </a:rPr>
              <a:t>intoxication </a:t>
            </a:r>
            <a:r>
              <a:rPr lang="fr-FR" sz="2400" b="1" dirty="0" smtClean="0">
                <a:solidFill>
                  <a:schemeClr val="tx1"/>
                </a:solidFill>
                <a:latin typeface="Times New Roman" panose="02020603050405020304" pitchFamily="18" charset="0"/>
                <a:ea typeface="Times New Roman" panose="02020603050405020304" pitchFamily="18" charset="0"/>
              </a:rPr>
              <a:t>médicamenteuse=&gt;puisque le foie est </a:t>
            </a:r>
            <a:r>
              <a:rPr lang="fr-FR" sz="2400" b="1" dirty="0">
                <a:solidFill>
                  <a:schemeClr val="tx1"/>
                </a:solidFill>
                <a:latin typeface="Times New Roman" panose="02020603050405020304" pitchFamily="18" charset="0"/>
                <a:ea typeface="Times New Roman" panose="02020603050405020304" pitchFamily="18" charset="0"/>
              </a:rPr>
              <a:t>l’organe </a:t>
            </a:r>
            <a:r>
              <a:rPr lang="fr-FR" sz="2400" b="1" dirty="0" smtClean="0">
                <a:solidFill>
                  <a:schemeClr val="tx1"/>
                </a:solidFill>
                <a:latin typeface="Times New Roman" panose="02020603050405020304" pitchFamily="18" charset="0"/>
                <a:ea typeface="Times New Roman" panose="02020603050405020304" pitchFamily="18" charset="0"/>
              </a:rPr>
              <a:t>qui filtre le sang des toxines et </a:t>
            </a:r>
            <a:r>
              <a:rPr lang="fr-FR" sz="2400" b="1" dirty="0" err="1" smtClean="0">
                <a:solidFill>
                  <a:schemeClr val="tx1"/>
                </a:solidFill>
                <a:latin typeface="Times New Roman" panose="02020603050405020304" pitchFamily="18" charset="0"/>
                <a:ea typeface="Times New Roman" panose="02020603050405020304" pitchFamily="18" charset="0"/>
              </a:rPr>
              <a:t>médicamets</a:t>
            </a:r>
            <a:r>
              <a:rPr lang="fr-FR" sz="2400" b="1" dirty="0" smtClean="0">
                <a:solidFill>
                  <a:schemeClr val="tx1"/>
                </a:solidFill>
                <a:latin typeface="Times New Roman" panose="02020603050405020304" pitchFamily="18" charset="0"/>
                <a:ea typeface="Times New Roman" panose="02020603050405020304" pitchFamily="18" charset="0"/>
              </a:rPr>
              <a:t> </a:t>
            </a:r>
            <a:r>
              <a:rPr lang="fr-FR" sz="2400" b="1" dirty="0">
                <a:solidFill>
                  <a:srgbClr val="FF0000"/>
                </a:solidFill>
                <a:latin typeface="Times New Roman" panose="02020603050405020304" pitchFamily="18" charset="0"/>
                <a:ea typeface="Times New Roman" panose="02020603050405020304" pitchFamily="18" charset="0"/>
              </a:rPr>
              <a:t>:</a:t>
            </a:r>
            <a:r>
              <a:rPr lang="fr-FR" sz="2400" b="1" dirty="0">
                <a:solidFill>
                  <a:srgbClr val="000000"/>
                </a:solidFill>
                <a:latin typeface="Times New Roman" panose="02020603050405020304" pitchFamily="18" charset="0"/>
                <a:ea typeface="Times New Roman" panose="02020603050405020304" pitchFamily="18" charset="0"/>
              </a:rPr>
              <a:t>↑γGT 2-5 </a:t>
            </a:r>
            <a:r>
              <a:rPr lang="fr-FR" sz="2400" b="1" dirty="0">
                <a:latin typeface="Times New Roman" panose="02020603050405020304" pitchFamily="18" charset="0"/>
                <a:ea typeface="Times New Roman" panose="02020603050405020304" pitchFamily="18" charset="0"/>
              </a:rPr>
              <a:t>X VN</a:t>
            </a:r>
            <a:endParaRPr lang="fr-FR" sz="2400" b="1" dirty="0"/>
          </a:p>
        </p:txBody>
      </p:sp>
    </p:spTree>
    <p:extLst>
      <p:ext uri="{BB962C8B-B14F-4D97-AF65-F5344CB8AC3E}">
        <p14:creationId xmlns:p14="http://schemas.microsoft.com/office/powerpoint/2010/main" val="402599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30DA1D5-EFE4-409C-882F-06D59B0B4BD6}"/>
              </a:ext>
            </a:extLst>
          </p:cNvPr>
          <p:cNvSpPr>
            <a:spLocks noGrp="1"/>
          </p:cNvSpPr>
          <p:nvPr>
            <p:ph type="title"/>
          </p:nvPr>
        </p:nvSpPr>
        <p:spPr>
          <a:xfrm>
            <a:off x="0" y="245165"/>
            <a:ext cx="9023257" cy="1320800"/>
          </a:xfrm>
        </p:spPr>
        <p:txBody>
          <a:bodyPr>
            <a:normAutofit fontScale="90000"/>
          </a:bodyPr>
          <a:lstStyle/>
          <a:p>
            <a:pPr>
              <a:spcAft>
                <a:spcPts val="0"/>
              </a:spcAft>
            </a:pPr>
            <a:r>
              <a:rPr lang="fr-FR" b="1" u="sng" dirty="0">
                <a:latin typeface="Times New Roman" panose="02020603050405020304" pitchFamily="18" charset="0"/>
                <a:ea typeface="Times New Roman" panose="02020603050405020304" pitchFamily="18" charset="0"/>
              </a:rPr>
              <a:t>3-GAMMA-GLUTAMYLTRANSFERASE (</a:t>
            </a:r>
            <a:r>
              <a:rPr lang="el-GR" b="1" dirty="0">
                <a:latin typeface="Times New Roman" panose="02020603050405020304" pitchFamily="18" charset="0"/>
                <a:ea typeface="Times New Roman" panose="02020603050405020304" pitchFamily="18" charset="0"/>
              </a:rPr>
              <a:t>γ</a:t>
            </a:r>
            <a:r>
              <a:rPr lang="fr-FR" b="1" dirty="0">
                <a:latin typeface="Times New Roman" panose="02020603050405020304" pitchFamily="18" charset="0"/>
                <a:ea typeface="Times New Roman" panose="02020603050405020304" pitchFamily="18" charset="0"/>
              </a:rPr>
              <a:t>GT)</a:t>
            </a:r>
            <a:r>
              <a:rPr lang="fr-FR" sz="3200" dirty="0">
                <a:latin typeface="Times New Roman" panose="02020603050405020304" pitchFamily="18" charset="0"/>
                <a:ea typeface="Times New Roman" panose="02020603050405020304" pitchFamily="18" charset="0"/>
              </a:rPr>
              <a:t/>
            </a:r>
            <a:br>
              <a:rPr lang="fr-FR" sz="3200" dirty="0">
                <a:latin typeface="Times New Roman" panose="02020603050405020304" pitchFamily="18" charset="0"/>
                <a:ea typeface="Times New Roman" panose="02020603050405020304" pitchFamily="18" charset="0"/>
              </a:rPr>
            </a:br>
            <a:endParaRPr lang="fr-FR" dirty="0"/>
          </a:p>
        </p:txBody>
      </p:sp>
      <p:sp>
        <p:nvSpPr>
          <p:cNvPr id="3" name="Espace réservé du contenu 2">
            <a:extLst>
              <a:ext uri="{FF2B5EF4-FFF2-40B4-BE49-F238E27FC236}">
                <a16:creationId xmlns="" xmlns:a16="http://schemas.microsoft.com/office/drawing/2014/main" id="{A9D9756F-3241-4445-B70F-F53F2B54378F}"/>
              </a:ext>
            </a:extLst>
          </p:cNvPr>
          <p:cNvSpPr>
            <a:spLocks noGrp="1"/>
          </p:cNvSpPr>
          <p:nvPr>
            <p:ph idx="1"/>
          </p:nvPr>
        </p:nvSpPr>
        <p:spPr>
          <a:xfrm>
            <a:off x="0" y="940904"/>
            <a:ext cx="12192000" cy="5917096"/>
          </a:xfrm>
        </p:spPr>
        <p:txBody>
          <a:bodyPr>
            <a:normAutofit fontScale="55000" lnSpcReduction="20000"/>
          </a:bodyPr>
          <a:lstStyle/>
          <a:p>
            <a:pPr>
              <a:buFont typeface="Wingdings" panose="05000000000000000000" pitchFamily="2" charset="2"/>
              <a:buChar char="q"/>
            </a:pPr>
            <a:r>
              <a:rPr lang="fr-FR" sz="3300" b="1" u="sng" dirty="0">
                <a:solidFill>
                  <a:schemeClr val="accent2"/>
                </a:solidFill>
                <a:latin typeface="Times New Roman" panose="02020603050405020304" pitchFamily="18" charset="0"/>
                <a:ea typeface="Times New Roman" panose="02020603050405020304" pitchFamily="18" charset="0"/>
              </a:rPr>
              <a:t>Interférences médicamenteuses</a:t>
            </a:r>
          </a:p>
          <a:p>
            <a:pPr>
              <a:buFont typeface="Wingdings" panose="05000000000000000000" pitchFamily="2" charset="2"/>
              <a:buChar char="q"/>
            </a:pPr>
            <a:endParaRPr lang="fr-FR" sz="3300" dirty="0">
              <a:solidFill>
                <a:schemeClr val="accent2"/>
              </a:solidFill>
              <a:latin typeface="Times New Roman" panose="02020603050405020304" pitchFamily="18" charset="0"/>
              <a:ea typeface="Times New Roman" panose="02020603050405020304" pitchFamily="18" charset="0"/>
            </a:endParaRP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Hypolipémiants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Analgésiques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Antihypertenseurs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Cardiotoniques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Antiinfectieux  </a:t>
            </a:r>
          </a:p>
          <a:p>
            <a:pPr marL="914400" lvl="2" indent="0">
              <a:buNone/>
            </a:pPr>
            <a:r>
              <a:rPr lang="fr-FR" sz="2900" b="1" dirty="0">
                <a:solidFill>
                  <a:schemeClr val="tx1"/>
                </a:solidFill>
                <a:latin typeface="Times New Roman" panose="02020603050405020304" pitchFamily="18" charset="0"/>
                <a:ea typeface="Times New Roman" panose="02020603050405020304" pitchFamily="18" charset="0"/>
              </a:rPr>
              <a:t>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Anticoagulants</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Antiépileptiques</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Hypotoniques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Antidépresseurs tricycliques</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 Contraceptifs oraux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Thrombolytiques </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Anticancéreux</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Antigoutteux</a:t>
            </a:r>
          </a:p>
          <a:p>
            <a:pPr lvl="2">
              <a:buFont typeface="Arial" panose="020B0604020202020204" pitchFamily="34" charset="0"/>
              <a:buChar char="•"/>
            </a:pPr>
            <a:r>
              <a:rPr lang="fr-FR" sz="2900" b="1" dirty="0">
                <a:solidFill>
                  <a:schemeClr val="tx1"/>
                </a:solidFill>
                <a:latin typeface="Times New Roman" panose="02020603050405020304" pitchFamily="18" charset="0"/>
                <a:ea typeface="Times New Roman" panose="02020603050405020304" pitchFamily="18" charset="0"/>
              </a:rPr>
              <a:t> Immunosuppresseurs</a:t>
            </a:r>
            <a:endParaRPr lang="fr-FR" sz="1700" dirty="0"/>
          </a:p>
        </p:txBody>
      </p:sp>
      <p:sp>
        <p:nvSpPr>
          <p:cNvPr id="4" name="Accolade fermante 3">
            <a:extLst>
              <a:ext uri="{FF2B5EF4-FFF2-40B4-BE49-F238E27FC236}">
                <a16:creationId xmlns="" xmlns:a16="http://schemas.microsoft.com/office/drawing/2014/main" id="{32C92757-CC8E-4CD9-8227-035DC5248566}"/>
              </a:ext>
            </a:extLst>
          </p:cNvPr>
          <p:cNvSpPr/>
          <p:nvPr/>
        </p:nvSpPr>
        <p:spPr>
          <a:xfrm>
            <a:off x="3644348" y="1774687"/>
            <a:ext cx="384313" cy="165431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 name="Accolade fermante 4">
            <a:extLst>
              <a:ext uri="{FF2B5EF4-FFF2-40B4-BE49-F238E27FC236}">
                <a16:creationId xmlns="" xmlns:a16="http://schemas.microsoft.com/office/drawing/2014/main" id="{C911CA91-FC16-49F3-AB4C-D2BFDD9F5371}"/>
              </a:ext>
            </a:extLst>
          </p:cNvPr>
          <p:cNvSpPr/>
          <p:nvPr/>
        </p:nvSpPr>
        <p:spPr>
          <a:xfrm>
            <a:off x="3644348" y="3454400"/>
            <a:ext cx="490331" cy="29320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6" name="Rectangle 5">
            <a:extLst>
              <a:ext uri="{FF2B5EF4-FFF2-40B4-BE49-F238E27FC236}">
                <a16:creationId xmlns="" xmlns:a16="http://schemas.microsoft.com/office/drawing/2014/main" id="{D037F074-4E61-4BE2-97C7-7EDCE757D71F}"/>
              </a:ext>
            </a:extLst>
          </p:cNvPr>
          <p:cNvSpPr/>
          <p:nvPr/>
        </p:nvSpPr>
        <p:spPr>
          <a:xfrm>
            <a:off x="4028661" y="2330173"/>
            <a:ext cx="1353196" cy="5433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000"/>
              </a:spcBef>
              <a:buClr>
                <a:srgbClr val="90C226"/>
              </a:buClr>
              <a:buSzPct val="80000"/>
            </a:pPr>
            <a:r>
              <a:rPr lang="fr-FR" sz="2800" b="1" dirty="0">
                <a:solidFill>
                  <a:prstClr val="black"/>
                </a:solidFill>
              </a:rPr>
              <a:t>↓</a:t>
            </a:r>
            <a:r>
              <a:rPr lang="fr-FR" sz="2800" b="1" dirty="0">
                <a:solidFill>
                  <a:prstClr val="black"/>
                </a:solidFill>
                <a:latin typeface="Times New Roman" panose="02020603050405020304" pitchFamily="18" charset="0"/>
                <a:ea typeface="Times New Roman" panose="02020603050405020304" pitchFamily="18" charset="0"/>
              </a:rPr>
              <a:t> γGT</a:t>
            </a:r>
          </a:p>
          <a:p>
            <a:pPr algn="ctr"/>
            <a:endParaRPr lang="fr-FR" dirty="0">
              <a:solidFill>
                <a:schemeClr val="tx2"/>
              </a:solidFill>
            </a:endParaRPr>
          </a:p>
        </p:txBody>
      </p:sp>
      <p:sp>
        <p:nvSpPr>
          <p:cNvPr id="7" name="Rectangle 6">
            <a:extLst>
              <a:ext uri="{FF2B5EF4-FFF2-40B4-BE49-F238E27FC236}">
                <a16:creationId xmlns="" xmlns:a16="http://schemas.microsoft.com/office/drawing/2014/main" id="{D622373B-FBE3-42ED-B2FD-921B4DD32AE2}"/>
              </a:ext>
            </a:extLst>
          </p:cNvPr>
          <p:cNvSpPr/>
          <p:nvPr/>
        </p:nvSpPr>
        <p:spPr>
          <a:xfrm>
            <a:off x="4134679" y="4648751"/>
            <a:ext cx="1353196" cy="5433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t>
            </a:r>
            <a:r>
              <a:rPr lang="fr-FR" sz="1500" b="1" dirty="0">
                <a:solidFill>
                  <a:prstClr val="black"/>
                </a:solidFill>
                <a:latin typeface="Times New Roman" panose="02020603050405020304" pitchFamily="18" charset="0"/>
                <a:ea typeface="Times New Roman" panose="02020603050405020304" pitchFamily="18" charset="0"/>
              </a:rPr>
              <a:t> </a:t>
            </a:r>
            <a:r>
              <a:rPr lang="fr-FR" sz="2800" b="1" dirty="0">
                <a:solidFill>
                  <a:prstClr val="black"/>
                </a:solidFill>
                <a:latin typeface="Times New Roman" panose="02020603050405020304" pitchFamily="18" charset="0"/>
                <a:ea typeface="Times New Roman" panose="02020603050405020304" pitchFamily="18" charset="0"/>
              </a:rPr>
              <a:t>↑ </a:t>
            </a:r>
            <a:r>
              <a:rPr lang="el-GR" sz="2800" b="1" dirty="0">
                <a:solidFill>
                  <a:prstClr val="black"/>
                </a:solidFill>
                <a:latin typeface="Times New Roman" panose="02020603050405020304" pitchFamily="18" charset="0"/>
                <a:ea typeface="Times New Roman" panose="02020603050405020304" pitchFamily="18" charset="0"/>
              </a:rPr>
              <a:t>γ</a:t>
            </a:r>
            <a:r>
              <a:rPr lang="fr-FR" sz="2800" b="1" dirty="0">
                <a:solidFill>
                  <a:prstClr val="black"/>
                </a:solidFill>
                <a:latin typeface="Times New Roman" panose="02020603050405020304" pitchFamily="18" charset="0"/>
                <a:ea typeface="Times New Roman" panose="02020603050405020304" pitchFamily="18" charset="0"/>
              </a:rPr>
              <a:t>GT</a:t>
            </a:r>
            <a:endParaRPr lang="fr-FR" sz="2800" dirty="0">
              <a:solidFill>
                <a:schemeClr val="tx2"/>
              </a:solidFill>
            </a:endParaRPr>
          </a:p>
        </p:txBody>
      </p:sp>
    </p:spTree>
    <p:extLst>
      <p:ext uri="{BB962C8B-B14F-4D97-AF65-F5344CB8AC3E}">
        <p14:creationId xmlns:p14="http://schemas.microsoft.com/office/powerpoint/2010/main" val="261189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7D46049-883B-4CC2-A1B9-51EE5D0BA77A}"/>
              </a:ext>
            </a:extLst>
          </p:cNvPr>
          <p:cNvSpPr>
            <a:spLocks noGrp="1"/>
          </p:cNvSpPr>
          <p:nvPr>
            <p:ph type="title"/>
          </p:nvPr>
        </p:nvSpPr>
        <p:spPr>
          <a:xfrm>
            <a:off x="173752" y="333001"/>
            <a:ext cx="8596668" cy="1320800"/>
          </a:xfrm>
        </p:spPr>
        <p:txBody>
          <a:bodyPr>
            <a:noAutofit/>
          </a:bodyPr>
          <a:lstStyle/>
          <a:p>
            <a:pPr marL="342900" lvl="0" indent="-342900">
              <a:spcBef>
                <a:spcPts val="1000"/>
              </a:spcBef>
            </a:pPr>
            <a:r>
              <a:rPr lang="fr-FR" sz="4800" b="1" u="sng" dirty="0">
                <a:solidFill>
                  <a:schemeClr val="accent2"/>
                </a:solidFill>
                <a:latin typeface="Times New Roman" panose="02020603050405020304" pitchFamily="18" charset="0"/>
                <a:ea typeface="Times New Roman" panose="02020603050405020304" pitchFamily="18" charset="0"/>
                <a:cs typeface="+mn-cs"/>
              </a:rPr>
              <a:t>4- LA LIPASE</a:t>
            </a:r>
            <a:r>
              <a:rPr lang="fr-FR" sz="4800" dirty="0">
                <a:solidFill>
                  <a:schemeClr val="accent2"/>
                </a:solidFill>
                <a:latin typeface="Times New Roman" panose="02020603050405020304" pitchFamily="18" charset="0"/>
                <a:ea typeface="Times New Roman" panose="02020603050405020304" pitchFamily="18" charset="0"/>
                <a:cs typeface="+mn-cs"/>
              </a:rPr>
              <a:t/>
            </a:r>
            <a:br>
              <a:rPr lang="fr-FR" sz="4800" dirty="0">
                <a:solidFill>
                  <a:schemeClr val="accent2"/>
                </a:solidFill>
                <a:latin typeface="Times New Roman" panose="02020603050405020304" pitchFamily="18" charset="0"/>
                <a:ea typeface="Times New Roman" panose="02020603050405020304" pitchFamily="18" charset="0"/>
                <a:cs typeface="+mn-cs"/>
              </a:rPr>
            </a:br>
            <a:endParaRPr lang="fr-FR" sz="4800" dirty="0">
              <a:solidFill>
                <a:schemeClr val="accent2"/>
              </a:solidFill>
            </a:endParaRPr>
          </a:p>
        </p:txBody>
      </p:sp>
      <p:sp>
        <p:nvSpPr>
          <p:cNvPr id="3" name="Espace réservé du contenu 2">
            <a:extLst>
              <a:ext uri="{FF2B5EF4-FFF2-40B4-BE49-F238E27FC236}">
                <a16:creationId xmlns="" xmlns:a16="http://schemas.microsoft.com/office/drawing/2014/main" id="{3E476891-A78E-4583-B3E7-8EECD2DB9F04}"/>
              </a:ext>
            </a:extLst>
          </p:cNvPr>
          <p:cNvSpPr>
            <a:spLocks noGrp="1"/>
          </p:cNvSpPr>
          <p:nvPr>
            <p:ph idx="1"/>
          </p:nvPr>
        </p:nvSpPr>
        <p:spPr>
          <a:xfrm>
            <a:off x="0" y="1104900"/>
            <a:ext cx="12191999" cy="5753100"/>
          </a:xfrm>
        </p:spPr>
        <p:txBody>
          <a:bodyPr>
            <a:normAutofit fontScale="92500" lnSpcReduction="10000"/>
          </a:bodyPr>
          <a:lstStyle/>
          <a:p>
            <a:pPr algn="justLow">
              <a:buFont typeface="Wingdings" panose="05000000000000000000" pitchFamily="2" charset="2"/>
              <a:buChar char="q"/>
            </a:pPr>
            <a:r>
              <a:rPr lang="fr-FR" sz="3200" b="1" u="sng" dirty="0">
                <a:solidFill>
                  <a:schemeClr val="accent2"/>
                </a:solidFill>
                <a:latin typeface="Times New Roman" panose="02020603050405020304" pitchFamily="18" charset="0"/>
                <a:ea typeface="Times New Roman" panose="02020603050405020304" pitchFamily="18" charset="0"/>
              </a:rPr>
              <a:t>Définition </a:t>
            </a:r>
            <a:endParaRPr lang="fr-FR" sz="3200" b="1" dirty="0">
              <a:solidFill>
                <a:schemeClr val="accent2"/>
              </a:solidFill>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200" dirty="0">
                <a:latin typeface="Times New Roman" panose="02020603050405020304" pitchFamily="18" charset="0"/>
                <a:ea typeface="Times New Roman" panose="02020603050405020304" pitchFamily="18" charset="0"/>
              </a:rPr>
              <a:t>Enz digestive secrétée +++ </a:t>
            </a:r>
            <a:r>
              <a:rPr lang="fr-FR" sz="3200" dirty="0" smtClean="0">
                <a:latin typeface="Times New Roman" panose="02020603050405020304" pitchFamily="18" charset="0"/>
                <a:ea typeface="Times New Roman" panose="02020603050405020304" pitchFamily="18" charset="0"/>
              </a:rPr>
              <a:t>par pancréas</a:t>
            </a:r>
            <a:endParaRPr lang="fr-FR" sz="32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200" dirty="0">
                <a:latin typeface="Times New Roman" panose="02020603050405020304" pitchFamily="18" charset="0"/>
                <a:ea typeface="Times New Roman" panose="02020603050405020304" pitchFamily="18" charset="0"/>
              </a:rPr>
              <a:t>hydrolyse TG </a:t>
            </a:r>
            <a:r>
              <a:rPr lang="fr-FR" sz="3200" dirty="0" smtClean="0">
                <a:latin typeface="Times New Roman" panose="02020603050405020304" pitchFamily="18" charset="0"/>
                <a:ea typeface="Times New Roman" panose="02020603050405020304" pitchFamily="18" charset="0"/>
              </a:rPr>
              <a:t>alimentaires (hydrolyse en deux temps (TG est Glycérol estérifie par 3 AG)</a:t>
            </a:r>
            <a:endParaRPr lang="fr-FR" sz="32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endParaRPr lang="fr-FR" sz="32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endParaRPr lang="fr-FR" sz="32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200" dirty="0" smtClean="0">
                <a:latin typeface="Times New Roman" panose="02020603050405020304" pitchFamily="18" charset="0"/>
                <a:ea typeface="Times New Roman" panose="02020603050405020304" pitchFamily="18" charset="0"/>
              </a:rPr>
              <a:t>Donc le but c’est la digestion des TG</a:t>
            </a:r>
            <a:endParaRPr lang="fr-FR" sz="32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200" dirty="0" smtClean="0">
                <a:latin typeface="Times New Roman" panose="02020603050405020304" pitchFamily="18" charset="0"/>
                <a:ea typeface="Times New Roman" panose="02020603050405020304" pitchFamily="18" charset="0"/>
              </a:rPr>
              <a:t>Nécessite un Cofac : Co lipase </a:t>
            </a:r>
            <a:r>
              <a:rPr lang="fr-FR" sz="3200" dirty="0">
                <a:latin typeface="Times New Roman" panose="02020603050405020304" pitchFamily="18" charset="0"/>
                <a:ea typeface="Times New Roman" panose="02020603050405020304" pitchFamily="18" charset="0"/>
              </a:rPr>
              <a:t>(protéine </a:t>
            </a:r>
            <a:r>
              <a:rPr lang="fr-FR" sz="3200" dirty="0" smtClean="0">
                <a:latin typeface="Times New Roman" panose="02020603050405020304" pitchFamily="18" charset="0"/>
                <a:ea typeface="Times New Roman" panose="02020603050405020304" pitchFamily="18" charset="0"/>
              </a:rPr>
              <a:t>pancréatique) </a:t>
            </a:r>
            <a:r>
              <a:rPr lang="fr-FR" sz="3200" dirty="0" smtClean="0">
                <a:latin typeface="Abadi" panose="020B0604020104020204" pitchFamily="34" charset="0"/>
                <a:ea typeface="Times New Roman" panose="02020603050405020304" pitchFamily="18" charset="0"/>
              </a:rPr>
              <a:t>→pour </a:t>
            </a:r>
            <a:r>
              <a:rPr lang="fr-FR" sz="3200" dirty="0">
                <a:latin typeface="Times New Roman" panose="02020603050405020304" pitchFamily="18" charset="0"/>
                <a:ea typeface="Times New Roman" panose="02020603050405020304" pitchFamily="18" charset="0"/>
              </a:rPr>
              <a:t>activité max lipase</a:t>
            </a:r>
          </a:p>
          <a:p>
            <a:pPr lvl="1">
              <a:buFont typeface="Arial" panose="020B0604020202020204" pitchFamily="34" charset="0"/>
              <a:buChar char="•"/>
            </a:pPr>
            <a:r>
              <a:rPr lang="fr-FR" sz="3200" dirty="0">
                <a:latin typeface="Times New Roman" panose="02020603050405020304" pitchFamily="18" charset="0"/>
                <a:ea typeface="Times New Roman" panose="02020603050405020304" pitchFamily="18" charset="0"/>
              </a:rPr>
              <a:t>Sécrétion de la </a:t>
            </a:r>
            <a:r>
              <a:rPr lang="fr-FR" sz="3200" dirty="0" smtClean="0">
                <a:latin typeface="Times New Roman" panose="02020603050405020304" pitchFamily="18" charset="0"/>
                <a:ea typeface="Times New Roman" panose="02020603050405020304" pitchFamily="18" charset="0"/>
              </a:rPr>
              <a:t>lipase est stimuler par le </a:t>
            </a:r>
            <a:r>
              <a:rPr lang="fr-FR" sz="3200" dirty="0">
                <a:latin typeface="Times New Roman" panose="02020603050405020304" pitchFamily="18" charset="0"/>
                <a:ea typeface="Times New Roman" panose="02020603050405020304" pitchFamily="18" charset="0"/>
              </a:rPr>
              <a:t>pH alcalin du jéjunum lors des </a:t>
            </a:r>
            <a:r>
              <a:rPr lang="fr-FR" sz="3300" dirty="0" smtClean="0">
                <a:latin typeface="Times New Roman" panose="02020603050405020304" pitchFamily="18" charset="0"/>
                <a:ea typeface="Times New Roman" panose="02020603050405020304" pitchFamily="18" charset="0"/>
              </a:rPr>
              <a:t>repas(passage </a:t>
            </a:r>
            <a:r>
              <a:rPr lang="fr-FR" sz="3300" dirty="0">
                <a:latin typeface="Times New Roman" panose="02020603050405020304" pitchFamily="18" charset="0"/>
                <a:ea typeface="Times New Roman" panose="02020603050405020304" pitchFamily="18" charset="0"/>
              </a:rPr>
              <a:t>du bol alimentaire)</a:t>
            </a:r>
            <a:endParaRPr lang="fr-FR" sz="3300" dirty="0"/>
          </a:p>
        </p:txBody>
      </p:sp>
      <p:sp>
        <p:nvSpPr>
          <p:cNvPr id="5" name="Text Box 87">
            <a:extLst>
              <a:ext uri="{FF2B5EF4-FFF2-40B4-BE49-F238E27FC236}">
                <a16:creationId xmlns="" xmlns:a16="http://schemas.microsoft.com/office/drawing/2014/main" id="{F92EF09D-B19A-4BEB-B509-6D640D978A1D}"/>
              </a:ext>
            </a:extLst>
          </p:cNvPr>
          <p:cNvSpPr txBox="1">
            <a:spLocks noChangeArrowheads="1"/>
          </p:cNvSpPr>
          <p:nvPr/>
        </p:nvSpPr>
        <p:spPr bwMode="auto">
          <a:xfrm>
            <a:off x="2735731" y="3274979"/>
            <a:ext cx="5032568" cy="761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spcAft>
                <a:spcPts val="0"/>
              </a:spcAft>
            </a:pPr>
            <a:r>
              <a:rPr lang="en-GB" sz="2400" b="1" dirty="0">
                <a:latin typeface="Times New Roman" panose="02020603050405020304" pitchFamily="18" charset="0"/>
                <a:ea typeface="Times New Roman" panose="02020603050405020304" pitchFamily="18" charset="0"/>
              </a:rPr>
              <a:t>Di</a:t>
            </a:r>
            <a:r>
              <a:rPr lang="en-GB" sz="2400" b="1" dirty="0">
                <a:effectLst/>
                <a:latin typeface="Times New Roman" panose="02020603050405020304" pitchFamily="18" charset="0"/>
                <a:ea typeface="Times New Roman" panose="02020603050405020304" pitchFamily="18" charset="0"/>
              </a:rPr>
              <a:t>glyceride   + AG </a:t>
            </a:r>
            <a:endParaRPr lang="fr-FR" sz="2400" b="1" dirty="0">
              <a:effectLst/>
              <a:latin typeface="Times New Roman" panose="02020603050405020304" pitchFamily="18" charset="0"/>
              <a:ea typeface="Times New Roman" panose="02020603050405020304" pitchFamily="18" charset="0"/>
            </a:endParaRPr>
          </a:p>
        </p:txBody>
      </p:sp>
      <p:pic>
        <p:nvPicPr>
          <p:cNvPr id="6" name="Image 5">
            <a:extLst>
              <a:ext uri="{FF2B5EF4-FFF2-40B4-BE49-F238E27FC236}">
                <a16:creationId xmlns="" xmlns:a16="http://schemas.microsoft.com/office/drawing/2014/main" id="{690C38DF-C864-41AC-B59E-8159FAD848DA}"/>
              </a:ext>
            </a:extLst>
          </p:cNvPr>
          <p:cNvPicPr>
            <a:picLocks noChangeAspect="1"/>
          </p:cNvPicPr>
          <p:nvPr/>
        </p:nvPicPr>
        <p:blipFill>
          <a:blip r:embed="rId3"/>
          <a:stretch>
            <a:fillRect/>
          </a:stretch>
        </p:blipFill>
        <p:spPr>
          <a:xfrm>
            <a:off x="8170070" y="3132336"/>
            <a:ext cx="4730106" cy="761627"/>
          </a:xfrm>
          <a:prstGeom prst="rect">
            <a:avLst/>
          </a:prstGeom>
          <a:solidFill>
            <a:schemeClr val="bg1"/>
          </a:solidFill>
        </p:spPr>
      </p:pic>
      <p:sp>
        <p:nvSpPr>
          <p:cNvPr id="7" name="Text Box 86">
            <a:extLst>
              <a:ext uri="{FF2B5EF4-FFF2-40B4-BE49-F238E27FC236}">
                <a16:creationId xmlns="" xmlns:a16="http://schemas.microsoft.com/office/drawing/2014/main" id="{33529065-A1BF-4A8B-BCB5-EA382168C114}"/>
              </a:ext>
            </a:extLst>
          </p:cNvPr>
          <p:cNvSpPr txBox="1">
            <a:spLocks noChangeArrowheads="1"/>
          </p:cNvSpPr>
          <p:nvPr/>
        </p:nvSpPr>
        <p:spPr bwMode="auto">
          <a:xfrm>
            <a:off x="-897891" y="3282127"/>
            <a:ext cx="3547653" cy="704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spcAft>
                <a:spcPts val="0"/>
              </a:spcAft>
            </a:pPr>
            <a:r>
              <a:rPr lang="en-GB" sz="2400" b="1" dirty="0">
                <a:effectLst/>
                <a:latin typeface="Times New Roman" panose="02020603050405020304" pitchFamily="18" charset="0"/>
                <a:ea typeface="Times New Roman" panose="02020603050405020304" pitchFamily="18" charset="0"/>
              </a:rPr>
              <a:t>TG+ H</a:t>
            </a:r>
            <a:r>
              <a:rPr lang="en-GB" sz="2400" b="1" baseline="-25000" dirty="0">
                <a:effectLst/>
                <a:latin typeface="Times New Roman" panose="02020603050405020304" pitchFamily="18" charset="0"/>
                <a:ea typeface="Times New Roman" panose="02020603050405020304" pitchFamily="18" charset="0"/>
              </a:rPr>
              <a:t>2</a:t>
            </a:r>
            <a:r>
              <a:rPr lang="en-GB" sz="2400" b="1" dirty="0">
                <a:effectLst/>
                <a:latin typeface="Times New Roman" panose="02020603050405020304" pitchFamily="18" charset="0"/>
                <a:ea typeface="Times New Roman" panose="02020603050405020304" pitchFamily="18" charset="0"/>
              </a:rPr>
              <a:t>O</a:t>
            </a:r>
            <a:endParaRPr lang="fr-FR" sz="2400" b="1" dirty="0">
              <a:effectLst/>
              <a:latin typeface="Times New Roman" panose="02020603050405020304" pitchFamily="18" charset="0"/>
              <a:ea typeface="Times New Roman" panose="02020603050405020304" pitchFamily="18" charset="0"/>
            </a:endParaRPr>
          </a:p>
        </p:txBody>
      </p:sp>
      <p:pic>
        <p:nvPicPr>
          <p:cNvPr id="11" name="Image 10">
            <a:extLst>
              <a:ext uri="{FF2B5EF4-FFF2-40B4-BE49-F238E27FC236}">
                <a16:creationId xmlns="" xmlns:a16="http://schemas.microsoft.com/office/drawing/2014/main" id="{29DD218F-E156-40D2-B2B8-396FFF79505E}"/>
              </a:ext>
            </a:extLst>
          </p:cNvPr>
          <p:cNvPicPr>
            <a:picLocks noChangeAspect="1"/>
          </p:cNvPicPr>
          <p:nvPr/>
        </p:nvPicPr>
        <p:blipFill>
          <a:blip r:embed="rId4"/>
          <a:stretch>
            <a:fillRect/>
          </a:stretch>
        </p:blipFill>
        <p:spPr>
          <a:xfrm>
            <a:off x="1583305" y="3169050"/>
            <a:ext cx="2438627" cy="858745"/>
          </a:xfrm>
          <a:prstGeom prst="rect">
            <a:avLst/>
          </a:prstGeom>
        </p:spPr>
      </p:pic>
      <p:pic>
        <p:nvPicPr>
          <p:cNvPr id="12" name="Image 11">
            <a:extLst>
              <a:ext uri="{FF2B5EF4-FFF2-40B4-BE49-F238E27FC236}">
                <a16:creationId xmlns="" xmlns:a16="http://schemas.microsoft.com/office/drawing/2014/main" id="{64644EF8-9172-420B-9AAF-94443C6B1BB8}"/>
              </a:ext>
            </a:extLst>
          </p:cNvPr>
          <p:cNvPicPr>
            <a:picLocks noChangeAspect="1"/>
          </p:cNvPicPr>
          <p:nvPr/>
        </p:nvPicPr>
        <p:blipFill>
          <a:blip r:embed="rId5"/>
          <a:stretch>
            <a:fillRect/>
          </a:stretch>
        </p:blipFill>
        <p:spPr>
          <a:xfrm>
            <a:off x="6548993" y="3168184"/>
            <a:ext cx="2438611" cy="859611"/>
          </a:xfrm>
          <a:prstGeom prst="rect">
            <a:avLst/>
          </a:prstGeom>
        </p:spPr>
      </p:pic>
    </p:spTree>
    <p:extLst>
      <p:ext uri="{BB962C8B-B14F-4D97-AF65-F5344CB8AC3E}">
        <p14:creationId xmlns:p14="http://schemas.microsoft.com/office/powerpoint/2010/main" val="250814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7D46049-883B-4CC2-A1B9-51EE5D0BA77A}"/>
              </a:ext>
            </a:extLst>
          </p:cNvPr>
          <p:cNvSpPr>
            <a:spLocks noGrp="1"/>
          </p:cNvSpPr>
          <p:nvPr>
            <p:ph type="title"/>
          </p:nvPr>
        </p:nvSpPr>
        <p:spPr>
          <a:xfrm>
            <a:off x="94239" y="508484"/>
            <a:ext cx="8596668" cy="1320800"/>
          </a:xfrm>
        </p:spPr>
        <p:txBody>
          <a:bodyPr>
            <a:noAutofit/>
          </a:bodyPr>
          <a:lstStyle/>
          <a:p>
            <a:pPr marL="342900" lvl="0" indent="-342900">
              <a:spcBef>
                <a:spcPts val="1000"/>
              </a:spcBef>
            </a:pPr>
            <a:r>
              <a:rPr lang="fr-FR" sz="4800" b="1" u="sng" dirty="0">
                <a:solidFill>
                  <a:schemeClr val="accent2"/>
                </a:solidFill>
                <a:latin typeface="Times New Roman" panose="02020603050405020304" pitchFamily="18" charset="0"/>
                <a:ea typeface="Times New Roman" panose="02020603050405020304" pitchFamily="18" charset="0"/>
                <a:cs typeface="+mn-cs"/>
              </a:rPr>
              <a:t>4- LA LIPASE</a:t>
            </a:r>
            <a:r>
              <a:rPr lang="fr-FR" sz="4800" dirty="0">
                <a:solidFill>
                  <a:schemeClr val="accent2"/>
                </a:solidFill>
                <a:latin typeface="Times New Roman" panose="02020603050405020304" pitchFamily="18" charset="0"/>
                <a:ea typeface="Times New Roman" panose="02020603050405020304" pitchFamily="18" charset="0"/>
                <a:cs typeface="+mn-cs"/>
              </a:rPr>
              <a:t/>
            </a:r>
            <a:br>
              <a:rPr lang="fr-FR" sz="4800" dirty="0">
                <a:solidFill>
                  <a:schemeClr val="accent2"/>
                </a:solidFill>
                <a:latin typeface="Times New Roman" panose="02020603050405020304" pitchFamily="18" charset="0"/>
                <a:ea typeface="Times New Roman" panose="02020603050405020304" pitchFamily="18" charset="0"/>
                <a:cs typeface="+mn-cs"/>
              </a:rPr>
            </a:br>
            <a:endParaRPr lang="fr-FR" sz="4800" dirty="0">
              <a:solidFill>
                <a:schemeClr val="accent2"/>
              </a:solidFill>
            </a:endParaRPr>
          </a:p>
        </p:txBody>
      </p:sp>
      <p:sp>
        <p:nvSpPr>
          <p:cNvPr id="3" name="Espace réservé du contenu 2">
            <a:extLst>
              <a:ext uri="{FF2B5EF4-FFF2-40B4-BE49-F238E27FC236}">
                <a16:creationId xmlns="" xmlns:a16="http://schemas.microsoft.com/office/drawing/2014/main" id="{3E476891-A78E-4583-B3E7-8EECD2DB9F04}"/>
              </a:ext>
            </a:extLst>
          </p:cNvPr>
          <p:cNvSpPr>
            <a:spLocks noGrp="1"/>
          </p:cNvSpPr>
          <p:nvPr>
            <p:ph idx="1"/>
          </p:nvPr>
        </p:nvSpPr>
        <p:spPr>
          <a:xfrm>
            <a:off x="399038" y="1488613"/>
            <a:ext cx="10812301" cy="3880773"/>
          </a:xfrm>
        </p:spPr>
        <p:txBody>
          <a:bodyPr>
            <a:normAutofit fontScale="85000" lnSpcReduction="20000"/>
          </a:bodyPr>
          <a:lstStyle/>
          <a:p>
            <a:pPr>
              <a:buFont typeface="Wingdings" panose="05000000000000000000" pitchFamily="2" charset="2"/>
              <a:buChar char="q"/>
            </a:pPr>
            <a:r>
              <a:rPr lang="fr-FR" sz="4000" b="1" u="sng" dirty="0">
                <a:solidFill>
                  <a:schemeClr val="accent2"/>
                </a:solidFill>
              </a:rPr>
              <a:t>Valeur normale </a:t>
            </a:r>
            <a:r>
              <a:rPr lang="fr-FR" sz="4000" b="1" dirty="0">
                <a:solidFill>
                  <a:schemeClr val="accent2"/>
                </a:solidFill>
              </a:rPr>
              <a:t> </a:t>
            </a:r>
            <a:r>
              <a:rPr lang="fr-FR" sz="4000" dirty="0"/>
              <a:t>13- </a:t>
            </a:r>
            <a:r>
              <a:rPr lang="fr-FR" sz="4000" dirty="0" smtClean="0"/>
              <a:t>60UI/L (varie en Age et sexe)</a:t>
            </a:r>
            <a:endParaRPr lang="fr-FR" sz="4000" dirty="0"/>
          </a:p>
          <a:p>
            <a:pPr>
              <a:buFont typeface="Wingdings" panose="05000000000000000000" pitchFamily="2" charset="2"/>
              <a:buChar char="q"/>
            </a:pPr>
            <a:endParaRPr lang="fr-FR" sz="4000" dirty="0"/>
          </a:p>
          <a:p>
            <a:pPr>
              <a:buFont typeface="Wingdings" panose="05000000000000000000" pitchFamily="2" charset="2"/>
              <a:buChar char="q"/>
            </a:pPr>
            <a:r>
              <a:rPr lang="fr-FR" sz="4000" b="1" u="sng" dirty="0">
                <a:solidFill>
                  <a:schemeClr val="accent2"/>
                </a:solidFill>
              </a:rPr>
              <a:t>Variations pathologiques </a:t>
            </a:r>
          </a:p>
          <a:p>
            <a:pPr marL="971550" lvl="1" indent="-571500">
              <a:buFont typeface="Wingdings" panose="05000000000000000000" pitchFamily="2" charset="2"/>
              <a:buChar char="ü"/>
            </a:pPr>
            <a:r>
              <a:rPr lang="fr-FR" sz="3800" b="1" dirty="0">
                <a:solidFill>
                  <a:schemeClr val="tx1"/>
                </a:solidFill>
                <a:latin typeface="Times New Roman" panose="02020603050405020304" pitchFamily="18" charset="0"/>
                <a:cs typeface="Times New Roman" panose="02020603050405020304" pitchFamily="18" charset="0"/>
              </a:rPr>
              <a:t>↑ lipase</a:t>
            </a:r>
            <a:r>
              <a:rPr lang="fr-FR" sz="3800" b="1" dirty="0">
                <a:solidFill>
                  <a:schemeClr val="tx1"/>
                </a:solidFill>
              </a:rPr>
              <a:t> </a:t>
            </a:r>
            <a:r>
              <a:rPr lang="fr-FR" sz="3800" b="1" dirty="0">
                <a:solidFill>
                  <a:schemeClr val="tx1"/>
                </a:solidFill>
                <a:latin typeface="Abadi" panose="020B0604020104020204" pitchFamily="34" charset="0"/>
              </a:rPr>
              <a:t>→</a:t>
            </a:r>
            <a:r>
              <a:rPr lang="fr-FR" sz="3800" b="1" dirty="0">
                <a:solidFill>
                  <a:schemeClr val="tx1"/>
                </a:solidFill>
              </a:rPr>
              <a:t>Aff pancréatiques </a:t>
            </a:r>
            <a:r>
              <a:rPr lang="fr-FR" sz="3800" b="1" dirty="0" smtClean="0">
                <a:solidFill>
                  <a:schemeClr val="tx1"/>
                </a:solidFill>
              </a:rPr>
              <a:t>(pathologie)</a:t>
            </a:r>
            <a:endParaRPr lang="fr-FR" sz="3800" dirty="0">
              <a:solidFill>
                <a:schemeClr val="tx1"/>
              </a:solidFill>
            </a:endParaRPr>
          </a:p>
          <a:p>
            <a:pPr lvl="3">
              <a:buFont typeface="Arial" panose="020B0604020202020204" pitchFamily="34" charset="0"/>
              <a:buChar char="•"/>
            </a:pPr>
            <a:r>
              <a:rPr lang="fr-FR" sz="3400" dirty="0">
                <a:solidFill>
                  <a:srgbClr val="FF0000"/>
                </a:solidFill>
              </a:rPr>
              <a:t>Pancréatite </a:t>
            </a:r>
            <a:r>
              <a:rPr lang="fr-FR" sz="3400" dirty="0" smtClean="0">
                <a:solidFill>
                  <a:srgbClr val="FF0000"/>
                </a:solidFill>
              </a:rPr>
              <a:t>aigüe(urgence)</a:t>
            </a:r>
            <a:r>
              <a:rPr lang="fr-FR" sz="3400" dirty="0" smtClean="0"/>
              <a:t>: </a:t>
            </a:r>
            <a:r>
              <a:rPr lang="fr-FR" sz="3400" dirty="0"/>
              <a:t>↑lipase </a:t>
            </a:r>
            <a:r>
              <a:rPr lang="fr-FR" sz="3400" dirty="0">
                <a:latin typeface="Abadi" panose="020B0604020104020204" pitchFamily="34" charset="0"/>
              </a:rPr>
              <a:t>//</a:t>
            </a:r>
            <a:r>
              <a:rPr lang="fr-FR" sz="3400" dirty="0">
                <a:solidFill>
                  <a:prstClr val="black">
                    <a:lumMod val="75000"/>
                    <a:lumOff val="25000"/>
                  </a:prstClr>
                </a:solidFill>
              </a:rPr>
              <a:t> ↑ </a:t>
            </a:r>
            <a:r>
              <a:rPr lang="fr-FR" sz="3400" dirty="0"/>
              <a:t>amylase </a:t>
            </a:r>
          </a:p>
          <a:p>
            <a:pPr lvl="3">
              <a:buFont typeface="Arial" panose="020B0604020202020204" pitchFamily="34" charset="0"/>
              <a:buChar char="•"/>
            </a:pPr>
            <a:r>
              <a:rPr lang="fr-FR" sz="3400" dirty="0"/>
              <a:t>Pancréatite chronique </a:t>
            </a:r>
          </a:p>
          <a:p>
            <a:pPr lvl="3">
              <a:buFont typeface="Arial" panose="020B0604020202020204" pitchFamily="34" charset="0"/>
              <a:buChar char="•"/>
            </a:pPr>
            <a:r>
              <a:rPr lang="fr-FR" sz="3400" dirty="0" smtClean="0"/>
              <a:t>cancer </a:t>
            </a:r>
            <a:r>
              <a:rPr lang="fr-FR" sz="3400" dirty="0"/>
              <a:t>pancréas </a:t>
            </a:r>
          </a:p>
          <a:p>
            <a:pPr algn="justLow"/>
            <a:endParaRPr lang="fr-FR" dirty="0"/>
          </a:p>
        </p:txBody>
      </p:sp>
    </p:spTree>
    <p:extLst>
      <p:ext uri="{BB962C8B-B14F-4D97-AF65-F5344CB8AC3E}">
        <p14:creationId xmlns:p14="http://schemas.microsoft.com/office/powerpoint/2010/main" val="114446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B6BBDBB-B1B3-4C44-8BE7-8D08430E5CA5}"/>
              </a:ext>
            </a:extLst>
          </p:cNvPr>
          <p:cNvSpPr>
            <a:spLocks noGrp="1"/>
          </p:cNvSpPr>
          <p:nvPr>
            <p:ph type="title"/>
          </p:nvPr>
        </p:nvSpPr>
        <p:spPr>
          <a:xfrm>
            <a:off x="213508" y="322954"/>
            <a:ext cx="8596668" cy="1320800"/>
          </a:xfrm>
        </p:spPr>
        <p:txBody>
          <a:bodyPr>
            <a:normAutofit/>
          </a:bodyPr>
          <a:lstStyle/>
          <a:p>
            <a:r>
              <a:rPr lang="fr-FR" sz="4400" b="1" u="sng" dirty="0">
                <a:solidFill>
                  <a:schemeClr val="accent2"/>
                </a:solidFill>
              </a:rPr>
              <a:t>5-L’AMYLASE</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FE21A4ED-AA51-450F-B738-56D5EB4D0D56}"/>
              </a:ext>
            </a:extLst>
          </p:cNvPr>
          <p:cNvSpPr>
            <a:spLocks noGrp="1"/>
          </p:cNvSpPr>
          <p:nvPr>
            <p:ph idx="1"/>
          </p:nvPr>
        </p:nvSpPr>
        <p:spPr>
          <a:xfrm>
            <a:off x="0" y="1104900"/>
            <a:ext cx="12192000" cy="5753100"/>
          </a:xfrm>
        </p:spPr>
        <p:txBody>
          <a:bodyPr>
            <a:normAutofit fontScale="85000" lnSpcReduction="20000"/>
          </a:bodyPr>
          <a:lstStyle/>
          <a:p>
            <a:pPr lvl="0" algn="justLow">
              <a:buClr>
                <a:srgbClr val="90C226"/>
              </a:buClr>
              <a:buFont typeface="Wingdings" panose="05000000000000000000" pitchFamily="2" charset="2"/>
              <a:buChar char="q"/>
            </a:pPr>
            <a:r>
              <a:rPr lang="fr-FR" sz="5100" b="1" u="sng" dirty="0">
                <a:solidFill>
                  <a:srgbClr val="54A021"/>
                </a:solidFill>
                <a:latin typeface="Times New Roman" panose="02020603050405020304" pitchFamily="18" charset="0"/>
                <a:ea typeface="Times New Roman" panose="02020603050405020304" pitchFamily="18" charset="0"/>
              </a:rPr>
              <a:t>Définition </a:t>
            </a:r>
            <a:endParaRPr lang="fr-FR" sz="5100" b="1" dirty="0">
              <a:solidFill>
                <a:srgbClr val="54A021"/>
              </a:solidFill>
              <a:latin typeface="Times New Roman" panose="02020603050405020304" pitchFamily="18" charset="0"/>
              <a:ea typeface="Times New Roman" panose="02020603050405020304" pitchFamily="18" charset="0"/>
            </a:endParaRPr>
          </a:p>
          <a:p>
            <a:pPr algn="justLow"/>
            <a:endParaRPr lang="fr-FR" sz="3200" b="1"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000" b="1" dirty="0">
                <a:latin typeface="Times New Roman" panose="02020603050405020304" pitchFamily="18" charset="0"/>
                <a:ea typeface="Times New Roman" panose="02020603050405020304" pitchFamily="18" charset="0"/>
              </a:rPr>
              <a:t>Enz</a:t>
            </a:r>
            <a:r>
              <a:rPr lang="fr-FR" sz="3000" dirty="0">
                <a:latin typeface="Times New Roman" panose="02020603050405020304" pitchFamily="18" charset="0"/>
                <a:ea typeface="Times New Roman" panose="02020603050405020304" pitchFamily="18" charset="0"/>
              </a:rPr>
              <a:t> secrétée </a:t>
            </a:r>
            <a:r>
              <a:rPr lang="fr-FR" sz="3000" dirty="0" smtClean="0">
                <a:latin typeface="Times New Roman" panose="02020603050405020304" pitchFamily="18" charset="0"/>
                <a:ea typeface="Times New Roman" panose="02020603050405020304" pitchFamily="18" charset="0"/>
              </a:rPr>
              <a:t>par </a:t>
            </a:r>
            <a:r>
              <a:rPr lang="fr-FR" sz="3000" b="1" dirty="0">
                <a:latin typeface="Times New Roman" panose="02020603050405020304" pitchFamily="18" charset="0"/>
                <a:ea typeface="Times New Roman" panose="02020603050405020304" pitchFamily="18" charset="0"/>
              </a:rPr>
              <a:t>Pancréas </a:t>
            </a:r>
            <a:r>
              <a:rPr lang="fr-FR" sz="3000" dirty="0">
                <a:latin typeface="Times New Roman" panose="02020603050405020304" pitchFamily="18" charset="0"/>
                <a:ea typeface="Times New Roman" panose="02020603050405020304" pitchFamily="18" charset="0"/>
              </a:rPr>
              <a:t>+ </a:t>
            </a:r>
            <a:r>
              <a:rPr lang="fr-FR" sz="3000" b="1" dirty="0">
                <a:latin typeface="Times New Roman" panose="02020603050405020304" pitchFamily="18" charset="0"/>
                <a:ea typeface="Times New Roman" panose="02020603050405020304" pitchFamily="18" charset="0"/>
              </a:rPr>
              <a:t>Glandes </a:t>
            </a:r>
            <a:r>
              <a:rPr lang="fr-FR" sz="3000" b="1" dirty="0" smtClean="0">
                <a:latin typeface="Times New Roman" panose="02020603050405020304" pitchFamily="18" charset="0"/>
                <a:ea typeface="Times New Roman" panose="02020603050405020304" pitchFamily="18" charset="0"/>
              </a:rPr>
              <a:t>salivaires pour la dégradation du glucide</a:t>
            </a:r>
            <a:endParaRPr lang="fr-FR" sz="3000" b="1"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000" dirty="0">
                <a:latin typeface="Times New Roman" panose="02020603050405020304" pitchFamily="18" charset="0"/>
                <a:ea typeface="Times New Roman" panose="02020603050405020304" pitchFamily="18" charset="0"/>
              </a:rPr>
              <a:t>hydrolyse </a:t>
            </a:r>
            <a:r>
              <a:rPr lang="el-GR" sz="3000" b="1" dirty="0">
                <a:latin typeface="Times New Roman" panose="02020603050405020304" pitchFamily="18" charset="0"/>
                <a:ea typeface="Times New Roman" panose="02020603050405020304" pitchFamily="18" charset="0"/>
              </a:rPr>
              <a:t>α</a:t>
            </a:r>
            <a:r>
              <a:rPr lang="fr-FR" sz="3000" b="1" dirty="0">
                <a:latin typeface="Times New Roman" panose="02020603050405020304" pitchFamily="18" charset="0"/>
                <a:ea typeface="Times New Roman" panose="02020603050405020304" pitchFamily="18" charset="0"/>
              </a:rPr>
              <a:t> 1-4 </a:t>
            </a:r>
            <a:r>
              <a:rPr lang="fr-FR" sz="3000" b="1" dirty="0" smtClean="0">
                <a:latin typeface="Times New Roman" panose="02020603050405020304" pitchFamily="18" charset="0"/>
                <a:ea typeface="Times New Roman" panose="02020603050405020304" pitchFamily="18" charset="0"/>
              </a:rPr>
              <a:t>glycosidiques </a:t>
            </a:r>
            <a:r>
              <a:rPr lang="fr-FR" sz="3000" dirty="0">
                <a:latin typeface="Times New Roman" panose="02020603050405020304" pitchFamily="18" charset="0"/>
                <a:ea typeface="Times New Roman" panose="02020603050405020304" pitchFamily="18" charset="0"/>
              </a:rPr>
              <a:t>à l’</a:t>
            </a:r>
            <a:r>
              <a:rPr lang="fr-FR" sz="3000" b="1" dirty="0">
                <a:latin typeface="Times New Roman" panose="02020603050405020304" pitchFamily="18" charset="0"/>
                <a:ea typeface="Times New Roman" panose="02020603050405020304" pitchFamily="18" charset="0"/>
              </a:rPr>
              <a:t>intérieur</a:t>
            </a:r>
            <a:r>
              <a:rPr lang="fr-FR" sz="3000" dirty="0">
                <a:latin typeface="Times New Roman" panose="02020603050405020304" pitchFamily="18" charset="0"/>
                <a:ea typeface="Times New Roman" panose="02020603050405020304" pitchFamily="18" charset="0"/>
              </a:rPr>
              <a:t> des chaines de </a:t>
            </a:r>
            <a:r>
              <a:rPr lang="fr-FR" sz="3000" b="1" dirty="0">
                <a:latin typeface="Times New Roman" panose="02020603050405020304" pitchFamily="18" charset="0"/>
                <a:ea typeface="Times New Roman" panose="02020603050405020304" pitchFamily="18" charset="0"/>
              </a:rPr>
              <a:t>l’amidon</a:t>
            </a:r>
            <a:r>
              <a:rPr lang="fr-FR" sz="3000" dirty="0">
                <a:latin typeface="Times New Roman" panose="02020603050405020304" pitchFamily="18" charset="0"/>
                <a:ea typeface="Times New Roman" panose="02020603050405020304" pitchFamily="18" charset="0"/>
              </a:rPr>
              <a:t> et glycogène</a:t>
            </a:r>
          </a:p>
          <a:p>
            <a:pPr lvl="1" algn="justLow">
              <a:buFont typeface="Arial" panose="020B0604020202020204" pitchFamily="34" charset="0"/>
              <a:buChar char="•"/>
            </a:pPr>
            <a:endParaRPr lang="fr-FR" sz="30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endParaRPr lang="fr-FR" sz="30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endParaRPr lang="fr-FR" sz="3000"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000" dirty="0">
                <a:latin typeface="Times New Roman" panose="02020603050405020304" pitchFamily="18" charset="0"/>
                <a:ea typeface="Times New Roman" panose="02020603050405020304" pitchFamily="18" charset="0"/>
              </a:rPr>
              <a:t>Poids moléculaire petit</a:t>
            </a:r>
          </a:p>
          <a:p>
            <a:pPr lvl="1" algn="justLow">
              <a:buFont typeface="Arial" panose="020B0604020202020204" pitchFamily="34" charset="0"/>
              <a:buChar char="•"/>
            </a:pPr>
            <a:r>
              <a:rPr lang="fr-FR" sz="3000" dirty="0">
                <a:latin typeface="Times New Roman" panose="02020603050405020304" pitchFamily="18" charset="0"/>
                <a:ea typeface="Times New Roman" panose="02020603050405020304" pitchFamily="18" charset="0"/>
              </a:rPr>
              <a:t>Filtrée par le glomérule rénal, réabsorbée, éliminée dans les </a:t>
            </a:r>
            <a:r>
              <a:rPr lang="fr-FR" sz="3000" b="1" dirty="0">
                <a:latin typeface="Times New Roman" panose="02020603050405020304" pitchFamily="18" charset="0"/>
                <a:ea typeface="Times New Roman" panose="02020603050405020304" pitchFamily="18" charset="0"/>
              </a:rPr>
              <a:t>urines </a:t>
            </a:r>
            <a:endParaRPr lang="fr-FR" sz="3000" b="1" dirty="0" smtClean="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r>
              <a:rPr lang="fr-FR" sz="3000" b="1" dirty="0" smtClean="0">
                <a:latin typeface="Times New Roman" panose="02020603050405020304" pitchFamily="18" charset="0"/>
                <a:ea typeface="Times New Roman" panose="02020603050405020304" pitchFamily="18" charset="0"/>
              </a:rPr>
              <a:t>Dans l’ état physiologique a cause de son poids moléculaire le reine laisse passe qlqs molécule de l’amylase donc en peut le doser soit dans le sang soit dans les urines (y a du valeur physiologique de l’amylase et pas comme les autres enzymes)</a:t>
            </a:r>
            <a:endParaRPr lang="fr-FR" sz="3000" b="1" dirty="0">
              <a:latin typeface="Times New Roman" panose="02020603050405020304" pitchFamily="18" charset="0"/>
              <a:ea typeface="Times New Roman" panose="02020603050405020304" pitchFamily="18" charset="0"/>
            </a:endParaRPr>
          </a:p>
          <a:p>
            <a:pPr lvl="1" algn="justLow">
              <a:buFont typeface="Arial" panose="020B0604020202020204" pitchFamily="34" charset="0"/>
              <a:buChar char="•"/>
            </a:pPr>
            <a:endParaRPr lang="fr-FR" sz="3000" dirty="0">
              <a:latin typeface="Times New Roman" panose="02020603050405020304" pitchFamily="18" charset="0"/>
              <a:ea typeface="Times New Roman" panose="02020603050405020304" pitchFamily="18" charset="0"/>
            </a:endParaRPr>
          </a:p>
          <a:p>
            <a:endParaRPr lang="fr-FR" dirty="0"/>
          </a:p>
        </p:txBody>
      </p:sp>
      <p:pic>
        <p:nvPicPr>
          <p:cNvPr id="4" name="Image 3">
            <a:extLst>
              <a:ext uri="{FF2B5EF4-FFF2-40B4-BE49-F238E27FC236}">
                <a16:creationId xmlns="" xmlns:a16="http://schemas.microsoft.com/office/drawing/2014/main" id="{C96A31CF-EC58-44CF-8C5C-44554F7308D4}"/>
              </a:ext>
            </a:extLst>
          </p:cNvPr>
          <p:cNvPicPr>
            <a:picLocks noChangeAspect="1"/>
          </p:cNvPicPr>
          <p:nvPr/>
        </p:nvPicPr>
        <p:blipFill>
          <a:blip r:embed="rId3"/>
          <a:stretch>
            <a:fillRect/>
          </a:stretch>
        </p:blipFill>
        <p:spPr>
          <a:xfrm>
            <a:off x="1687913" y="3584140"/>
            <a:ext cx="7541549" cy="689159"/>
          </a:xfrm>
          <a:prstGeom prst="rect">
            <a:avLst/>
          </a:prstGeom>
        </p:spPr>
      </p:pic>
      <p:sp>
        <p:nvSpPr>
          <p:cNvPr id="5" name="ZoneTexte 4"/>
          <p:cNvSpPr txBox="1"/>
          <p:nvPr/>
        </p:nvSpPr>
        <p:spPr>
          <a:xfrm>
            <a:off x="7715250" y="3953868"/>
            <a:ext cx="1730388" cy="369332"/>
          </a:xfrm>
          <a:prstGeom prst="rect">
            <a:avLst/>
          </a:prstGeom>
          <a:noFill/>
        </p:spPr>
        <p:txBody>
          <a:bodyPr wrap="square" rtlCol="0">
            <a:spAutoFit/>
          </a:bodyPr>
          <a:lstStyle/>
          <a:p>
            <a:r>
              <a:rPr lang="fr-FR" dirty="0" smtClean="0"/>
              <a:t>Disaccharides</a:t>
            </a:r>
            <a:endParaRPr lang="fr-FR" dirty="0"/>
          </a:p>
        </p:txBody>
      </p:sp>
      <p:sp>
        <p:nvSpPr>
          <p:cNvPr id="6" name="Flèche droite 5"/>
          <p:cNvSpPr/>
          <p:nvPr/>
        </p:nvSpPr>
        <p:spPr>
          <a:xfrm>
            <a:off x="9086850" y="3771900"/>
            <a:ext cx="1066800" cy="1568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10240041" y="3334015"/>
            <a:ext cx="2180559" cy="9891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Monosaccharide absorber par l’intestin</a:t>
            </a:r>
            <a:endParaRPr lang="fr-FR" b="1" dirty="0">
              <a:solidFill>
                <a:schemeClr val="tx1"/>
              </a:solidFill>
            </a:endParaRPr>
          </a:p>
        </p:txBody>
      </p:sp>
    </p:spTree>
    <p:extLst>
      <p:ext uri="{BB962C8B-B14F-4D97-AF65-F5344CB8AC3E}">
        <p14:creationId xmlns:p14="http://schemas.microsoft.com/office/powerpoint/2010/main" val="67970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B6BBDBB-B1B3-4C44-8BE7-8D08430E5CA5}"/>
              </a:ext>
            </a:extLst>
          </p:cNvPr>
          <p:cNvSpPr>
            <a:spLocks noGrp="1"/>
          </p:cNvSpPr>
          <p:nvPr>
            <p:ph type="title"/>
          </p:nvPr>
        </p:nvSpPr>
        <p:spPr>
          <a:xfrm>
            <a:off x="544812" y="156238"/>
            <a:ext cx="8596668" cy="1320800"/>
          </a:xfrm>
        </p:spPr>
        <p:txBody>
          <a:bodyPr>
            <a:noAutofit/>
          </a:bodyPr>
          <a:lstStyle/>
          <a:p>
            <a:pPr algn="ctr"/>
            <a:r>
              <a:rPr lang="fr-FR" sz="4400" b="1" u="sng" dirty="0"/>
              <a:t>5-L’AMYLASE</a:t>
            </a:r>
            <a:r>
              <a:rPr lang="fr-FR" sz="4400" dirty="0"/>
              <a:t/>
            </a:r>
            <a:br>
              <a:rPr lang="fr-FR" sz="4400" dirty="0"/>
            </a:br>
            <a:endParaRPr lang="fr-FR" sz="4400" dirty="0"/>
          </a:p>
        </p:txBody>
      </p:sp>
      <p:sp>
        <p:nvSpPr>
          <p:cNvPr id="3" name="Espace réservé du contenu 2">
            <a:extLst>
              <a:ext uri="{FF2B5EF4-FFF2-40B4-BE49-F238E27FC236}">
                <a16:creationId xmlns="" xmlns:a16="http://schemas.microsoft.com/office/drawing/2014/main" id="{FE21A4ED-AA51-450F-B738-56D5EB4D0D56}"/>
              </a:ext>
            </a:extLst>
          </p:cNvPr>
          <p:cNvSpPr>
            <a:spLocks noGrp="1"/>
          </p:cNvSpPr>
          <p:nvPr>
            <p:ph idx="1"/>
          </p:nvPr>
        </p:nvSpPr>
        <p:spPr>
          <a:xfrm>
            <a:off x="544812" y="1039716"/>
            <a:ext cx="12243534" cy="5224724"/>
          </a:xfrm>
        </p:spPr>
        <p:txBody>
          <a:bodyPr>
            <a:normAutofit fontScale="62500" lnSpcReduction="20000"/>
          </a:bodyPr>
          <a:lstStyle/>
          <a:p>
            <a:pPr>
              <a:buFont typeface="Wingdings" panose="05000000000000000000" pitchFamily="2" charset="2"/>
              <a:buChar char="q"/>
            </a:pPr>
            <a:r>
              <a:rPr lang="fr-FR" sz="5100" b="1" u="sng" dirty="0">
                <a:solidFill>
                  <a:schemeClr val="accent2"/>
                </a:solidFill>
              </a:rPr>
              <a:t>Répartition </a:t>
            </a:r>
            <a:r>
              <a:rPr lang="fr-FR" sz="5100" b="1" dirty="0">
                <a:solidFill>
                  <a:schemeClr val="accent2"/>
                </a:solidFill>
              </a:rPr>
              <a:t>:</a:t>
            </a:r>
            <a:r>
              <a:rPr lang="fr-FR" sz="5100" b="1" dirty="0"/>
              <a:t> </a:t>
            </a:r>
            <a:r>
              <a:rPr lang="fr-FR" sz="4100" dirty="0"/>
              <a:t>2 isoEnz</a:t>
            </a:r>
          </a:p>
          <a:p>
            <a:pPr>
              <a:buFont typeface="Wingdings" panose="05000000000000000000" pitchFamily="2" charset="2"/>
              <a:buChar char="q"/>
            </a:pPr>
            <a:endParaRPr lang="fr-FR" sz="4100" dirty="0"/>
          </a:p>
          <a:p>
            <a:pPr lvl="1">
              <a:buFont typeface="Arial" panose="020B0604020202020204" pitchFamily="34" charset="0"/>
              <a:buChar char="•"/>
            </a:pPr>
            <a:r>
              <a:rPr lang="fr-FR" sz="4100" dirty="0">
                <a:solidFill>
                  <a:schemeClr val="accent2"/>
                </a:solidFill>
              </a:rPr>
              <a:t>Amylase </a:t>
            </a:r>
            <a:r>
              <a:rPr lang="fr-FR" sz="4100" b="1" dirty="0">
                <a:solidFill>
                  <a:schemeClr val="accent2"/>
                </a:solidFill>
              </a:rPr>
              <a:t>P</a:t>
            </a:r>
            <a:r>
              <a:rPr lang="fr-FR" sz="4100" dirty="0">
                <a:solidFill>
                  <a:schemeClr val="accent2"/>
                </a:solidFill>
              </a:rPr>
              <a:t> </a:t>
            </a:r>
            <a:r>
              <a:rPr lang="fr-FR" sz="4100" dirty="0"/>
              <a:t>(60%) : </a:t>
            </a:r>
            <a:r>
              <a:rPr lang="fr-FR" sz="4100" dirty="0">
                <a:solidFill>
                  <a:srgbClr val="FF0000"/>
                </a:solidFill>
              </a:rPr>
              <a:t>Pancréas</a:t>
            </a:r>
          </a:p>
          <a:p>
            <a:pPr lvl="1">
              <a:buFont typeface="Arial" panose="020B0604020202020204" pitchFamily="34" charset="0"/>
              <a:buChar char="•"/>
            </a:pPr>
            <a:r>
              <a:rPr lang="fr-FR" sz="4100" dirty="0">
                <a:solidFill>
                  <a:schemeClr val="accent2"/>
                </a:solidFill>
              </a:rPr>
              <a:t>Amylase </a:t>
            </a:r>
            <a:r>
              <a:rPr lang="fr-FR" sz="4100" b="1" dirty="0">
                <a:solidFill>
                  <a:schemeClr val="accent2"/>
                </a:solidFill>
              </a:rPr>
              <a:t>S </a:t>
            </a:r>
            <a:r>
              <a:rPr lang="fr-FR" sz="4100" dirty="0"/>
              <a:t>(40%) : </a:t>
            </a:r>
            <a:r>
              <a:rPr lang="fr-FR" sz="4100" dirty="0">
                <a:solidFill>
                  <a:srgbClr val="FF0000"/>
                </a:solidFill>
              </a:rPr>
              <a:t>Glandes salivaires </a:t>
            </a:r>
            <a:r>
              <a:rPr lang="fr-FR" sz="4100" dirty="0"/>
              <a:t>/Poumon/testicules</a:t>
            </a:r>
          </a:p>
          <a:p>
            <a:pPr marL="457200" lvl="1" indent="0">
              <a:buNone/>
            </a:pPr>
            <a:r>
              <a:rPr lang="fr-FR" sz="4100" dirty="0"/>
              <a:t>                             /Epithélium trompes de Fallope/Larmes</a:t>
            </a:r>
          </a:p>
          <a:p>
            <a:pPr marL="457200" lvl="1" indent="0">
              <a:buNone/>
            </a:pPr>
            <a:r>
              <a:rPr lang="fr-FR" sz="4100" dirty="0"/>
              <a:t>                             /Sueurs/Lait maternel</a:t>
            </a:r>
          </a:p>
          <a:p>
            <a:pPr lvl="1">
              <a:buFont typeface="Arial" panose="020B0604020202020204" pitchFamily="34" charset="0"/>
              <a:buChar char="•"/>
            </a:pPr>
            <a:endParaRPr lang="fr-FR" sz="3900" dirty="0"/>
          </a:p>
          <a:p>
            <a:pPr>
              <a:buFont typeface="Wingdings" panose="05000000000000000000" pitchFamily="2" charset="2"/>
              <a:buChar char="q"/>
            </a:pPr>
            <a:r>
              <a:rPr lang="fr-FR" sz="5100" b="1" u="sng" dirty="0">
                <a:solidFill>
                  <a:schemeClr val="accent2"/>
                </a:solidFill>
              </a:rPr>
              <a:t>Valeurs normales</a:t>
            </a:r>
          </a:p>
          <a:p>
            <a:pPr>
              <a:buFont typeface="Wingdings" panose="05000000000000000000" pitchFamily="2" charset="2"/>
              <a:buChar char="q"/>
            </a:pPr>
            <a:endParaRPr lang="fr-FR" sz="5100" dirty="0">
              <a:solidFill>
                <a:schemeClr val="accent2"/>
              </a:solidFill>
            </a:endParaRPr>
          </a:p>
          <a:p>
            <a:pPr lvl="1">
              <a:buFont typeface="Arial" panose="020B0604020202020204" pitchFamily="34" charset="0"/>
              <a:buChar char="•"/>
            </a:pPr>
            <a:r>
              <a:rPr lang="fr-FR" sz="4100" dirty="0">
                <a:solidFill>
                  <a:schemeClr val="accent2"/>
                </a:solidFill>
              </a:rPr>
              <a:t>Amylasémie</a:t>
            </a:r>
            <a:r>
              <a:rPr lang="fr-FR" sz="4100" dirty="0"/>
              <a:t> : 31- 107 UI/L</a:t>
            </a:r>
          </a:p>
          <a:p>
            <a:pPr lvl="1">
              <a:buFont typeface="Arial" panose="020B0604020202020204" pitchFamily="34" charset="0"/>
              <a:buChar char="•"/>
            </a:pPr>
            <a:r>
              <a:rPr lang="fr-FR" sz="4100" dirty="0">
                <a:solidFill>
                  <a:schemeClr val="accent2"/>
                </a:solidFill>
              </a:rPr>
              <a:t>Amylasurie</a:t>
            </a:r>
            <a:r>
              <a:rPr lang="fr-FR" sz="4100" dirty="0"/>
              <a:t> : &lt; 440 UI/ 24 H</a:t>
            </a:r>
          </a:p>
          <a:p>
            <a:endParaRPr lang="fr-FR" dirty="0"/>
          </a:p>
        </p:txBody>
      </p:sp>
    </p:spTree>
    <p:extLst>
      <p:ext uri="{BB962C8B-B14F-4D97-AF65-F5344CB8AC3E}">
        <p14:creationId xmlns:p14="http://schemas.microsoft.com/office/powerpoint/2010/main" val="9297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B6BBDBB-B1B3-4C44-8BE7-8D08430E5CA5}"/>
              </a:ext>
            </a:extLst>
          </p:cNvPr>
          <p:cNvSpPr>
            <a:spLocks noGrp="1"/>
          </p:cNvSpPr>
          <p:nvPr>
            <p:ph type="title"/>
          </p:nvPr>
        </p:nvSpPr>
        <p:spPr>
          <a:xfrm>
            <a:off x="0" y="357229"/>
            <a:ext cx="8596668" cy="1320800"/>
          </a:xfrm>
        </p:spPr>
        <p:txBody>
          <a:bodyPr>
            <a:normAutofit/>
          </a:bodyPr>
          <a:lstStyle/>
          <a:p>
            <a:r>
              <a:rPr lang="fr-FR" sz="4000" b="1" u="sng" dirty="0">
                <a:solidFill>
                  <a:schemeClr val="accent2"/>
                </a:solidFill>
              </a:rPr>
              <a:t>5-L’AMYLASE</a:t>
            </a:r>
            <a:r>
              <a:rPr lang="fr-FR" dirty="0"/>
              <a:t/>
            </a:r>
            <a:br>
              <a:rPr lang="fr-FR" dirty="0"/>
            </a:br>
            <a:endParaRPr lang="fr-FR" dirty="0"/>
          </a:p>
        </p:txBody>
      </p:sp>
      <p:sp>
        <p:nvSpPr>
          <p:cNvPr id="3" name="Espace réservé du contenu 2">
            <a:extLst>
              <a:ext uri="{FF2B5EF4-FFF2-40B4-BE49-F238E27FC236}">
                <a16:creationId xmlns="" xmlns:a16="http://schemas.microsoft.com/office/drawing/2014/main" id="{FE21A4ED-AA51-450F-B738-56D5EB4D0D56}"/>
              </a:ext>
            </a:extLst>
          </p:cNvPr>
          <p:cNvSpPr>
            <a:spLocks noGrp="1"/>
          </p:cNvSpPr>
          <p:nvPr>
            <p:ph idx="1"/>
          </p:nvPr>
        </p:nvSpPr>
        <p:spPr>
          <a:xfrm>
            <a:off x="0" y="1143814"/>
            <a:ext cx="12192000" cy="5714186"/>
          </a:xfrm>
        </p:spPr>
        <p:txBody>
          <a:bodyPr>
            <a:normAutofit fontScale="70000" lnSpcReduction="20000"/>
          </a:bodyPr>
          <a:lstStyle/>
          <a:p>
            <a:pPr marL="0" indent="0">
              <a:buNone/>
            </a:pPr>
            <a:endParaRPr lang="fr-FR" dirty="0"/>
          </a:p>
          <a:p>
            <a:pPr>
              <a:buFont typeface="Wingdings" panose="05000000000000000000" pitchFamily="2" charset="2"/>
              <a:buChar char="q"/>
            </a:pPr>
            <a:r>
              <a:rPr lang="fr-FR" sz="4600" b="1" u="sng" dirty="0">
                <a:solidFill>
                  <a:schemeClr val="accent2"/>
                </a:solidFill>
              </a:rPr>
              <a:t>Variations pathologiques</a:t>
            </a:r>
          </a:p>
          <a:p>
            <a:pPr marL="0" indent="0">
              <a:buNone/>
            </a:pPr>
            <a:r>
              <a:rPr lang="fr-FR" sz="4600" b="1" u="sng" dirty="0">
                <a:solidFill>
                  <a:schemeClr val="accent2"/>
                </a:solidFill>
              </a:rPr>
              <a:t> </a:t>
            </a:r>
            <a:endParaRPr lang="fr-FR" sz="4600" dirty="0">
              <a:solidFill>
                <a:schemeClr val="accent2"/>
              </a:solidFill>
            </a:endParaRPr>
          </a:p>
          <a:p>
            <a:pPr lvl="1">
              <a:buFont typeface="Arial" panose="020B0604020202020204" pitchFamily="34" charset="0"/>
              <a:buChar char="•"/>
            </a:pPr>
            <a:r>
              <a:rPr lang="fr-FR" sz="3100" b="1" dirty="0">
                <a:solidFill>
                  <a:prstClr val="black"/>
                </a:solidFill>
              </a:rPr>
              <a:t>Aff pancréatiques </a:t>
            </a:r>
            <a:r>
              <a:rPr lang="fr-FR" sz="3100" dirty="0"/>
              <a:t>: pancréatite A, pancréatite C, </a:t>
            </a:r>
            <a:r>
              <a:rPr lang="fr-FR" sz="3100" dirty="0" err="1"/>
              <a:t>Kc</a:t>
            </a:r>
            <a:r>
              <a:rPr lang="fr-FR" sz="3100" dirty="0"/>
              <a:t> pancréas, lithiase du pancréas</a:t>
            </a:r>
          </a:p>
          <a:p>
            <a:pPr marL="457200" lvl="1" indent="0">
              <a:buNone/>
            </a:pPr>
            <a:endParaRPr lang="fr-FR" sz="3100" dirty="0"/>
          </a:p>
          <a:p>
            <a:pPr lvl="1">
              <a:buFont typeface="Arial" panose="020B0604020202020204" pitchFamily="34" charset="0"/>
              <a:buChar char="•"/>
            </a:pPr>
            <a:r>
              <a:rPr lang="fr-FR" sz="3100" b="1" dirty="0"/>
              <a:t>Aff des glandes salivaires </a:t>
            </a:r>
            <a:r>
              <a:rPr lang="fr-FR" sz="3100" dirty="0"/>
              <a:t>: parotidite, oreillons, </a:t>
            </a:r>
            <a:r>
              <a:rPr lang="fr-FR" sz="3100" dirty="0" err="1" smtClean="0"/>
              <a:t>Kc</a:t>
            </a:r>
            <a:r>
              <a:rPr lang="fr-FR" sz="3100" dirty="0" smtClean="0"/>
              <a:t> du glandes salivaires</a:t>
            </a:r>
            <a:endParaRPr lang="fr-FR" sz="3100" dirty="0"/>
          </a:p>
          <a:p>
            <a:pPr marL="457200" lvl="1" indent="0">
              <a:buNone/>
            </a:pPr>
            <a:r>
              <a:rPr lang="fr-FR" sz="3100" dirty="0"/>
              <a:t> </a:t>
            </a:r>
          </a:p>
          <a:p>
            <a:pPr lvl="1">
              <a:buFont typeface="Arial" panose="020B0604020202020204" pitchFamily="34" charset="0"/>
              <a:buChar char="•"/>
            </a:pPr>
            <a:r>
              <a:rPr lang="fr-FR" sz="3100" b="1" dirty="0" smtClean="0"/>
              <a:t>Syndromes </a:t>
            </a:r>
            <a:r>
              <a:rPr lang="fr-FR" sz="3200" b="1" dirty="0"/>
              <a:t>douleur </a:t>
            </a:r>
            <a:r>
              <a:rPr lang="fr-FR" sz="3200" b="1" dirty="0" smtClean="0"/>
              <a:t>abdominal</a:t>
            </a:r>
            <a:r>
              <a:rPr lang="fr-FR" sz="2400" dirty="0" smtClean="0"/>
              <a:t> augment dans</a:t>
            </a:r>
            <a:r>
              <a:rPr lang="fr-FR" sz="3100" dirty="0" smtClean="0"/>
              <a:t>: </a:t>
            </a:r>
            <a:r>
              <a:rPr lang="fr-FR" sz="3100" dirty="0"/>
              <a:t>perforation d’ulcère, infarctus mésentérique, hémopéritoine</a:t>
            </a:r>
          </a:p>
          <a:p>
            <a:pPr lvl="1">
              <a:buFont typeface="Arial" panose="020B0604020202020204" pitchFamily="34" charset="0"/>
              <a:buChar char="•"/>
            </a:pPr>
            <a:endParaRPr lang="fr-FR" sz="3100" dirty="0"/>
          </a:p>
          <a:p>
            <a:pPr lvl="1">
              <a:buFont typeface="Arial" panose="020B0604020202020204" pitchFamily="34" charset="0"/>
              <a:buChar char="•"/>
            </a:pPr>
            <a:r>
              <a:rPr lang="fr-FR" sz="3100" b="1" dirty="0"/>
              <a:t>La </a:t>
            </a:r>
            <a:r>
              <a:rPr lang="fr-FR" sz="3100" b="1" dirty="0" smtClean="0"/>
              <a:t>macro amylase </a:t>
            </a:r>
            <a:r>
              <a:rPr lang="fr-FR" sz="3100" dirty="0"/>
              <a:t>: </a:t>
            </a:r>
            <a:r>
              <a:rPr lang="fr-FR" sz="3100" dirty="0" smtClean="0"/>
              <a:t>Macroenz=&gt;faux augmentation (comme l’ALAT)</a:t>
            </a:r>
            <a:endParaRPr lang="fr-FR" sz="3100" dirty="0"/>
          </a:p>
          <a:p>
            <a:pPr marL="457200" lvl="1" indent="0">
              <a:buNone/>
            </a:pPr>
            <a:r>
              <a:rPr lang="fr-FR" sz="3100" dirty="0"/>
              <a:t>   </a:t>
            </a:r>
            <a:r>
              <a:rPr lang="fr-FR" sz="3100" dirty="0">
                <a:solidFill>
                  <a:srgbClr val="FF0000"/>
                </a:solidFill>
              </a:rPr>
              <a:t>amylase</a:t>
            </a:r>
            <a:r>
              <a:rPr lang="fr-FR" sz="3100" dirty="0"/>
              <a:t>( petit poids M) + </a:t>
            </a:r>
            <a:r>
              <a:rPr lang="fr-FR" sz="3100" dirty="0">
                <a:solidFill>
                  <a:srgbClr val="FF0000"/>
                </a:solidFill>
              </a:rPr>
              <a:t>IG</a:t>
            </a:r>
            <a:r>
              <a:rPr lang="fr-FR" sz="3100" dirty="0">
                <a:latin typeface="Abadi" panose="020B0604020104020204" pitchFamily="34" charset="0"/>
              </a:rPr>
              <a:t>→ </a:t>
            </a:r>
            <a:r>
              <a:rPr lang="fr-FR" sz="3100" dirty="0">
                <a:solidFill>
                  <a:srgbClr val="FF0000"/>
                </a:solidFill>
                <a:latin typeface="Abadi" panose="020B0604020104020204" pitchFamily="34" charset="0"/>
              </a:rPr>
              <a:t>amylase-IG </a:t>
            </a:r>
            <a:r>
              <a:rPr lang="fr-FR" sz="3100" dirty="0">
                <a:latin typeface="Abadi" panose="020B0604020104020204" pitchFamily="34" charset="0"/>
              </a:rPr>
              <a:t>(poids M</a:t>
            </a:r>
            <a:r>
              <a:rPr lang="fr-FR" sz="3100" dirty="0">
                <a:latin typeface="Times New Roman" panose="02020603050405020304" pitchFamily="18" charset="0"/>
                <a:cs typeface="Times New Roman" panose="02020603050405020304" pitchFamily="18" charset="0"/>
              </a:rPr>
              <a:t>↑↑↑</a:t>
            </a:r>
            <a:r>
              <a:rPr lang="fr-FR" sz="3100" dirty="0">
                <a:latin typeface="Abadi" panose="020B0604020104020204" pitchFamily="34" charset="0"/>
              </a:rPr>
              <a:t>) </a:t>
            </a:r>
            <a:r>
              <a:rPr lang="fr-FR" sz="3100" dirty="0" smtClean="0">
                <a:latin typeface="Abadi" panose="020B0604020104020204" pitchFamily="34" charset="0"/>
              </a:rPr>
              <a:t>:et donc en peut le différencie parce que y pas d’élimination dans ++ de PM donc </a:t>
            </a:r>
            <a:r>
              <a:rPr lang="fr-FR" sz="3100" dirty="0">
                <a:latin typeface="Abadi" panose="020B0604020104020204" pitchFamily="34" charset="0"/>
              </a:rPr>
              <a:t>non éliminé par le </a:t>
            </a:r>
            <a:r>
              <a:rPr lang="fr-FR" sz="3100" dirty="0" smtClean="0">
                <a:latin typeface="Abadi" panose="020B0604020104020204" pitchFamily="34" charset="0"/>
              </a:rPr>
              <a:t>rein amylasurie en retrouve pas </a:t>
            </a:r>
            <a:r>
              <a:rPr lang="fr-FR" sz="3100" dirty="0">
                <a:solidFill>
                  <a:srgbClr val="FF0000"/>
                </a:solidFill>
                <a:latin typeface="Abadi Extra Light" panose="020B0204020104020204" pitchFamily="34" charset="0"/>
              </a:rPr>
              <a:t>↑</a:t>
            </a:r>
            <a:r>
              <a:rPr lang="fr-FR" sz="3100" dirty="0">
                <a:solidFill>
                  <a:srgbClr val="FF0000"/>
                </a:solidFill>
              </a:rPr>
              <a:t>amylasémie </a:t>
            </a:r>
            <a:r>
              <a:rPr lang="fr-FR" sz="3100" dirty="0" smtClean="0">
                <a:solidFill>
                  <a:srgbClr val="FF0000"/>
                </a:solidFill>
              </a:rPr>
              <a:t>et l’amylasurie est non trouver (et pas des signes évocatrices)</a:t>
            </a:r>
            <a:endParaRPr lang="fr-FR" sz="3100" dirty="0">
              <a:latin typeface="Abadi" panose="020B0604020104020204" pitchFamily="34" charset="0"/>
            </a:endParaRPr>
          </a:p>
          <a:p>
            <a:pPr marL="457200" lvl="1" indent="0">
              <a:buNone/>
            </a:pPr>
            <a:r>
              <a:rPr lang="fr-FR" sz="3100" dirty="0">
                <a:latin typeface="Abadi Extra Light" panose="020B0204020104020204" pitchFamily="34" charset="0"/>
              </a:rPr>
              <a:t>    </a:t>
            </a:r>
            <a:endParaRPr lang="fr-FR" dirty="0">
              <a:solidFill>
                <a:srgbClr val="FF0000"/>
              </a:solidFill>
            </a:endParaRPr>
          </a:p>
        </p:txBody>
      </p:sp>
    </p:spTree>
    <p:extLst>
      <p:ext uri="{BB962C8B-B14F-4D97-AF65-F5344CB8AC3E}">
        <p14:creationId xmlns:p14="http://schemas.microsoft.com/office/powerpoint/2010/main" val="427587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B6BBDBB-B1B3-4C44-8BE7-8D08430E5CA5}"/>
              </a:ext>
            </a:extLst>
          </p:cNvPr>
          <p:cNvSpPr>
            <a:spLocks noGrp="1"/>
          </p:cNvSpPr>
          <p:nvPr>
            <p:ph type="title"/>
          </p:nvPr>
        </p:nvSpPr>
        <p:spPr/>
        <p:txBody>
          <a:bodyPr>
            <a:noAutofit/>
          </a:bodyPr>
          <a:lstStyle/>
          <a:p>
            <a:r>
              <a:rPr lang="fr-FR" sz="4800" b="1" u="sng" dirty="0"/>
              <a:t>5-L’AMYLASE</a:t>
            </a:r>
            <a:r>
              <a:rPr lang="fr-FR" sz="4800" dirty="0"/>
              <a:t/>
            </a:r>
            <a:br>
              <a:rPr lang="fr-FR" sz="4800" dirty="0"/>
            </a:br>
            <a:endParaRPr lang="fr-FR" sz="4800" dirty="0"/>
          </a:p>
        </p:txBody>
      </p:sp>
      <p:sp>
        <p:nvSpPr>
          <p:cNvPr id="3" name="Espace réservé du contenu 2">
            <a:extLst>
              <a:ext uri="{FF2B5EF4-FFF2-40B4-BE49-F238E27FC236}">
                <a16:creationId xmlns="" xmlns:a16="http://schemas.microsoft.com/office/drawing/2014/main" id="{FE21A4ED-AA51-450F-B738-56D5EB4D0D56}"/>
              </a:ext>
            </a:extLst>
          </p:cNvPr>
          <p:cNvSpPr>
            <a:spLocks noGrp="1"/>
          </p:cNvSpPr>
          <p:nvPr>
            <p:ph idx="1"/>
          </p:nvPr>
        </p:nvSpPr>
        <p:spPr>
          <a:xfrm>
            <a:off x="1302976" y="1025823"/>
            <a:ext cx="8596668" cy="4570371"/>
          </a:xfrm>
        </p:spPr>
        <p:txBody>
          <a:bodyPr>
            <a:normAutofit/>
          </a:bodyPr>
          <a:lstStyle/>
          <a:p>
            <a:pPr marL="0" indent="0">
              <a:buNone/>
            </a:pPr>
            <a:endParaRPr lang="fr-FR" dirty="0"/>
          </a:p>
          <a:p>
            <a:pPr>
              <a:buFont typeface="Wingdings" panose="05000000000000000000" pitchFamily="2" charset="2"/>
              <a:buChar char="q"/>
            </a:pPr>
            <a:r>
              <a:rPr lang="fr-FR" dirty="0">
                <a:latin typeface="Times New Roman" panose="02020603050405020304" pitchFamily="18" charset="0"/>
                <a:ea typeface="Times New Roman" panose="02020603050405020304" pitchFamily="18" charset="0"/>
              </a:rPr>
              <a:t> </a:t>
            </a:r>
            <a:r>
              <a:rPr lang="fr-FR" sz="4000" b="1" u="sng" dirty="0">
                <a:solidFill>
                  <a:schemeClr val="accent2"/>
                </a:solidFill>
                <a:latin typeface="Times New Roman" panose="02020603050405020304" pitchFamily="18" charset="0"/>
                <a:ea typeface="Times New Roman" panose="02020603050405020304" pitchFamily="18" charset="0"/>
              </a:rPr>
              <a:t>Interférences médicamenteuses </a:t>
            </a:r>
            <a:endParaRPr lang="fr-FR" sz="4000" dirty="0">
              <a:solidFill>
                <a:schemeClr val="accent2"/>
              </a:solidFill>
              <a:latin typeface="Times New Roman" panose="02020603050405020304" pitchFamily="18" charset="0"/>
              <a:ea typeface="Times New Roman" panose="02020603050405020304" pitchFamily="18" charset="0"/>
            </a:endParaRPr>
          </a:p>
          <a:p>
            <a:pPr marL="0" indent="0">
              <a:buNone/>
            </a:pPr>
            <a:r>
              <a:rPr lang="fr-FR" sz="4000" dirty="0">
                <a:solidFill>
                  <a:schemeClr val="tx1"/>
                </a:solidFill>
                <a:latin typeface="Times New Roman" panose="02020603050405020304" pitchFamily="18" charset="0"/>
                <a:ea typeface="Times New Roman" panose="02020603050405020304" pitchFamily="18" charset="0"/>
              </a:rPr>
              <a:t>          les opiacés  </a:t>
            </a:r>
            <a:r>
              <a:rPr lang="fr-FR" sz="4000" dirty="0">
                <a:solidFill>
                  <a:schemeClr val="tx1"/>
                </a:solidFill>
                <a:latin typeface="Abadi Extra Light" panose="020B0204020104020204" pitchFamily="34" charset="0"/>
                <a:ea typeface="Times New Roman" panose="02020603050405020304" pitchFamily="18" charset="0"/>
              </a:rPr>
              <a:t>↑</a:t>
            </a:r>
            <a:r>
              <a:rPr lang="fr-FR" sz="4000" dirty="0">
                <a:solidFill>
                  <a:schemeClr val="tx1"/>
                </a:solidFill>
                <a:latin typeface="Times New Roman" panose="02020603050405020304" pitchFamily="18" charset="0"/>
                <a:ea typeface="Times New Roman" panose="02020603050405020304" pitchFamily="18" charset="0"/>
              </a:rPr>
              <a:t>amylasémie</a:t>
            </a:r>
          </a:p>
          <a:p>
            <a:endParaRPr lang="fr-FR" dirty="0"/>
          </a:p>
        </p:txBody>
      </p:sp>
    </p:spTree>
    <p:extLst>
      <p:ext uri="{BB962C8B-B14F-4D97-AF65-F5344CB8AC3E}">
        <p14:creationId xmlns:p14="http://schemas.microsoft.com/office/powerpoint/2010/main" val="1655887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1139577" y="-19050"/>
            <a:ext cx="10306050" cy="637552"/>
          </a:xfrm>
        </p:spPr>
        <p:txBody>
          <a:bodyPr>
            <a:normAutofit fontScale="90000"/>
          </a:bodyPr>
          <a:lstStyle/>
          <a:p>
            <a:pPr algn="ctr">
              <a:spcAft>
                <a:spcPts val="0"/>
              </a:spcAft>
            </a:pPr>
            <a:r>
              <a:rPr lang="fr-FR" sz="3200" b="1" dirty="0">
                <a:latin typeface="Times New Roman" panose="02020603050405020304" pitchFamily="18" charset="0"/>
                <a:ea typeface="Times New Roman" panose="02020603050405020304" pitchFamily="18" charset="0"/>
              </a:rPr>
              <a:t>6</a:t>
            </a:r>
            <a:r>
              <a:rPr lang="fr-FR" b="1" dirty="0">
                <a:latin typeface="Times New Roman" panose="02020603050405020304" pitchFamily="18" charset="0"/>
                <a:ea typeface="Times New Roman" panose="02020603050405020304" pitchFamily="18" charset="0"/>
              </a:rPr>
              <a:t>-LA CREATINE PHOSPHATASE KINASE </a:t>
            </a:r>
            <a:r>
              <a:rPr lang="fr-FR" b="1" dirty="0">
                <a:solidFill>
                  <a:schemeClr val="accent2">
                    <a:lumMod val="75000"/>
                  </a:schemeClr>
                </a:solidFill>
                <a:latin typeface="Times New Roman" panose="02020603050405020304" pitchFamily="18" charset="0"/>
                <a:ea typeface="Times New Roman" panose="02020603050405020304" pitchFamily="18" charset="0"/>
              </a:rPr>
              <a:t>CPK</a:t>
            </a:r>
            <a:r>
              <a:rPr lang="fr-FR" sz="3200" dirty="0">
                <a:solidFill>
                  <a:schemeClr val="accent2">
                    <a:lumMod val="75000"/>
                  </a:schemeClr>
                </a:solidFill>
                <a:latin typeface="Times New Roman" panose="02020603050405020304" pitchFamily="18" charset="0"/>
                <a:ea typeface="Times New Roman" panose="02020603050405020304" pitchFamily="18" charset="0"/>
              </a:rPr>
              <a:t/>
            </a:r>
            <a:br>
              <a:rPr lang="fr-FR" sz="3200" dirty="0">
                <a:solidFill>
                  <a:schemeClr val="accent2">
                    <a:lumMod val="75000"/>
                  </a:schemeClr>
                </a:solidFill>
                <a:latin typeface="Times New Roman" panose="02020603050405020304" pitchFamily="18" charset="0"/>
                <a:ea typeface="Times New Roman" panose="02020603050405020304" pitchFamily="18" charset="0"/>
              </a:rPr>
            </a:br>
            <a:endParaRPr lang="fr-FR" dirty="0">
              <a:solidFill>
                <a:schemeClr val="accent2">
                  <a:lumMod val="75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0" y="344442"/>
            <a:ext cx="13430250" cy="11087100"/>
          </a:xfrm>
        </p:spPr>
        <p:txBody>
          <a:bodyPr>
            <a:normAutofit/>
          </a:bodyPr>
          <a:lstStyle/>
          <a:p>
            <a:pPr>
              <a:buFont typeface="Wingdings" panose="05000000000000000000" pitchFamily="2" charset="2"/>
              <a:buChar char="q"/>
            </a:pPr>
            <a:r>
              <a:rPr lang="fr-FR" sz="3200" b="1" u="sng" dirty="0">
                <a:solidFill>
                  <a:schemeClr val="accent2">
                    <a:lumMod val="75000"/>
                  </a:schemeClr>
                </a:solidFill>
                <a:latin typeface="Times New Roman" panose="02020603050405020304" pitchFamily="18" charset="0"/>
                <a:ea typeface="Times New Roman" panose="02020603050405020304" pitchFamily="18" charset="0"/>
              </a:rPr>
              <a:t>Définition</a:t>
            </a:r>
            <a:r>
              <a:rPr lang="fr-FR" sz="3200" b="1" dirty="0">
                <a:solidFill>
                  <a:schemeClr val="accent2">
                    <a:lumMod val="75000"/>
                  </a:schemeClr>
                </a:solidFill>
                <a:latin typeface="Times New Roman" panose="02020603050405020304" pitchFamily="18" charset="0"/>
                <a:ea typeface="Times New Roman" panose="02020603050405020304" pitchFamily="18" charset="0"/>
              </a:rPr>
              <a:t>  </a:t>
            </a:r>
          </a:p>
          <a:p>
            <a:pPr lvl="1">
              <a:buFont typeface="Wingdings" panose="05000000000000000000" pitchFamily="2" charset="2"/>
              <a:buChar char="Ø"/>
            </a:pPr>
            <a:r>
              <a:rPr lang="fr-FR" sz="2400" b="1" dirty="0"/>
              <a:t>créatine phosphatase kinase (</a:t>
            </a:r>
            <a:r>
              <a:rPr lang="fr-FR" sz="2400" b="1" dirty="0">
                <a:solidFill>
                  <a:srgbClr val="FF0000"/>
                </a:solidFill>
              </a:rPr>
              <a:t>CPK</a:t>
            </a:r>
            <a:r>
              <a:rPr lang="fr-FR" sz="2400" b="1" dirty="0"/>
              <a:t>) / créatine kinase (</a:t>
            </a:r>
            <a:r>
              <a:rPr lang="fr-FR" sz="2400" b="1" dirty="0">
                <a:solidFill>
                  <a:srgbClr val="FF0000"/>
                </a:solidFill>
              </a:rPr>
              <a:t>CK</a:t>
            </a:r>
            <a:r>
              <a:rPr lang="fr-FR" sz="2400" b="1" dirty="0" smtClean="0"/>
              <a:t>)</a:t>
            </a:r>
          </a:p>
          <a:p>
            <a:pPr lvl="1">
              <a:buFont typeface="Wingdings" panose="05000000000000000000" pitchFamily="2" charset="2"/>
              <a:buChar char="Ø"/>
            </a:pPr>
            <a:r>
              <a:rPr lang="fr-FR" sz="2400" b="1" dirty="0" smtClean="0"/>
              <a:t>Soit phosphoryliez ou déphosphoré </a:t>
            </a:r>
            <a:endParaRPr lang="fr-FR" sz="2400" b="1" dirty="0"/>
          </a:p>
          <a:p>
            <a:pPr lvl="1">
              <a:buFont typeface="Wingdings" panose="05000000000000000000" pitchFamily="2" charset="2"/>
              <a:buChar char="Ø"/>
            </a:pPr>
            <a:r>
              <a:rPr lang="fr-FR" sz="2400" b="1" dirty="0"/>
              <a:t>++++Muscle squelettique </a:t>
            </a:r>
          </a:p>
          <a:p>
            <a:pPr lvl="1">
              <a:buFont typeface="Wingdings" panose="05000000000000000000" pitchFamily="2" charset="2"/>
              <a:buChar char="Ø"/>
            </a:pPr>
            <a:r>
              <a:rPr lang="fr-FR" sz="2400" b="1" dirty="0"/>
              <a:t>Mise en réserve de </a:t>
            </a:r>
            <a:r>
              <a:rPr lang="fr-FR" sz="2400" b="1" dirty="0" smtClean="0"/>
              <a:t>l’énergie lorsque en synthèse le créatine-P c ’est forme de réserver pour les contractions musculaires</a:t>
            </a:r>
          </a:p>
          <a:p>
            <a:pPr lvl="1">
              <a:buFont typeface="Wingdings" panose="05000000000000000000" pitchFamily="2" charset="2"/>
              <a:buChar char="Ø"/>
            </a:pPr>
            <a:r>
              <a:rPr lang="fr-FR" sz="2400" b="1" dirty="0" smtClean="0"/>
              <a:t>Au repos ce enzymes va phosphoryler le créatine pour le </a:t>
            </a:r>
            <a:r>
              <a:rPr lang="fr-FR" sz="2400" b="1" dirty="0"/>
              <a:t>réserver </a:t>
            </a:r>
            <a:r>
              <a:rPr lang="fr-FR" sz="2400" b="1" dirty="0" smtClean="0"/>
              <a:t>d’énergie en liaison très riche en énergie en utilise dans les contraction musculaires </a:t>
            </a:r>
            <a:r>
              <a:rPr lang="fr-FR" sz="2400" b="1" dirty="0"/>
              <a:t>(</a:t>
            </a:r>
            <a:r>
              <a:rPr lang="fr-FR" sz="2400" b="1" dirty="0" smtClean="0"/>
              <a:t>en dirait que c’est autre forme ATP) et dans les effort l’enzyme </a:t>
            </a:r>
            <a:r>
              <a:rPr lang="fr-FR" sz="2400" b="1" dirty="0"/>
              <a:t>va </a:t>
            </a:r>
            <a:r>
              <a:rPr lang="fr-FR" sz="2400" b="1" dirty="0" smtClean="0"/>
              <a:t>hydrolyser en produisant l’ATP pour produire l’énergie dans les efforts intense au lieu d’utiliser les ATP normaux</a:t>
            </a:r>
          </a:p>
          <a:p>
            <a:pPr lvl="1">
              <a:buFont typeface="Wingdings" panose="05000000000000000000" pitchFamily="2" charset="2"/>
              <a:buChar char="Ø"/>
            </a:pPr>
            <a:r>
              <a:rPr lang="fr-FR" sz="2400" b="1" dirty="0" smtClean="0"/>
              <a:t>Et nécessite la présence de Ion de </a:t>
            </a:r>
            <a:r>
              <a:rPr lang="fr-FR" sz="2400" b="1" dirty="0">
                <a:solidFill>
                  <a:srgbClr val="FF0000"/>
                </a:solidFill>
              </a:rPr>
              <a:t>Mg</a:t>
            </a:r>
            <a:r>
              <a:rPr lang="fr-FR" sz="2400" b="1" baseline="30000" dirty="0">
                <a:solidFill>
                  <a:srgbClr val="FF0000"/>
                </a:solidFill>
              </a:rPr>
              <a:t>2+</a:t>
            </a:r>
            <a:endParaRPr lang="fr-FR" sz="2400" b="1" dirty="0">
              <a:solidFill>
                <a:srgbClr val="FF0000"/>
              </a:solidFill>
            </a:endParaRPr>
          </a:p>
          <a:p>
            <a:pPr lvl="1">
              <a:buFont typeface="Wingdings" panose="05000000000000000000" pitchFamily="2" charset="2"/>
              <a:buChar char="Ø"/>
            </a:pPr>
            <a:endParaRPr lang="fr-FR" sz="2400" b="1" dirty="0"/>
          </a:p>
          <a:p>
            <a:pPr lvl="1">
              <a:buFont typeface="Wingdings" panose="05000000000000000000" pitchFamily="2" charset="2"/>
              <a:buChar char="Ø"/>
            </a:pPr>
            <a:endParaRPr lang="fr-FR" sz="2400" b="1" dirty="0" smtClean="0"/>
          </a:p>
          <a:p>
            <a:pPr lvl="1">
              <a:buFont typeface="Wingdings" panose="05000000000000000000" pitchFamily="2" charset="2"/>
              <a:buChar char="Ø"/>
            </a:pPr>
            <a:endParaRPr lang="fr-FR" sz="2400" b="1" dirty="0"/>
          </a:p>
          <a:p>
            <a:pPr lvl="1">
              <a:buFont typeface="Wingdings" panose="05000000000000000000" pitchFamily="2" charset="2"/>
              <a:buChar char="Ø"/>
            </a:pPr>
            <a:endParaRPr lang="fr-FR" sz="2400" b="1" dirty="0" smtClean="0"/>
          </a:p>
          <a:p>
            <a:pPr lvl="1">
              <a:buFont typeface="Wingdings" panose="05000000000000000000" pitchFamily="2" charset="2"/>
              <a:buChar char="Ø"/>
            </a:pPr>
            <a:endParaRPr lang="fr-FR" sz="2400" b="1" dirty="0"/>
          </a:p>
          <a:p>
            <a:pPr lvl="1">
              <a:buFont typeface="Wingdings" panose="05000000000000000000" pitchFamily="2" charset="2"/>
              <a:buChar char="Ø"/>
            </a:pPr>
            <a:endParaRPr lang="fr-FR" sz="2400" b="1" dirty="0" smtClean="0"/>
          </a:p>
          <a:p>
            <a:pPr lvl="1">
              <a:buFont typeface="Wingdings" panose="05000000000000000000" pitchFamily="2" charset="2"/>
              <a:buChar char="Ø"/>
            </a:pPr>
            <a:endParaRPr lang="fr-FR" sz="2400" b="1" dirty="0"/>
          </a:p>
          <a:p>
            <a:pPr lvl="1">
              <a:buFont typeface="Wingdings" panose="05000000000000000000" pitchFamily="2" charset="2"/>
              <a:buChar char="Ø"/>
            </a:pPr>
            <a:endParaRPr lang="fr-FR" sz="2400" b="1" dirty="0"/>
          </a:p>
          <a:p>
            <a:pPr marL="457200" lvl="1" indent="0">
              <a:buNone/>
            </a:pPr>
            <a:r>
              <a:rPr lang="fr-FR" sz="2400" b="1" dirty="0"/>
              <a:t> </a:t>
            </a:r>
            <a:endParaRPr lang="fr-FR" sz="1800" b="1" dirty="0"/>
          </a:p>
        </p:txBody>
      </p:sp>
      <p:pic>
        <p:nvPicPr>
          <p:cNvPr id="4" name="Image 3">
            <a:extLst>
              <a:ext uri="{FF2B5EF4-FFF2-40B4-BE49-F238E27FC236}">
                <a16:creationId xmlns="" xmlns:a16="http://schemas.microsoft.com/office/drawing/2014/main" id="{2250FB96-7918-459C-AED6-551890867DCD}"/>
              </a:ext>
            </a:extLst>
          </p:cNvPr>
          <p:cNvPicPr>
            <a:picLocks noChangeAspect="1"/>
          </p:cNvPicPr>
          <p:nvPr/>
        </p:nvPicPr>
        <p:blipFill>
          <a:blip r:embed="rId3"/>
          <a:stretch>
            <a:fillRect/>
          </a:stretch>
        </p:blipFill>
        <p:spPr>
          <a:xfrm>
            <a:off x="600695" y="5317966"/>
            <a:ext cx="10290940" cy="1140051"/>
          </a:xfrm>
          <a:prstGeom prst="rect">
            <a:avLst/>
          </a:prstGeom>
        </p:spPr>
      </p:pic>
      <p:sp>
        <p:nvSpPr>
          <p:cNvPr id="5" name="Rectangle 4">
            <a:extLst>
              <a:ext uri="{FF2B5EF4-FFF2-40B4-BE49-F238E27FC236}">
                <a16:creationId xmlns="" xmlns:a16="http://schemas.microsoft.com/office/drawing/2014/main" id="{83953CA1-16D1-4100-A8DA-323D0FCE092D}"/>
              </a:ext>
            </a:extLst>
          </p:cNvPr>
          <p:cNvSpPr/>
          <p:nvPr/>
        </p:nvSpPr>
        <p:spPr>
          <a:xfrm>
            <a:off x="5369120" y="6053232"/>
            <a:ext cx="2040835" cy="6959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FF0000"/>
                </a:solidFill>
              </a:rPr>
              <a:t>Mg</a:t>
            </a:r>
            <a:r>
              <a:rPr lang="fr-FR" sz="2400" b="1" baseline="30000" dirty="0">
                <a:solidFill>
                  <a:srgbClr val="FF0000"/>
                </a:solidFill>
              </a:rPr>
              <a:t>2+</a:t>
            </a:r>
            <a:endParaRPr lang="fr-FR" sz="2400" b="1" dirty="0">
              <a:solidFill>
                <a:srgbClr val="FF0000"/>
              </a:solidFill>
            </a:endParaRPr>
          </a:p>
        </p:txBody>
      </p:sp>
      <p:sp>
        <p:nvSpPr>
          <p:cNvPr id="6" name="Rectangle 5">
            <a:extLst>
              <a:ext uri="{FF2B5EF4-FFF2-40B4-BE49-F238E27FC236}">
                <a16:creationId xmlns="" xmlns:a16="http://schemas.microsoft.com/office/drawing/2014/main" id="{6BE4C0D4-4792-4165-823D-4DFBB3897CC3}"/>
              </a:ext>
            </a:extLst>
          </p:cNvPr>
          <p:cNvSpPr/>
          <p:nvPr/>
        </p:nvSpPr>
        <p:spPr>
          <a:xfrm>
            <a:off x="924545" y="5557866"/>
            <a:ext cx="2332383" cy="9001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Créatine-P</a:t>
            </a:r>
          </a:p>
        </p:txBody>
      </p:sp>
      <p:sp>
        <p:nvSpPr>
          <p:cNvPr id="7" name="Rectangle 6">
            <a:extLst>
              <a:ext uri="{FF2B5EF4-FFF2-40B4-BE49-F238E27FC236}">
                <a16:creationId xmlns="" xmlns:a16="http://schemas.microsoft.com/office/drawing/2014/main" id="{E50310C0-2DFA-4FB7-B3FD-E759716C9714}"/>
              </a:ext>
            </a:extLst>
          </p:cNvPr>
          <p:cNvSpPr/>
          <p:nvPr/>
        </p:nvSpPr>
        <p:spPr>
          <a:xfrm>
            <a:off x="7681064" y="5557866"/>
            <a:ext cx="1919045" cy="9001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prstClr val="black"/>
                </a:solidFill>
              </a:rPr>
              <a:t>Créatine</a:t>
            </a:r>
            <a:endParaRPr lang="fr-FR" sz="3200" b="1" dirty="0"/>
          </a:p>
        </p:txBody>
      </p:sp>
    </p:spTree>
    <p:extLst>
      <p:ext uri="{BB962C8B-B14F-4D97-AF65-F5344CB8AC3E}">
        <p14:creationId xmlns:p14="http://schemas.microsoft.com/office/powerpoint/2010/main" val="247671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331304" y="461038"/>
            <a:ext cx="8596668" cy="1320800"/>
          </a:xfrm>
        </p:spPr>
        <p:txBody>
          <a:bodyPr>
            <a:normAutofit fontScale="90000"/>
          </a:bodyPr>
          <a:lstStyle/>
          <a:p>
            <a:pPr algn="ctr">
              <a:spcAft>
                <a:spcPts val="0"/>
              </a:spcAft>
            </a:pPr>
            <a:r>
              <a:rPr lang="fr-FR" sz="3200" b="1" dirty="0">
                <a:latin typeface="Times New Roman" panose="02020603050405020304" pitchFamily="18" charset="0"/>
                <a:ea typeface="Times New Roman" panose="02020603050405020304" pitchFamily="18" charset="0"/>
              </a:rPr>
              <a:t>6</a:t>
            </a:r>
            <a:r>
              <a:rPr lang="fr-FR" b="1" dirty="0">
                <a:latin typeface="Times New Roman" panose="02020603050405020304" pitchFamily="18" charset="0"/>
                <a:ea typeface="Times New Roman" panose="02020603050405020304" pitchFamily="18" charset="0"/>
              </a:rPr>
              <a:t>-LA CREATINE PHOSPHATASE KINASE </a:t>
            </a:r>
            <a:r>
              <a:rPr lang="fr-FR" b="1" dirty="0">
                <a:solidFill>
                  <a:schemeClr val="accent2">
                    <a:lumMod val="75000"/>
                  </a:schemeClr>
                </a:solidFill>
                <a:latin typeface="Times New Roman" panose="02020603050405020304" pitchFamily="18" charset="0"/>
                <a:ea typeface="Times New Roman" panose="02020603050405020304" pitchFamily="18" charset="0"/>
              </a:rPr>
              <a:t>CPK</a:t>
            </a:r>
            <a:r>
              <a:rPr lang="fr-FR" sz="3200" dirty="0">
                <a:solidFill>
                  <a:schemeClr val="accent2">
                    <a:lumMod val="75000"/>
                  </a:schemeClr>
                </a:solidFill>
                <a:latin typeface="Times New Roman" panose="02020603050405020304" pitchFamily="18" charset="0"/>
                <a:ea typeface="Times New Roman" panose="02020603050405020304" pitchFamily="18" charset="0"/>
              </a:rPr>
              <a:t/>
            </a:r>
            <a:br>
              <a:rPr lang="fr-FR" sz="3200" dirty="0">
                <a:solidFill>
                  <a:schemeClr val="accent2">
                    <a:lumMod val="75000"/>
                  </a:schemeClr>
                </a:solidFill>
                <a:latin typeface="Times New Roman" panose="02020603050405020304" pitchFamily="18" charset="0"/>
                <a:ea typeface="Times New Roman" panose="02020603050405020304" pitchFamily="18" charset="0"/>
              </a:rPr>
            </a:br>
            <a:endParaRPr lang="fr-FR" dirty="0">
              <a:solidFill>
                <a:schemeClr val="accent2">
                  <a:lumMod val="75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0" y="1635357"/>
            <a:ext cx="11317357" cy="5088834"/>
          </a:xfrm>
        </p:spPr>
        <p:txBody>
          <a:bodyPr>
            <a:normAutofit/>
          </a:bodyPr>
          <a:lstStyle/>
          <a:p>
            <a:pPr>
              <a:buFont typeface="Wingdings" panose="05000000000000000000" pitchFamily="2" charset="2"/>
              <a:buChar char="q"/>
            </a:pPr>
            <a:r>
              <a:rPr lang="fr-FR" sz="3200" b="1" u="sng" dirty="0">
                <a:solidFill>
                  <a:schemeClr val="accent2">
                    <a:lumMod val="75000"/>
                  </a:schemeClr>
                </a:solidFill>
              </a:rPr>
              <a:t>Isoenzymes et répartition tissulaire </a:t>
            </a:r>
            <a:endParaRPr lang="fr-FR" sz="3200" b="1" dirty="0">
              <a:solidFill>
                <a:schemeClr val="accent2">
                  <a:lumMod val="75000"/>
                </a:schemeClr>
              </a:solidFill>
            </a:endParaRPr>
          </a:p>
          <a:p>
            <a:pPr>
              <a:buFont typeface="Wingdings" panose="05000000000000000000" pitchFamily="2" charset="2"/>
              <a:buChar char="Ø"/>
            </a:pPr>
            <a:r>
              <a:rPr lang="fr-FR" sz="2000" dirty="0"/>
              <a:t>2 Sous unités codées </a:t>
            </a:r>
            <a:r>
              <a:rPr lang="fr-FR" sz="2000" dirty="0" smtClean="0"/>
              <a:t>par des gènes différents</a:t>
            </a:r>
            <a:r>
              <a:rPr lang="fr-FR" sz="2000" dirty="0" smtClean="0">
                <a:latin typeface="Times New Roman" panose="02020603050405020304" pitchFamily="18" charset="0"/>
                <a:ea typeface="Times New Roman" panose="02020603050405020304" pitchFamily="18" charset="0"/>
              </a:rPr>
              <a:t> </a:t>
            </a:r>
            <a:r>
              <a:rPr lang="fr-FR" sz="2000" dirty="0"/>
              <a:t>: </a:t>
            </a:r>
          </a:p>
          <a:p>
            <a:pPr lvl="1">
              <a:buFont typeface="Wingdings" panose="05000000000000000000" pitchFamily="2" charset="2"/>
              <a:buChar char="§"/>
            </a:pPr>
            <a:r>
              <a:rPr lang="fr-FR" sz="2000" dirty="0"/>
              <a:t>Ss U M : (muscle)</a:t>
            </a:r>
          </a:p>
          <a:p>
            <a:pPr lvl="1">
              <a:buFont typeface="Wingdings" panose="05000000000000000000" pitchFamily="2" charset="2"/>
              <a:buChar char="§"/>
            </a:pPr>
            <a:r>
              <a:rPr lang="fr-FR" sz="2000" dirty="0"/>
              <a:t>Ss U B : </a:t>
            </a:r>
            <a:r>
              <a:rPr lang="fr-FR" sz="2000" dirty="0" smtClean="0"/>
              <a:t>(Brain=cerveau</a:t>
            </a:r>
            <a:r>
              <a:rPr lang="fr-FR" sz="2000" dirty="0"/>
              <a:t>) </a:t>
            </a:r>
          </a:p>
          <a:p>
            <a:pPr>
              <a:buFont typeface="Wingdings" panose="05000000000000000000" pitchFamily="2" charset="2"/>
              <a:buChar char="Ø"/>
            </a:pPr>
            <a:r>
              <a:rPr lang="fr-FR" sz="2000" dirty="0"/>
              <a:t>3 </a:t>
            </a:r>
            <a:r>
              <a:rPr lang="fr-FR" sz="2000" dirty="0" smtClean="0"/>
              <a:t>iso enzymes : donc soit MM BB MB</a:t>
            </a:r>
            <a:endParaRPr lang="fr-FR" sz="2000" dirty="0"/>
          </a:p>
          <a:p>
            <a:pPr lvl="1">
              <a:buFont typeface="Wingdings" panose="05000000000000000000" pitchFamily="2" charset="2"/>
              <a:buChar char="§"/>
            </a:pPr>
            <a:r>
              <a:rPr lang="fr-FR" sz="2000" dirty="0">
                <a:solidFill>
                  <a:srgbClr val="FF0000"/>
                </a:solidFill>
              </a:rPr>
              <a:t>CKBB </a:t>
            </a:r>
            <a:r>
              <a:rPr lang="fr-FR" sz="2000" dirty="0"/>
              <a:t>(CK1) : </a:t>
            </a:r>
            <a:r>
              <a:rPr lang="fr-FR" sz="2000" dirty="0">
                <a:solidFill>
                  <a:srgbClr val="FF0000"/>
                </a:solidFill>
              </a:rPr>
              <a:t>cerveau</a:t>
            </a:r>
            <a:r>
              <a:rPr lang="fr-FR" sz="2000" dirty="0"/>
              <a:t>, </a:t>
            </a:r>
            <a:r>
              <a:rPr lang="fr-FR" sz="2000" dirty="0">
                <a:solidFill>
                  <a:prstClr val="black">
                    <a:lumMod val="75000"/>
                    <a:lumOff val="25000"/>
                  </a:prstClr>
                </a:solidFill>
              </a:rPr>
              <a:t>thyroïde ,</a:t>
            </a:r>
            <a:r>
              <a:rPr lang="fr-FR" sz="2000" dirty="0"/>
              <a:t>tractus digestif, vessie, utérus,</a:t>
            </a:r>
            <a:r>
              <a:rPr lang="fr-FR" sz="2000" dirty="0">
                <a:solidFill>
                  <a:prstClr val="black">
                    <a:lumMod val="75000"/>
                    <a:lumOff val="25000"/>
                  </a:prstClr>
                </a:solidFill>
              </a:rPr>
              <a:t> placenta, prostate</a:t>
            </a:r>
            <a:r>
              <a:rPr lang="fr-FR" sz="2000" dirty="0"/>
              <a:t>  </a:t>
            </a:r>
          </a:p>
          <a:p>
            <a:pPr lvl="1">
              <a:buFont typeface="Wingdings" panose="05000000000000000000" pitchFamily="2" charset="2"/>
              <a:buChar char="§"/>
            </a:pPr>
            <a:r>
              <a:rPr lang="fr-FR" sz="2000" dirty="0">
                <a:solidFill>
                  <a:srgbClr val="FF0000"/>
                </a:solidFill>
              </a:rPr>
              <a:t>CKMB</a:t>
            </a:r>
            <a:r>
              <a:rPr lang="fr-FR" sz="2000" dirty="0"/>
              <a:t> (CK2) : </a:t>
            </a:r>
            <a:r>
              <a:rPr lang="fr-FR" sz="2000" b="1" dirty="0">
                <a:solidFill>
                  <a:srgbClr val="FF0000"/>
                </a:solidFill>
              </a:rPr>
              <a:t>myocarde </a:t>
            </a:r>
          </a:p>
          <a:p>
            <a:pPr lvl="1">
              <a:buFont typeface="Wingdings" panose="05000000000000000000" pitchFamily="2" charset="2"/>
              <a:buChar char="§"/>
            </a:pPr>
            <a:r>
              <a:rPr lang="fr-FR" sz="2000" dirty="0">
                <a:solidFill>
                  <a:srgbClr val="FF0000"/>
                </a:solidFill>
              </a:rPr>
              <a:t>CKMM </a:t>
            </a:r>
            <a:r>
              <a:rPr lang="fr-FR" sz="2000" dirty="0"/>
              <a:t>(CK3) : </a:t>
            </a:r>
            <a:r>
              <a:rPr lang="fr-FR" sz="2000" dirty="0">
                <a:solidFill>
                  <a:srgbClr val="FF0000"/>
                </a:solidFill>
              </a:rPr>
              <a:t>muscle squelettique </a:t>
            </a:r>
            <a:r>
              <a:rPr lang="fr-FR" sz="2000" dirty="0"/>
              <a:t>,</a:t>
            </a:r>
            <a:r>
              <a:rPr lang="fr-FR" sz="2000" dirty="0">
                <a:solidFill>
                  <a:srgbClr val="FF0000"/>
                </a:solidFill>
              </a:rPr>
              <a:t>myocarde</a:t>
            </a:r>
          </a:p>
          <a:p>
            <a:pPr lvl="0">
              <a:buClr>
                <a:srgbClr val="90C226"/>
              </a:buClr>
              <a:buFont typeface="Wingdings" panose="05000000000000000000" pitchFamily="2" charset="2"/>
              <a:buChar char="Ø"/>
            </a:pPr>
            <a:r>
              <a:rPr lang="fr-FR" sz="2000" dirty="0">
                <a:solidFill>
                  <a:prstClr val="black">
                    <a:lumMod val="75000"/>
                    <a:lumOff val="25000"/>
                  </a:prstClr>
                </a:solidFill>
              </a:rPr>
              <a:t>3 isoenzymes :répartitions tissulaires </a:t>
            </a:r>
            <a:r>
              <a:rPr lang="fr-FR" sz="2000" dirty="0" smtClean="0">
                <a:solidFill>
                  <a:prstClr val="black">
                    <a:lumMod val="75000"/>
                    <a:lumOff val="25000"/>
                  </a:prstClr>
                </a:solidFill>
                <a:latin typeface="Times New Roman" panose="02020603050405020304" pitchFamily="18" charset="0"/>
              </a:rPr>
              <a:t>différente </a:t>
            </a:r>
            <a:r>
              <a:rPr lang="fr-FR" sz="2000" dirty="0" smtClean="0">
                <a:solidFill>
                  <a:prstClr val="black">
                    <a:lumMod val="75000"/>
                    <a:lumOff val="25000"/>
                  </a:prstClr>
                </a:solidFill>
                <a:latin typeface="Times New Roman" panose="02020603050405020304" pitchFamily="18" charset="0"/>
                <a:ea typeface="Times New Roman" panose="02020603050405020304" pitchFamily="18" charset="0"/>
              </a:rPr>
              <a:t>+</a:t>
            </a:r>
            <a:r>
              <a:rPr lang="fr-FR" sz="2000" dirty="0" smtClean="0">
                <a:solidFill>
                  <a:prstClr val="black">
                    <a:lumMod val="75000"/>
                    <a:lumOff val="25000"/>
                  </a:prstClr>
                </a:solidFill>
              </a:rPr>
              <a:t> </a:t>
            </a:r>
            <a:r>
              <a:rPr lang="fr-FR" sz="2000" dirty="0">
                <a:solidFill>
                  <a:prstClr val="black">
                    <a:lumMod val="75000"/>
                    <a:lumOff val="25000"/>
                  </a:prstClr>
                </a:solidFill>
              </a:rPr>
              <a:t>mobilité électrophorétique</a:t>
            </a:r>
            <a:r>
              <a:rPr lang="fr-FR" sz="2000" dirty="0">
                <a:solidFill>
                  <a:prstClr val="black">
                    <a:lumMod val="75000"/>
                    <a:lumOff val="25000"/>
                  </a:prstClr>
                </a:solidFill>
                <a:latin typeface="Times New Roman" panose="02020603050405020304" pitchFamily="18" charset="0"/>
                <a:ea typeface="Times New Roman" panose="02020603050405020304" pitchFamily="18" charset="0"/>
              </a:rPr>
              <a:t> </a:t>
            </a:r>
            <a:r>
              <a:rPr lang="fr-FR" sz="2000" dirty="0" smtClean="0">
                <a:solidFill>
                  <a:prstClr val="black">
                    <a:lumMod val="75000"/>
                    <a:lumOff val="25000"/>
                  </a:prstClr>
                </a:solidFill>
                <a:latin typeface="Times New Roman" panose="02020603050405020304" pitchFamily="18" charset="0"/>
                <a:ea typeface="Times New Roman" panose="02020603050405020304" pitchFamily="18" charset="0"/>
              </a:rPr>
              <a:t>différente donc on peut les séparer </a:t>
            </a:r>
            <a:r>
              <a:rPr lang="fr-FR" sz="2000" dirty="0">
                <a:solidFill>
                  <a:prstClr val="black">
                    <a:lumMod val="75000"/>
                    <a:lumOff val="25000"/>
                  </a:prstClr>
                </a:solidFill>
                <a:latin typeface="Times New Roman" panose="02020603050405020304" pitchFamily="18" charset="0"/>
                <a:ea typeface="Times New Roman" panose="02020603050405020304" pitchFamily="18" charset="0"/>
              </a:rPr>
              <a:t>par </a:t>
            </a:r>
            <a:r>
              <a:rPr lang="fr-FR" sz="2000" dirty="0" smtClean="0">
                <a:solidFill>
                  <a:prstClr val="black">
                    <a:lumMod val="75000"/>
                    <a:lumOff val="25000"/>
                  </a:prstClr>
                </a:solidFill>
                <a:latin typeface="Times New Roman" panose="02020603050405020304" pitchFamily="18" charset="0"/>
                <a:ea typeface="Times New Roman" panose="02020603050405020304" pitchFamily="18" charset="0"/>
              </a:rPr>
              <a:t>l'électrophorèse et le doser chaque iso enzymes</a:t>
            </a:r>
            <a:endParaRPr lang="fr-FR" sz="2000" dirty="0">
              <a:solidFill>
                <a:prstClr val="black">
                  <a:lumMod val="75000"/>
                  <a:lumOff val="25000"/>
                </a:prstClr>
              </a:solidFill>
            </a:endParaRPr>
          </a:p>
          <a:p>
            <a:pPr>
              <a:buFont typeface="Wingdings" panose="05000000000000000000" pitchFamily="2" charset="2"/>
              <a:buChar char="Ø"/>
            </a:pPr>
            <a:endParaRPr lang="fr-FR" dirty="0"/>
          </a:p>
          <a:p>
            <a:pPr marL="0" indent="0">
              <a:buNone/>
            </a:pPr>
            <a:endParaRPr lang="fr-FR" sz="2400" b="1" dirty="0">
              <a:solidFill>
                <a:schemeClr val="accent2">
                  <a:lumMod val="75000"/>
                </a:schemeClr>
              </a:solidFill>
            </a:endParaRPr>
          </a:p>
        </p:txBody>
      </p:sp>
    </p:spTree>
    <p:extLst>
      <p:ext uri="{BB962C8B-B14F-4D97-AF65-F5344CB8AC3E}">
        <p14:creationId xmlns:p14="http://schemas.microsoft.com/office/powerpoint/2010/main" val="231826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p:txBody>
          <a:bodyPr>
            <a:normAutofit fontScale="90000"/>
          </a:bodyPr>
          <a:lstStyle/>
          <a:p>
            <a:pPr algn="ctr">
              <a:spcAft>
                <a:spcPts val="0"/>
              </a:spcAft>
            </a:pPr>
            <a:r>
              <a:rPr lang="fr-FR" sz="3200" b="1" dirty="0">
                <a:latin typeface="Times New Roman" panose="02020603050405020304" pitchFamily="18" charset="0"/>
                <a:ea typeface="Times New Roman" panose="02020603050405020304" pitchFamily="18" charset="0"/>
              </a:rPr>
              <a:t>6</a:t>
            </a:r>
            <a:r>
              <a:rPr lang="fr-FR" b="1" dirty="0">
                <a:latin typeface="Times New Roman" panose="02020603050405020304" pitchFamily="18" charset="0"/>
                <a:ea typeface="Times New Roman" panose="02020603050405020304" pitchFamily="18" charset="0"/>
              </a:rPr>
              <a:t>-LA CREATINE PHOSPHATASE KINASE </a:t>
            </a:r>
            <a:r>
              <a:rPr lang="fr-FR" b="1" dirty="0">
                <a:solidFill>
                  <a:schemeClr val="accent2">
                    <a:lumMod val="75000"/>
                  </a:schemeClr>
                </a:solidFill>
                <a:latin typeface="Times New Roman" panose="02020603050405020304" pitchFamily="18" charset="0"/>
                <a:ea typeface="Times New Roman" panose="02020603050405020304" pitchFamily="18" charset="0"/>
              </a:rPr>
              <a:t>(CPK)</a:t>
            </a:r>
            <a:r>
              <a:rPr lang="fr-FR" sz="3200" dirty="0">
                <a:solidFill>
                  <a:schemeClr val="accent2">
                    <a:lumMod val="75000"/>
                  </a:schemeClr>
                </a:solidFill>
                <a:latin typeface="Times New Roman" panose="02020603050405020304" pitchFamily="18" charset="0"/>
                <a:ea typeface="Times New Roman" panose="02020603050405020304" pitchFamily="18" charset="0"/>
              </a:rPr>
              <a:t/>
            </a:r>
            <a:br>
              <a:rPr lang="fr-FR" sz="3200" dirty="0">
                <a:solidFill>
                  <a:schemeClr val="accent2">
                    <a:lumMod val="75000"/>
                  </a:schemeClr>
                </a:solidFill>
                <a:latin typeface="Times New Roman" panose="02020603050405020304" pitchFamily="18" charset="0"/>
                <a:ea typeface="Times New Roman" panose="02020603050405020304" pitchFamily="18" charset="0"/>
              </a:rPr>
            </a:br>
            <a:endParaRPr lang="fr-FR" dirty="0">
              <a:solidFill>
                <a:schemeClr val="accent2">
                  <a:lumMod val="75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1989299" y="1930400"/>
            <a:ext cx="8596668" cy="3880773"/>
          </a:xfrm>
        </p:spPr>
        <p:txBody>
          <a:bodyPr>
            <a:normAutofit/>
          </a:bodyPr>
          <a:lstStyle/>
          <a:p>
            <a:endParaRPr lang="fr-FR" dirty="0"/>
          </a:p>
          <a:p>
            <a:pPr>
              <a:buFont typeface="Wingdings" panose="05000000000000000000" pitchFamily="2" charset="2"/>
              <a:buChar char="q"/>
            </a:pPr>
            <a:r>
              <a:rPr lang="fr-FR" sz="3600" b="1" u="sng" dirty="0">
                <a:solidFill>
                  <a:srgbClr val="92D050"/>
                </a:solidFill>
              </a:rPr>
              <a:t>Valeur normale</a:t>
            </a:r>
          </a:p>
          <a:p>
            <a:pPr>
              <a:buFont typeface="Wingdings" panose="05000000000000000000" pitchFamily="2" charset="2"/>
              <a:buChar char="q"/>
            </a:pPr>
            <a:endParaRPr lang="fr-FR" sz="3600" b="1" dirty="0">
              <a:solidFill>
                <a:schemeClr val="accent2">
                  <a:lumMod val="50000"/>
                </a:schemeClr>
              </a:solidFill>
            </a:endParaRPr>
          </a:p>
          <a:p>
            <a:pPr lvl="1">
              <a:buFont typeface="Wingdings" panose="05000000000000000000" pitchFamily="2" charset="2"/>
              <a:buChar char="ü"/>
            </a:pPr>
            <a:r>
              <a:rPr lang="fr-FR" sz="3600" dirty="0">
                <a:solidFill>
                  <a:srgbClr val="FF0000"/>
                </a:solidFill>
              </a:rPr>
              <a:t>H:40-300</a:t>
            </a:r>
            <a:r>
              <a:rPr lang="fr-FR" sz="3600" dirty="0">
                <a:solidFill>
                  <a:schemeClr val="accent2">
                    <a:lumMod val="50000"/>
                  </a:schemeClr>
                </a:solidFill>
              </a:rPr>
              <a:t> </a:t>
            </a:r>
            <a:r>
              <a:rPr lang="fr-FR" sz="3600" dirty="0"/>
              <a:t>UI/ L</a:t>
            </a:r>
          </a:p>
          <a:p>
            <a:pPr lvl="1">
              <a:buFont typeface="Wingdings" panose="05000000000000000000" pitchFamily="2" charset="2"/>
              <a:buChar char="ü"/>
            </a:pPr>
            <a:r>
              <a:rPr lang="fr-FR" sz="3600" dirty="0">
                <a:solidFill>
                  <a:srgbClr val="FF0000"/>
                </a:solidFill>
              </a:rPr>
              <a:t>F:25-200</a:t>
            </a:r>
            <a:r>
              <a:rPr lang="fr-FR" sz="3600" dirty="0">
                <a:solidFill>
                  <a:schemeClr val="accent2">
                    <a:lumMod val="50000"/>
                  </a:schemeClr>
                </a:solidFill>
              </a:rPr>
              <a:t> </a:t>
            </a:r>
            <a:r>
              <a:rPr lang="fr-FR" sz="3600" dirty="0"/>
              <a:t>UI/L</a:t>
            </a:r>
          </a:p>
          <a:p>
            <a:endParaRPr lang="fr-FR" dirty="0"/>
          </a:p>
        </p:txBody>
      </p:sp>
    </p:spTree>
    <p:extLst>
      <p:ext uri="{BB962C8B-B14F-4D97-AF65-F5344CB8AC3E}">
        <p14:creationId xmlns:p14="http://schemas.microsoft.com/office/powerpoint/2010/main" val="3639434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0" y="0"/>
            <a:ext cx="9089409" cy="567093"/>
          </a:xfrm>
        </p:spPr>
        <p:txBody>
          <a:bodyPr>
            <a:normAutofit fontScale="90000"/>
          </a:bodyPr>
          <a:lstStyle/>
          <a:p>
            <a:pPr algn="ctr">
              <a:spcAft>
                <a:spcPts val="0"/>
              </a:spcAft>
            </a:pPr>
            <a:r>
              <a:rPr lang="fr-FR" sz="3200" b="1" dirty="0">
                <a:latin typeface="Times New Roman" panose="02020603050405020304" pitchFamily="18" charset="0"/>
                <a:ea typeface="Times New Roman" panose="02020603050405020304" pitchFamily="18" charset="0"/>
              </a:rPr>
              <a:t>6</a:t>
            </a:r>
            <a:r>
              <a:rPr lang="fr-FR" b="1" dirty="0">
                <a:latin typeface="Times New Roman" panose="02020603050405020304" pitchFamily="18" charset="0"/>
                <a:ea typeface="Times New Roman" panose="02020603050405020304" pitchFamily="18" charset="0"/>
              </a:rPr>
              <a:t>-LA CREATINE PHOSPHATASE KINASE </a:t>
            </a:r>
            <a:r>
              <a:rPr lang="fr-FR" b="1" dirty="0">
                <a:solidFill>
                  <a:schemeClr val="accent2">
                    <a:lumMod val="75000"/>
                  </a:schemeClr>
                </a:solidFill>
                <a:latin typeface="Times New Roman" panose="02020603050405020304" pitchFamily="18" charset="0"/>
                <a:ea typeface="Times New Roman" panose="02020603050405020304" pitchFamily="18" charset="0"/>
              </a:rPr>
              <a:t>CPK</a:t>
            </a:r>
            <a:r>
              <a:rPr lang="fr-FR" sz="3200" dirty="0">
                <a:solidFill>
                  <a:schemeClr val="accent2">
                    <a:lumMod val="75000"/>
                  </a:schemeClr>
                </a:solidFill>
                <a:latin typeface="Times New Roman" panose="02020603050405020304" pitchFamily="18" charset="0"/>
                <a:ea typeface="Times New Roman" panose="02020603050405020304" pitchFamily="18" charset="0"/>
              </a:rPr>
              <a:t/>
            </a:r>
            <a:br>
              <a:rPr lang="fr-FR" sz="3200" dirty="0">
                <a:solidFill>
                  <a:schemeClr val="accent2">
                    <a:lumMod val="75000"/>
                  </a:schemeClr>
                </a:solidFill>
                <a:latin typeface="Times New Roman" panose="02020603050405020304" pitchFamily="18" charset="0"/>
                <a:ea typeface="Times New Roman" panose="02020603050405020304" pitchFamily="18" charset="0"/>
              </a:rPr>
            </a:br>
            <a:endParaRPr lang="fr-FR" dirty="0">
              <a:solidFill>
                <a:schemeClr val="accent2">
                  <a:lumMod val="75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0" y="567093"/>
            <a:ext cx="12192000" cy="6188549"/>
          </a:xfrm>
        </p:spPr>
        <p:txBody>
          <a:bodyPr>
            <a:normAutofit/>
          </a:bodyPr>
          <a:lstStyle/>
          <a:p>
            <a:pPr>
              <a:buFont typeface="Wingdings" panose="05000000000000000000" pitchFamily="2" charset="2"/>
              <a:buChar char="q"/>
            </a:pPr>
            <a:r>
              <a:rPr lang="fr-FR" sz="3200" b="1" u="sng" dirty="0">
                <a:solidFill>
                  <a:schemeClr val="accent2">
                    <a:lumMod val="75000"/>
                  </a:schemeClr>
                </a:solidFill>
              </a:rPr>
              <a:t>Variations physiologiques </a:t>
            </a:r>
            <a:r>
              <a:rPr lang="fr-FR" sz="3200" b="1" dirty="0">
                <a:solidFill>
                  <a:schemeClr val="accent2">
                    <a:lumMod val="75000"/>
                  </a:schemeClr>
                </a:solidFill>
              </a:rPr>
              <a:t>:</a:t>
            </a:r>
            <a:r>
              <a:rPr lang="fr-FR" sz="3200" dirty="0">
                <a:solidFill>
                  <a:schemeClr val="accent2">
                    <a:lumMod val="75000"/>
                  </a:schemeClr>
                </a:solidFill>
              </a:rPr>
              <a:t> </a:t>
            </a:r>
          </a:p>
          <a:p>
            <a:r>
              <a:rPr lang="fr-FR" sz="2200" dirty="0"/>
              <a:t>la CK total </a:t>
            </a:r>
            <a:r>
              <a:rPr lang="fr-FR" sz="2200" dirty="0">
                <a:latin typeface="Abadi Extra Light" panose="020B0204020104020204" pitchFamily="34" charset="0"/>
              </a:rPr>
              <a:t>~ </a:t>
            </a:r>
            <a:r>
              <a:rPr lang="fr-FR" sz="2200" dirty="0"/>
              <a:t>sexe + âge</a:t>
            </a:r>
          </a:p>
          <a:p>
            <a:pPr lvl="1"/>
            <a:r>
              <a:rPr lang="fr-FR" sz="2000" dirty="0" smtClean="0"/>
              <a:t>Nouveaux née </a:t>
            </a:r>
            <a:r>
              <a:rPr lang="fr-FR" sz="2000" dirty="0"/>
              <a:t>premiers mois</a:t>
            </a:r>
            <a:r>
              <a:rPr lang="fr-FR" sz="2200" dirty="0">
                <a:solidFill>
                  <a:prstClr val="black">
                    <a:lumMod val="75000"/>
                    <a:lumOff val="25000"/>
                  </a:prstClr>
                </a:solidFill>
                <a:latin typeface="Times New Roman" panose="02020603050405020304" pitchFamily="18" charset="0"/>
                <a:cs typeface="Times New Roman" panose="02020603050405020304" pitchFamily="18" charset="0"/>
              </a:rPr>
              <a:t> </a:t>
            </a:r>
            <a:r>
              <a:rPr lang="fr-FR" sz="2200" dirty="0" smtClean="0">
                <a:solidFill>
                  <a:prstClr val="black">
                    <a:lumMod val="75000"/>
                    <a:lumOff val="25000"/>
                  </a:prstClr>
                </a:solidFill>
                <a:latin typeface="Times New Roman" panose="02020603050405020304" pitchFamily="18" charset="0"/>
                <a:cs typeface="Times New Roman" panose="02020603050405020304" pitchFamily="18" charset="0"/>
              </a:rPr>
              <a:t>↑ très augmenter plus que chez l’adulte puis se diminuer jusqu’à se rejointe les valeurs du adulte</a:t>
            </a:r>
            <a:endParaRPr lang="fr-FR" sz="2200" dirty="0">
              <a:solidFill>
                <a:prstClr val="black">
                  <a:lumMod val="75000"/>
                  <a:lumOff val="25000"/>
                </a:prstClr>
              </a:solidFill>
              <a:latin typeface="Times New Roman" panose="02020603050405020304" pitchFamily="18" charset="0"/>
              <a:cs typeface="Times New Roman" panose="02020603050405020304" pitchFamily="18" charset="0"/>
            </a:endParaRPr>
          </a:p>
          <a:p>
            <a:pPr lvl="1"/>
            <a:r>
              <a:rPr lang="fr-FR" sz="2000" dirty="0" smtClean="0"/>
              <a:t>Enfants </a:t>
            </a:r>
            <a:r>
              <a:rPr lang="fr-FR" sz="2000" dirty="0"/>
              <a:t>M=F</a:t>
            </a:r>
          </a:p>
          <a:p>
            <a:pPr lvl="1"/>
            <a:r>
              <a:rPr lang="fr-FR" sz="2000" dirty="0"/>
              <a:t>Adulte H</a:t>
            </a:r>
            <a:r>
              <a:rPr lang="fr-FR" sz="2000" dirty="0">
                <a:latin typeface="Abadi Extra Light" panose="020B0204020104020204" pitchFamily="34" charset="0"/>
              </a:rPr>
              <a:t>&gt;</a:t>
            </a:r>
            <a:r>
              <a:rPr lang="fr-FR" sz="2000" dirty="0"/>
              <a:t>F (masse musculaire)</a:t>
            </a:r>
          </a:p>
          <a:p>
            <a:r>
              <a:rPr lang="fr-FR" sz="2200" dirty="0"/>
              <a:t>Exercice musculaire </a:t>
            </a:r>
            <a:r>
              <a:rPr lang="fr-FR" sz="2200" dirty="0">
                <a:latin typeface="Times New Roman" panose="02020603050405020304" pitchFamily="18" charset="0"/>
                <a:cs typeface="Times New Roman" panose="02020603050405020304" pitchFamily="18" charset="0"/>
              </a:rPr>
              <a:t>↑</a:t>
            </a:r>
            <a:r>
              <a:rPr lang="fr-FR" sz="2200" dirty="0"/>
              <a:t>CK (</a:t>
            </a:r>
            <a:r>
              <a:rPr lang="fr-FR" sz="2200" dirty="0">
                <a:solidFill>
                  <a:prstClr val="black">
                    <a:lumMod val="75000"/>
                    <a:lumOff val="25000"/>
                  </a:prstClr>
                </a:solidFill>
                <a:latin typeface="Times New Roman" panose="02020603050405020304" pitchFamily="18" charset="0"/>
                <a:cs typeface="Times New Roman" panose="02020603050405020304" pitchFamily="18" charset="0"/>
              </a:rPr>
              <a:t>↑ </a:t>
            </a:r>
            <a:r>
              <a:rPr lang="fr-FR" sz="2200" dirty="0"/>
              <a:t>avec intensité) </a:t>
            </a:r>
            <a:r>
              <a:rPr lang="fr-FR" sz="2200" dirty="0" smtClean="0"/>
              <a:t>ca se normaliser </a:t>
            </a:r>
            <a:r>
              <a:rPr lang="fr-FR" sz="2200" dirty="0"/>
              <a:t>3-15j après le repos</a:t>
            </a:r>
          </a:p>
          <a:p>
            <a:r>
              <a:rPr lang="fr-FR" sz="2200" dirty="0"/>
              <a:t>Grossesse : </a:t>
            </a:r>
          </a:p>
          <a:p>
            <a:pPr lvl="1"/>
            <a:r>
              <a:rPr lang="fr-FR" sz="2200" dirty="0">
                <a:latin typeface="Times New Roman" panose="02020603050405020304" pitchFamily="18" charset="0"/>
                <a:cs typeface="Times New Roman" panose="02020603050405020304" pitchFamily="18" charset="0"/>
              </a:rPr>
              <a:t>↓</a:t>
            </a:r>
            <a:r>
              <a:rPr lang="fr-FR" sz="2200" dirty="0"/>
              <a:t>CK total au 2</a:t>
            </a:r>
            <a:r>
              <a:rPr lang="fr-FR" sz="2200" baseline="30000" dirty="0"/>
              <a:t>ème </a:t>
            </a:r>
            <a:r>
              <a:rPr lang="fr-FR" sz="2200" dirty="0" smtClean="0"/>
              <a:t>Trimestre</a:t>
            </a:r>
            <a:endParaRPr lang="fr-FR" sz="2200" dirty="0"/>
          </a:p>
          <a:p>
            <a:pPr lvl="1"/>
            <a:r>
              <a:rPr lang="fr-FR" sz="2200" dirty="0">
                <a:latin typeface="Times New Roman" panose="02020603050405020304" pitchFamily="18" charset="0"/>
                <a:cs typeface="Times New Roman" panose="02020603050405020304" pitchFamily="18" charset="0"/>
              </a:rPr>
              <a:t>↑CK total </a:t>
            </a:r>
            <a:r>
              <a:rPr lang="fr-FR" sz="2200" dirty="0" smtClean="0">
                <a:latin typeface="Times New Roman" panose="02020603050405020304" pitchFamily="18" charset="0"/>
                <a:cs typeface="Times New Roman" panose="02020603050405020304" pitchFamily="18" charset="0"/>
              </a:rPr>
              <a:t>augmente 2 fois de Valeur Normal </a:t>
            </a:r>
            <a:r>
              <a:rPr lang="fr-FR" sz="2200" dirty="0">
                <a:latin typeface="Times New Roman" panose="02020603050405020304" pitchFamily="18" charset="0"/>
                <a:cs typeface="Times New Roman" panose="02020603050405020304" pitchFamily="18" charset="0"/>
              </a:rPr>
              <a:t>au </a:t>
            </a:r>
            <a:r>
              <a:rPr lang="fr-FR" sz="2200" dirty="0"/>
              <a:t> 3</a:t>
            </a:r>
            <a:r>
              <a:rPr lang="fr-FR" sz="2200" baseline="30000" dirty="0"/>
              <a:t>ème </a:t>
            </a:r>
            <a:r>
              <a:rPr lang="fr-FR" sz="2200" dirty="0"/>
              <a:t>T</a:t>
            </a:r>
          </a:p>
          <a:p>
            <a:pPr lvl="1"/>
            <a:r>
              <a:rPr lang="fr-FR" sz="2200" dirty="0">
                <a:latin typeface="Times New Roman" panose="02020603050405020304" pitchFamily="18" charset="0"/>
                <a:cs typeface="Times New Roman" panose="02020603050405020304" pitchFamily="18" charset="0"/>
              </a:rPr>
              <a:t>↑CK </a:t>
            </a:r>
            <a:r>
              <a:rPr lang="fr-FR" sz="2200" dirty="0" smtClean="0"/>
              <a:t>6 </a:t>
            </a:r>
            <a:r>
              <a:rPr lang="fr-FR" sz="2200" dirty="0"/>
              <a:t>X VN  accouchement par voie </a:t>
            </a:r>
            <a:r>
              <a:rPr lang="fr-FR" sz="2200" dirty="0" smtClean="0"/>
              <a:t>base=&gt; puisque y a du contraction du muscle utérine dans le césarien pas de augmentation</a:t>
            </a:r>
            <a:endParaRPr lang="fr-FR" sz="2200" dirty="0"/>
          </a:p>
          <a:p>
            <a:pPr lvl="1"/>
            <a:r>
              <a:rPr lang="fr-FR" sz="2200" dirty="0"/>
              <a:t>VN 48h après la </a:t>
            </a:r>
            <a:r>
              <a:rPr lang="fr-FR" sz="2200" dirty="0" smtClean="0"/>
              <a:t>délivrance (après l’</a:t>
            </a:r>
            <a:r>
              <a:rPr lang="fr-FR" sz="2200" dirty="0" err="1" smtClean="0"/>
              <a:t>accohement</a:t>
            </a:r>
            <a:r>
              <a:rPr lang="fr-FR" sz="2200" dirty="0" smtClean="0"/>
              <a:t>)</a:t>
            </a:r>
            <a:endParaRPr lang="fr-FR" sz="2200" dirty="0"/>
          </a:p>
          <a:p>
            <a:endParaRPr lang="fr-FR" dirty="0"/>
          </a:p>
        </p:txBody>
      </p:sp>
    </p:spTree>
    <p:extLst>
      <p:ext uri="{BB962C8B-B14F-4D97-AF65-F5344CB8AC3E}">
        <p14:creationId xmlns:p14="http://schemas.microsoft.com/office/powerpoint/2010/main" val="22455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0" y="0"/>
            <a:ext cx="8596668" cy="1320800"/>
          </a:xfrm>
        </p:spPr>
        <p:txBody>
          <a:bodyPr>
            <a:normAutofit fontScale="90000"/>
          </a:bodyPr>
          <a:lstStyle/>
          <a:p>
            <a:pPr algn="ctr">
              <a:spcAft>
                <a:spcPts val="0"/>
              </a:spcAft>
            </a:pPr>
            <a:r>
              <a:rPr lang="fr-FR" sz="3200" b="1" dirty="0">
                <a:latin typeface="Times New Roman" panose="02020603050405020304" pitchFamily="18" charset="0"/>
                <a:ea typeface="Times New Roman" panose="02020603050405020304" pitchFamily="18" charset="0"/>
              </a:rPr>
              <a:t>6</a:t>
            </a:r>
            <a:r>
              <a:rPr lang="fr-FR" b="1" dirty="0">
                <a:latin typeface="Times New Roman" panose="02020603050405020304" pitchFamily="18" charset="0"/>
                <a:ea typeface="Times New Roman" panose="02020603050405020304" pitchFamily="18" charset="0"/>
              </a:rPr>
              <a:t>-LA CREATINE PHOSPHATASE KINASE </a:t>
            </a:r>
            <a:r>
              <a:rPr lang="fr-FR" b="1" dirty="0">
                <a:solidFill>
                  <a:schemeClr val="accent2">
                    <a:lumMod val="75000"/>
                  </a:schemeClr>
                </a:solidFill>
                <a:latin typeface="Times New Roman" panose="02020603050405020304" pitchFamily="18" charset="0"/>
                <a:ea typeface="Times New Roman" panose="02020603050405020304" pitchFamily="18" charset="0"/>
              </a:rPr>
              <a:t>CPK</a:t>
            </a:r>
            <a:r>
              <a:rPr lang="fr-FR" sz="3200" dirty="0">
                <a:solidFill>
                  <a:schemeClr val="accent2">
                    <a:lumMod val="75000"/>
                  </a:schemeClr>
                </a:solidFill>
                <a:latin typeface="Times New Roman" panose="02020603050405020304" pitchFamily="18" charset="0"/>
                <a:ea typeface="Times New Roman" panose="02020603050405020304" pitchFamily="18" charset="0"/>
              </a:rPr>
              <a:t/>
            </a:r>
            <a:br>
              <a:rPr lang="fr-FR" sz="3200" dirty="0">
                <a:solidFill>
                  <a:schemeClr val="accent2">
                    <a:lumMod val="75000"/>
                  </a:schemeClr>
                </a:solidFill>
                <a:latin typeface="Times New Roman" panose="02020603050405020304" pitchFamily="18" charset="0"/>
                <a:ea typeface="Times New Roman" panose="02020603050405020304" pitchFamily="18" charset="0"/>
              </a:rPr>
            </a:br>
            <a:endParaRPr lang="fr-FR" dirty="0">
              <a:solidFill>
                <a:schemeClr val="accent2">
                  <a:lumMod val="75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3993" y="1007164"/>
            <a:ext cx="12195993" cy="5711688"/>
          </a:xfrm>
        </p:spPr>
        <p:txBody>
          <a:bodyPr>
            <a:normAutofit fontScale="92500" lnSpcReduction="10000"/>
          </a:bodyPr>
          <a:lstStyle/>
          <a:p>
            <a:pPr algn="justLow">
              <a:buFont typeface="Wingdings" panose="05000000000000000000" pitchFamily="2" charset="2"/>
              <a:buChar char="q"/>
            </a:pPr>
            <a:r>
              <a:rPr lang="fr-FR" sz="3500" b="1" u="sng" dirty="0">
                <a:solidFill>
                  <a:schemeClr val="accent2">
                    <a:lumMod val="75000"/>
                  </a:schemeClr>
                </a:solidFill>
                <a:latin typeface="Times New Roman" panose="02020603050405020304" pitchFamily="18" charset="0"/>
                <a:ea typeface="Times New Roman" panose="02020603050405020304" pitchFamily="18" charset="0"/>
              </a:rPr>
              <a:t>Variations pathologiques </a:t>
            </a:r>
          </a:p>
          <a:p>
            <a:pPr marL="400050" lvl="1" indent="0" algn="justLow">
              <a:buNone/>
            </a:pPr>
            <a:r>
              <a:rPr lang="fr-FR" sz="1900" dirty="0">
                <a:solidFill>
                  <a:schemeClr val="accent2">
                    <a:lumMod val="75000"/>
                  </a:schemeClr>
                </a:solidFill>
                <a:latin typeface="Times New Roman" panose="02020603050405020304" pitchFamily="18" charset="0"/>
                <a:ea typeface="Times New Roman" panose="02020603050405020304" pitchFamily="18" charset="0"/>
              </a:rPr>
              <a:t>1.</a:t>
            </a:r>
            <a:r>
              <a:rPr lang="fr-FR" sz="1900" dirty="0">
                <a:solidFill>
                  <a:schemeClr val="tx1"/>
                </a:solidFill>
                <a:latin typeface="Times New Roman" panose="02020603050405020304" pitchFamily="18" charset="0"/>
                <a:ea typeface="Times New Roman" panose="02020603050405020304" pitchFamily="18" charset="0"/>
              </a:rPr>
              <a:t> </a:t>
            </a:r>
            <a:r>
              <a:rPr lang="fr-FR" sz="2000" b="1" dirty="0">
                <a:solidFill>
                  <a:schemeClr val="tx1"/>
                </a:solidFill>
                <a:latin typeface="Times New Roman" panose="02020603050405020304" pitchFamily="18" charset="0"/>
                <a:ea typeface="Times New Roman" panose="02020603050405020304" pitchFamily="18" charset="0"/>
              </a:rPr>
              <a:t>IDM : </a:t>
            </a:r>
            <a:r>
              <a:rPr lang="fr-FR"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2000" b="1" dirty="0">
                <a:solidFill>
                  <a:srgbClr val="FF0000"/>
                </a:solidFill>
                <a:latin typeface="Times New Roman" panose="02020603050405020304" pitchFamily="18" charset="0"/>
                <a:ea typeface="Times New Roman" panose="02020603050405020304" pitchFamily="18" charset="0"/>
              </a:rPr>
              <a:t>CKMB </a:t>
            </a:r>
            <a:r>
              <a:rPr lang="fr-FR" sz="2000" b="1" dirty="0">
                <a:solidFill>
                  <a:schemeClr val="tx1"/>
                </a:solidFill>
                <a:latin typeface="Times New Roman" panose="02020603050405020304" pitchFamily="18" charset="0"/>
                <a:ea typeface="Times New Roman" panose="02020603050405020304" pitchFamily="18" charset="0"/>
              </a:rPr>
              <a:t>10 -20 X VN (</a:t>
            </a:r>
            <a:r>
              <a:rPr lang="fr-FR" sz="20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2000" b="1" dirty="0">
                <a:solidFill>
                  <a:schemeClr val="tx1"/>
                </a:solidFill>
                <a:latin typeface="Times New Roman" panose="02020603050405020304" pitchFamily="18" charset="0"/>
                <a:ea typeface="Times New Roman" panose="02020603050405020304" pitchFamily="18" charset="0"/>
              </a:rPr>
              <a:t>corrélée masse de tissu nécrosé) avec </a:t>
            </a:r>
            <a:r>
              <a:rPr lang="fr-FR"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2000" b="1" dirty="0">
                <a:solidFill>
                  <a:schemeClr val="tx1"/>
                </a:solidFill>
                <a:latin typeface="Times New Roman" panose="02020603050405020304" pitchFamily="18" charset="0"/>
                <a:ea typeface="Times New Roman" panose="02020603050405020304" pitchFamily="18" charset="0"/>
              </a:rPr>
              <a:t>CPK totale</a:t>
            </a:r>
            <a:r>
              <a:rPr lang="fr-FR" sz="2000" b="1" dirty="0">
                <a:solidFill>
                  <a:prstClr val="black"/>
                </a:solidFill>
                <a:latin typeface="Times New Roman" panose="02020603050405020304" pitchFamily="18" charset="0"/>
                <a:ea typeface="Times New Roman" panose="02020603050405020304" pitchFamily="18" charset="0"/>
              </a:rPr>
              <a:t>  </a:t>
            </a:r>
            <a:r>
              <a:rPr lang="fr-FR" sz="2000" b="1" dirty="0" err="1" smtClean="0">
                <a:solidFill>
                  <a:prstClr val="black"/>
                </a:solidFill>
                <a:latin typeface="Times New Roman" panose="02020603050405020304" pitchFamily="18" charset="0"/>
                <a:ea typeface="Times New Roman" panose="02020603050405020304" pitchFamily="18" charset="0"/>
              </a:rPr>
              <a:t>paralelle</a:t>
            </a:r>
            <a:r>
              <a:rPr lang="fr-FR" sz="2000" b="1" dirty="0" smtClean="0">
                <a:solidFill>
                  <a:prstClr val="black"/>
                </a:solidFill>
                <a:latin typeface="Times New Roman" panose="02020603050405020304" pitchFamily="18" charset="0"/>
                <a:ea typeface="Times New Roman" panose="02020603050405020304" pitchFamily="18" charset="0"/>
              </a:rPr>
              <a:t>  </a:t>
            </a:r>
            <a:r>
              <a:rPr lang="fr-FR"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2000" b="1" dirty="0">
                <a:solidFill>
                  <a:prstClr val="black"/>
                </a:solidFill>
                <a:latin typeface="Times New Roman" panose="02020603050405020304" pitchFamily="18" charset="0"/>
                <a:ea typeface="Times New Roman" panose="02020603050405020304" pitchFamily="18" charset="0"/>
              </a:rPr>
              <a:t>CKMB  </a:t>
            </a:r>
            <a:endParaRPr lang="fr-FR" sz="2000" b="1" dirty="0">
              <a:solidFill>
                <a:schemeClr val="tx1"/>
              </a:solidFill>
              <a:latin typeface="Times New Roman" panose="02020603050405020304" pitchFamily="18" charset="0"/>
              <a:ea typeface="Times New Roman" panose="02020603050405020304" pitchFamily="18" charset="0"/>
            </a:endParaRPr>
          </a:p>
          <a:p>
            <a:pPr marL="1901825" lvl="3" algn="justLow">
              <a:buFont typeface="Wingdings" panose="05000000000000000000" pitchFamily="2" charset="2"/>
              <a:buChar char="§"/>
            </a:pPr>
            <a:r>
              <a:rPr lang="fr-FR" sz="2000" b="1" dirty="0">
                <a:solidFill>
                  <a:schemeClr val="tx1"/>
                </a:solidFill>
                <a:latin typeface="Times New Roman" panose="02020603050405020304" pitchFamily="18" charset="0"/>
                <a:ea typeface="Times New Roman" panose="02020603050405020304" pitchFamily="18" charset="0"/>
              </a:rPr>
              <a:t>Cinétique CKMB au cours de l’IDM</a:t>
            </a:r>
          </a:p>
          <a:p>
            <a:pPr marL="2359025" lvl="4" algn="justLow">
              <a:buFont typeface="Wingdings" panose="05000000000000000000" pitchFamily="2" charset="2"/>
              <a:buChar char="ü"/>
            </a:pPr>
            <a:r>
              <a:rPr lang="fr-FR" sz="20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Apparente après ↑</a:t>
            </a:r>
            <a:r>
              <a:rPr lang="fr-FR" sz="2000" b="1" dirty="0">
                <a:solidFill>
                  <a:schemeClr val="tx1"/>
                </a:solidFill>
                <a:latin typeface="Times New Roman" panose="02020603050405020304" pitchFamily="18" charset="0"/>
                <a:ea typeface="Times New Roman" panose="02020603050405020304" pitchFamily="18" charset="0"/>
              </a:rPr>
              <a:t>6</a:t>
            </a:r>
            <a:r>
              <a:rPr lang="fr-FR" sz="2000" b="1" baseline="30000" dirty="0">
                <a:solidFill>
                  <a:schemeClr val="tx1"/>
                </a:solidFill>
                <a:latin typeface="Times New Roman" panose="02020603050405020304" pitchFamily="18" charset="0"/>
                <a:ea typeface="Times New Roman" panose="02020603050405020304" pitchFamily="18" charset="0"/>
              </a:rPr>
              <a:t>ème</a:t>
            </a:r>
            <a:r>
              <a:rPr lang="fr-FR" sz="2000" b="1" dirty="0">
                <a:solidFill>
                  <a:schemeClr val="tx1"/>
                </a:solidFill>
                <a:latin typeface="Times New Roman" panose="02020603050405020304" pitchFamily="18" charset="0"/>
                <a:ea typeface="Times New Roman" panose="02020603050405020304" pitchFamily="18" charset="0"/>
              </a:rPr>
              <a:t>   h après DL</a:t>
            </a:r>
          </a:p>
          <a:p>
            <a:pPr marL="2359025" lvl="4" algn="justLow">
              <a:buFont typeface="Wingdings" panose="05000000000000000000" pitchFamily="2" charset="2"/>
              <a:buChar char="ü"/>
            </a:pPr>
            <a:r>
              <a:rPr lang="fr-FR" sz="2000" b="1" dirty="0">
                <a:solidFill>
                  <a:schemeClr val="tx1"/>
                </a:solidFill>
                <a:latin typeface="Times New Roman" panose="02020603050405020304" pitchFamily="18" charset="0"/>
                <a:ea typeface="Times New Roman" panose="02020603050405020304" pitchFamily="18" charset="0"/>
              </a:rPr>
              <a:t>Max 22-26 h</a:t>
            </a:r>
          </a:p>
          <a:p>
            <a:pPr marL="2359025" lvl="4" algn="justLow">
              <a:buFont typeface="Wingdings" panose="05000000000000000000" pitchFamily="2" charset="2"/>
              <a:buChar char="ü"/>
            </a:pPr>
            <a:r>
              <a:rPr lang="fr-FR" sz="2000" b="1" dirty="0">
                <a:solidFill>
                  <a:schemeClr val="tx1"/>
                </a:solidFill>
                <a:latin typeface="Times New Roman" panose="02020603050405020304" pitchFamily="18" charset="0"/>
                <a:ea typeface="Times New Roman" panose="02020603050405020304" pitchFamily="18" charset="0"/>
              </a:rPr>
              <a:t> </a:t>
            </a:r>
            <a:r>
              <a:rPr lang="fr-FR" sz="2000" b="1" dirty="0" smtClean="0">
                <a:solidFill>
                  <a:schemeClr val="tx1"/>
                </a:solidFill>
                <a:latin typeface="Times New Roman" panose="02020603050405020304" pitchFamily="18" charset="0"/>
                <a:ea typeface="Times New Roman" panose="02020603050405020304" pitchFamily="18" charset="0"/>
              </a:rPr>
              <a:t>se normalise=&gt;VN </a:t>
            </a:r>
            <a:r>
              <a:rPr lang="fr-FR" sz="2000" b="1" dirty="0">
                <a:solidFill>
                  <a:schemeClr val="tx1"/>
                </a:solidFill>
                <a:latin typeface="Times New Roman" panose="02020603050405020304" pitchFamily="18" charset="0"/>
                <a:ea typeface="Times New Roman" panose="02020603050405020304" pitchFamily="18" charset="0"/>
              </a:rPr>
              <a:t>72h</a:t>
            </a:r>
          </a:p>
          <a:p>
            <a:pPr marL="857250" lvl="1" indent="-457200" algn="justLow">
              <a:buAutoNum type="arabicPeriod" startAt="2"/>
              <a:tabLst>
                <a:tab pos="644525" algn="l"/>
              </a:tabLst>
            </a:pPr>
            <a:r>
              <a:rPr lang="fr-FR" sz="2000" b="1" dirty="0" smtClean="0">
                <a:solidFill>
                  <a:schemeClr val="tx1"/>
                </a:solidFill>
                <a:latin typeface="Times New Roman" panose="02020603050405020304" pitchFamily="18" charset="0"/>
                <a:ea typeface="Times New Roman" panose="02020603050405020304" pitchFamily="18" charset="0"/>
              </a:rPr>
              <a:t>Myopathies=les pathologies musculaires </a:t>
            </a:r>
            <a:r>
              <a:rPr lang="fr-FR" sz="2000" b="1" dirty="0" err="1" smtClean="0">
                <a:solidFill>
                  <a:schemeClr val="tx1"/>
                </a:solidFill>
                <a:latin typeface="Times New Roman" panose="02020603050405020304" pitchFamily="18" charset="0"/>
                <a:ea typeface="Times New Roman" panose="02020603050405020304" pitchFamily="18" charset="0"/>
              </a:rPr>
              <a:t>squelitiques</a:t>
            </a:r>
            <a:r>
              <a:rPr lang="fr-FR" sz="2000" b="1" dirty="0" smtClean="0">
                <a:solidFill>
                  <a:schemeClr val="tx1"/>
                </a:solidFill>
                <a:latin typeface="Times New Roman" panose="02020603050405020304" pitchFamily="18" charset="0"/>
                <a:ea typeface="Times New Roman" panose="02020603050405020304" pitchFamily="18" charset="0"/>
              </a:rPr>
              <a:t> </a:t>
            </a:r>
            <a:r>
              <a:rPr lang="fr-FR" sz="2000" b="1" dirty="0">
                <a:solidFill>
                  <a:schemeClr val="tx1"/>
                </a:solidFill>
                <a:latin typeface="Times New Roman" panose="02020603050405020304" pitchFamily="18" charset="0"/>
                <a:ea typeface="Times New Roman" panose="02020603050405020304" pitchFamily="18" charset="0"/>
              </a:rPr>
              <a:t>: </a:t>
            </a:r>
            <a:r>
              <a:rPr lang="fr-FR" sz="2000" b="1" dirty="0" err="1">
                <a:solidFill>
                  <a:schemeClr val="tx1"/>
                </a:solidFill>
                <a:latin typeface="Times New Roman" panose="02020603050405020304" pitchFamily="18" charset="0"/>
                <a:ea typeface="Times New Roman" panose="02020603050405020304" pitchFamily="18" charset="0"/>
              </a:rPr>
              <a:t>Exp</a:t>
            </a:r>
            <a:r>
              <a:rPr lang="fr-FR" sz="2000" b="1" dirty="0">
                <a:solidFill>
                  <a:schemeClr val="tx1"/>
                </a:solidFill>
                <a:latin typeface="Times New Roman" panose="02020603050405020304" pitchFamily="18" charset="0"/>
                <a:ea typeface="Times New Roman" panose="02020603050405020304" pitchFamily="18" charset="0"/>
              </a:rPr>
              <a:t> :dystrophie musculaire de Duchenne (↑ CPK 10-50 VN + </a:t>
            </a:r>
            <a:r>
              <a:rPr lang="fr-FR" sz="2000" b="1" dirty="0">
                <a:solidFill>
                  <a:srgbClr val="FF0000"/>
                </a:solidFill>
                <a:latin typeface="Times New Roman" panose="02020603050405020304" pitchFamily="18" charset="0"/>
                <a:ea typeface="Times New Roman" panose="02020603050405020304" pitchFamily="18" charset="0"/>
              </a:rPr>
              <a:t>↑ CKMM</a:t>
            </a:r>
            <a:r>
              <a:rPr lang="fr-FR" sz="2000" b="1" dirty="0">
                <a:solidFill>
                  <a:schemeClr val="tx1"/>
                </a:solidFill>
                <a:latin typeface="Times New Roman" panose="02020603050405020304" pitchFamily="18" charset="0"/>
                <a:ea typeface="Times New Roman" panose="02020603050405020304" pitchFamily="18" charset="0"/>
              </a:rPr>
              <a:t>) </a:t>
            </a:r>
          </a:p>
          <a:p>
            <a:pPr marL="857250" lvl="1" indent="-457200" algn="justLow">
              <a:buAutoNum type="arabicPeriod" startAt="2"/>
              <a:tabLst>
                <a:tab pos="644525" algn="l"/>
              </a:tabLst>
            </a:pPr>
            <a:r>
              <a:rPr lang="fr-FR" sz="2000" b="1" dirty="0">
                <a:solidFill>
                  <a:schemeClr val="tx1"/>
                </a:solidFill>
                <a:latin typeface="Times New Roman" panose="02020603050405020304" pitchFamily="18" charset="0"/>
                <a:ea typeface="Times New Roman" panose="02020603050405020304" pitchFamily="18" charset="0"/>
              </a:rPr>
              <a:t>   Autres : </a:t>
            </a:r>
          </a:p>
          <a:p>
            <a:pPr lvl="2" algn="justLow">
              <a:buFont typeface="Wingdings" panose="05000000000000000000" pitchFamily="2" charset="2"/>
              <a:buChar char="ü"/>
            </a:pPr>
            <a:r>
              <a:rPr lang="fr-FR" sz="2000" b="1" dirty="0" smtClean="0">
                <a:solidFill>
                  <a:schemeClr val="tx1"/>
                </a:solidFill>
                <a:latin typeface="Times New Roman" panose="02020603050405020304" pitchFamily="18" charset="0"/>
                <a:ea typeface="Times New Roman" panose="02020603050405020304" pitchFamily="18" charset="0"/>
              </a:rPr>
              <a:t>Les lésion cérébrales=&gt;Lésions </a:t>
            </a:r>
            <a:r>
              <a:rPr lang="fr-FR" sz="2000" b="1" dirty="0">
                <a:solidFill>
                  <a:schemeClr val="tx1"/>
                </a:solidFill>
                <a:latin typeface="Times New Roman" panose="02020603050405020304" pitchFamily="18" charset="0"/>
                <a:ea typeface="Times New Roman" panose="02020603050405020304" pitchFamily="18" charset="0"/>
              </a:rPr>
              <a:t>SNC, intervention neurochirurgicale, AVC, infarctus intestinal, </a:t>
            </a:r>
          </a:p>
          <a:p>
            <a:pPr marL="914400" lvl="2" indent="0" algn="justLow">
              <a:buNone/>
            </a:pPr>
            <a:r>
              <a:rPr lang="fr-FR" sz="2000" b="1" dirty="0">
                <a:solidFill>
                  <a:schemeClr val="tx1"/>
                </a:solidFill>
                <a:latin typeface="Times New Roman" panose="02020603050405020304" pitchFamily="18" charset="0"/>
                <a:ea typeface="Times New Roman" panose="02020603050405020304" pitchFamily="18" charset="0"/>
              </a:rPr>
              <a:t>    certaines pathologies néoplasiques </a:t>
            </a:r>
            <a:r>
              <a:rPr lang="fr-FR" sz="2000" b="1" dirty="0">
                <a:solidFill>
                  <a:schemeClr val="tx1"/>
                </a:solidFill>
                <a:latin typeface="Abadi" panose="020B0604020104020204" pitchFamily="34" charset="0"/>
                <a:ea typeface="Times New Roman" panose="02020603050405020304" pitchFamily="18" charset="0"/>
              </a:rPr>
              <a:t>→</a:t>
            </a:r>
            <a:r>
              <a:rPr lang="fr-FR" sz="2000" b="1" dirty="0">
                <a:solidFill>
                  <a:srgbClr val="FF0000"/>
                </a:solidFill>
                <a:latin typeface="Times New Roman" panose="02020603050405020304" pitchFamily="18" charset="0"/>
                <a:ea typeface="Times New Roman" panose="02020603050405020304" pitchFamily="18" charset="0"/>
              </a:rPr>
              <a:t> ↑ CKBB</a:t>
            </a:r>
          </a:p>
          <a:p>
            <a:pPr lvl="2" algn="justLow">
              <a:buFont typeface="Wingdings" panose="05000000000000000000" pitchFamily="2" charset="2"/>
              <a:buChar char="ü"/>
            </a:pPr>
            <a:r>
              <a:rPr lang="fr-FR" sz="2000" b="1" dirty="0">
                <a:solidFill>
                  <a:schemeClr val="tx1"/>
                </a:solidFill>
                <a:latin typeface="Times New Roman" panose="02020603050405020304" pitchFamily="18" charset="0"/>
                <a:ea typeface="Times New Roman" panose="02020603050405020304" pitchFamily="18" charset="0"/>
              </a:rPr>
              <a:t>Chirurgie </a:t>
            </a:r>
            <a:r>
              <a:rPr lang="fr-FR" sz="2000" b="1" dirty="0" smtClean="0">
                <a:solidFill>
                  <a:schemeClr val="tx1"/>
                </a:solidFill>
                <a:latin typeface="Times New Roman" panose="02020603050405020304" pitchFamily="18" charset="0"/>
                <a:ea typeface="Times New Roman" panose="02020603050405020304" pitchFamily="18" charset="0"/>
              </a:rPr>
              <a:t>cardiaque =&gt; </a:t>
            </a:r>
            <a:r>
              <a:rPr lang="fr-FR" sz="2000" b="1" dirty="0">
                <a:solidFill>
                  <a:srgbClr val="FF0000"/>
                </a:solidFill>
                <a:latin typeface="Times New Roman" panose="02020603050405020304" pitchFamily="18" charset="0"/>
                <a:ea typeface="Times New Roman" panose="02020603050405020304" pitchFamily="18" charset="0"/>
              </a:rPr>
              <a:t>↑ CKMB</a:t>
            </a:r>
            <a:endParaRPr lang="fr-FR" sz="2000" b="1" dirty="0">
              <a:solidFill>
                <a:schemeClr val="tx1"/>
              </a:solidFill>
              <a:latin typeface="Times New Roman" panose="02020603050405020304" pitchFamily="18" charset="0"/>
              <a:ea typeface="Times New Roman" panose="02020603050405020304" pitchFamily="18" charset="0"/>
            </a:endParaRPr>
          </a:p>
          <a:p>
            <a:pPr lvl="2" algn="justLow">
              <a:buFont typeface="Wingdings" panose="05000000000000000000" pitchFamily="2" charset="2"/>
              <a:buChar char="ü"/>
            </a:pPr>
            <a:r>
              <a:rPr lang="fr-FR" sz="2000" b="1" dirty="0">
                <a:solidFill>
                  <a:schemeClr val="tx1"/>
                </a:solidFill>
                <a:latin typeface="Times New Roman" panose="02020603050405020304" pitchFamily="18" charset="0"/>
                <a:ea typeface="Times New Roman" panose="02020603050405020304" pitchFamily="18" charset="0"/>
              </a:rPr>
              <a:t>Hypothyroïdie, certaines Aff neurologiques</a:t>
            </a:r>
            <a:r>
              <a:rPr lang="fr-FR" sz="2000" dirty="0">
                <a:solidFill>
                  <a:srgbClr val="FF0000"/>
                </a:solidFill>
              </a:rPr>
              <a:t> </a:t>
            </a:r>
            <a:r>
              <a:rPr lang="fr-FR" sz="2000" dirty="0">
                <a:solidFill>
                  <a:schemeClr val="tx1"/>
                </a:solidFill>
              </a:rPr>
              <a:t>(</a:t>
            </a:r>
            <a:r>
              <a:rPr lang="fr-FR" sz="2000" dirty="0">
                <a:solidFill>
                  <a:srgbClr val="FF0000"/>
                </a:solidFill>
              </a:rPr>
              <a:t>lyse musculaire</a:t>
            </a:r>
            <a:r>
              <a:rPr lang="fr-FR" sz="2000" b="1" dirty="0">
                <a:solidFill>
                  <a:schemeClr val="tx1"/>
                </a:solidFill>
                <a:latin typeface="Times New Roman" panose="02020603050405020304" pitchFamily="18" charset="0"/>
                <a:ea typeface="Times New Roman" panose="02020603050405020304" pitchFamily="18" charset="0"/>
              </a:rPr>
              <a:t> ) </a:t>
            </a:r>
            <a:r>
              <a:rPr lang="fr-FR" sz="2000" b="1" dirty="0">
                <a:solidFill>
                  <a:srgbClr val="FF0000"/>
                </a:solidFill>
                <a:latin typeface="Times New Roman" panose="02020603050405020304" pitchFamily="18" charset="0"/>
                <a:ea typeface="Times New Roman" panose="02020603050405020304" pitchFamily="18" charset="0"/>
              </a:rPr>
              <a:t>↑ </a:t>
            </a:r>
            <a:r>
              <a:rPr lang="fr-FR" sz="2000" b="1" dirty="0" smtClean="0">
                <a:solidFill>
                  <a:srgbClr val="FF0000"/>
                </a:solidFill>
                <a:latin typeface="Times New Roman" panose="02020603050405020304" pitchFamily="18" charset="0"/>
                <a:ea typeface="Times New Roman" panose="02020603050405020304" pitchFamily="18" charset="0"/>
              </a:rPr>
              <a:t>CKMM=&gt;maladie musculaire secondaire a affection neurologiques</a:t>
            </a:r>
            <a:endParaRPr lang="fr-FR" sz="2000" b="1" dirty="0">
              <a:solidFill>
                <a:srgbClr val="FF0000"/>
              </a:solidFill>
              <a:latin typeface="Times New Roman" panose="02020603050405020304" pitchFamily="18" charset="0"/>
              <a:ea typeface="Times New Roman" panose="02020603050405020304" pitchFamily="18" charset="0"/>
            </a:endParaRPr>
          </a:p>
          <a:p>
            <a:pPr lvl="2" algn="justLow">
              <a:buFont typeface="Wingdings" panose="05000000000000000000" pitchFamily="2" charset="2"/>
              <a:buChar char="ü"/>
            </a:pPr>
            <a:r>
              <a:rPr lang="fr-FR" sz="2000" b="1" dirty="0" err="1">
                <a:solidFill>
                  <a:schemeClr val="tx1"/>
                </a:solidFill>
                <a:latin typeface="Times New Roman" panose="02020603050405020304" pitchFamily="18" charset="0"/>
                <a:ea typeface="Times New Roman" panose="02020603050405020304" pitchFamily="18" charset="0"/>
              </a:rPr>
              <a:t>MacroCPK</a:t>
            </a:r>
            <a:r>
              <a:rPr lang="fr-FR" sz="2000" b="1" dirty="0">
                <a:solidFill>
                  <a:schemeClr val="tx1"/>
                </a:solidFill>
                <a:latin typeface="Times New Roman" panose="02020603050405020304" pitchFamily="18" charset="0"/>
                <a:ea typeface="Times New Roman" panose="02020603050405020304" pitchFamily="18" charset="0"/>
              </a:rPr>
              <a:t>  </a:t>
            </a:r>
          </a:p>
          <a:p>
            <a:pPr marL="914400" lvl="2" indent="0" algn="justLow">
              <a:buNone/>
            </a:pPr>
            <a:endParaRPr lang="fr-FR" sz="2000" b="1" dirty="0">
              <a:solidFill>
                <a:schemeClr val="tx1"/>
              </a:solidFill>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366327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1" y="0"/>
            <a:ext cx="9075761" cy="1320800"/>
          </a:xfrm>
        </p:spPr>
        <p:txBody>
          <a:bodyPr>
            <a:normAutofit fontScale="90000"/>
          </a:bodyPr>
          <a:lstStyle/>
          <a:p>
            <a:pPr algn="ctr">
              <a:spcAft>
                <a:spcPts val="0"/>
              </a:spcAft>
            </a:pPr>
            <a:r>
              <a:rPr lang="fr-FR" sz="3200" b="1" dirty="0">
                <a:latin typeface="Times New Roman" panose="02020603050405020304" pitchFamily="18" charset="0"/>
                <a:ea typeface="Times New Roman" panose="02020603050405020304" pitchFamily="18" charset="0"/>
              </a:rPr>
              <a:t>6</a:t>
            </a:r>
            <a:r>
              <a:rPr lang="fr-FR" b="1" dirty="0">
                <a:latin typeface="Times New Roman" panose="02020603050405020304" pitchFamily="18" charset="0"/>
                <a:ea typeface="Times New Roman" panose="02020603050405020304" pitchFamily="18" charset="0"/>
              </a:rPr>
              <a:t>-LA CREATINE PHOSPHATASE KINASE </a:t>
            </a:r>
            <a:r>
              <a:rPr lang="fr-FR" b="1" dirty="0">
                <a:solidFill>
                  <a:schemeClr val="accent2">
                    <a:lumMod val="75000"/>
                  </a:schemeClr>
                </a:solidFill>
                <a:latin typeface="Times New Roman" panose="02020603050405020304" pitchFamily="18" charset="0"/>
                <a:ea typeface="Times New Roman" panose="02020603050405020304" pitchFamily="18" charset="0"/>
              </a:rPr>
              <a:t>CPK</a:t>
            </a:r>
            <a:r>
              <a:rPr lang="fr-FR" sz="3200" dirty="0">
                <a:solidFill>
                  <a:schemeClr val="accent2">
                    <a:lumMod val="75000"/>
                  </a:schemeClr>
                </a:solidFill>
                <a:latin typeface="Times New Roman" panose="02020603050405020304" pitchFamily="18" charset="0"/>
                <a:ea typeface="Times New Roman" panose="02020603050405020304" pitchFamily="18" charset="0"/>
              </a:rPr>
              <a:t/>
            </a:r>
            <a:br>
              <a:rPr lang="fr-FR" sz="3200" dirty="0">
                <a:solidFill>
                  <a:schemeClr val="accent2">
                    <a:lumMod val="75000"/>
                  </a:schemeClr>
                </a:solidFill>
                <a:latin typeface="Times New Roman" panose="02020603050405020304" pitchFamily="18" charset="0"/>
                <a:ea typeface="Times New Roman" panose="02020603050405020304" pitchFamily="18" charset="0"/>
              </a:rPr>
            </a:br>
            <a:endParaRPr lang="fr-FR" dirty="0">
              <a:solidFill>
                <a:schemeClr val="accent2">
                  <a:lumMod val="75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1" y="1212067"/>
            <a:ext cx="6283024" cy="4697411"/>
          </a:xfrm>
        </p:spPr>
        <p:txBody>
          <a:bodyPr>
            <a:normAutofit fontScale="92500" lnSpcReduction="10000"/>
          </a:bodyPr>
          <a:lstStyle/>
          <a:p>
            <a:pPr>
              <a:buFont typeface="Wingdings" panose="05000000000000000000" pitchFamily="2" charset="2"/>
              <a:buChar char="q"/>
            </a:pPr>
            <a:r>
              <a:rPr lang="fr-FR" sz="3200" b="1" u="sng" dirty="0">
                <a:solidFill>
                  <a:schemeClr val="accent2">
                    <a:lumMod val="75000"/>
                  </a:schemeClr>
                </a:solidFill>
              </a:rPr>
              <a:t>Interférences médicamenteuses </a:t>
            </a:r>
          </a:p>
          <a:p>
            <a:pPr>
              <a:buFont typeface="Wingdings" panose="05000000000000000000" pitchFamily="2" charset="2"/>
              <a:buChar char="q"/>
            </a:pPr>
            <a:endParaRPr lang="fr-FR" sz="3200" dirty="0">
              <a:solidFill>
                <a:schemeClr val="accent2">
                  <a:lumMod val="75000"/>
                </a:schemeClr>
              </a:solidFill>
            </a:endParaRPr>
          </a:p>
          <a:p>
            <a:pPr lvl="1"/>
            <a:r>
              <a:rPr lang="fr-FR" sz="3200" dirty="0"/>
              <a:t>Hypolipémiants </a:t>
            </a:r>
          </a:p>
          <a:p>
            <a:pPr lvl="1"/>
            <a:r>
              <a:rPr lang="fr-FR" sz="3200" dirty="0"/>
              <a:t>Analgésiques </a:t>
            </a:r>
          </a:p>
          <a:p>
            <a:pPr lvl="1"/>
            <a:r>
              <a:rPr lang="fr-FR" sz="3200" dirty="0"/>
              <a:t>Anesthésiques </a:t>
            </a:r>
          </a:p>
          <a:p>
            <a:pPr lvl="1"/>
            <a:r>
              <a:rPr lang="fr-FR" sz="3200" dirty="0"/>
              <a:t>Immunosuppresseurs </a:t>
            </a:r>
            <a:r>
              <a:rPr lang="fr-FR" sz="3200" dirty="0" smtClean="0"/>
              <a:t>(maladie auto-immune, greffe) </a:t>
            </a:r>
            <a:endParaRPr lang="fr-FR" sz="3200" dirty="0"/>
          </a:p>
          <a:p>
            <a:pPr lvl="1"/>
            <a:r>
              <a:rPr lang="fr-FR" sz="3200" dirty="0"/>
              <a:t>Certains antibiotiques</a:t>
            </a:r>
          </a:p>
          <a:p>
            <a:endParaRPr lang="fr-FR" dirty="0"/>
          </a:p>
        </p:txBody>
      </p:sp>
      <p:sp>
        <p:nvSpPr>
          <p:cNvPr id="4" name="Rectangle 3">
            <a:extLst>
              <a:ext uri="{FF2B5EF4-FFF2-40B4-BE49-F238E27FC236}">
                <a16:creationId xmlns="" xmlns:a16="http://schemas.microsoft.com/office/drawing/2014/main" id="{210A03A7-506A-49AA-82F4-4941D30B42B2}"/>
              </a:ext>
            </a:extLst>
          </p:cNvPr>
          <p:cNvSpPr/>
          <p:nvPr/>
        </p:nvSpPr>
        <p:spPr>
          <a:xfrm>
            <a:off x="6832287" y="3958145"/>
            <a:ext cx="4227444" cy="526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rgbClr val="FF0000"/>
                </a:solidFill>
              </a:rPr>
              <a:t>Lyse musculaire</a:t>
            </a:r>
            <a:r>
              <a:rPr lang="fr-FR" sz="2800" dirty="0">
                <a:solidFill>
                  <a:srgbClr val="FF0000"/>
                </a:solidFill>
                <a:latin typeface="Abadi" panose="020B0604020104020204" pitchFamily="34" charset="0"/>
              </a:rPr>
              <a:t>→</a:t>
            </a:r>
            <a:r>
              <a:rPr lang="fr-FR" sz="2800" dirty="0">
                <a:solidFill>
                  <a:srgbClr val="FF0000"/>
                </a:solidFill>
                <a:latin typeface="Times New Roman" panose="02020603050405020304" pitchFamily="18" charset="0"/>
                <a:cs typeface="Times New Roman" panose="02020603050405020304" pitchFamily="18" charset="0"/>
              </a:rPr>
              <a:t>↑</a:t>
            </a:r>
            <a:r>
              <a:rPr lang="fr-FR" sz="2800" dirty="0">
                <a:solidFill>
                  <a:srgbClr val="FF0000"/>
                </a:solidFill>
              </a:rPr>
              <a:t>CKMM</a:t>
            </a:r>
          </a:p>
        </p:txBody>
      </p:sp>
      <p:sp>
        <p:nvSpPr>
          <p:cNvPr id="5" name="Accolade fermante 4">
            <a:extLst>
              <a:ext uri="{FF2B5EF4-FFF2-40B4-BE49-F238E27FC236}">
                <a16:creationId xmlns="" xmlns:a16="http://schemas.microsoft.com/office/drawing/2014/main" id="{605D9692-DBE2-4304-8147-4B7E0473BD30}"/>
              </a:ext>
            </a:extLst>
          </p:cNvPr>
          <p:cNvSpPr/>
          <p:nvPr/>
        </p:nvSpPr>
        <p:spPr>
          <a:xfrm>
            <a:off x="5440809" y="2532867"/>
            <a:ext cx="1391478" cy="3376611"/>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390264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324447" y="140281"/>
            <a:ext cx="8596668" cy="1320800"/>
          </a:xfrm>
        </p:spPr>
        <p:txBody>
          <a:bodyPr>
            <a:normAutofit fontScale="90000"/>
          </a:bodyPr>
          <a:lstStyle/>
          <a:p>
            <a:pPr algn="ctr"/>
            <a:r>
              <a:rPr lang="fr-FR" b="1" dirty="0"/>
              <a:t>7-LES LACTATES DESHYDROGENASES </a:t>
            </a:r>
            <a:br>
              <a:rPr lang="fr-FR" b="1" dirty="0"/>
            </a:br>
            <a:r>
              <a:rPr lang="fr-FR" b="1" dirty="0">
                <a:solidFill>
                  <a:schemeClr val="accent2">
                    <a:lumMod val="50000"/>
                  </a:schemeClr>
                </a:solidFill>
              </a:rPr>
              <a:t>LDH </a:t>
            </a:r>
            <a:r>
              <a:rPr lang="fr-FR" sz="3200" dirty="0">
                <a:solidFill>
                  <a:schemeClr val="accent2">
                    <a:lumMod val="50000"/>
                  </a:schemeClr>
                </a:solidFill>
                <a:latin typeface="Times New Roman" panose="02020603050405020304" pitchFamily="18" charset="0"/>
                <a:ea typeface="Times New Roman" panose="02020603050405020304" pitchFamily="18" charset="0"/>
              </a:rPr>
              <a:t/>
            </a:r>
            <a:br>
              <a:rPr lang="fr-FR" sz="3200" dirty="0">
                <a:solidFill>
                  <a:schemeClr val="accent2">
                    <a:lumMod val="50000"/>
                  </a:schemeClr>
                </a:solidFill>
                <a:latin typeface="Times New Roman" panose="02020603050405020304" pitchFamily="18" charset="0"/>
                <a:ea typeface="Times New Roman" panose="02020603050405020304" pitchFamily="18" charset="0"/>
              </a:rPr>
            </a:br>
            <a:endParaRPr lang="fr-FR" dirty="0">
              <a:solidFill>
                <a:schemeClr val="accent2">
                  <a:lumMod val="50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409073" y="654945"/>
            <a:ext cx="10056927" cy="3880773"/>
          </a:xfrm>
        </p:spPr>
        <p:txBody>
          <a:bodyPr/>
          <a:lstStyle/>
          <a:p>
            <a:pPr>
              <a:buFont typeface="Wingdings" panose="05000000000000000000" pitchFamily="2" charset="2"/>
              <a:buChar char="q"/>
            </a:pPr>
            <a:r>
              <a:rPr lang="fr-FR" sz="3200" b="1" u="sng" dirty="0">
                <a:solidFill>
                  <a:schemeClr val="accent2">
                    <a:lumMod val="75000"/>
                  </a:schemeClr>
                </a:solidFill>
              </a:rPr>
              <a:t>Définition</a:t>
            </a:r>
            <a:r>
              <a:rPr lang="fr-FR" b="1" u="sng" dirty="0"/>
              <a:t> </a:t>
            </a:r>
            <a:r>
              <a:rPr lang="fr-FR" b="1" dirty="0"/>
              <a:t>:</a:t>
            </a:r>
          </a:p>
          <a:p>
            <a:pPr>
              <a:buFont typeface="Wingdings" panose="05000000000000000000" pitchFamily="2" charset="2"/>
              <a:buChar char="q"/>
            </a:pPr>
            <a:endParaRPr lang="fr-FR" dirty="0"/>
          </a:p>
          <a:p>
            <a:pPr lvl="1">
              <a:buFont typeface="Wingdings" panose="05000000000000000000" pitchFamily="2" charset="2"/>
              <a:buChar char="Ø"/>
            </a:pPr>
            <a:r>
              <a:rPr lang="fr-FR" sz="2000" b="1" dirty="0">
                <a:solidFill>
                  <a:schemeClr val="tx1"/>
                </a:solidFill>
              </a:rPr>
              <a:t>LDH catalyse  R oxydation / réduction dans les deux </a:t>
            </a:r>
            <a:r>
              <a:rPr lang="fr-FR" sz="2000" b="1" dirty="0" smtClean="0">
                <a:solidFill>
                  <a:schemeClr val="tx1"/>
                </a:solidFill>
              </a:rPr>
              <a:t>sens</a:t>
            </a:r>
            <a:r>
              <a:rPr lang="ar-DZ" sz="2000" b="1" dirty="0" smtClean="0">
                <a:solidFill>
                  <a:schemeClr val="tx1"/>
                </a:solidFill>
              </a:rPr>
              <a:t> </a:t>
            </a:r>
            <a:r>
              <a:rPr lang="fr-FR" sz="2000" b="1" dirty="0" smtClean="0">
                <a:solidFill>
                  <a:schemeClr val="tx1"/>
                </a:solidFill>
              </a:rPr>
              <a:t>et nécessite un cofacteur le NAD+/NADH et se voie ++++ dans les GB puisque y a pas du chaine respiratoire</a:t>
            </a:r>
            <a:endParaRPr lang="fr-FR" sz="2000" b="1" dirty="0">
              <a:solidFill>
                <a:schemeClr val="tx1"/>
              </a:solidFill>
            </a:endParaRPr>
          </a:p>
          <a:p>
            <a:pPr lvl="2">
              <a:buFont typeface="Arial" panose="020B0604020202020204" pitchFamily="34" charset="0"/>
              <a:buChar char="•"/>
            </a:pPr>
            <a:r>
              <a:rPr lang="fr-FR" sz="2000" b="1" dirty="0">
                <a:solidFill>
                  <a:schemeClr val="tx1"/>
                </a:solidFill>
              </a:rPr>
              <a:t> Dernière </a:t>
            </a:r>
            <a:r>
              <a:rPr lang="fr-FR" sz="2000" b="1" dirty="0" smtClean="0">
                <a:solidFill>
                  <a:schemeClr val="tx1"/>
                </a:solidFill>
              </a:rPr>
              <a:t>Réaction du </a:t>
            </a:r>
            <a:r>
              <a:rPr lang="fr-FR" sz="2000" b="1" dirty="0">
                <a:solidFill>
                  <a:schemeClr val="tx1"/>
                </a:solidFill>
              </a:rPr>
              <a:t>glycolyse en anaérobiose</a:t>
            </a:r>
          </a:p>
          <a:p>
            <a:pPr lvl="2">
              <a:buFont typeface="Arial" panose="020B0604020202020204" pitchFamily="34" charset="0"/>
              <a:buChar char="•"/>
            </a:pPr>
            <a:r>
              <a:rPr lang="fr-FR" sz="2000" b="1" dirty="0">
                <a:solidFill>
                  <a:schemeClr val="tx1"/>
                </a:solidFill>
              </a:rPr>
              <a:t> </a:t>
            </a:r>
            <a:r>
              <a:rPr lang="fr-FR" sz="2000" b="1" dirty="0" smtClean="0">
                <a:solidFill>
                  <a:schemeClr val="tx1"/>
                </a:solidFill>
              </a:rPr>
              <a:t>étape commune entre le Gluconéogenèse et néoglucogenèse </a:t>
            </a:r>
            <a:endParaRPr lang="fr-FR" sz="2000" b="1" dirty="0">
              <a:solidFill>
                <a:schemeClr val="tx1"/>
              </a:solidFill>
            </a:endParaRPr>
          </a:p>
          <a:p>
            <a:pPr lvl="1">
              <a:buFont typeface="Wingdings" panose="05000000000000000000" pitchFamily="2" charset="2"/>
              <a:buChar char="Ø"/>
            </a:pPr>
            <a:r>
              <a:rPr lang="fr-FR" sz="2000" b="1" dirty="0" smtClean="0">
                <a:solidFill>
                  <a:schemeClr val="tx1"/>
                </a:solidFill>
                <a:latin typeface="Times New Roman" panose="02020603050405020304" pitchFamily="18" charset="0"/>
                <a:cs typeface="Times New Roman" panose="02020603050405020304" pitchFamily="18" charset="0"/>
              </a:rPr>
              <a:t>Le sens du réaction c’est </a:t>
            </a:r>
            <a:r>
              <a:rPr lang="fr-FR" sz="2000" b="1" dirty="0" smtClean="0">
                <a:solidFill>
                  <a:schemeClr val="tx1"/>
                </a:solidFill>
                <a:latin typeface="Abadi Extra Light" panose="020B0204020104020204" pitchFamily="34" charset="0"/>
                <a:cs typeface="Times New Roman" panose="02020603050405020304" pitchFamily="18" charset="0"/>
              </a:rPr>
              <a:t>en fonction du </a:t>
            </a:r>
            <a:r>
              <a:rPr lang="fr-FR" sz="2000" b="1" dirty="0">
                <a:solidFill>
                  <a:schemeClr val="tx1"/>
                </a:solidFill>
              </a:rPr>
              <a:t>pH ,IsoEnz , teneur O2</a:t>
            </a:r>
          </a:p>
        </p:txBody>
      </p:sp>
      <p:sp>
        <p:nvSpPr>
          <p:cNvPr id="8" name="Rectangle 7">
            <a:extLst>
              <a:ext uri="{FF2B5EF4-FFF2-40B4-BE49-F238E27FC236}">
                <a16:creationId xmlns="" xmlns:a16="http://schemas.microsoft.com/office/drawing/2014/main" id="{C2BB9D5F-387B-4F26-B256-D49EB0774E17}"/>
              </a:ext>
            </a:extLst>
          </p:cNvPr>
          <p:cNvSpPr/>
          <p:nvPr/>
        </p:nvSpPr>
        <p:spPr>
          <a:xfrm>
            <a:off x="409073" y="4030579"/>
            <a:ext cx="8879305" cy="132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prstClr val="black"/>
                </a:solidFill>
              </a:rPr>
              <a:t>L-lactate </a:t>
            </a:r>
            <a:r>
              <a:rPr lang="fr-FR" sz="2000" b="1" dirty="0">
                <a:solidFill>
                  <a:prstClr val="black"/>
                </a:solidFill>
              </a:rPr>
              <a:t>                                         </a:t>
            </a:r>
            <a:r>
              <a:rPr lang="fr-FR" sz="4000" b="1" dirty="0">
                <a:solidFill>
                  <a:prstClr val="black"/>
                </a:solidFill>
                <a:latin typeface="Times New Roman" panose="02020603050405020304" pitchFamily="18" charset="0"/>
                <a:cs typeface="Times New Roman" panose="02020603050405020304" pitchFamily="18" charset="0"/>
              </a:rPr>
              <a:t>P</a:t>
            </a:r>
            <a:r>
              <a:rPr lang="fr-FR" sz="4000" b="1" dirty="0">
                <a:solidFill>
                  <a:prstClr val="black"/>
                </a:solidFill>
              </a:rPr>
              <a:t>yruvate</a:t>
            </a:r>
            <a:r>
              <a:rPr lang="fr-FR" sz="2000" b="1" dirty="0">
                <a:solidFill>
                  <a:prstClr val="black"/>
                </a:solidFill>
              </a:rPr>
              <a:t> </a:t>
            </a:r>
            <a:endParaRPr lang="fr-FR" dirty="0"/>
          </a:p>
        </p:txBody>
      </p:sp>
      <p:sp>
        <p:nvSpPr>
          <p:cNvPr id="9" name="Flèche : double flèche horizontale 8">
            <a:extLst>
              <a:ext uri="{FF2B5EF4-FFF2-40B4-BE49-F238E27FC236}">
                <a16:creationId xmlns="" xmlns:a16="http://schemas.microsoft.com/office/drawing/2014/main" id="{7A76B875-DF0F-41CA-B1D2-C8C8A96B25F5}"/>
              </a:ext>
            </a:extLst>
          </p:cNvPr>
          <p:cNvSpPr/>
          <p:nvPr/>
        </p:nvSpPr>
        <p:spPr>
          <a:xfrm>
            <a:off x="3380874" y="4644189"/>
            <a:ext cx="2899610" cy="35025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 angle droit à deux pointes 9">
            <a:extLst>
              <a:ext uri="{FF2B5EF4-FFF2-40B4-BE49-F238E27FC236}">
                <a16:creationId xmlns="" xmlns:a16="http://schemas.microsoft.com/office/drawing/2014/main" id="{EADFB27E-978A-4459-BE0B-547DBABF3200}"/>
              </a:ext>
            </a:extLst>
          </p:cNvPr>
          <p:cNvSpPr/>
          <p:nvPr/>
        </p:nvSpPr>
        <p:spPr>
          <a:xfrm rot="13415062">
            <a:off x="4305669" y="4932401"/>
            <a:ext cx="871677" cy="849139"/>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 xmlns:a16="http://schemas.microsoft.com/office/drawing/2014/main" id="{3DE2F1D4-4135-42B4-A06D-3917E3C9D1C1}"/>
              </a:ext>
            </a:extLst>
          </p:cNvPr>
          <p:cNvSpPr/>
          <p:nvPr/>
        </p:nvSpPr>
        <p:spPr>
          <a:xfrm>
            <a:off x="3220453" y="5422823"/>
            <a:ext cx="3324726" cy="6322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FF0000"/>
                </a:solidFill>
              </a:rPr>
              <a:t>NAD+ </a:t>
            </a:r>
            <a:r>
              <a:rPr lang="fr-FR" sz="2000" b="1" dirty="0">
                <a:solidFill>
                  <a:srgbClr val="FF0000"/>
                </a:solidFill>
                <a:latin typeface="Abadi" panose="020B0604020104020204" pitchFamily="34" charset="0"/>
              </a:rPr>
              <a:t>          </a:t>
            </a:r>
            <a:r>
              <a:rPr lang="fr-FR" sz="2000" b="1" dirty="0">
                <a:solidFill>
                  <a:srgbClr val="FF0000"/>
                </a:solidFill>
              </a:rPr>
              <a:t>NADH,H+</a:t>
            </a:r>
            <a:endParaRPr lang="fr-FR" dirty="0">
              <a:solidFill>
                <a:srgbClr val="FF0000"/>
              </a:solidFill>
            </a:endParaRPr>
          </a:p>
        </p:txBody>
      </p:sp>
      <p:sp>
        <p:nvSpPr>
          <p:cNvPr id="12" name="Rectangle 11">
            <a:extLst>
              <a:ext uri="{FF2B5EF4-FFF2-40B4-BE49-F238E27FC236}">
                <a16:creationId xmlns="" xmlns:a16="http://schemas.microsoft.com/office/drawing/2014/main" id="{80B1BA09-E242-4B63-A978-203601AA0F0F}"/>
              </a:ext>
            </a:extLst>
          </p:cNvPr>
          <p:cNvSpPr/>
          <p:nvPr/>
        </p:nvSpPr>
        <p:spPr>
          <a:xfrm>
            <a:off x="4133095" y="4247520"/>
            <a:ext cx="1216823" cy="4657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prstClr val="black"/>
                </a:solidFill>
              </a:rPr>
              <a:t>LDH</a:t>
            </a:r>
            <a:endParaRPr lang="fr-FR" sz="2800" dirty="0"/>
          </a:p>
        </p:txBody>
      </p:sp>
    </p:spTree>
    <p:extLst>
      <p:ext uri="{BB962C8B-B14F-4D97-AF65-F5344CB8AC3E}">
        <p14:creationId xmlns:p14="http://schemas.microsoft.com/office/powerpoint/2010/main" val="358659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505056" y="182741"/>
            <a:ext cx="8596668" cy="1320800"/>
          </a:xfrm>
        </p:spPr>
        <p:txBody>
          <a:bodyPr>
            <a:normAutofit fontScale="90000"/>
          </a:bodyPr>
          <a:lstStyle/>
          <a:p>
            <a:pPr algn="ctr"/>
            <a:r>
              <a:rPr lang="fr-FR" b="1" dirty="0"/>
              <a:t>7-LES LACTATES DESHYDROGENASES </a:t>
            </a:r>
            <a:br>
              <a:rPr lang="fr-FR" b="1" dirty="0"/>
            </a:br>
            <a:r>
              <a:rPr lang="fr-FR" b="1" dirty="0">
                <a:solidFill>
                  <a:schemeClr val="accent2">
                    <a:lumMod val="50000"/>
                  </a:schemeClr>
                </a:solidFill>
              </a:rPr>
              <a:t>LDH </a:t>
            </a:r>
            <a:r>
              <a:rPr lang="fr-FR" sz="3200" dirty="0">
                <a:solidFill>
                  <a:schemeClr val="accent2">
                    <a:lumMod val="50000"/>
                  </a:schemeClr>
                </a:solidFill>
                <a:latin typeface="Times New Roman" panose="02020603050405020304" pitchFamily="18" charset="0"/>
                <a:ea typeface="Times New Roman" panose="02020603050405020304" pitchFamily="18" charset="0"/>
              </a:rPr>
              <a:t/>
            </a:r>
            <a:br>
              <a:rPr lang="fr-FR" sz="3200" dirty="0">
                <a:solidFill>
                  <a:schemeClr val="accent2">
                    <a:lumMod val="50000"/>
                  </a:schemeClr>
                </a:solidFill>
                <a:latin typeface="Times New Roman" panose="02020603050405020304" pitchFamily="18" charset="0"/>
                <a:ea typeface="Times New Roman" panose="02020603050405020304" pitchFamily="18" charset="0"/>
              </a:rPr>
            </a:br>
            <a:endParaRPr lang="fr-FR" dirty="0">
              <a:solidFill>
                <a:schemeClr val="accent2">
                  <a:lumMod val="50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94237" y="1272210"/>
            <a:ext cx="11103850" cy="4967936"/>
          </a:xfrm>
        </p:spPr>
        <p:txBody>
          <a:bodyPr>
            <a:normAutofit fontScale="62500" lnSpcReduction="20000"/>
          </a:bodyPr>
          <a:lstStyle/>
          <a:p>
            <a:pPr>
              <a:buFont typeface="Wingdings" panose="05000000000000000000" pitchFamily="2" charset="2"/>
              <a:buChar char="q"/>
            </a:pPr>
            <a:r>
              <a:rPr lang="fr-FR" sz="3500" b="1" u="sng" dirty="0">
                <a:solidFill>
                  <a:schemeClr val="accent2">
                    <a:lumMod val="75000"/>
                  </a:schemeClr>
                </a:solidFill>
              </a:rPr>
              <a:t>Isoenzymes et répartition tissulaire</a:t>
            </a:r>
          </a:p>
          <a:p>
            <a:pPr>
              <a:buFont typeface="Wingdings" panose="05000000000000000000" pitchFamily="2" charset="2"/>
              <a:buChar char="q"/>
            </a:pPr>
            <a:endParaRPr lang="fr-FR" dirty="0"/>
          </a:p>
          <a:p>
            <a:pPr lvl="1">
              <a:buFont typeface="Wingdings" panose="05000000000000000000" pitchFamily="2" charset="2"/>
              <a:buChar char="v"/>
            </a:pPr>
            <a:r>
              <a:rPr lang="fr-FR" sz="3400" dirty="0"/>
              <a:t>Enz </a:t>
            </a:r>
            <a:r>
              <a:rPr lang="fr-FR" sz="3400" dirty="0" err="1" smtClean="0">
                <a:solidFill>
                  <a:srgbClr val="FF0000"/>
                </a:solidFill>
              </a:rPr>
              <a:t>tétramérique</a:t>
            </a:r>
            <a:r>
              <a:rPr lang="fr-FR" sz="3400" dirty="0" smtClean="0">
                <a:solidFill>
                  <a:srgbClr val="FF0000"/>
                </a:solidFill>
              </a:rPr>
              <a:t> (donc 4 base)</a:t>
            </a:r>
            <a:r>
              <a:rPr lang="fr-FR" sz="3400" dirty="0" smtClean="0"/>
              <a:t> </a:t>
            </a:r>
            <a:r>
              <a:rPr lang="fr-FR" sz="3400" dirty="0"/>
              <a:t>formée </a:t>
            </a:r>
            <a:r>
              <a:rPr lang="fr-FR" sz="3400" dirty="0">
                <a:solidFill>
                  <a:srgbClr val="FF0000"/>
                </a:solidFill>
              </a:rPr>
              <a:t>2 </a:t>
            </a:r>
            <a:r>
              <a:rPr lang="fr-FR" sz="3400" dirty="0"/>
              <a:t>Ss U:</a:t>
            </a:r>
          </a:p>
          <a:p>
            <a:pPr lvl="2">
              <a:buFont typeface="Wingdings" panose="05000000000000000000" pitchFamily="2" charset="2"/>
              <a:buChar char="ü"/>
            </a:pPr>
            <a:r>
              <a:rPr lang="fr-FR" sz="3400" dirty="0"/>
              <a:t> Ss U </a:t>
            </a:r>
            <a:r>
              <a:rPr lang="fr-FR" sz="3400" dirty="0">
                <a:solidFill>
                  <a:srgbClr val="FF0000"/>
                </a:solidFill>
              </a:rPr>
              <a:t>H</a:t>
            </a:r>
            <a:r>
              <a:rPr lang="fr-FR" sz="3400" dirty="0"/>
              <a:t> </a:t>
            </a:r>
            <a:r>
              <a:rPr lang="fr-FR" sz="3400" dirty="0" smtClean="0"/>
              <a:t>(</a:t>
            </a:r>
            <a:r>
              <a:rPr lang="fr-FR" sz="3400" dirty="0" err="1"/>
              <a:t>H</a:t>
            </a:r>
            <a:r>
              <a:rPr lang="fr-FR" sz="3400" dirty="0" err="1" smtClean="0"/>
              <a:t>eart</a:t>
            </a:r>
            <a:r>
              <a:rPr lang="fr-FR" sz="3400" dirty="0"/>
              <a:t>) ou forme </a:t>
            </a:r>
            <a:r>
              <a:rPr lang="fr-FR" sz="3400" dirty="0">
                <a:solidFill>
                  <a:srgbClr val="FF0000"/>
                </a:solidFill>
              </a:rPr>
              <a:t>A </a:t>
            </a:r>
          </a:p>
          <a:p>
            <a:pPr lvl="2">
              <a:buFont typeface="Wingdings" panose="05000000000000000000" pitchFamily="2" charset="2"/>
              <a:buChar char="ü"/>
            </a:pPr>
            <a:r>
              <a:rPr lang="fr-FR" sz="3400" dirty="0">
                <a:solidFill>
                  <a:prstClr val="black">
                    <a:lumMod val="75000"/>
                    <a:lumOff val="25000"/>
                  </a:prstClr>
                </a:solidFill>
              </a:rPr>
              <a:t>Ss U </a:t>
            </a:r>
            <a:r>
              <a:rPr lang="fr-FR" sz="3400" dirty="0">
                <a:solidFill>
                  <a:srgbClr val="FF0000"/>
                </a:solidFill>
              </a:rPr>
              <a:t>M</a:t>
            </a:r>
            <a:r>
              <a:rPr lang="fr-FR" sz="3400" dirty="0"/>
              <a:t> (muscle) ou forme </a:t>
            </a:r>
            <a:r>
              <a:rPr lang="fr-FR" sz="3400" dirty="0">
                <a:solidFill>
                  <a:srgbClr val="FF0000"/>
                </a:solidFill>
              </a:rPr>
              <a:t>B</a:t>
            </a:r>
            <a:endParaRPr lang="fr-FR" sz="3400" dirty="0"/>
          </a:p>
          <a:p>
            <a:pPr lvl="1">
              <a:buFont typeface="Wingdings" panose="05000000000000000000" pitchFamily="2" charset="2"/>
              <a:buChar char="v"/>
            </a:pPr>
            <a:r>
              <a:rPr lang="fr-FR" sz="3400" dirty="0">
                <a:solidFill>
                  <a:srgbClr val="FF0000"/>
                </a:solidFill>
              </a:rPr>
              <a:t>5 </a:t>
            </a:r>
            <a:r>
              <a:rPr lang="fr-FR" sz="3400" dirty="0" err="1">
                <a:solidFill>
                  <a:srgbClr val="FF0000"/>
                </a:solidFill>
              </a:rPr>
              <a:t>isoenzymes</a:t>
            </a:r>
            <a:r>
              <a:rPr lang="fr-FR" sz="3400" dirty="0" smtClean="0"/>
              <a:t>:</a:t>
            </a:r>
            <a:r>
              <a:rPr lang="fr-FR" sz="3600" dirty="0">
                <a:solidFill>
                  <a:prstClr val="black">
                    <a:lumMod val="75000"/>
                    <a:lumOff val="25000"/>
                  </a:prstClr>
                </a:solidFill>
              </a:rPr>
              <a:t> répartitions tissulaires </a:t>
            </a:r>
            <a:r>
              <a:rPr lang="fr-FR" sz="3600" dirty="0">
                <a:solidFill>
                  <a:prstClr val="black">
                    <a:lumMod val="75000"/>
                    <a:lumOff val="25000"/>
                  </a:prstClr>
                </a:solidFill>
                <a:latin typeface="Times New Roman" panose="02020603050405020304" pitchFamily="18" charset="0"/>
              </a:rPr>
              <a:t>différente </a:t>
            </a:r>
            <a:r>
              <a:rPr lang="fr-FR" sz="3600" dirty="0">
                <a:solidFill>
                  <a:prstClr val="black">
                    <a:lumMod val="75000"/>
                    <a:lumOff val="25000"/>
                  </a:prstClr>
                </a:solidFill>
                <a:latin typeface="Times New Roman" panose="02020603050405020304" pitchFamily="18" charset="0"/>
                <a:ea typeface="Times New Roman" panose="02020603050405020304" pitchFamily="18" charset="0"/>
              </a:rPr>
              <a:t>+</a:t>
            </a:r>
            <a:r>
              <a:rPr lang="fr-FR" sz="3600" dirty="0">
                <a:solidFill>
                  <a:prstClr val="black">
                    <a:lumMod val="75000"/>
                    <a:lumOff val="25000"/>
                  </a:prstClr>
                </a:solidFill>
              </a:rPr>
              <a:t> mobilité électrophorétique</a:t>
            </a:r>
            <a:r>
              <a:rPr lang="fr-FR" sz="3600" dirty="0">
                <a:solidFill>
                  <a:prstClr val="black">
                    <a:lumMod val="75000"/>
                    <a:lumOff val="25000"/>
                  </a:prstClr>
                </a:solidFill>
                <a:latin typeface="Times New Roman" panose="02020603050405020304" pitchFamily="18" charset="0"/>
                <a:ea typeface="Times New Roman" panose="02020603050405020304" pitchFamily="18" charset="0"/>
              </a:rPr>
              <a:t> différente donc on peut les séparer par l'électrophorèse et le doser chaque iso enzymes</a:t>
            </a:r>
            <a:endParaRPr lang="fr-FR" sz="3400" dirty="0">
              <a:solidFill>
                <a:srgbClr val="FF0000"/>
              </a:solidFill>
            </a:endParaRPr>
          </a:p>
          <a:p>
            <a:pPr lvl="2">
              <a:buFont typeface="Wingdings" panose="05000000000000000000" pitchFamily="2" charset="2"/>
              <a:buChar char="§"/>
            </a:pPr>
            <a:r>
              <a:rPr lang="fr-FR" sz="3400" dirty="0"/>
              <a:t>LDH1=H4</a:t>
            </a:r>
          </a:p>
          <a:p>
            <a:pPr lvl="2">
              <a:buFont typeface="Wingdings" panose="05000000000000000000" pitchFamily="2" charset="2"/>
              <a:buChar char="§"/>
            </a:pPr>
            <a:r>
              <a:rPr lang="fr-FR" sz="3400" dirty="0"/>
              <a:t>LDH2 = H3M</a:t>
            </a:r>
          </a:p>
          <a:p>
            <a:pPr lvl="2">
              <a:buFont typeface="Wingdings" panose="05000000000000000000" pitchFamily="2" charset="2"/>
              <a:buChar char="§"/>
            </a:pPr>
            <a:r>
              <a:rPr lang="fr-FR" sz="3400" dirty="0"/>
              <a:t>LDH3 = H2M2</a:t>
            </a:r>
          </a:p>
          <a:p>
            <a:pPr lvl="2">
              <a:buFont typeface="Wingdings" panose="05000000000000000000" pitchFamily="2" charset="2"/>
              <a:buChar char="§"/>
            </a:pPr>
            <a:r>
              <a:rPr lang="fr-FR" sz="3400" dirty="0"/>
              <a:t>LDH4 = HM3</a:t>
            </a:r>
          </a:p>
          <a:p>
            <a:pPr lvl="2">
              <a:buFont typeface="Wingdings" panose="05000000000000000000" pitchFamily="2" charset="2"/>
              <a:buChar char="§"/>
            </a:pPr>
            <a:r>
              <a:rPr lang="fr-FR" sz="3400" dirty="0"/>
              <a:t>LDH5= M4</a:t>
            </a:r>
          </a:p>
          <a:p>
            <a:endParaRPr lang="fr-FR" dirty="0"/>
          </a:p>
        </p:txBody>
      </p:sp>
    </p:spTree>
    <p:extLst>
      <p:ext uri="{BB962C8B-B14F-4D97-AF65-F5344CB8AC3E}">
        <p14:creationId xmlns:p14="http://schemas.microsoft.com/office/powerpoint/2010/main" val="206554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505055" y="182741"/>
            <a:ext cx="7983851" cy="1320800"/>
          </a:xfrm>
        </p:spPr>
        <p:txBody>
          <a:bodyPr>
            <a:normAutofit fontScale="90000"/>
          </a:bodyPr>
          <a:lstStyle/>
          <a:p>
            <a:pPr algn="ctr"/>
            <a:r>
              <a:rPr lang="fr-FR" b="1" dirty="0"/>
              <a:t>7-LES LACTATES DESHYDROGENASES </a:t>
            </a:r>
            <a:br>
              <a:rPr lang="fr-FR" b="1" dirty="0"/>
            </a:br>
            <a:r>
              <a:rPr lang="fr-FR" b="1" dirty="0">
                <a:solidFill>
                  <a:schemeClr val="accent2">
                    <a:lumMod val="50000"/>
                  </a:schemeClr>
                </a:solidFill>
              </a:rPr>
              <a:t>LDH </a:t>
            </a:r>
            <a:r>
              <a:rPr lang="fr-FR" sz="3200" dirty="0">
                <a:solidFill>
                  <a:schemeClr val="accent2">
                    <a:lumMod val="50000"/>
                  </a:schemeClr>
                </a:solidFill>
                <a:latin typeface="Times New Roman" panose="02020603050405020304" pitchFamily="18" charset="0"/>
                <a:ea typeface="Times New Roman" panose="02020603050405020304" pitchFamily="18" charset="0"/>
              </a:rPr>
              <a:t/>
            </a:r>
            <a:br>
              <a:rPr lang="fr-FR" sz="3200" dirty="0">
                <a:solidFill>
                  <a:schemeClr val="accent2">
                    <a:lumMod val="50000"/>
                  </a:schemeClr>
                </a:solidFill>
                <a:latin typeface="Times New Roman" panose="02020603050405020304" pitchFamily="18" charset="0"/>
                <a:ea typeface="Times New Roman" panose="02020603050405020304" pitchFamily="18" charset="0"/>
              </a:rPr>
            </a:br>
            <a:endParaRPr lang="fr-FR" dirty="0">
              <a:solidFill>
                <a:schemeClr val="accent2">
                  <a:lumMod val="50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94237" y="1272210"/>
            <a:ext cx="11103850" cy="4967936"/>
          </a:xfrm>
        </p:spPr>
        <p:txBody>
          <a:bodyPr>
            <a:normAutofit/>
          </a:bodyPr>
          <a:lstStyle/>
          <a:p>
            <a:pPr>
              <a:buFont typeface="Wingdings" panose="05000000000000000000" pitchFamily="2" charset="2"/>
              <a:buChar char="q"/>
            </a:pPr>
            <a:r>
              <a:rPr lang="fr-FR" sz="3500" b="1" u="sng" dirty="0">
                <a:solidFill>
                  <a:schemeClr val="accent2">
                    <a:lumMod val="75000"/>
                  </a:schemeClr>
                </a:solidFill>
              </a:rPr>
              <a:t>Isoenzymes et répartition tissulaire</a:t>
            </a:r>
            <a:endParaRPr lang="fr-FR" dirty="0"/>
          </a:p>
          <a:p>
            <a:pPr lvl="1">
              <a:buFont typeface="Wingdings" panose="05000000000000000000" pitchFamily="2" charset="2"/>
              <a:buChar char="v"/>
            </a:pPr>
            <a:r>
              <a:rPr lang="fr-FR" sz="3200" dirty="0"/>
              <a:t>Enz </a:t>
            </a:r>
            <a:r>
              <a:rPr lang="fr-FR" sz="3200" dirty="0">
                <a:solidFill>
                  <a:srgbClr val="FF0000"/>
                </a:solidFill>
              </a:rPr>
              <a:t>ubiquitaire </a:t>
            </a:r>
            <a:r>
              <a:rPr lang="fr-FR" sz="3200" dirty="0">
                <a:solidFill>
                  <a:schemeClr val="tx1"/>
                </a:solidFill>
              </a:rPr>
              <a:t>(tous les tissus</a:t>
            </a:r>
            <a:r>
              <a:rPr lang="fr-FR" sz="3200" dirty="0" smtClean="0">
                <a:solidFill>
                  <a:schemeClr val="tx1"/>
                </a:solidFill>
              </a:rPr>
              <a:t>) pas de prédominance</a:t>
            </a:r>
            <a:endParaRPr lang="fr-FR" sz="3200" dirty="0">
              <a:solidFill>
                <a:schemeClr val="tx1"/>
              </a:solidFill>
            </a:endParaRPr>
          </a:p>
          <a:p>
            <a:pPr lvl="1">
              <a:buFont typeface="Wingdings" panose="05000000000000000000" pitchFamily="2" charset="2"/>
              <a:buChar char="v"/>
            </a:pPr>
            <a:r>
              <a:rPr lang="fr-FR" sz="3200" dirty="0">
                <a:solidFill>
                  <a:schemeClr val="tx1"/>
                </a:solidFill>
              </a:rPr>
              <a:t>Enz </a:t>
            </a:r>
            <a:r>
              <a:rPr lang="fr-FR" sz="3200" dirty="0" smtClean="0">
                <a:solidFill>
                  <a:schemeClr val="tx1"/>
                </a:solidFill>
              </a:rPr>
              <a:t>Cytoplasmique=&gt;sensible</a:t>
            </a:r>
            <a:endParaRPr lang="fr-FR" sz="3200" dirty="0">
              <a:solidFill>
                <a:schemeClr val="tx1"/>
              </a:solidFill>
            </a:endParaRPr>
          </a:p>
          <a:p>
            <a:pPr lvl="1">
              <a:buFont typeface="Wingdings" panose="05000000000000000000" pitchFamily="2" charset="2"/>
              <a:buChar char="v"/>
            </a:pPr>
            <a:endParaRPr lang="fr-FR" sz="3600" dirty="0">
              <a:solidFill>
                <a:schemeClr val="tx1"/>
              </a:solidFill>
            </a:endParaRPr>
          </a:p>
          <a:p>
            <a:endParaRPr lang="fr-FR" dirty="0"/>
          </a:p>
        </p:txBody>
      </p:sp>
      <p:graphicFrame>
        <p:nvGraphicFramePr>
          <p:cNvPr id="4" name="Tableau 3">
            <a:extLst>
              <a:ext uri="{FF2B5EF4-FFF2-40B4-BE49-F238E27FC236}">
                <a16:creationId xmlns="" xmlns:a16="http://schemas.microsoft.com/office/drawing/2014/main" id="{E233489E-2C56-47F7-86C6-317D1DCAE925}"/>
              </a:ext>
            </a:extLst>
          </p:cNvPr>
          <p:cNvGraphicFramePr>
            <a:graphicFrameLocks noGrp="1"/>
          </p:cNvGraphicFramePr>
          <p:nvPr>
            <p:extLst>
              <p:ext uri="{D42A27DB-BD31-4B8C-83A1-F6EECF244321}">
                <p14:modId xmlns:p14="http://schemas.microsoft.com/office/powerpoint/2010/main" val="2529220913"/>
              </p:ext>
            </p:extLst>
          </p:nvPr>
        </p:nvGraphicFramePr>
        <p:xfrm>
          <a:off x="318052" y="3429000"/>
          <a:ext cx="11555895" cy="2635395"/>
        </p:xfrm>
        <a:graphic>
          <a:graphicData uri="http://schemas.openxmlformats.org/drawingml/2006/table">
            <a:tbl>
              <a:tblPr firstRow="1" firstCol="1" bandRow="1">
                <a:tableStyleId>{5C22544A-7EE6-4342-B048-85BDC9FD1C3A}</a:tableStyleId>
              </a:tblPr>
              <a:tblGrid>
                <a:gridCol w="6413057">
                  <a:extLst>
                    <a:ext uri="{9D8B030D-6E8A-4147-A177-3AD203B41FA5}">
                      <a16:colId xmlns="" xmlns:a16="http://schemas.microsoft.com/office/drawing/2014/main" val="2750010753"/>
                    </a:ext>
                  </a:extLst>
                </a:gridCol>
                <a:gridCol w="5142838">
                  <a:extLst>
                    <a:ext uri="{9D8B030D-6E8A-4147-A177-3AD203B41FA5}">
                      <a16:colId xmlns="" xmlns:a16="http://schemas.microsoft.com/office/drawing/2014/main" val="1352706669"/>
                    </a:ext>
                  </a:extLst>
                </a:gridCol>
              </a:tblGrid>
              <a:tr h="574260">
                <a:tc>
                  <a:txBody>
                    <a:bodyPr/>
                    <a:lstStyle/>
                    <a:p>
                      <a:pPr>
                        <a:lnSpc>
                          <a:spcPct val="115000"/>
                        </a:lnSpc>
                        <a:spcAft>
                          <a:spcPts val="0"/>
                        </a:spcAft>
                      </a:pPr>
                      <a:r>
                        <a:rPr lang="fr-FR" sz="2400" b="1" dirty="0">
                          <a:solidFill>
                            <a:schemeClr val="tx1"/>
                          </a:solidFill>
                          <a:effectLst/>
                        </a:rPr>
                        <a:t>Les Tissus</a:t>
                      </a:r>
                      <a:endParaRPr lang="fr-FR" sz="24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2400" b="1" dirty="0">
                          <a:solidFill>
                            <a:schemeClr val="tx1"/>
                          </a:solidFill>
                          <a:effectLst/>
                        </a:rPr>
                        <a:t>Les isoenzymes prédominants </a:t>
                      </a:r>
                      <a:endParaRPr lang="fr-FR" sz="2400" b="1" dirty="0">
                        <a:solidFill>
                          <a:schemeClr val="tx1"/>
                        </a:solidFill>
                        <a:effectLst/>
                        <a:latin typeface="Times New Roman" panose="02020603050405020304" pitchFamily="18" charset="0"/>
                        <a:ea typeface="Times New Roman" panose="02020603050405020304" pitchFamily="18" charset="0"/>
                      </a:endParaRPr>
                    </a:p>
                    <a:p>
                      <a:endParaRPr lang="fr-FR" sz="2400" b="1" dirty="0">
                        <a:solidFill>
                          <a:schemeClr val="tx1"/>
                        </a:solidFill>
                      </a:endParaRPr>
                    </a:p>
                  </a:txBody>
                  <a:tcPr/>
                </a:tc>
                <a:extLst>
                  <a:ext uri="{0D108BD9-81ED-4DB2-BD59-A6C34878D82A}">
                    <a16:rowId xmlns="" xmlns:a16="http://schemas.microsoft.com/office/drawing/2014/main" val="3043754312"/>
                  </a:ext>
                </a:extLst>
              </a:tr>
              <a:tr h="430802">
                <a:tc>
                  <a:txBody>
                    <a:bodyPr/>
                    <a:lstStyle/>
                    <a:p>
                      <a:pPr marL="457200">
                        <a:spcAft>
                          <a:spcPts val="0"/>
                        </a:spcAft>
                      </a:pPr>
                      <a:r>
                        <a:rPr lang="fr-FR" sz="2400" b="1" dirty="0">
                          <a:solidFill>
                            <a:schemeClr val="tx1"/>
                          </a:solidFill>
                          <a:effectLst/>
                        </a:rPr>
                        <a:t>Myocarde, GR, </a:t>
                      </a:r>
                      <a:r>
                        <a:rPr lang="fr-FR" sz="2400" b="1" dirty="0" smtClean="0">
                          <a:solidFill>
                            <a:schemeClr val="tx1"/>
                          </a:solidFill>
                          <a:effectLst/>
                        </a:rPr>
                        <a:t>rein(21)</a:t>
                      </a:r>
                      <a:endParaRPr lang="fr-FR" sz="24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2">
                        <a:lumMod val="40000"/>
                        <a:lumOff val="60000"/>
                      </a:schemeClr>
                    </a:solidFill>
                  </a:tcPr>
                </a:tc>
                <a:tc>
                  <a:txBody>
                    <a:bodyPr/>
                    <a:lstStyle/>
                    <a:p>
                      <a:pPr marL="457200">
                        <a:spcAft>
                          <a:spcPts val="0"/>
                        </a:spcAft>
                      </a:pPr>
                      <a:r>
                        <a:rPr lang="fr-FR" sz="2400" b="1" dirty="0">
                          <a:solidFill>
                            <a:schemeClr val="tx1"/>
                          </a:solidFill>
                          <a:effectLst/>
                        </a:rPr>
                        <a:t>  LDH1, LDH2</a:t>
                      </a:r>
                      <a:endParaRPr lang="fr-FR" sz="24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 xmlns:a16="http://schemas.microsoft.com/office/drawing/2014/main" val="2836792923"/>
                  </a:ext>
                </a:extLst>
              </a:tr>
              <a:tr h="430802">
                <a:tc>
                  <a:txBody>
                    <a:bodyPr/>
                    <a:lstStyle/>
                    <a:p>
                      <a:pPr marL="457200">
                        <a:spcAft>
                          <a:spcPts val="0"/>
                        </a:spcAft>
                      </a:pPr>
                      <a:r>
                        <a:rPr lang="fr-FR" sz="2400" b="1" dirty="0">
                          <a:solidFill>
                            <a:schemeClr val="tx1"/>
                          </a:solidFill>
                          <a:effectLst/>
                        </a:rPr>
                        <a:t>Foie, M squelettique</a:t>
                      </a:r>
                      <a:r>
                        <a:rPr lang="fr-FR" sz="2400" b="1" dirty="0" smtClean="0">
                          <a:solidFill>
                            <a:schemeClr val="tx1"/>
                          </a:solidFill>
                          <a:effectLst/>
                        </a:rPr>
                        <a:t>.(45)</a:t>
                      </a:r>
                      <a:endParaRPr lang="fr-FR" sz="24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2">
                        <a:lumMod val="40000"/>
                        <a:lumOff val="60000"/>
                      </a:schemeClr>
                    </a:solidFill>
                  </a:tcPr>
                </a:tc>
                <a:tc>
                  <a:txBody>
                    <a:bodyPr/>
                    <a:lstStyle/>
                    <a:p>
                      <a:pPr marL="457200">
                        <a:spcAft>
                          <a:spcPts val="0"/>
                        </a:spcAft>
                      </a:pPr>
                      <a:r>
                        <a:rPr lang="fr-FR" sz="2400" b="1" dirty="0">
                          <a:solidFill>
                            <a:schemeClr val="tx1"/>
                          </a:solidFill>
                          <a:effectLst/>
                        </a:rPr>
                        <a:t>  LDH4, LDH5</a:t>
                      </a:r>
                      <a:endParaRPr lang="fr-FR" sz="24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 xmlns:a16="http://schemas.microsoft.com/office/drawing/2014/main" val="3863845507"/>
                  </a:ext>
                </a:extLst>
              </a:tr>
              <a:tr h="950831">
                <a:tc>
                  <a:txBody>
                    <a:bodyPr/>
                    <a:lstStyle/>
                    <a:p>
                      <a:pPr>
                        <a:lnSpc>
                          <a:spcPct val="115000"/>
                        </a:lnSpc>
                        <a:spcAft>
                          <a:spcPts val="0"/>
                        </a:spcAft>
                      </a:pPr>
                      <a:r>
                        <a:rPr lang="fr-FR" sz="2400" b="1" dirty="0">
                          <a:solidFill>
                            <a:schemeClr val="tx1"/>
                          </a:solidFill>
                          <a:effectLst/>
                        </a:rPr>
                        <a:t>     Glandes endocrines, rate, Pm </a:t>
                      </a:r>
                    </a:p>
                    <a:p>
                      <a:pPr>
                        <a:lnSpc>
                          <a:spcPct val="115000"/>
                        </a:lnSpc>
                        <a:spcAft>
                          <a:spcPts val="0"/>
                        </a:spcAft>
                      </a:pPr>
                      <a:r>
                        <a:rPr lang="fr-FR" sz="2400" b="1" dirty="0">
                          <a:solidFill>
                            <a:schemeClr val="tx1"/>
                          </a:solidFill>
                          <a:effectLst/>
                        </a:rPr>
                        <a:t>      Ganglions </a:t>
                      </a:r>
                      <a:r>
                        <a:rPr lang="fr-FR" sz="2400" b="1" dirty="0" smtClean="0">
                          <a:solidFill>
                            <a:schemeClr val="tx1"/>
                          </a:solidFill>
                          <a:effectLst/>
                        </a:rPr>
                        <a:t>lymphatiques(234)</a:t>
                      </a:r>
                      <a:endParaRPr lang="fr-FR" sz="24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2">
                        <a:lumMod val="40000"/>
                        <a:lumOff val="60000"/>
                      </a:schemeClr>
                    </a:solidFill>
                  </a:tcPr>
                </a:tc>
                <a:tc>
                  <a:txBody>
                    <a:bodyPr/>
                    <a:lstStyle/>
                    <a:p>
                      <a:pPr marL="457200">
                        <a:spcAft>
                          <a:spcPts val="0"/>
                        </a:spcAft>
                      </a:pPr>
                      <a:r>
                        <a:rPr lang="fr-FR" sz="2400" b="1" dirty="0">
                          <a:solidFill>
                            <a:schemeClr val="tx1"/>
                          </a:solidFill>
                          <a:effectLst/>
                        </a:rPr>
                        <a:t>  LDH2, LDH3, LDH4</a:t>
                      </a:r>
                      <a:endParaRPr lang="fr-FR" sz="24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 xmlns:a16="http://schemas.microsoft.com/office/drawing/2014/main" val="272076133"/>
                  </a:ext>
                </a:extLst>
              </a:tr>
            </a:tbl>
          </a:graphicData>
        </a:graphic>
      </p:graphicFrame>
    </p:spTree>
    <p:extLst>
      <p:ext uri="{BB962C8B-B14F-4D97-AF65-F5344CB8AC3E}">
        <p14:creationId xmlns:p14="http://schemas.microsoft.com/office/powerpoint/2010/main" val="344929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p:txBody>
          <a:bodyPr>
            <a:normAutofit fontScale="90000"/>
          </a:bodyPr>
          <a:lstStyle/>
          <a:p>
            <a:pPr algn="ctr"/>
            <a:r>
              <a:rPr lang="fr-FR" b="1" dirty="0"/>
              <a:t>7-LES LACTATES DESHYDROGENASES </a:t>
            </a:r>
            <a:br>
              <a:rPr lang="fr-FR" b="1" dirty="0"/>
            </a:br>
            <a:r>
              <a:rPr lang="fr-FR" b="1" dirty="0">
                <a:solidFill>
                  <a:schemeClr val="accent2">
                    <a:lumMod val="50000"/>
                  </a:schemeClr>
                </a:solidFill>
              </a:rPr>
              <a:t>LDH </a:t>
            </a:r>
            <a:r>
              <a:rPr lang="fr-FR" sz="3200" dirty="0">
                <a:solidFill>
                  <a:schemeClr val="accent2">
                    <a:lumMod val="50000"/>
                  </a:schemeClr>
                </a:solidFill>
                <a:latin typeface="Times New Roman" panose="02020603050405020304" pitchFamily="18" charset="0"/>
                <a:ea typeface="Times New Roman" panose="02020603050405020304" pitchFamily="18" charset="0"/>
              </a:rPr>
              <a:t/>
            </a:r>
            <a:br>
              <a:rPr lang="fr-FR" sz="3200" dirty="0">
                <a:solidFill>
                  <a:schemeClr val="accent2">
                    <a:lumMod val="50000"/>
                  </a:schemeClr>
                </a:solidFill>
                <a:latin typeface="Times New Roman" panose="02020603050405020304" pitchFamily="18" charset="0"/>
                <a:ea typeface="Times New Roman" panose="02020603050405020304" pitchFamily="18" charset="0"/>
              </a:rPr>
            </a:br>
            <a:endParaRPr lang="fr-FR" dirty="0">
              <a:solidFill>
                <a:schemeClr val="accent2">
                  <a:lumMod val="50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fr-FR" sz="3200" b="1" u="sng" dirty="0">
                <a:solidFill>
                  <a:schemeClr val="accent2"/>
                </a:solidFill>
                <a:latin typeface="Times New Roman" panose="02020603050405020304" pitchFamily="18" charset="0"/>
                <a:ea typeface="Times New Roman" panose="02020603050405020304" pitchFamily="18" charset="0"/>
              </a:rPr>
              <a:t>Valeurs normales</a:t>
            </a:r>
            <a:r>
              <a:rPr lang="fr-FR" sz="3200" dirty="0">
                <a:solidFill>
                  <a:schemeClr val="accent2"/>
                </a:solidFill>
                <a:latin typeface="Times New Roman" panose="02020603050405020304" pitchFamily="18" charset="0"/>
                <a:ea typeface="Times New Roman" panose="02020603050405020304" pitchFamily="18" charset="0"/>
              </a:rPr>
              <a:t> </a:t>
            </a:r>
            <a:endParaRPr lang="fr-FR" sz="2000" dirty="0">
              <a:solidFill>
                <a:schemeClr val="accent2"/>
              </a:solidFill>
              <a:latin typeface="Times New Roman" panose="02020603050405020304" pitchFamily="18" charset="0"/>
              <a:ea typeface="Times New Roman" panose="02020603050405020304" pitchFamily="18" charset="0"/>
            </a:endParaRPr>
          </a:p>
          <a:p>
            <a:pPr lvl="1">
              <a:buFont typeface="Wingdings" panose="05000000000000000000" pitchFamily="2" charset="2"/>
              <a:buChar char="§"/>
            </a:pPr>
            <a:r>
              <a:rPr lang="fr-FR" sz="3200" dirty="0">
                <a:latin typeface="Times New Roman" panose="02020603050405020304" pitchFamily="18" charset="0"/>
                <a:ea typeface="Times New Roman" panose="02020603050405020304" pitchFamily="18" charset="0"/>
              </a:rPr>
              <a:t>Adulte </a:t>
            </a:r>
            <a:r>
              <a:rPr lang="fr-FR" sz="3200" dirty="0">
                <a:latin typeface="Times New Roman" panose="02020603050405020304" pitchFamily="18" charset="0"/>
                <a:ea typeface="Times New Roman" panose="02020603050405020304" pitchFamily="18" charset="0"/>
                <a:cs typeface="Times New Roman" panose="02020603050405020304" pitchFamily="18" charset="0"/>
              </a:rPr>
              <a:t>LDH</a:t>
            </a:r>
            <a:r>
              <a:rPr lang="fr-FR" sz="3200" dirty="0">
                <a:latin typeface="Times New Roman" panose="02020603050405020304" pitchFamily="18" charset="0"/>
                <a:ea typeface="Times New Roman" panose="02020603050405020304" pitchFamily="18" charset="0"/>
              </a:rPr>
              <a:t> </a:t>
            </a:r>
            <a:r>
              <a:rPr lang="fr-FR" sz="3200" dirty="0">
                <a:solidFill>
                  <a:srgbClr val="FF0000"/>
                </a:solidFill>
                <a:latin typeface="Times New Roman" panose="02020603050405020304" pitchFamily="18" charset="0"/>
                <a:ea typeface="Times New Roman" panose="02020603050405020304" pitchFamily="18" charset="0"/>
              </a:rPr>
              <a:t>&lt; 245 </a:t>
            </a:r>
            <a:r>
              <a:rPr lang="fr-FR" sz="3200" dirty="0">
                <a:latin typeface="Times New Roman" panose="02020603050405020304" pitchFamily="18" charset="0"/>
                <a:ea typeface="Times New Roman" panose="02020603050405020304" pitchFamily="18" charset="0"/>
              </a:rPr>
              <a:t>UI /</a:t>
            </a:r>
            <a:r>
              <a:rPr lang="fr-FR" sz="3200" dirty="0" smtClean="0">
                <a:latin typeface="Times New Roman" panose="02020603050405020304" pitchFamily="18" charset="0"/>
                <a:ea typeface="Times New Roman" panose="02020603050405020304" pitchFamily="18" charset="0"/>
              </a:rPr>
              <a:t>L et chez les enfants les concertations sont  moins </a:t>
            </a:r>
            <a:endParaRPr lang="fr-FR" sz="3200" dirty="0">
              <a:latin typeface="Times New Roman" panose="02020603050405020304" pitchFamily="18" charset="0"/>
              <a:ea typeface="Times New Roman" panose="02020603050405020304" pitchFamily="18" charset="0"/>
            </a:endParaRPr>
          </a:p>
          <a:p>
            <a:pPr lvl="2">
              <a:buFont typeface="Wingdings" panose="05000000000000000000" pitchFamily="2" charset="2"/>
              <a:buChar char="§"/>
            </a:pPr>
            <a:r>
              <a:rPr lang="fr-FR" sz="3000" dirty="0">
                <a:latin typeface="Times New Roman" panose="02020603050405020304" pitchFamily="18" charset="0"/>
                <a:ea typeface="Times New Roman" panose="02020603050405020304" pitchFamily="18" charset="0"/>
                <a:cs typeface="Times New Roman" panose="02020603050405020304" pitchFamily="18" charset="0"/>
              </a:rPr>
              <a:t>LDH1 :  </a:t>
            </a:r>
            <a:r>
              <a:rPr lang="fr-FR" sz="30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14-26</a:t>
            </a:r>
            <a:r>
              <a:rPr lang="fr-FR" sz="3000" dirty="0">
                <a:latin typeface="Times New Roman" panose="02020603050405020304" pitchFamily="18" charset="0"/>
                <a:ea typeface="Times New Roman" panose="02020603050405020304" pitchFamily="18" charset="0"/>
                <a:cs typeface="Times New Roman" panose="02020603050405020304" pitchFamily="18" charset="0"/>
              </a:rPr>
              <a:t> % </a:t>
            </a:r>
          </a:p>
          <a:p>
            <a:pPr lvl="2">
              <a:buFont typeface="Wingdings" panose="05000000000000000000" pitchFamily="2" charset="2"/>
              <a:buChar char="§"/>
            </a:pPr>
            <a:r>
              <a:rPr lang="fr-FR" sz="3000" dirty="0">
                <a:latin typeface="Times New Roman" panose="02020603050405020304" pitchFamily="18" charset="0"/>
                <a:ea typeface="Times New Roman" panose="02020603050405020304" pitchFamily="18" charset="0"/>
                <a:cs typeface="Times New Roman" panose="02020603050405020304" pitchFamily="18" charset="0"/>
              </a:rPr>
              <a:t>LDH2 :  </a:t>
            </a:r>
            <a:r>
              <a:rPr lang="fr-FR" sz="30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29-39</a:t>
            </a:r>
            <a:r>
              <a:rPr lang="fr-FR" sz="30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3000" b="1" dirty="0">
                <a:latin typeface="Times New Roman" panose="02020603050405020304" pitchFamily="18" charset="0"/>
                <a:ea typeface="Times New Roman" panose="02020603050405020304" pitchFamily="18" charset="0"/>
                <a:cs typeface="Times New Roman" panose="02020603050405020304" pitchFamily="18" charset="0"/>
              </a:rPr>
              <a:t>%</a:t>
            </a:r>
            <a:r>
              <a:rPr lang="fr-FR" sz="30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3000" dirty="0" smtClean="0">
                <a:latin typeface="Times New Roman" panose="02020603050405020304" pitchFamily="18" charset="0"/>
                <a:ea typeface="Times New Roman" panose="02020603050405020304" pitchFamily="18" charset="0"/>
                <a:cs typeface="Times New Roman" panose="02020603050405020304" pitchFamily="18" charset="0"/>
              </a:rPr>
              <a:t>++++++++ </a:t>
            </a:r>
            <a:endParaRPr lang="fr-FR" sz="3000" dirty="0">
              <a:latin typeface="Times New Roman" panose="02020603050405020304" pitchFamily="18" charset="0"/>
              <a:ea typeface="Times New Roman" panose="02020603050405020304" pitchFamily="18" charset="0"/>
            </a:endParaRPr>
          </a:p>
          <a:p>
            <a:pPr lvl="2">
              <a:buFont typeface="Wingdings" panose="05000000000000000000" pitchFamily="2" charset="2"/>
              <a:buChar char="§"/>
            </a:pPr>
            <a:r>
              <a:rPr lang="en-US" sz="3000" dirty="0">
                <a:latin typeface="Times New Roman" panose="02020603050405020304" pitchFamily="18" charset="0"/>
                <a:ea typeface="Times New Roman" panose="02020603050405020304" pitchFamily="18" charset="0"/>
                <a:cs typeface="Times New Roman" panose="02020603050405020304" pitchFamily="18" charset="0"/>
              </a:rPr>
              <a:t>LDH3:   </a:t>
            </a:r>
            <a:r>
              <a:rPr lang="en-US" sz="30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20-26</a:t>
            </a:r>
            <a:r>
              <a:rPr lang="en-US" sz="30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3000" b="1" dirty="0">
                <a:latin typeface="Times New Roman" panose="02020603050405020304" pitchFamily="18" charset="0"/>
                <a:ea typeface="Times New Roman" panose="02020603050405020304" pitchFamily="18" charset="0"/>
                <a:cs typeface="Times New Roman" panose="02020603050405020304" pitchFamily="18" charset="0"/>
              </a:rPr>
              <a:t>%</a:t>
            </a:r>
            <a:r>
              <a:rPr lang="en-US" sz="3000" dirty="0">
                <a:latin typeface="Times New Roman" panose="02020603050405020304" pitchFamily="18" charset="0"/>
                <a:ea typeface="Times New Roman" panose="02020603050405020304" pitchFamily="18" charset="0"/>
                <a:cs typeface="Times New Roman" panose="02020603050405020304" pitchFamily="18" charset="0"/>
              </a:rPr>
              <a:t> </a:t>
            </a:r>
            <a:endParaRPr lang="fr-FR" sz="3000" dirty="0">
              <a:latin typeface="Times New Roman" panose="02020603050405020304" pitchFamily="18" charset="0"/>
              <a:ea typeface="Times New Roman" panose="02020603050405020304" pitchFamily="18" charset="0"/>
            </a:endParaRPr>
          </a:p>
          <a:p>
            <a:pPr lvl="2">
              <a:buFont typeface="Wingdings" panose="05000000000000000000" pitchFamily="2" charset="2"/>
              <a:buChar char="§"/>
            </a:pPr>
            <a:r>
              <a:rPr lang="en-US" sz="3000" dirty="0">
                <a:latin typeface="Times New Roman" panose="02020603050405020304" pitchFamily="18" charset="0"/>
                <a:ea typeface="Times New Roman" panose="02020603050405020304" pitchFamily="18" charset="0"/>
                <a:cs typeface="Times New Roman" panose="02020603050405020304" pitchFamily="18" charset="0"/>
              </a:rPr>
              <a:t>LDH4:    </a:t>
            </a:r>
            <a:r>
              <a:rPr lang="en-US" sz="30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8-16 </a:t>
            </a:r>
            <a:r>
              <a:rPr lang="en-US" sz="3000" dirty="0">
                <a:latin typeface="Times New Roman" panose="02020603050405020304" pitchFamily="18" charset="0"/>
                <a:ea typeface="Times New Roman" panose="02020603050405020304" pitchFamily="18" charset="0"/>
                <a:cs typeface="Times New Roman" panose="02020603050405020304" pitchFamily="18" charset="0"/>
              </a:rPr>
              <a:t>% </a:t>
            </a:r>
            <a:endParaRPr lang="fr-FR" sz="3000" dirty="0">
              <a:latin typeface="Times New Roman" panose="02020603050405020304" pitchFamily="18" charset="0"/>
              <a:ea typeface="Times New Roman" panose="02020603050405020304" pitchFamily="18" charset="0"/>
            </a:endParaRPr>
          </a:p>
          <a:p>
            <a:pPr lvl="2">
              <a:buFont typeface="Wingdings" panose="05000000000000000000" pitchFamily="2" charset="2"/>
              <a:buChar char="§"/>
            </a:pPr>
            <a:r>
              <a:rPr lang="fr-FR" sz="3000" dirty="0">
                <a:latin typeface="Times New Roman" panose="02020603050405020304" pitchFamily="18" charset="0"/>
                <a:ea typeface="Times New Roman" panose="02020603050405020304" pitchFamily="18" charset="0"/>
                <a:cs typeface="Times New Roman" panose="02020603050405020304" pitchFamily="18" charset="0"/>
              </a:rPr>
              <a:t>LDH5 :    </a:t>
            </a:r>
            <a:r>
              <a:rPr lang="fr-FR" sz="30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6-16</a:t>
            </a:r>
            <a:r>
              <a:rPr lang="fr-FR" sz="30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3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fr-FR" sz="300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12992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p:txBody>
          <a:bodyPr>
            <a:normAutofit fontScale="90000"/>
          </a:bodyPr>
          <a:lstStyle/>
          <a:p>
            <a:pPr algn="ctr"/>
            <a:r>
              <a:rPr lang="fr-FR" b="1" dirty="0"/>
              <a:t>7-LES LACTATES DESHYDROGENASES </a:t>
            </a:r>
            <a:br>
              <a:rPr lang="fr-FR" b="1" dirty="0"/>
            </a:br>
            <a:r>
              <a:rPr lang="fr-FR" b="1" dirty="0">
                <a:solidFill>
                  <a:schemeClr val="accent2">
                    <a:lumMod val="50000"/>
                  </a:schemeClr>
                </a:solidFill>
              </a:rPr>
              <a:t>LDH </a:t>
            </a:r>
            <a:r>
              <a:rPr lang="fr-FR" sz="3200" dirty="0">
                <a:solidFill>
                  <a:schemeClr val="accent2">
                    <a:lumMod val="50000"/>
                  </a:schemeClr>
                </a:solidFill>
                <a:latin typeface="Times New Roman" panose="02020603050405020304" pitchFamily="18" charset="0"/>
                <a:ea typeface="Times New Roman" panose="02020603050405020304" pitchFamily="18" charset="0"/>
              </a:rPr>
              <a:t/>
            </a:r>
            <a:br>
              <a:rPr lang="fr-FR" sz="3200" dirty="0">
                <a:solidFill>
                  <a:schemeClr val="accent2">
                    <a:lumMod val="50000"/>
                  </a:schemeClr>
                </a:solidFill>
                <a:latin typeface="Times New Roman" panose="02020603050405020304" pitchFamily="18" charset="0"/>
                <a:ea typeface="Times New Roman" panose="02020603050405020304" pitchFamily="18" charset="0"/>
              </a:rPr>
            </a:br>
            <a:endParaRPr lang="fr-FR" dirty="0">
              <a:solidFill>
                <a:schemeClr val="accent2">
                  <a:lumMod val="50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677333" y="2160589"/>
            <a:ext cx="10096683" cy="3880773"/>
          </a:xfrm>
        </p:spPr>
        <p:txBody>
          <a:bodyPr>
            <a:normAutofit fontScale="92500"/>
          </a:bodyPr>
          <a:lstStyle/>
          <a:p>
            <a:pPr>
              <a:buFont typeface="Wingdings" panose="05000000000000000000" pitchFamily="2" charset="2"/>
              <a:buChar char="q"/>
            </a:pPr>
            <a:r>
              <a:rPr lang="fr-FR" sz="3200" b="1" u="sng" dirty="0">
                <a:solidFill>
                  <a:schemeClr val="accent2">
                    <a:lumMod val="75000"/>
                  </a:schemeClr>
                </a:solidFill>
              </a:rPr>
              <a:t>Variations physiologiques </a:t>
            </a:r>
          </a:p>
          <a:p>
            <a:pPr>
              <a:buFont typeface="Wingdings" panose="05000000000000000000" pitchFamily="2" charset="2"/>
              <a:buChar char="q"/>
            </a:pPr>
            <a:endParaRPr lang="fr-FR" sz="3200" dirty="0">
              <a:solidFill>
                <a:schemeClr val="accent2">
                  <a:lumMod val="75000"/>
                </a:schemeClr>
              </a:solidFill>
            </a:endParaRPr>
          </a:p>
          <a:p>
            <a:pPr lvl="1">
              <a:buFont typeface="Wingdings" panose="05000000000000000000" pitchFamily="2" charset="2"/>
              <a:buChar char="Ø"/>
            </a:pPr>
            <a:r>
              <a:rPr lang="fr-FR" sz="2800" dirty="0" smtClean="0"/>
              <a:t>Valeur Normal est </a:t>
            </a:r>
            <a:r>
              <a:rPr lang="fr-FR" sz="2800" dirty="0" smtClean="0">
                <a:latin typeface="Times New Roman" panose="02020603050405020304" pitchFamily="18" charset="0"/>
                <a:cs typeface="Times New Roman" panose="02020603050405020304" pitchFamily="18" charset="0"/>
              </a:rPr>
              <a:t>augmenter depuis Naissance </a:t>
            </a:r>
            <a:r>
              <a:rPr lang="fr-FR" sz="2800" dirty="0">
                <a:latin typeface="Times New Roman" panose="02020603050405020304" pitchFamily="18" charset="0"/>
                <a:cs typeface="Times New Roman" panose="02020603050405020304" pitchFamily="18" charset="0"/>
              </a:rPr>
              <a:t>puis </a:t>
            </a:r>
            <a:r>
              <a:rPr lang="fr-FR" sz="2800" dirty="0" smtClean="0">
                <a:latin typeface="Times New Roman" panose="02020603050405020304" pitchFamily="18" charset="0"/>
                <a:cs typeface="Times New Roman" panose="02020603050405020304" pitchFamily="18" charset="0"/>
              </a:rPr>
              <a:t>se diminuer</a:t>
            </a:r>
            <a:r>
              <a:rPr lang="fr-FR" sz="2800" dirty="0" smtClean="0"/>
              <a:t> progressivement avec </a:t>
            </a:r>
            <a:r>
              <a:rPr lang="fr-FR" sz="2800" dirty="0"/>
              <a:t>l’âge </a:t>
            </a:r>
            <a:r>
              <a:rPr lang="fr-FR" sz="2800" dirty="0" smtClean="0"/>
              <a:t>jusqu’à </a:t>
            </a:r>
            <a:r>
              <a:rPr lang="fr-FR" sz="2800" dirty="0"/>
              <a:t>a</a:t>
            </a:r>
            <a:r>
              <a:rPr lang="fr-FR" sz="2800" dirty="0" smtClean="0"/>
              <a:t> Enfants 14-16 ans(la puberté)va se normaliser et a un valeur comme chez l’adulte</a:t>
            </a:r>
            <a:endParaRPr lang="fr-FR" sz="2800" dirty="0"/>
          </a:p>
          <a:p>
            <a:pPr marL="457200" lvl="1" indent="0">
              <a:buNone/>
            </a:pPr>
            <a:endParaRPr lang="fr-FR" sz="2800" dirty="0"/>
          </a:p>
          <a:p>
            <a:pPr lvl="1">
              <a:buFont typeface="Wingdings" panose="05000000000000000000" pitchFamily="2" charset="2"/>
              <a:buChar char="Ø"/>
            </a:pPr>
            <a:r>
              <a:rPr lang="fr-FR" sz="2800" dirty="0"/>
              <a:t>Grossesse : + 20-25 % </a:t>
            </a:r>
            <a:r>
              <a:rPr lang="fr-FR" sz="2800" dirty="0" smtClean="0"/>
              <a:t>au cours 3</a:t>
            </a:r>
            <a:r>
              <a:rPr lang="fr-FR" sz="2800" baseline="30000" dirty="0" smtClean="0"/>
              <a:t>ème </a:t>
            </a:r>
            <a:r>
              <a:rPr lang="fr-FR" sz="2800" dirty="0"/>
              <a:t>T ; postpartum : + 15-30 %</a:t>
            </a:r>
          </a:p>
          <a:p>
            <a:endParaRPr lang="fr-FR" dirty="0"/>
          </a:p>
        </p:txBody>
      </p:sp>
    </p:spTree>
    <p:extLst>
      <p:ext uri="{BB962C8B-B14F-4D97-AF65-F5344CB8AC3E}">
        <p14:creationId xmlns:p14="http://schemas.microsoft.com/office/powerpoint/2010/main" val="57660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a:xfrm>
            <a:off x="0" y="0"/>
            <a:ext cx="8596668" cy="1320800"/>
          </a:xfrm>
        </p:spPr>
        <p:txBody>
          <a:bodyPr>
            <a:normAutofit fontScale="90000"/>
          </a:bodyPr>
          <a:lstStyle/>
          <a:p>
            <a:pPr algn="ctr"/>
            <a:r>
              <a:rPr lang="fr-FR" b="1" dirty="0"/>
              <a:t>7-LES LACTATES DESHYDROGENASES </a:t>
            </a:r>
            <a:r>
              <a:rPr lang="fr-FR" b="1" dirty="0">
                <a:solidFill>
                  <a:schemeClr val="accent2">
                    <a:lumMod val="50000"/>
                  </a:schemeClr>
                </a:solidFill>
              </a:rPr>
              <a:t>LDH </a:t>
            </a:r>
            <a:r>
              <a:rPr lang="fr-FR" sz="3200" dirty="0">
                <a:solidFill>
                  <a:schemeClr val="accent2">
                    <a:lumMod val="50000"/>
                  </a:schemeClr>
                </a:solidFill>
                <a:latin typeface="Times New Roman" panose="02020603050405020304" pitchFamily="18" charset="0"/>
                <a:ea typeface="Times New Roman" panose="02020603050405020304" pitchFamily="18" charset="0"/>
              </a:rPr>
              <a:t/>
            </a:r>
            <a:br>
              <a:rPr lang="fr-FR" sz="3200" dirty="0">
                <a:solidFill>
                  <a:schemeClr val="accent2">
                    <a:lumMod val="50000"/>
                  </a:schemeClr>
                </a:solidFill>
                <a:latin typeface="Times New Roman" panose="02020603050405020304" pitchFamily="18" charset="0"/>
                <a:ea typeface="Times New Roman" panose="02020603050405020304" pitchFamily="18" charset="0"/>
              </a:rPr>
            </a:br>
            <a:endParaRPr lang="fr-FR" dirty="0">
              <a:solidFill>
                <a:schemeClr val="accent2">
                  <a:lumMod val="50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637675" y="541422"/>
            <a:ext cx="10082463" cy="5474367"/>
          </a:xfrm>
        </p:spPr>
        <p:txBody>
          <a:bodyPr>
            <a:normAutofit fontScale="92500" lnSpcReduction="10000"/>
          </a:bodyPr>
          <a:lstStyle/>
          <a:p>
            <a:pPr>
              <a:buFont typeface="Wingdings" panose="05000000000000000000" pitchFamily="2" charset="2"/>
              <a:buChar char="q"/>
            </a:pPr>
            <a:r>
              <a:rPr lang="fr-FR" sz="3000" b="1" u="sng" dirty="0">
                <a:solidFill>
                  <a:schemeClr val="accent2">
                    <a:lumMod val="75000"/>
                  </a:schemeClr>
                </a:solidFill>
                <a:latin typeface="Times New Roman" panose="02020603050405020304" pitchFamily="18" charset="0"/>
                <a:ea typeface="Times New Roman" panose="02020603050405020304" pitchFamily="18" charset="0"/>
              </a:rPr>
              <a:t>Variations pathologiques :</a:t>
            </a:r>
            <a:r>
              <a:rPr lang="fr-FR" sz="2000" b="1" dirty="0">
                <a:solidFill>
                  <a:schemeClr val="accent2">
                    <a:lumMod val="75000"/>
                  </a:schemeClr>
                </a:solidFill>
                <a:latin typeface="Times New Roman" panose="02020603050405020304" pitchFamily="18" charset="0"/>
                <a:ea typeface="Times New Roman" panose="02020603050405020304" pitchFamily="18" charset="0"/>
              </a:rPr>
              <a:t> </a:t>
            </a:r>
            <a:r>
              <a:rPr lang="fr-FR" sz="19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1900" b="1" dirty="0">
                <a:solidFill>
                  <a:schemeClr val="tx1"/>
                </a:solidFill>
                <a:latin typeface="Times New Roman" panose="02020603050405020304" pitchFamily="18" charset="0"/>
                <a:ea typeface="Times New Roman" panose="02020603050405020304" pitchFamily="18" charset="0"/>
              </a:rPr>
              <a:t>LDH au cours </a:t>
            </a:r>
          </a:p>
          <a:p>
            <a:pPr lvl="1">
              <a:buFont typeface="+mj-lt"/>
              <a:buAutoNum type="arabicParenR"/>
            </a:pPr>
            <a:r>
              <a:rPr lang="fr-FR" sz="1900" b="1" dirty="0">
                <a:solidFill>
                  <a:schemeClr val="tx1"/>
                </a:solidFill>
                <a:latin typeface="Times New Roman" panose="02020603050405020304" pitchFamily="18" charset="0"/>
                <a:ea typeface="Times New Roman" panose="02020603050405020304" pitchFamily="18" charset="0"/>
              </a:rPr>
              <a:t>IDM : </a:t>
            </a:r>
          </a:p>
          <a:p>
            <a:pPr lvl="2">
              <a:buFont typeface="Wingdings" panose="05000000000000000000" pitchFamily="2" charset="2"/>
              <a:buChar char="ü"/>
            </a:pPr>
            <a:r>
              <a:rPr lang="fr-FR" sz="1900" b="1" dirty="0">
                <a:solidFill>
                  <a:schemeClr val="tx1"/>
                </a:solidFill>
                <a:latin typeface="Times New Roman" panose="02020603050405020304" pitchFamily="18" charset="0"/>
                <a:ea typeface="Times New Roman" panose="02020603050405020304" pitchFamily="18" charset="0"/>
              </a:rPr>
              <a:t>↑LDH tardive 18-24h </a:t>
            </a:r>
            <a:r>
              <a:rPr lang="fr-FR" sz="1900" b="1" dirty="0" smtClean="0">
                <a:solidFill>
                  <a:schemeClr val="tx1"/>
                </a:solidFill>
                <a:latin typeface="Times New Roman" panose="02020603050405020304" pitchFamily="18" charset="0"/>
                <a:ea typeface="Times New Roman" panose="02020603050405020304" pitchFamily="18" charset="0"/>
              </a:rPr>
              <a:t>après le douleur de IDM</a:t>
            </a:r>
            <a:endParaRPr lang="fr-FR" sz="1900" b="1" dirty="0">
              <a:solidFill>
                <a:schemeClr val="tx1"/>
              </a:solidFill>
              <a:latin typeface="Times New Roman" panose="02020603050405020304" pitchFamily="18" charset="0"/>
              <a:ea typeface="Times New Roman" panose="02020603050405020304" pitchFamily="18" charset="0"/>
            </a:endParaRPr>
          </a:p>
          <a:p>
            <a:pPr lvl="2">
              <a:buFont typeface="Wingdings" panose="05000000000000000000" pitchFamily="2" charset="2"/>
              <a:buChar char="ü"/>
            </a:pPr>
            <a:r>
              <a:rPr lang="fr-FR" sz="1900" b="1" dirty="0">
                <a:solidFill>
                  <a:schemeClr val="tx1"/>
                </a:solidFill>
                <a:latin typeface="Times New Roman" panose="02020603050405020304" pitchFamily="18" charset="0"/>
                <a:ea typeface="Times New Roman" panose="02020603050405020304" pitchFamily="18" charset="0"/>
              </a:rPr>
              <a:t>Max 2</a:t>
            </a:r>
            <a:r>
              <a:rPr lang="fr-FR" sz="1900" b="1" baseline="30000" dirty="0">
                <a:solidFill>
                  <a:schemeClr val="tx1"/>
                </a:solidFill>
                <a:latin typeface="Times New Roman" panose="02020603050405020304" pitchFamily="18" charset="0"/>
                <a:ea typeface="Times New Roman" panose="02020603050405020304" pitchFamily="18" charset="0"/>
              </a:rPr>
              <a:t>ème</a:t>
            </a:r>
            <a:r>
              <a:rPr lang="fr-FR" sz="1900" b="1" dirty="0">
                <a:solidFill>
                  <a:schemeClr val="tx1"/>
                </a:solidFill>
                <a:latin typeface="Times New Roman" panose="02020603050405020304" pitchFamily="18" charset="0"/>
                <a:ea typeface="Times New Roman" panose="02020603050405020304" pitchFamily="18" charset="0"/>
              </a:rPr>
              <a:t> j </a:t>
            </a:r>
          </a:p>
          <a:p>
            <a:pPr lvl="2">
              <a:buFont typeface="Wingdings" panose="05000000000000000000" pitchFamily="2" charset="2"/>
              <a:buChar char="ü"/>
            </a:pPr>
            <a:r>
              <a:rPr lang="fr-FR" sz="1900" b="1" dirty="0">
                <a:solidFill>
                  <a:schemeClr val="tx1"/>
                </a:solidFill>
                <a:latin typeface="Times New Roman" panose="02020603050405020304" pitchFamily="18" charset="0"/>
                <a:ea typeface="Times New Roman" panose="02020603050405020304" pitchFamily="18" charset="0"/>
              </a:rPr>
              <a:t>VN  6</a:t>
            </a:r>
            <a:r>
              <a:rPr lang="fr-FR" sz="1900" b="1" baseline="30000" dirty="0">
                <a:solidFill>
                  <a:schemeClr val="tx1"/>
                </a:solidFill>
                <a:latin typeface="Times New Roman" panose="02020603050405020304" pitchFamily="18" charset="0"/>
                <a:ea typeface="Times New Roman" panose="02020603050405020304" pitchFamily="18" charset="0"/>
              </a:rPr>
              <a:t>ème </a:t>
            </a:r>
            <a:r>
              <a:rPr lang="fr-FR" sz="1900" b="1" dirty="0">
                <a:solidFill>
                  <a:schemeClr val="tx1"/>
                </a:solidFill>
                <a:latin typeface="Times New Roman" panose="02020603050405020304" pitchFamily="18" charset="0"/>
                <a:ea typeface="Times New Roman" panose="02020603050405020304" pitchFamily="18" charset="0"/>
              </a:rPr>
              <a:t>j</a:t>
            </a:r>
          </a:p>
          <a:p>
            <a:pPr lvl="1">
              <a:buFont typeface="+mj-lt"/>
              <a:buAutoNum type="arabicParenR"/>
            </a:pPr>
            <a:r>
              <a:rPr lang="fr-FR" sz="1900" b="1" dirty="0">
                <a:solidFill>
                  <a:schemeClr val="tx1"/>
                </a:solidFill>
                <a:latin typeface="Times New Roman" panose="02020603050405020304" pitchFamily="18" charset="0"/>
                <a:ea typeface="Times New Roman" panose="02020603050405020304" pitchFamily="18" charset="0"/>
              </a:rPr>
              <a:t>Aff  hépatiques (cytolyse hépato₡) </a:t>
            </a:r>
          </a:p>
          <a:p>
            <a:pPr lvl="1">
              <a:buFont typeface="+mj-lt"/>
              <a:buAutoNum type="arabicParenR"/>
            </a:pPr>
            <a:r>
              <a:rPr lang="fr-FR" sz="1900" b="1" dirty="0">
                <a:solidFill>
                  <a:srgbClr val="FF0000"/>
                </a:solidFill>
                <a:latin typeface="Times New Roman" panose="02020603050405020304" pitchFamily="18" charset="0"/>
                <a:ea typeface="Times New Roman" panose="02020603050405020304" pitchFamily="18" charset="0"/>
              </a:rPr>
              <a:t>Aff hématologiques </a:t>
            </a:r>
            <a:r>
              <a:rPr lang="fr-FR" sz="1900" b="1" dirty="0" smtClean="0">
                <a:solidFill>
                  <a:srgbClr val="FF0000"/>
                </a:solidFill>
                <a:latin typeface="Times New Roman" panose="02020603050405020304" pitchFamily="18" charset="0"/>
                <a:ea typeface="Times New Roman" panose="02020603050405020304" pitchFamily="18" charset="0"/>
              </a:rPr>
              <a:t>:+++++++++++++++</a:t>
            </a:r>
            <a:endParaRPr lang="fr-FR" sz="1900" b="1" dirty="0">
              <a:solidFill>
                <a:srgbClr val="FF0000"/>
              </a:solidFill>
              <a:latin typeface="Times New Roman" panose="02020603050405020304" pitchFamily="18" charset="0"/>
              <a:ea typeface="Times New Roman" panose="02020603050405020304" pitchFamily="18" charset="0"/>
            </a:endParaRPr>
          </a:p>
          <a:p>
            <a:pPr lvl="2">
              <a:buFont typeface="Times New Roman" panose="02020603050405020304" pitchFamily="18" charset="0"/>
              <a:buChar char="-"/>
            </a:pPr>
            <a:r>
              <a:rPr lang="fr-FR" sz="1900" b="1" dirty="0">
                <a:solidFill>
                  <a:schemeClr val="tx1"/>
                </a:solidFill>
                <a:latin typeface="Times New Roman" panose="02020603050405020304" pitchFamily="18" charset="0"/>
                <a:ea typeface="Times New Roman" panose="02020603050405020304" pitchFamily="18" charset="0"/>
              </a:rPr>
              <a:t>Anémies : </a:t>
            </a:r>
            <a:r>
              <a:rPr lang="fr-FR" sz="1900" b="1" dirty="0" err="1">
                <a:solidFill>
                  <a:schemeClr val="tx1"/>
                </a:solidFill>
                <a:latin typeface="Times New Roman" panose="02020603050405020304" pitchFamily="18" charset="0"/>
                <a:ea typeface="Times New Roman" panose="02020603050405020304" pitchFamily="18" charset="0"/>
              </a:rPr>
              <a:t>A.hémolytiques</a:t>
            </a:r>
            <a:r>
              <a:rPr lang="fr-FR" sz="1900" b="1" dirty="0">
                <a:solidFill>
                  <a:schemeClr val="tx1"/>
                </a:solidFill>
                <a:latin typeface="Times New Roman" panose="02020603050405020304" pitchFamily="18" charset="0"/>
                <a:ea typeface="Times New Roman" panose="02020603050405020304" pitchFamily="18" charset="0"/>
              </a:rPr>
              <a:t> , </a:t>
            </a:r>
            <a:r>
              <a:rPr lang="fr-FR" sz="1900" b="1" dirty="0" err="1">
                <a:solidFill>
                  <a:schemeClr val="tx1"/>
                </a:solidFill>
                <a:latin typeface="Times New Roman" panose="02020603050405020304" pitchFamily="18" charset="0"/>
                <a:ea typeface="Times New Roman" panose="02020603050405020304" pitchFamily="18" charset="0"/>
              </a:rPr>
              <a:t>A.mégaloblastiques</a:t>
            </a:r>
            <a:endParaRPr lang="fr-FR" sz="1900" b="1" dirty="0">
              <a:solidFill>
                <a:schemeClr val="tx1"/>
              </a:solidFill>
              <a:latin typeface="Times New Roman" panose="02020603050405020304" pitchFamily="18" charset="0"/>
              <a:ea typeface="Times New Roman" panose="02020603050405020304" pitchFamily="18" charset="0"/>
            </a:endParaRPr>
          </a:p>
          <a:p>
            <a:pPr lvl="2">
              <a:buFont typeface="Times New Roman" panose="02020603050405020304" pitchFamily="18" charset="0"/>
              <a:buChar char="-"/>
            </a:pPr>
            <a:r>
              <a:rPr lang="fr-FR" sz="1900" b="1" dirty="0">
                <a:solidFill>
                  <a:schemeClr val="tx1"/>
                </a:solidFill>
                <a:latin typeface="Times New Roman" panose="02020603050405020304" pitchFamily="18" charset="0"/>
                <a:ea typeface="Times New Roman" panose="02020603050405020304" pitchFamily="18" charset="0"/>
              </a:rPr>
              <a:t>Les néoplasies : Leucémies, lymphomes</a:t>
            </a:r>
          </a:p>
          <a:p>
            <a:pPr lvl="1">
              <a:buFont typeface="+mj-lt"/>
              <a:buAutoNum type="arabicParenR"/>
            </a:pPr>
            <a:r>
              <a:rPr lang="fr-FR" sz="1900" b="1" dirty="0">
                <a:solidFill>
                  <a:srgbClr val="FF0000"/>
                </a:solidFill>
                <a:latin typeface="Times New Roman" panose="02020603050405020304" pitchFamily="18" charset="0"/>
                <a:ea typeface="Times New Roman" panose="02020603050405020304" pitchFamily="18" charset="0"/>
              </a:rPr>
              <a:t>Pathologies </a:t>
            </a:r>
            <a:r>
              <a:rPr lang="fr-FR" sz="1900" b="1" dirty="0" smtClean="0">
                <a:solidFill>
                  <a:srgbClr val="FF0000"/>
                </a:solidFill>
                <a:latin typeface="Times New Roman" panose="02020603050405020304" pitchFamily="18" charset="0"/>
                <a:ea typeface="Times New Roman" panose="02020603050405020304" pitchFamily="18" charset="0"/>
              </a:rPr>
              <a:t>néoplasiques++++++++++++++++=&gt;surtt sous chimiothérapie</a:t>
            </a:r>
            <a:endParaRPr lang="fr-FR" sz="1900" b="1" dirty="0">
              <a:solidFill>
                <a:srgbClr val="FF0000"/>
              </a:solidFill>
              <a:latin typeface="Times New Roman" panose="02020603050405020304" pitchFamily="18" charset="0"/>
              <a:ea typeface="Times New Roman" panose="02020603050405020304" pitchFamily="18" charset="0"/>
            </a:endParaRPr>
          </a:p>
          <a:p>
            <a:pPr lvl="1">
              <a:buFont typeface="+mj-lt"/>
              <a:buAutoNum type="arabicParenR"/>
            </a:pPr>
            <a:r>
              <a:rPr lang="fr-FR" sz="1900" b="1" dirty="0">
                <a:solidFill>
                  <a:schemeClr val="tx1"/>
                </a:solidFill>
                <a:latin typeface="Times New Roman" panose="02020603050405020304" pitchFamily="18" charset="0"/>
                <a:ea typeface="Times New Roman" panose="02020603050405020304" pitchFamily="18" charset="0"/>
              </a:rPr>
              <a:t>Autres :</a:t>
            </a:r>
          </a:p>
          <a:p>
            <a:pPr lvl="2">
              <a:buFont typeface="Wingdings" panose="05000000000000000000" pitchFamily="2" charset="2"/>
              <a:buChar char="ü"/>
            </a:pPr>
            <a:r>
              <a:rPr lang="fr-FR" sz="1900" b="1" dirty="0">
                <a:solidFill>
                  <a:schemeClr val="tx1"/>
                </a:solidFill>
                <a:latin typeface="Times New Roman" panose="02020603050405020304" pitchFamily="18" charset="0"/>
                <a:ea typeface="Times New Roman" panose="02020603050405020304" pitchFamily="18" charset="0"/>
              </a:rPr>
              <a:t> Nécrose musculaire (traumatique)</a:t>
            </a:r>
          </a:p>
          <a:p>
            <a:pPr lvl="2">
              <a:buFont typeface="Wingdings" panose="05000000000000000000" pitchFamily="2" charset="2"/>
              <a:buChar char="ü"/>
            </a:pPr>
            <a:r>
              <a:rPr lang="fr-FR" sz="1900" b="1" dirty="0">
                <a:solidFill>
                  <a:schemeClr val="tx1"/>
                </a:solidFill>
                <a:latin typeface="Times New Roman" panose="02020603050405020304" pitchFamily="18" charset="0"/>
                <a:ea typeface="Times New Roman" panose="02020603050405020304" pitchFamily="18" charset="0"/>
              </a:rPr>
              <a:t>Infarctus rénal</a:t>
            </a:r>
          </a:p>
          <a:p>
            <a:pPr lvl="2">
              <a:buFont typeface="Wingdings" panose="05000000000000000000" pitchFamily="2" charset="2"/>
              <a:buChar char="ü"/>
            </a:pPr>
            <a:r>
              <a:rPr lang="fr-FR" sz="1900" b="1" dirty="0">
                <a:solidFill>
                  <a:schemeClr val="tx1"/>
                </a:solidFill>
                <a:latin typeface="Times New Roman" panose="02020603050405020304" pitchFamily="18" charset="0"/>
                <a:ea typeface="Times New Roman" panose="02020603050405020304" pitchFamily="18" charset="0"/>
              </a:rPr>
              <a:t> Atteinte pulmonaire sévère (infarctus Pm , OAP, pneumopathies infectieuses)</a:t>
            </a:r>
          </a:p>
          <a:p>
            <a:endParaRPr lang="fr-FR" dirty="0"/>
          </a:p>
        </p:txBody>
      </p:sp>
    </p:spTree>
    <p:extLst>
      <p:ext uri="{BB962C8B-B14F-4D97-AF65-F5344CB8AC3E}">
        <p14:creationId xmlns:p14="http://schemas.microsoft.com/office/powerpoint/2010/main" val="16091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57CD8AC-9CBE-41EC-AE3B-F16BAC73BCCF}"/>
              </a:ext>
            </a:extLst>
          </p:cNvPr>
          <p:cNvSpPr>
            <a:spLocks noGrp="1"/>
          </p:cNvSpPr>
          <p:nvPr>
            <p:ph type="title"/>
          </p:nvPr>
        </p:nvSpPr>
        <p:spPr/>
        <p:txBody>
          <a:bodyPr>
            <a:normAutofit fontScale="90000"/>
          </a:bodyPr>
          <a:lstStyle/>
          <a:p>
            <a:pPr algn="ctr"/>
            <a:r>
              <a:rPr lang="fr-FR" b="1" dirty="0"/>
              <a:t>7-LES LACTATES DESHYDROGENASES </a:t>
            </a:r>
            <a:br>
              <a:rPr lang="fr-FR" b="1" dirty="0"/>
            </a:br>
            <a:r>
              <a:rPr lang="fr-FR" b="1" dirty="0">
                <a:solidFill>
                  <a:schemeClr val="accent2">
                    <a:lumMod val="50000"/>
                  </a:schemeClr>
                </a:solidFill>
              </a:rPr>
              <a:t>LDH </a:t>
            </a:r>
            <a:r>
              <a:rPr lang="fr-FR" sz="3200" dirty="0">
                <a:solidFill>
                  <a:schemeClr val="accent2">
                    <a:lumMod val="50000"/>
                  </a:schemeClr>
                </a:solidFill>
                <a:latin typeface="Times New Roman" panose="02020603050405020304" pitchFamily="18" charset="0"/>
                <a:ea typeface="Times New Roman" panose="02020603050405020304" pitchFamily="18" charset="0"/>
              </a:rPr>
              <a:t/>
            </a:r>
            <a:br>
              <a:rPr lang="fr-FR" sz="3200" dirty="0">
                <a:solidFill>
                  <a:schemeClr val="accent2">
                    <a:lumMod val="50000"/>
                  </a:schemeClr>
                </a:solidFill>
                <a:latin typeface="Times New Roman" panose="02020603050405020304" pitchFamily="18" charset="0"/>
                <a:ea typeface="Times New Roman" panose="02020603050405020304" pitchFamily="18" charset="0"/>
              </a:rPr>
            </a:br>
            <a:endParaRPr lang="fr-FR" dirty="0">
              <a:solidFill>
                <a:schemeClr val="accent2">
                  <a:lumMod val="50000"/>
                </a:schemeClr>
              </a:solidFill>
            </a:endParaRPr>
          </a:p>
        </p:txBody>
      </p:sp>
      <p:sp>
        <p:nvSpPr>
          <p:cNvPr id="3" name="Espace réservé du contenu 2">
            <a:extLst>
              <a:ext uri="{FF2B5EF4-FFF2-40B4-BE49-F238E27FC236}">
                <a16:creationId xmlns="" xmlns:a16="http://schemas.microsoft.com/office/drawing/2014/main" id="{1A3F9CE1-1B89-41E6-BCD6-94E45B0E342A}"/>
              </a:ext>
            </a:extLst>
          </p:cNvPr>
          <p:cNvSpPr>
            <a:spLocks noGrp="1"/>
          </p:cNvSpPr>
          <p:nvPr>
            <p:ph idx="1"/>
          </p:nvPr>
        </p:nvSpPr>
        <p:spPr>
          <a:xfrm>
            <a:off x="0" y="1763547"/>
            <a:ext cx="10572192" cy="3880773"/>
          </a:xfrm>
        </p:spPr>
        <p:txBody>
          <a:bodyPr>
            <a:normAutofit/>
          </a:bodyPr>
          <a:lstStyle/>
          <a:p>
            <a:endParaRPr lang="fr-FR" sz="2000" dirty="0">
              <a:latin typeface="Times New Roman" panose="02020603050405020304" pitchFamily="18" charset="0"/>
              <a:ea typeface="Times New Roman" panose="02020603050405020304" pitchFamily="18" charset="0"/>
            </a:endParaRPr>
          </a:p>
          <a:p>
            <a:pPr lvl="0">
              <a:buClr>
                <a:srgbClr val="90C226"/>
              </a:buClr>
              <a:buFont typeface="Wingdings" panose="05000000000000000000" pitchFamily="2" charset="2"/>
              <a:buChar char=""/>
            </a:pPr>
            <a:r>
              <a:rPr lang="fr-FR" sz="2800" dirty="0">
                <a:solidFill>
                  <a:schemeClr val="tx1"/>
                </a:solidFill>
                <a:latin typeface="Times New Roman" panose="02020603050405020304" pitchFamily="18" charset="0"/>
                <a:ea typeface="Times New Roman" panose="02020603050405020304" pitchFamily="18" charset="0"/>
              </a:rPr>
              <a:t>Le dosage LDH : marqueur surveillance en </a:t>
            </a:r>
            <a:r>
              <a:rPr lang="fr-FR" sz="2800" b="1" dirty="0" err="1" smtClean="0">
                <a:solidFill>
                  <a:srgbClr val="FF0000"/>
                </a:solidFill>
                <a:latin typeface="Times New Roman" panose="02020603050405020304" pitchFamily="18" charset="0"/>
                <a:ea typeface="Times New Roman" panose="02020603050405020304" pitchFamily="18" charset="0"/>
              </a:rPr>
              <a:t>onco-hématologie</a:t>
            </a:r>
            <a:r>
              <a:rPr lang="fr-FR" sz="2800" b="1" dirty="0" smtClean="0">
                <a:solidFill>
                  <a:srgbClr val="FF0000"/>
                </a:solidFill>
                <a:latin typeface="Times New Roman" panose="02020603050405020304" pitchFamily="18" charset="0"/>
                <a:ea typeface="Times New Roman" panose="02020603050405020304" pitchFamily="18" charset="0"/>
              </a:rPr>
              <a:t> =&gt;l’importance de lyse </a:t>
            </a:r>
            <a:endParaRPr lang="fr-FR" sz="2800" b="1" dirty="0">
              <a:solidFill>
                <a:srgbClr val="FF0000"/>
              </a:solidFill>
              <a:latin typeface="Times New Roman" panose="02020603050405020304" pitchFamily="18" charset="0"/>
              <a:ea typeface="Times New Roman" panose="02020603050405020304" pitchFamily="18" charset="0"/>
            </a:endParaRPr>
          </a:p>
          <a:p>
            <a:pPr lvl="0">
              <a:buClr>
                <a:srgbClr val="90C226"/>
              </a:buClr>
              <a:buFont typeface="Wingdings" panose="05000000000000000000" pitchFamily="2" charset="2"/>
              <a:buChar char=""/>
            </a:pPr>
            <a:r>
              <a:rPr lang="fr-FR" sz="2800" dirty="0">
                <a:solidFill>
                  <a:schemeClr val="tx1"/>
                </a:solidFill>
                <a:latin typeface="Times New Roman" panose="02020603050405020304" pitchFamily="18" charset="0"/>
                <a:ea typeface="Times New Roman" panose="02020603050405020304" pitchFamily="18" charset="0"/>
              </a:rPr>
              <a:t>Hémolyse </a:t>
            </a:r>
            <a:r>
              <a:rPr lang="fr-FR" sz="2800" dirty="0" smtClean="0">
                <a:solidFill>
                  <a:schemeClr val="tx1"/>
                </a:solidFill>
                <a:latin typeface="Times New Roman" panose="02020603050405020304" pitchFamily="18" charset="0"/>
                <a:ea typeface="Times New Roman" panose="02020603050405020304" pitchFamily="18" charset="0"/>
              </a:rPr>
              <a:t>in vitro </a:t>
            </a:r>
            <a:r>
              <a:rPr lang="fr-FR" sz="2800" b="1" dirty="0">
                <a:solidFill>
                  <a:srgbClr val="FF0000"/>
                </a:solidFill>
                <a:latin typeface="Times New Roman" panose="02020603050405020304" pitchFamily="18" charset="0"/>
                <a:ea typeface="Times New Roman" panose="02020603050405020304" pitchFamily="18" charset="0"/>
              </a:rPr>
              <a:t>légère</a:t>
            </a:r>
            <a:r>
              <a:rPr lang="fr-FR" sz="2800" dirty="0">
                <a:solidFill>
                  <a:schemeClr val="tx1"/>
                </a:solidFill>
                <a:latin typeface="Times New Roman" panose="02020603050405020304" pitchFamily="18" charset="0"/>
                <a:ea typeface="Times New Roman" panose="02020603050405020304" pitchFamily="18" charset="0"/>
              </a:rPr>
              <a:t> </a:t>
            </a:r>
            <a:r>
              <a:rPr lang="fr-FR" sz="28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2800" dirty="0">
                <a:solidFill>
                  <a:schemeClr val="tx1"/>
                </a:solidFill>
                <a:latin typeface="Times New Roman" panose="02020603050405020304" pitchFamily="18" charset="0"/>
                <a:ea typeface="Times New Roman" panose="02020603050405020304" pitchFamily="18" charset="0"/>
              </a:rPr>
              <a:t>LDH</a:t>
            </a:r>
          </a:p>
          <a:p>
            <a:endParaRPr lang="fr-FR" dirty="0"/>
          </a:p>
        </p:txBody>
      </p:sp>
      <p:pic>
        <p:nvPicPr>
          <p:cNvPr id="4" name="Picture 6">
            <a:extLst>
              <a:ext uri="{FF2B5EF4-FFF2-40B4-BE49-F238E27FC236}">
                <a16:creationId xmlns="" xmlns:a16="http://schemas.microsoft.com/office/drawing/2014/main" id="{22189BD9-F598-4789-AD7E-EE6E2BB69E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6150" y="3575590"/>
            <a:ext cx="8609598" cy="3282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riangle isocèle 4">
            <a:extLst>
              <a:ext uri="{FF2B5EF4-FFF2-40B4-BE49-F238E27FC236}">
                <a16:creationId xmlns="" xmlns:a16="http://schemas.microsoft.com/office/drawing/2014/main" id="{719584E6-77DB-43DA-9AA8-BFF1B8BC3C9C}"/>
              </a:ext>
            </a:extLst>
          </p:cNvPr>
          <p:cNvSpPr/>
          <p:nvPr/>
        </p:nvSpPr>
        <p:spPr>
          <a:xfrm>
            <a:off x="0" y="3861224"/>
            <a:ext cx="3344779" cy="2730076"/>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solidFill>
                  <a:prstClr val="black"/>
                </a:solidFill>
                <a:latin typeface="Times New Roman" panose="02020603050405020304" pitchFamily="18" charset="0"/>
                <a:ea typeface="Times New Roman" panose="02020603050405020304" pitchFamily="18" charset="0"/>
              </a:rPr>
              <a:t>Hémolyse</a:t>
            </a:r>
          </a:p>
          <a:p>
            <a:pPr algn="ctr"/>
            <a:r>
              <a:rPr lang="fr-FR" sz="2800" dirty="0" smtClean="0">
                <a:solidFill>
                  <a:prstClr val="black"/>
                </a:solidFill>
                <a:latin typeface="Times New Roman" panose="02020603050405020304" pitchFamily="18" charset="0"/>
                <a:ea typeface="Times New Roman" panose="02020603050405020304" pitchFamily="18" charset="0"/>
              </a:rPr>
              <a:t>in vitro</a:t>
            </a:r>
            <a:endParaRPr lang="fr-FR" sz="2800" dirty="0">
              <a:solidFill>
                <a:prstClr val="black"/>
              </a:solidFill>
              <a:latin typeface="Times New Roman" panose="02020603050405020304" pitchFamily="18" charset="0"/>
              <a:ea typeface="Times New Roman" panose="02020603050405020304" pitchFamily="18" charset="0"/>
            </a:endParaRPr>
          </a:p>
          <a:p>
            <a:pPr algn="ctr"/>
            <a:r>
              <a:rPr lang="fr-FR" b="1" dirty="0">
                <a:solidFill>
                  <a:schemeClr val="tx1"/>
                </a:solidFill>
              </a:rPr>
              <a:t>↑ Enz </a:t>
            </a:r>
          </a:p>
        </p:txBody>
      </p:sp>
    </p:spTree>
    <p:extLst>
      <p:ext uri="{BB962C8B-B14F-4D97-AF65-F5344CB8AC3E}">
        <p14:creationId xmlns:p14="http://schemas.microsoft.com/office/powerpoint/2010/main" val="69262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5CD2B9C-2A40-43A1-9C28-A2A9A3EEC61A}"/>
              </a:ext>
            </a:extLst>
          </p:cNvPr>
          <p:cNvSpPr>
            <a:spLocks noGrp="1"/>
          </p:cNvSpPr>
          <p:nvPr>
            <p:ph type="title"/>
          </p:nvPr>
        </p:nvSpPr>
        <p:spPr/>
        <p:txBody>
          <a:bodyPr>
            <a:normAutofit/>
          </a:bodyPr>
          <a:lstStyle/>
          <a:p>
            <a:pPr algn="ctr"/>
            <a:r>
              <a:rPr lang="fr-FR" sz="4400" b="1" dirty="0"/>
              <a:t>8- L’ALDOLASE</a:t>
            </a:r>
            <a:r>
              <a:rPr lang="fr-FR" sz="4400" dirty="0"/>
              <a:t> </a:t>
            </a:r>
          </a:p>
        </p:txBody>
      </p:sp>
      <p:sp>
        <p:nvSpPr>
          <p:cNvPr id="3" name="Espace réservé du contenu 2">
            <a:extLst>
              <a:ext uri="{FF2B5EF4-FFF2-40B4-BE49-F238E27FC236}">
                <a16:creationId xmlns="" xmlns:a16="http://schemas.microsoft.com/office/drawing/2014/main" id="{C64B9721-5AE9-4382-B76D-19A78BB32643}"/>
              </a:ext>
            </a:extLst>
          </p:cNvPr>
          <p:cNvSpPr>
            <a:spLocks noGrp="1"/>
          </p:cNvSpPr>
          <p:nvPr>
            <p:ph idx="1"/>
          </p:nvPr>
        </p:nvSpPr>
        <p:spPr>
          <a:xfrm>
            <a:off x="106018" y="1270000"/>
            <a:ext cx="10426942" cy="4689640"/>
          </a:xfrm>
        </p:spPr>
        <p:txBody>
          <a:bodyPr>
            <a:normAutofit/>
          </a:bodyPr>
          <a:lstStyle/>
          <a:p>
            <a:pPr>
              <a:buFont typeface="Wingdings" panose="05000000000000000000" pitchFamily="2" charset="2"/>
              <a:buChar char="q"/>
            </a:pPr>
            <a:r>
              <a:rPr lang="fr-FR" sz="3200" b="1" u="sng" dirty="0">
                <a:solidFill>
                  <a:schemeClr val="accent2">
                    <a:lumMod val="75000"/>
                  </a:schemeClr>
                </a:solidFill>
              </a:rPr>
              <a:t>Définition </a:t>
            </a:r>
            <a:r>
              <a:rPr lang="fr-FR" sz="3200" b="1" dirty="0">
                <a:solidFill>
                  <a:schemeClr val="accent2">
                    <a:lumMod val="75000"/>
                  </a:schemeClr>
                </a:solidFill>
              </a:rPr>
              <a:t>:</a:t>
            </a:r>
            <a:r>
              <a:rPr lang="fr-FR" sz="3200" dirty="0">
                <a:solidFill>
                  <a:schemeClr val="accent2">
                    <a:lumMod val="75000"/>
                  </a:schemeClr>
                </a:solidFill>
              </a:rPr>
              <a:t> </a:t>
            </a:r>
          </a:p>
          <a:p>
            <a:pPr lvl="1">
              <a:buFont typeface="Wingdings" panose="05000000000000000000" pitchFamily="2" charset="2"/>
              <a:buChar char="ü"/>
            </a:pPr>
            <a:r>
              <a:rPr lang="fr-FR" sz="2400" dirty="0"/>
              <a:t>Enz catabolisme glucidique (glycolyse hépatique + musculaire)</a:t>
            </a:r>
          </a:p>
          <a:p>
            <a:pPr lvl="1">
              <a:buFont typeface="Wingdings" panose="05000000000000000000" pitchFamily="2" charset="2"/>
              <a:buChar char="ü"/>
            </a:pPr>
            <a:r>
              <a:rPr lang="fr-FR" sz="2400" dirty="0">
                <a:solidFill>
                  <a:prstClr val="black">
                    <a:lumMod val="75000"/>
                    <a:lumOff val="25000"/>
                  </a:prstClr>
                </a:solidFill>
              </a:rPr>
              <a:t>Enz :Fructose phosphatase</a:t>
            </a:r>
            <a:endParaRPr lang="fr-FR" sz="2400" dirty="0"/>
          </a:p>
          <a:p>
            <a:pPr lvl="1">
              <a:buFont typeface="Wingdings" panose="05000000000000000000" pitchFamily="2" charset="2"/>
              <a:buChar char="ü"/>
            </a:pPr>
            <a:r>
              <a:rPr lang="fr-FR" sz="2400" dirty="0"/>
              <a:t>Enz:</a:t>
            </a:r>
            <a:r>
              <a:rPr lang="fr-FR" sz="2400" dirty="0">
                <a:solidFill>
                  <a:srgbClr val="FF0000"/>
                </a:solidFill>
              </a:rPr>
              <a:t>2 substrats</a:t>
            </a:r>
            <a:r>
              <a:rPr lang="fr-FR" sz="2400" dirty="0"/>
              <a:t> (</a:t>
            </a:r>
            <a:r>
              <a:rPr lang="fr-FR" sz="2400" dirty="0" smtClean="0"/>
              <a:t>Fructose1;6BP </a:t>
            </a:r>
            <a:r>
              <a:rPr lang="fr-FR" sz="2400" dirty="0"/>
              <a:t>, </a:t>
            </a:r>
            <a:r>
              <a:rPr lang="fr-FR" sz="2400" dirty="0" smtClean="0"/>
              <a:t>Fructose1P </a:t>
            </a:r>
            <a:r>
              <a:rPr lang="fr-FR" sz="2400" dirty="0"/>
              <a:t>)</a:t>
            </a:r>
          </a:p>
          <a:p>
            <a:pPr marL="457200" lvl="1" indent="0">
              <a:buNone/>
            </a:pPr>
            <a:endParaRPr lang="fr-FR" sz="2400" dirty="0"/>
          </a:p>
          <a:p>
            <a:pPr marL="457200" lvl="1" indent="0">
              <a:buNone/>
            </a:pPr>
            <a:endParaRPr lang="fr-FR" sz="2400" dirty="0"/>
          </a:p>
          <a:p>
            <a:pPr marL="457200" lvl="1" indent="0">
              <a:buNone/>
            </a:pPr>
            <a:r>
              <a:rPr lang="fr-FR" sz="1800" dirty="0"/>
              <a:t>                                                   </a:t>
            </a:r>
          </a:p>
          <a:p>
            <a:pPr marL="457200" lvl="1" indent="0">
              <a:buNone/>
            </a:pPr>
            <a:endParaRPr lang="fr-FR" sz="1800" dirty="0"/>
          </a:p>
          <a:p>
            <a:pPr marL="457200" lvl="1" indent="0">
              <a:buNone/>
            </a:pPr>
            <a:r>
              <a:rPr lang="fr-FR" sz="1800" dirty="0"/>
              <a:t> </a:t>
            </a:r>
          </a:p>
          <a:p>
            <a:pPr lvl="1">
              <a:buFont typeface="Wingdings" panose="05000000000000000000" pitchFamily="2" charset="2"/>
              <a:buChar char="ü"/>
            </a:pPr>
            <a:endParaRPr lang="fr-FR" sz="2400" dirty="0"/>
          </a:p>
        </p:txBody>
      </p:sp>
      <p:pic>
        <p:nvPicPr>
          <p:cNvPr id="4" name="Image 3">
            <a:extLst>
              <a:ext uri="{FF2B5EF4-FFF2-40B4-BE49-F238E27FC236}">
                <a16:creationId xmlns="" xmlns:a16="http://schemas.microsoft.com/office/drawing/2014/main" id="{0049B6A4-A681-417F-AB06-DFA614F00420}"/>
              </a:ext>
            </a:extLst>
          </p:cNvPr>
          <p:cNvPicPr>
            <a:picLocks noChangeAspect="1"/>
          </p:cNvPicPr>
          <p:nvPr/>
        </p:nvPicPr>
        <p:blipFill>
          <a:blip r:embed="rId3"/>
          <a:stretch>
            <a:fillRect/>
          </a:stretch>
        </p:blipFill>
        <p:spPr>
          <a:xfrm>
            <a:off x="426164" y="3403007"/>
            <a:ext cx="8596668" cy="805610"/>
          </a:xfrm>
          <a:prstGeom prst="rect">
            <a:avLst/>
          </a:prstGeom>
        </p:spPr>
      </p:pic>
      <p:sp>
        <p:nvSpPr>
          <p:cNvPr id="5" name="Rectangle 4">
            <a:extLst>
              <a:ext uri="{FF2B5EF4-FFF2-40B4-BE49-F238E27FC236}">
                <a16:creationId xmlns="" xmlns:a16="http://schemas.microsoft.com/office/drawing/2014/main" id="{74AB8C2F-EE78-4A15-B994-72B58846E2F3}"/>
              </a:ext>
            </a:extLst>
          </p:cNvPr>
          <p:cNvSpPr/>
          <p:nvPr/>
        </p:nvSpPr>
        <p:spPr>
          <a:xfrm>
            <a:off x="877162" y="4646734"/>
            <a:ext cx="781878" cy="10985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rPr>
              <a:t>F1P</a:t>
            </a:r>
            <a:r>
              <a:rPr lang="fr-FR" sz="3200" dirty="0">
                <a:solidFill>
                  <a:schemeClr val="tx1"/>
                </a:solidFill>
              </a:rPr>
              <a:t> </a:t>
            </a:r>
          </a:p>
        </p:txBody>
      </p:sp>
      <p:sp>
        <p:nvSpPr>
          <p:cNvPr id="6" name="Rectangle 5">
            <a:extLst>
              <a:ext uri="{FF2B5EF4-FFF2-40B4-BE49-F238E27FC236}">
                <a16:creationId xmlns="" xmlns:a16="http://schemas.microsoft.com/office/drawing/2014/main" id="{0A9D8122-E0E3-4620-9015-014A6D898FB4}"/>
              </a:ext>
            </a:extLst>
          </p:cNvPr>
          <p:cNvSpPr/>
          <p:nvPr/>
        </p:nvSpPr>
        <p:spPr>
          <a:xfrm>
            <a:off x="4240694" y="4888672"/>
            <a:ext cx="2849217" cy="778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rPr>
              <a:t>G    +   PDHA</a:t>
            </a:r>
          </a:p>
        </p:txBody>
      </p:sp>
      <p:pic>
        <p:nvPicPr>
          <p:cNvPr id="7" name="Image 6">
            <a:extLst>
              <a:ext uri="{FF2B5EF4-FFF2-40B4-BE49-F238E27FC236}">
                <a16:creationId xmlns="" xmlns:a16="http://schemas.microsoft.com/office/drawing/2014/main" id="{2358C290-F341-490D-B8E3-AEBEE3518DA9}"/>
              </a:ext>
            </a:extLst>
          </p:cNvPr>
          <p:cNvPicPr>
            <a:picLocks noChangeAspect="1"/>
          </p:cNvPicPr>
          <p:nvPr/>
        </p:nvPicPr>
        <p:blipFill>
          <a:blip r:embed="rId4"/>
          <a:stretch>
            <a:fillRect/>
          </a:stretch>
        </p:blipFill>
        <p:spPr>
          <a:xfrm>
            <a:off x="1882379" y="4803011"/>
            <a:ext cx="2424576" cy="805610"/>
          </a:xfrm>
          <a:prstGeom prst="rect">
            <a:avLst/>
          </a:prstGeom>
        </p:spPr>
      </p:pic>
      <p:sp>
        <p:nvSpPr>
          <p:cNvPr id="9" name="Rectangle 8">
            <a:extLst>
              <a:ext uri="{FF2B5EF4-FFF2-40B4-BE49-F238E27FC236}">
                <a16:creationId xmlns="" xmlns:a16="http://schemas.microsoft.com/office/drawing/2014/main" id="{4AB1C902-B784-4A5F-808D-BFA075332F6A}"/>
              </a:ext>
            </a:extLst>
          </p:cNvPr>
          <p:cNvSpPr/>
          <p:nvPr/>
        </p:nvSpPr>
        <p:spPr>
          <a:xfrm>
            <a:off x="3183610" y="5516280"/>
            <a:ext cx="5579577" cy="6293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fr-FR" dirty="0">
                <a:solidFill>
                  <a:schemeClr val="tx1"/>
                </a:solidFill>
              </a:rPr>
              <a:t>Glycéraldéhyde + Dihydroxyacétone phosphate </a:t>
            </a:r>
          </a:p>
        </p:txBody>
      </p:sp>
      <p:sp>
        <p:nvSpPr>
          <p:cNvPr id="10" name="Rectangle 9">
            <a:extLst>
              <a:ext uri="{FF2B5EF4-FFF2-40B4-BE49-F238E27FC236}">
                <a16:creationId xmlns="" xmlns:a16="http://schemas.microsoft.com/office/drawing/2014/main" id="{0B4E335F-3745-4542-B4BB-50603FEBC0F5}"/>
              </a:ext>
            </a:extLst>
          </p:cNvPr>
          <p:cNvSpPr/>
          <p:nvPr/>
        </p:nvSpPr>
        <p:spPr>
          <a:xfrm>
            <a:off x="3094667" y="3928792"/>
            <a:ext cx="7028856" cy="5812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dirty="0">
                <a:solidFill>
                  <a:schemeClr val="tx1"/>
                </a:solidFill>
              </a:rPr>
              <a:t>Glycéraldéhyde 3 phosphate + Dihydroxyacétone phosphate</a:t>
            </a:r>
          </a:p>
        </p:txBody>
      </p:sp>
    </p:spTree>
    <p:extLst>
      <p:ext uri="{BB962C8B-B14F-4D97-AF65-F5344CB8AC3E}">
        <p14:creationId xmlns:p14="http://schemas.microsoft.com/office/powerpoint/2010/main" val="3640344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5CD2B9C-2A40-43A1-9C28-A2A9A3EEC61A}"/>
              </a:ext>
            </a:extLst>
          </p:cNvPr>
          <p:cNvSpPr>
            <a:spLocks noGrp="1"/>
          </p:cNvSpPr>
          <p:nvPr>
            <p:ph type="title"/>
          </p:nvPr>
        </p:nvSpPr>
        <p:spPr>
          <a:xfrm>
            <a:off x="160499" y="256209"/>
            <a:ext cx="8596668" cy="1320800"/>
          </a:xfrm>
        </p:spPr>
        <p:txBody>
          <a:bodyPr>
            <a:normAutofit/>
          </a:bodyPr>
          <a:lstStyle/>
          <a:p>
            <a:pPr algn="ctr"/>
            <a:r>
              <a:rPr lang="fr-FR" sz="4400" b="1" dirty="0"/>
              <a:t>8- L’ALDOLASE</a:t>
            </a:r>
            <a:r>
              <a:rPr lang="fr-FR" sz="4400" dirty="0"/>
              <a:t> </a:t>
            </a:r>
          </a:p>
        </p:txBody>
      </p:sp>
      <p:sp>
        <p:nvSpPr>
          <p:cNvPr id="3" name="Espace réservé du contenu 2">
            <a:extLst>
              <a:ext uri="{FF2B5EF4-FFF2-40B4-BE49-F238E27FC236}">
                <a16:creationId xmlns="" xmlns:a16="http://schemas.microsoft.com/office/drawing/2014/main" id="{C64B9721-5AE9-4382-B76D-19A78BB32643}"/>
              </a:ext>
            </a:extLst>
          </p:cNvPr>
          <p:cNvSpPr>
            <a:spLocks noGrp="1"/>
          </p:cNvSpPr>
          <p:nvPr>
            <p:ph idx="1"/>
          </p:nvPr>
        </p:nvSpPr>
        <p:spPr>
          <a:xfrm>
            <a:off x="160498" y="1815548"/>
            <a:ext cx="11783851" cy="4464353"/>
          </a:xfrm>
        </p:spPr>
        <p:txBody>
          <a:bodyPr>
            <a:normAutofit/>
          </a:bodyPr>
          <a:lstStyle/>
          <a:p>
            <a:pPr lvl="0">
              <a:buClr>
                <a:srgbClr val="90C226"/>
              </a:buClr>
              <a:buFont typeface="Wingdings" panose="05000000000000000000" pitchFamily="2" charset="2"/>
              <a:buChar char="q"/>
            </a:pPr>
            <a:r>
              <a:rPr lang="fr-FR" sz="3500" b="1" u="sng" dirty="0">
                <a:solidFill>
                  <a:srgbClr val="54A021">
                    <a:lumMod val="75000"/>
                  </a:srgbClr>
                </a:solidFill>
              </a:rPr>
              <a:t>Isoenzymes et répartition tissulaire</a:t>
            </a:r>
          </a:p>
          <a:p>
            <a:pPr lvl="0">
              <a:buClr>
                <a:srgbClr val="90C226"/>
              </a:buClr>
              <a:buFont typeface="Wingdings" panose="05000000000000000000" pitchFamily="2" charset="2"/>
              <a:buChar char="q"/>
            </a:pPr>
            <a:endParaRPr lang="fr-FR" dirty="0">
              <a:solidFill>
                <a:prstClr val="black">
                  <a:lumMod val="75000"/>
                  <a:lumOff val="25000"/>
                </a:prstClr>
              </a:solidFill>
            </a:endParaRPr>
          </a:p>
          <a:p>
            <a:pPr lvl="1">
              <a:buFont typeface="Wingdings" panose="05000000000000000000" pitchFamily="2" charset="2"/>
              <a:buChar char="v"/>
            </a:pPr>
            <a:r>
              <a:rPr lang="fr-FR" sz="2800" dirty="0"/>
              <a:t>3 isoenzymes :</a:t>
            </a:r>
          </a:p>
          <a:p>
            <a:pPr lvl="2">
              <a:buFont typeface="Wingdings" panose="05000000000000000000" pitchFamily="2" charset="2"/>
              <a:buChar char="ü"/>
            </a:pPr>
            <a:r>
              <a:rPr lang="fr-FR" sz="2800" dirty="0"/>
              <a:t>Aldolase </a:t>
            </a:r>
            <a:r>
              <a:rPr lang="fr-FR" sz="2800" dirty="0">
                <a:solidFill>
                  <a:srgbClr val="FF0000"/>
                </a:solidFill>
              </a:rPr>
              <a:t>musculaire</a:t>
            </a:r>
            <a:r>
              <a:rPr lang="fr-FR" sz="2800" dirty="0"/>
              <a:t> (</a:t>
            </a:r>
            <a:r>
              <a:rPr lang="fr-FR" sz="2800" dirty="0">
                <a:solidFill>
                  <a:srgbClr val="FF0000"/>
                </a:solidFill>
              </a:rPr>
              <a:t>A</a:t>
            </a:r>
            <a:r>
              <a:rPr lang="fr-FR" sz="2800" dirty="0"/>
              <a:t>)  </a:t>
            </a:r>
            <a:r>
              <a:rPr lang="fr-FR" sz="2800" dirty="0" smtClean="0"/>
              <a:t>le substrat de préférence + </a:t>
            </a:r>
            <a:r>
              <a:rPr lang="fr-FR" sz="2800" dirty="0"/>
              <a:t>+ + </a:t>
            </a:r>
            <a:r>
              <a:rPr lang="fr-FR" sz="2800" dirty="0" smtClean="0">
                <a:solidFill>
                  <a:srgbClr val="FF0000"/>
                </a:solidFill>
              </a:rPr>
              <a:t>F1;6BP</a:t>
            </a:r>
            <a:r>
              <a:rPr lang="fr-FR" sz="2800" dirty="0" smtClean="0"/>
              <a:t>( et fréquent dans aussi dans le GR </a:t>
            </a:r>
            <a:r>
              <a:rPr lang="fr-FR" sz="2800" dirty="0"/>
              <a:t>)</a:t>
            </a:r>
          </a:p>
          <a:p>
            <a:pPr lvl="2">
              <a:buFont typeface="Wingdings" panose="05000000000000000000" pitchFamily="2" charset="2"/>
              <a:buChar char="ü"/>
            </a:pPr>
            <a:r>
              <a:rPr lang="fr-FR" sz="2800" dirty="0"/>
              <a:t>Aldolase </a:t>
            </a:r>
            <a:r>
              <a:rPr lang="fr-FR" sz="2800" dirty="0">
                <a:solidFill>
                  <a:srgbClr val="FF0000"/>
                </a:solidFill>
              </a:rPr>
              <a:t>hépatique </a:t>
            </a:r>
            <a:r>
              <a:rPr lang="fr-FR" sz="2800" dirty="0"/>
              <a:t>(</a:t>
            </a:r>
            <a:r>
              <a:rPr lang="fr-FR" sz="2800" dirty="0">
                <a:solidFill>
                  <a:srgbClr val="FF0000"/>
                </a:solidFill>
              </a:rPr>
              <a:t>B</a:t>
            </a:r>
            <a:r>
              <a:rPr lang="fr-FR" sz="2800" dirty="0"/>
              <a:t>) </a:t>
            </a:r>
            <a:r>
              <a:rPr lang="fr-FR" sz="2800" dirty="0" smtClean="0"/>
              <a:t>pas de préférence </a:t>
            </a:r>
            <a:r>
              <a:rPr lang="fr-FR" sz="2800" dirty="0" smtClean="0">
                <a:solidFill>
                  <a:srgbClr val="FF0000"/>
                </a:solidFill>
              </a:rPr>
              <a:t>F1;6BP</a:t>
            </a:r>
            <a:r>
              <a:rPr lang="fr-FR" sz="2800" dirty="0" smtClean="0"/>
              <a:t> </a:t>
            </a:r>
            <a:r>
              <a:rPr lang="fr-FR" sz="2800" dirty="0"/>
              <a:t>= </a:t>
            </a:r>
            <a:r>
              <a:rPr lang="fr-FR" sz="2800" dirty="0">
                <a:solidFill>
                  <a:srgbClr val="FF0000"/>
                </a:solidFill>
              </a:rPr>
              <a:t>F1P</a:t>
            </a:r>
            <a:r>
              <a:rPr lang="fr-FR" sz="2800" dirty="0"/>
              <a:t> </a:t>
            </a:r>
          </a:p>
          <a:p>
            <a:pPr lvl="2">
              <a:buFont typeface="Wingdings" panose="05000000000000000000" pitchFamily="2" charset="2"/>
              <a:buChar char="ü"/>
            </a:pPr>
            <a:r>
              <a:rPr lang="fr-FR" sz="2800" dirty="0"/>
              <a:t>Aldolase </a:t>
            </a:r>
            <a:r>
              <a:rPr lang="fr-FR" sz="2800" dirty="0">
                <a:solidFill>
                  <a:srgbClr val="FF0000"/>
                </a:solidFill>
              </a:rPr>
              <a:t>cerveau</a:t>
            </a:r>
            <a:r>
              <a:rPr lang="fr-FR" sz="2800" dirty="0"/>
              <a:t> (</a:t>
            </a:r>
            <a:r>
              <a:rPr lang="fr-FR" sz="2800" dirty="0">
                <a:solidFill>
                  <a:srgbClr val="FF0000"/>
                </a:solidFill>
              </a:rPr>
              <a:t>C</a:t>
            </a:r>
            <a:r>
              <a:rPr lang="fr-FR" sz="2800" dirty="0"/>
              <a:t>) </a:t>
            </a:r>
            <a:r>
              <a:rPr lang="fr-FR" sz="2800" dirty="0" smtClean="0"/>
              <a:t>préférence d’affinité de 7 fois sur </a:t>
            </a:r>
            <a:r>
              <a:rPr lang="fr-FR" sz="2800" b="1" dirty="0" smtClean="0">
                <a:solidFill>
                  <a:srgbClr val="FF0000"/>
                </a:solidFill>
              </a:rPr>
              <a:t>F1;6BP</a:t>
            </a:r>
            <a:r>
              <a:rPr lang="fr-FR" sz="2800" dirty="0" smtClean="0"/>
              <a:t> </a:t>
            </a:r>
            <a:r>
              <a:rPr lang="fr-FR" sz="2800" dirty="0"/>
              <a:t>que </a:t>
            </a:r>
            <a:r>
              <a:rPr lang="fr-FR" sz="2800" dirty="0">
                <a:solidFill>
                  <a:srgbClr val="FF0000"/>
                </a:solidFill>
              </a:rPr>
              <a:t>F1P </a:t>
            </a:r>
          </a:p>
        </p:txBody>
      </p:sp>
    </p:spTree>
    <p:extLst>
      <p:ext uri="{BB962C8B-B14F-4D97-AF65-F5344CB8AC3E}">
        <p14:creationId xmlns:p14="http://schemas.microsoft.com/office/powerpoint/2010/main" val="334670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5CD2B9C-2A40-43A1-9C28-A2A9A3EEC61A}"/>
              </a:ext>
            </a:extLst>
          </p:cNvPr>
          <p:cNvSpPr>
            <a:spLocks noGrp="1"/>
          </p:cNvSpPr>
          <p:nvPr>
            <p:ph type="title"/>
          </p:nvPr>
        </p:nvSpPr>
        <p:spPr>
          <a:xfrm>
            <a:off x="0" y="-19050"/>
            <a:ext cx="4382285" cy="770034"/>
          </a:xfrm>
        </p:spPr>
        <p:txBody>
          <a:bodyPr>
            <a:normAutofit/>
          </a:bodyPr>
          <a:lstStyle/>
          <a:p>
            <a:pPr algn="ctr"/>
            <a:r>
              <a:rPr lang="fr-FR" sz="4400" b="1" dirty="0"/>
              <a:t>8- L’ALDOLASE</a:t>
            </a:r>
            <a:r>
              <a:rPr lang="fr-FR" sz="4400" dirty="0"/>
              <a:t> </a:t>
            </a:r>
          </a:p>
        </p:txBody>
      </p:sp>
      <p:sp>
        <p:nvSpPr>
          <p:cNvPr id="3" name="Espace réservé du contenu 2">
            <a:extLst>
              <a:ext uri="{FF2B5EF4-FFF2-40B4-BE49-F238E27FC236}">
                <a16:creationId xmlns="" xmlns:a16="http://schemas.microsoft.com/office/drawing/2014/main" id="{C64B9721-5AE9-4382-B76D-19A78BB32643}"/>
              </a:ext>
            </a:extLst>
          </p:cNvPr>
          <p:cNvSpPr>
            <a:spLocks noGrp="1"/>
          </p:cNvSpPr>
          <p:nvPr>
            <p:ph idx="1"/>
          </p:nvPr>
        </p:nvSpPr>
        <p:spPr>
          <a:xfrm>
            <a:off x="0" y="750984"/>
            <a:ext cx="11343861" cy="5564284"/>
          </a:xfrm>
        </p:spPr>
        <p:txBody>
          <a:bodyPr>
            <a:normAutofit/>
          </a:bodyPr>
          <a:lstStyle/>
          <a:p>
            <a:pPr>
              <a:buFont typeface="Wingdings" panose="05000000000000000000" pitchFamily="2" charset="2"/>
              <a:buChar char="q"/>
            </a:pPr>
            <a:r>
              <a:rPr lang="fr-FR" sz="2800" b="1" u="sng" dirty="0">
                <a:solidFill>
                  <a:schemeClr val="accent2">
                    <a:lumMod val="75000"/>
                  </a:schemeClr>
                </a:solidFill>
              </a:rPr>
              <a:t>Valeur normale</a:t>
            </a:r>
            <a:r>
              <a:rPr lang="fr-FR" sz="2800" b="1" dirty="0">
                <a:solidFill>
                  <a:schemeClr val="accent2">
                    <a:lumMod val="75000"/>
                  </a:schemeClr>
                </a:solidFill>
              </a:rPr>
              <a:t>     </a:t>
            </a:r>
            <a:r>
              <a:rPr lang="fr-FR" sz="3400" dirty="0">
                <a:solidFill>
                  <a:schemeClr val="tx1"/>
                </a:solidFill>
              </a:rPr>
              <a:t>Aldolase</a:t>
            </a:r>
            <a:r>
              <a:rPr lang="fr-FR" sz="3400" b="1" dirty="0"/>
              <a:t>  = </a:t>
            </a:r>
            <a:r>
              <a:rPr lang="fr-FR" sz="3400" dirty="0">
                <a:solidFill>
                  <a:srgbClr val="FF0000"/>
                </a:solidFill>
              </a:rPr>
              <a:t>2</a:t>
            </a:r>
            <a:r>
              <a:rPr lang="fr-FR" sz="3400" dirty="0"/>
              <a:t>-</a:t>
            </a:r>
            <a:r>
              <a:rPr lang="fr-FR" sz="3400" dirty="0">
                <a:solidFill>
                  <a:srgbClr val="FF0000"/>
                </a:solidFill>
              </a:rPr>
              <a:t>7,6</a:t>
            </a:r>
            <a:r>
              <a:rPr lang="fr-FR" sz="3400" dirty="0"/>
              <a:t> UI/L </a:t>
            </a:r>
          </a:p>
          <a:p>
            <a:pPr>
              <a:buFont typeface="Wingdings" panose="05000000000000000000" pitchFamily="2" charset="2"/>
              <a:buChar char="q"/>
            </a:pPr>
            <a:endParaRPr lang="fr-FR" sz="3400" dirty="0"/>
          </a:p>
          <a:p>
            <a:pPr>
              <a:buFont typeface="Wingdings" panose="05000000000000000000" pitchFamily="2" charset="2"/>
              <a:buChar char="q"/>
            </a:pPr>
            <a:r>
              <a:rPr lang="fr-FR" sz="2800" b="1" u="sng" dirty="0">
                <a:solidFill>
                  <a:schemeClr val="accent2">
                    <a:lumMod val="75000"/>
                  </a:schemeClr>
                </a:solidFill>
              </a:rPr>
              <a:t>Variations physiologiques </a:t>
            </a:r>
            <a:endParaRPr lang="fr-FR" b="1" dirty="0"/>
          </a:p>
          <a:p>
            <a:pPr lvl="1">
              <a:buFont typeface="Wingdings" panose="05000000000000000000" pitchFamily="2" charset="2"/>
              <a:buChar char="Ø"/>
            </a:pPr>
            <a:r>
              <a:rPr lang="fr-FR" sz="2600" b="1" dirty="0"/>
              <a:t> </a:t>
            </a:r>
            <a:r>
              <a:rPr lang="fr-FR" sz="2600" dirty="0">
                <a:solidFill>
                  <a:schemeClr val="tx1"/>
                </a:solidFill>
              </a:rPr>
              <a:t>VN </a:t>
            </a:r>
            <a:r>
              <a:rPr lang="fr-FR" sz="2600" dirty="0" smtClean="0">
                <a:solidFill>
                  <a:schemeClr val="tx1"/>
                </a:solidFill>
                <a:latin typeface="Abadi Extra Light" panose="020B0204020104020204" pitchFamily="34" charset="0"/>
              </a:rPr>
              <a:t>varie avec </a:t>
            </a:r>
            <a:r>
              <a:rPr lang="fr-FR" sz="2600" dirty="0">
                <a:solidFill>
                  <a:schemeClr val="tx1"/>
                </a:solidFill>
              </a:rPr>
              <a:t>âge </a:t>
            </a:r>
          </a:p>
          <a:p>
            <a:pPr lvl="1">
              <a:buFont typeface="Wingdings" panose="05000000000000000000" pitchFamily="2" charset="2"/>
              <a:buChar char="Ø"/>
            </a:pPr>
            <a:r>
              <a:rPr lang="fr-FR" sz="2600" dirty="0">
                <a:solidFill>
                  <a:schemeClr val="tx1"/>
                </a:solidFill>
              </a:rPr>
              <a:t>VN naissance </a:t>
            </a:r>
            <a:r>
              <a:rPr lang="fr-FR" sz="2600" dirty="0">
                <a:solidFill>
                  <a:schemeClr val="tx1"/>
                </a:solidFill>
                <a:latin typeface="Times New Roman" panose="02020603050405020304" pitchFamily="18" charset="0"/>
                <a:cs typeface="Times New Roman" panose="02020603050405020304" pitchFamily="18" charset="0"/>
              </a:rPr>
              <a:t>↑=</a:t>
            </a:r>
            <a:r>
              <a:rPr lang="fr-FR" sz="2600" dirty="0">
                <a:solidFill>
                  <a:schemeClr val="tx1"/>
                </a:solidFill>
              </a:rPr>
              <a:t> X2 VN </a:t>
            </a:r>
            <a:r>
              <a:rPr lang="fr-FR" sz="2600" dirty="0" smtClean="0">
                <a:solidFill>
                  <a:schemeClr val="tx1"/>
                </a:solidFill>
              </a:rPr>
              <a:t>adulte et puis se stabilise</a:t>
            </a:r>
            <a:endParaRPr lang="fr-FR" sz="2600" dirty="0">
              <a:solidFill>
                <a:schemeClr val="tx1"/>
              </a:solidFill>
            </a:endParaRPr>
          </a:p>
          <a:p>
            <a:pPr lvl="1">
              <a:buFont typeface="Wingdings" panose="05000000000000000000" pitchFamily="2" charset="2"/>
              <a:buChar char="Ø"/>
            </a:pPr>
            <a:endParaRPr lang="fr-FR" sz="2600" dirty="0">
              <a:solidFill>
                <a:schemeClr val="tx1"/>
              </a:solidFill>
            </a:endParaRPr>
          </a:p>
        </p:txBody>
      </p:sp>
    </p:spTree>
    <p:extLst>
      <p:ext uri="{BB962C8B-B14F-4D97-AF65-F5344CB8AC3E}">
        <p14:creationId xmlns:p14="http://schemas.microsoft.com/office/powerpoint/2010/main" val="82344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5CD2B9C-2A40-43A1-9C28-A2A9A3EEC61A}"/>
              </a:ext>
            </a:extLst>
          </p:cNvPr>
          <p:cNvSpPr>
            <a:spLocks noGrp="1"/>
          </p:cNvSpPr>
          <p:nvPr>
            <p:ph type="title"/>
          </p:nvPr>
        </p:nvSpPr>
        <p:spPr>
          <a:xfrm>
            <a:off x="-1418505" y="434534"/>
            <a:ext cx="8596668" cy="1320800"/>
          </a:xfrm>
        </p:spPr>
        <p:txBody>
          <a:bodyPr>
            <a:normAutofit/>
          </a:bodyPr>
          <a:lstStyle/>
          <a:p>
            <a:pPr algn="ctr"/>
            <a:r>
              <a:rPr lang="fr-FR" sz="4400" b="1" dirty="0"/>
              <a:t>8- L’ALDOLASE</a:t>
            </a:r>
            <a:r>
              <a:rPr lang="fr-FR" sz="4400" dirty="0"/>
              <a:t> </a:t>
            </a:r>
          </a:p>
        </p:txBody>
      </p:sp>
      <p:sp>
        <p:nvSpPr>
          <p:cNvPr id="3" name="Espace réservé du contenu 2">
            <a:extLst>
              <a:ext uri="{FF2B5EF4-FFF2-40B4-BE49-F238E27FC236}">
                <a16:creationId xmlns="" xmlns:a16="http://schemas.microsoft.com/office/drawing/2014/main" id="{C64B9721-5AE9-4382-B76D-19A78BB32643}"/>
              </a:ext>
            </a:extLst>
          </p:cNvPr>
          <p:cNvSpPr>
            <a:spLocks noGrp="1"/>
          </p:cNvSpPr>
          <p:nvPr>
            <p:ph idx="1"/>
          </p:nvPr>
        </p:nvSpPr>
        <p:spPr>
          <a:xfrm>
            <a:off x="1268547" y="859182"/>
            <a:ext cx="11343861" cy="5564284"/>
          </a:xfrm>
        </p:spPr>
        <p:txBody>
          <a:bodyPr>
            <a:normAutofit/>
          </a:bodyPr>
          <a:lstStyle/>
          <a:p>
            <a:pPr lvl="1">
              <a:buFont typeface="Wingdings" panose="05000000000000000000" pitchFamily="2" charset="2"/>
              <a:buChar char="Ø"/>
            </a:pPr>
            <a:endParaRPr lang="fr-FR" sz="2600" dirty="0">
              <a:solidFill>
                <a:schemeClr val="tx1"/>
              </a:solidFill>
            </a:endParaRPr>
          </a:p>
          <a:p>
            <a:pPr>
              <a:buFont typeface="Wingdings" panose="05000000000000000000" pitchFamily="2" charset="2"/>
              <a:buChar char="q"/>
            </a:pPr>
            <a:r>
              <a:rPr lang="fr-FR" sz="2800" b="1" u="sng" dirty="0">
                <a:solidFill>
                  <a:schemeClr val="accent2">
                    <a:lumMod val="75000"/>
                  </a:schemeClr>
                </a:solidFill>
              </a:rPr>
              <a:t>Variations pathologiques : </a:t>
            </a:r>
            <a:endParaRPr lang="fr-FR" sz="2800" dirty="0">
              <a:solidFill>
                <a:schemeClr val="accent2">
                  <a:lumMod val="75000"/>
                </a:schemeClr>
              </a:solidFill>
            </a:endParaRPr>
          </a:p>
          <a:p>
            <a:pPr lvl="1">
              <a:buFont typeface="Wingdings" panose="05000000000000000000" pitchFamily="2" charset="2"/>
              <a:buChar char="Ø"/>
            </a:pPr>
            <a:r>
              <a:rPr lang="fr-FR" sz="2600" dirty="0">
                <a:latin typeface="Times New Roman" panose="02020603050405020304" pitchFamily="18" charset="0"/>
                <a:cs typeface="Times New Roman" panose="02020603050405020304" pitchFamily="18" charset="0"/>
              </a:rPr>
              <a:t>↑</a:t>
            </a:r>
            <a:r>
              <a:rPr lang="fr-FR" sz="2600" dirty="0" err="1"/>
              <a:t>aldolase</a:t>
            </a:r>
            <a:r>
              <a:rPr lang="fr-FR" sz="2600" dirty="0"/>
              <a:t>  </a:t>
            </a:r>
          </a:p>
          <a:p>
            <a:pPr lvl="2">
              <a:buFont typeface="Wingdings" panose="05000000000000000000" pitchFamily="2" charset="2"/>
              <a:buChar char="Ø"/>
            </a:pPr>
            <a:r>
              <a:rPr lang="fr-FR" sz="2400" dirty="0"/>
              <a:t>Aff musculaires (myopathies) </a:t>
            </a:r>
          </a:p>
          <a:p>
            <a:pPr lvl="2">
              <a:buFont typeface="Wingdings" panose="05000000000000000000" pitchFamily="2" charset="2"/>
              <a:buChar char="Ø"/>
            </a:pPr>
            <a:r>
              <a:rPr lang="fr-FR" sz="2400" dirty="0" err="1" smtClean="0"/>
              <a:t>Aff</a:t>
            </a:r>
            <a:r>
              <a:rPr lang="fr-FR" sz="2400" dirty="0" smtClean="0"/>
              <a:t> </a:t>
            </a:r>
            <a:r>
              <a:rPr lang="fr-FR" sz="2400" dirty="0"/>
              <a:t>hépatiques (hépatite aigue)</a:t>
            </a:r>
          </a:p>
          <a:p>
            <a:pPr lvl="1">
              <a:buFont typeface="Wingdings" panose="05000000000000000000" pitchFamily="2" charset="2"/>
              <a:buChar char="Ø"/>
            </a:pPr>
            <a:r>
              <a:rPr lang="fr-FR" sz="2600" dirty="0">
                <a:latin typeface="Times New Roman" panose="02020603050405020304" pitchFamily="18" charset="0"/>
                <a:cs typeface="Times New Roman" panose="02020603050405020304" pitchFamily="18" charset="0"/>
              </a:rPr>
              <a:t>↓</a:t>
            </a:r>
            <a:r>
              <a:rPr lang="fr-FR" sz="2600" dirty="0" err="1"/>
              <a:t>aldolase</a:t>
            </a:r>
            <a:r>
              <a:rPr lang="fr-FR" sz="2600" dirty="0"/>
              <a:t> </a:t>
            </a:r>
            <a:r>
              <a:rPr lang="fr-FR" sz="2600" dirty="0">
                <a:latin typeface="Abadi" panose="020B0604020104020204" pitchFamily="34" charset="0"/>
              </a:rPr>
              <a:t>→ </a:t>
            </a:r>
            <a:r>
              <a:rPr lang="fr-FR" sz="2600" dirty="0" smtClean="0"/>
              <a:t>IFH=&gt;intolérance héréditaire au fructose</a:t>
            </a:r>
            <a:endParaRPr lang="fr-FR" sz="2600" dirty="0"/>
          </a:p>
          <a:p>
            <a:pPr lvl="1">
              <a:buFont typeface="Wingdings" panose="05000000000000000000" pitchFamily="2" charset="2"/>
              <a:buChar char="Ø"/>
            </a:pPr>
            <a:endParaRPr lang="fr-FR" sz="2600" dirty="0"/>
          </a:p>
        </p:txBody>
      </p:sp>
      <p:sp>
        <p:nvSpPr>
          <p:cNvPr id="4" name="Rectangle 3">
            <a:extLst>
              <a:ext uri="{FF2B5EF4-FFF2-40B4-BE49-F238E27FC236}">
                <a16:creationId xmlns="" xmlns:a16="http://schemas.microsoft.com/office/drawing/2014/main" id="{063D1F1E-0A08-4C8B-8517-ED7D2DE55E98}"/>
              </a:ext>
            </a:extLst>
          </p:cNvPr>
          <p:cNvSpPr/>
          <p:nvPr/>
        </p:nvSpPr>
        <p:spPr>
          <a:xfrm>
            <a:off x="1268547" y="4523147"/>
            <a:ext cx="9240253" cy="101065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 l’heure actuelle le dosage de l’</a:t>
            </a:r>
            <a:r>
              <a:rPr lang="fr-FR" b="1" dirty="0" err="1">
                <a:solidFill>
                  <a:schemeClr val="tx1"/>
                </a:solidFill>
              </a:rPr>
              <a:t>aldolase</a:t>
            </a:r>
            <a:r>
              <a:rPr lang="fr-FR" b="1" dirty="0">
                <a:solidFill>
                  <a:schemeClr val="tx1"/>
                </a:solidFill>
              </a:rPr>
              <a:t>  : </a:t>
            </a:r>
            <a:r>
              <a:rPr lang="fr-FR" b="1" dirty="0">
                <a:solidFill>
                  <a:srgbClr val="FF0000"/>
                </a:solidFill>
              </a:rPr>
              <a:t>aucun intérêt </a:t>
            </a:r>
            <a:r>
              <a:rPr lang="fr-FR" b="1" dirty="0">
                <a:solidFill>
                  <a:schemeClr val="tx1"/>
                </a:solidFill>
              </a:rPr>
              <a:t>en pratique clinique courante</a:t>
            </a:r>
          </a:p>
        </p:txBody>
      </p:sp>
    </p:spTree>
    <p:extLst>
      <p:ext uri="{BB962C8B-B14F-4D97-AF65-F5344CB8AC3E}">
        <p14:creationId xmlns:p14="http://schemas.microsoft.com/office/powerpoint/2010/main" val="396049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4D6377E7-41CF-4428-906C-39D83C6BD1DA}"/>
              </a:ext>
            </a:extLst>
          </p:cNvPr>
          <p:cNvSpPr>
            <a:spLocks noGrp="1"/>
          </p:cNvSpPr>
          <p:nvPr>
            <p:ph idx="1"/>
          </p:nvPr>
        </p:nvSpPr>
        <p:spPr>
          <a:xfrm>
            <a:off x="639234" y="446089"/>
            <a:ext cx="10314516" cy="5287961"/>
          </a:xfrm>
        </p:spPr>
        <p:txBody>
          <a:bodyPr>
            <a:noAutofit/>
          </a:bodyPr>
          <a:lstStyle/>
          <a:p>
            <a:pPr>
              <a:buFont typeface="Wingdings" panose="05000000000000000000" pitchFamily="2" charset="2"/>
              <a:buChar char="q"/>
            </a:pPr>
            <a:r>
              <a:rPr lang="fr-FR" sz="3200" dirty="0" smtClean="0"/>
              <a:t>Dans la prescription en dose ce </a:t>
            </a:r>
            <a:r>
              <a:rPr lang="fr-FR" sz="3200" dirty="0"/>
              <a:t>Enz </a:t>
            </a:r>
            <a:r>
              <a:rPr lang="fr-FR" sz="3200" dirty="0" smtClean="0"/>
              <a:t>Musculaires: CPK total (pour savoir un idée)+CPK-MM</a:t>
            </a:r>
            <a:endParaRPr lang="fr-FR" sz="3200" dirty="0"/>
          </a:p>
          <a:p>
            <a:pPr>
              <a:buFont typeface="Wingdings" panose="05000000000000000000" pitchFamily="2" charset="2"/>
              <a:buChar char="q"/>
            </a:pPr>
            <a:r>
              <a:rPr lang="fr-FR" sz="3200" dirty="0" smtClean="0"/>
              <a:t>Aussi si y a myopathies donc augmente :</a:t>
            </a:r>
            <a:endParaRPr lang="fr-FR" sz="3200" dirty="0"/>
          </a:p>
          <a:p>
            <a:pPr lvl="1"/>
            <a:r>
              <a:rPr lang="fr-FR" sz="3200" dirty="0">
                <a:solidFill>
                  <a:srgbClr val="FF0000"/>
                </a:solidFill>
              </a:rPr>
              <a:t>CPK</a:t>
            </a:r>
            <a:r>
              <a:rPr lang="fr-FR" sz="3200" smtClean="0"/>
              <a:t>++++(MM)</a:t>
            </a:r>
            <a:endParaRPr lang="fr-FR" sz="3200" dirty="0"/>
          </a:p>
          <a:p>
            <a:pPr lvl="1"/>
            <a:r>
              <a:rPr lang="fr-FR" sz="3200" dirty="0" smtClean="0">
                <a:solidFill>
                  <a:schemeClr val="tx2"/>
                </a:solidFill>
              </a:rPr>
              <a:t>LDH(4/5)</a:t>
            </a:r>
            <a:endParaRPr lang="fr-FR" sz="3200" dirty="0">
              <a:solidFill>
                <a:schemeClr val="tx2"/>
              </a:solidFill>
            </a:endParaRPr>
          </a:p>
          <a:p>
            <a:pPr lvl="1"/>
            <a:r>
              <a:rPr lang="fr-FR" sz="3200" dirty="0" err="1" smtClean="0">
                <a:solidFill>
                  <a:schemeClr val="tx2"/>
                </a:solidFill>
              </a:rPr>
              <a:t>Aldolase</a:t>
            </a:r>
            <a:r>
              <a:rPr lang="fr-FR" sz="3200" dirty="0" smtClean="0">
                <a:solidFill>
                  <a:schemeClr val="tx2"/>
                </a:solidFill>
              </a:rPr>
              <a:t>(A) </a:t>
            </a:r>
            <a:endParaRPr lang="fr-FR" sz="3200" dirty="0">
              <a:solidFill>
                <a:schemeClr val="tx2"/>
              </a:solidFill>
            </a:endParaRPr>
          </a:p>
          <a:p>
            <a:pPr lvl="1"/>
            <a:r>
              <a:rPr lang="fr-FR" sz="3200" dirty="0">
                <a:solidFill>
                  <a:schemeClr val="tx2"/>
                </a:solidFill>
              </a:rPr>
              <a:t>ASAT</a:t>
            </a:r>
          </a:p>
        </p:txBody>
      </p:sp>
    </p:spTree>
    <p:extLst>
      <p:ext uri="{BB962C8B-B14F-4D97-AF65-F5344CB8AC3E}">
        <p14:creationId xmlns:p14="http://schemas.microsoft.com/office/powerpoint/2010/main" val="33988559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B0EAC49-E78B-4809-A499-59F78D4830A4}"/>
              </a:ext>
            </a:extLst>
          </p:cNvPr>
          <p:cNvSpPr>
            <a:spLocks noGrp="1"/>
          </p:cNvSpPr>
          <p:nvPr>
            <p:ph type="title"/>
          </p:nvPr>
        </p:nvSpPr>
        <p:spPr/>
        <p:txBody>
          <a:bodyPr>
            <a:normAutofit fontScale="90000"/>
          </a:bodyPr>
          <a:lstStyle/>
          <a:p>
            <a:pPr marL="228600" algn="ctr">
              <a:spcAft>
                <a:spcPts val="0"/>
              </a:spcAft>
            </a:pPr>
            <a:r>
              <a:rPr lang="fr-FR" dirty="0">
                <a:latin typeface="Times New Roman" panose="02020603050405020304" pitchFamily="18" charset="0"/>
                <a:ea typeface="Times New Roman" panose="02020603050405020304" pitchFamily="18" charset="0"/>
              </a:rPr>
              <a:t> </a:t>
            </a:r>
            <a:r>
              <a:rPr lang="fr-FR" sz="5300" dirty="0">
                <a:latin typeface="Times New Roman" panose="02020603050405020304" pitchFamily="18" charset="0"/>
                <a:ea typeface="Times New Roman" panose="02020603050405020304" pitchFamily="18" charset="0"/>
              </a:rPr>
              <a:t>VIII- </a:t>
            </a:r>
            <a:r>
              <a:rPr lang="fr-FR" sz="5300" b="1" dirty="0">
                <a:latin typeface="Times New Roman" panose="02020603050405020304" pitchFamily="18" charset="0"/>
                <a:ea typeface="Times New Roman" panose="02020603050405020304" pitchFamily="18" charset="0"/>
              </a:rPr>
              <a:t>CONCLUSION </a:t>
            </a:r>
            <a:r>
              <a:rPr lang="fr-FR" sz="4000" dirty="0">
                <a:latin typeface="Times New Roman" panose="02020603050405020304" pitchFamily="18" charset="0"/>
                <a:ea typeface="Times New Roman" panose="02020603050405020304" pitchFamily="18" charset="0"/>
              </a:rPr>
              <a:t/>
            </a:r>
            <a:br>
              <a:rPr lang="fr-FR" sz="4000" dirty="0">
                <a:latin typeface="Times New Roman" panose="02020603050405020304" pitchFamily="18" charset="0"/>
                <a:ea typeface="Times New Roman" panose="02020603050405020304" pitchFamily="18" charset="0"/>
              </a:rPr>
            </a:br>
            <a:endParaRPr lang="fr-FR" dirty="0"/>
          </a:p>
        </p:txBody>
      </p:sp>
      <p:sp>
        <p:nvSpPr>
          <p:cNvPr id="3" name="Espace réservé du contenu 2">
            <a:extLst>
              <a:ext uri="{FF2B5EF4-FFF2-40B4-BE49-F238E27FC236}">
                <a16:creationId xmlns="" xmlns:a16="http://schemas.microsoft.com/office/drawing/2014/main" id="{D285244B-16FE-4881-AE7B-A6E105FB0591}"/>
              </a:ext>
            </a:extLst>
          </p:cNvPr>
          <p:cNvSpPr>
            <a:spLocks noGrp="1"/>
          </p:cNvSpPr>
          <p:nvPr>
            <p:ph idx="1"/>
          </p:nvPr>
        </p:nvSpPr>
        <p:spPr>
          <a:xfrm>
            <a:off x="491804" y="1488613"/>
            <a:ext cx="8596668" cy="3880773"/>
          </a:xfrm>
        </p:spPr>
        <p:txBody>
          <a:bodyPr>
            <a:normAutofit/>
          </a:bodyPr>
          <a:lstStyle/>
          <a:p>
            <a:r>
              <a:rPr lang="fr-FR" sz="3200" b="1" dirty="0">
                <a:latin typeface="Times New Roman" panose="02020603050405020304" pitchFamily="18" charset="0"/>
                <a:ea typeface="Times New Roman" panose="02020603050405020304" pitchFamily="18" charset="0"/>
                <a:cs typeface="Times New Roman" panose="02020603050405020304" pitchFamily="18" charset="0"/>
              </a:rPr>
              <a:t> ↑ </a:t>
            </a:r>
            <a:r>
              <a:rPr lang="fr-FR" sz="3200" b="1" dirty="0">
                <a:latin typeface="Times New Roman" panose="02020603050405020304" pitchFamily="18" charset="0"/>
                <a:ea typeface="Times New Roman" panose="02020603050405020304" pitchFamily="18" charset="0"/>
              </a:rPr>
              <a:t>Enzs plasma associées de façon  +/-spécifique à de nombreuses pathologies</a:t>
            </a:r>
          </a:p>
          <a:p>
            <a:r>
              <a:rPr lang="fr-FR" sz="3200" b="1" dirty="0">
                <a:latin typeface="Times New Roman" panose="02020603050405020304" pitchFamily="18" charset="0"/>
                <a:ea typeface="Times New Roman" panose="02020603050405020304" pitchFamily="18" charset="0"/>
              </a:rPr>
              <a:t>≠ répartition Enzs Fx tissus + détermination </a:t>
            </a:r>
            <a:r>
              <a:rPr lang="fr-FR" sz="3200" b="1" dirty="0" err="1">
                <a:latin typeface="Times New Roman" panose="02020603050405020304" pitchFamily="18" charset="0"/>
                <a:ea typeface="Times New Roman" panose="02020603050405020304" pitchFamily="18" charset="0"/>
              </a:rPr>
              <a:t>IsoEnzs</a:t>
            </a:r>
            <a:r>
              <a:rPr lang="fr-FR" sz="3200" b="1" dirty="0">
                <a:latin typeface="Times New Roman" panose="02020603050405020304" pitchFamily="18" charset="0"/>
                <a:ea typeface="Times New Roman" panose="02020603050405020304" pitchFamily="18" charset="0"/>
              </a:rPr>
              <a:t> </a:t>
            </a:r>
            <a:r>
              <a:rPr lang="fr-FR" sz="3200" b="1" dirty="0">
                <a:latin typeface="Abadi" panose="020B0604020104020204" pitchFamily="34" charset="0"/>
                <a:ea typeface="Times New Roman" panose="02020603050405020304" pitchFamily="18" charset="0"/>
              </a:rPr>
              <a:t>→</a:t>
            </a:r>
            <a:r>
              <a:rPr lang="fr-FR" sz="3200" b="1" dirty="0">
                <a:latin typeface="Times New Roman" panose="02020603050405020304" pitchFamily="18" charset="0"/>
                <a:ea typeface="Times New Roman" panose="02020603050405020304" pitchFamily="18" charset="0"/>
              </a:rPr>
              <a:t>l’exploration d’un organe donner</a:t>
            </a:r>
          </a:p>
          <a:p>
            <a:r>
              <a:rPr lang="fr-FR" sz="3200" b="1" dirty="0">
                <a:latin typeface="Times New Roman" panose="02020603050405020304" pitchFamily="18" charset="0"/>
                <a:ea typeface="Times New Roman" panose="02020603050405020304" pitchFamily="18" charset="0"/>
              </a:rPr>
              <a:t>Les enzymes fréquemment déterminés en enzymologie clinique</a:t>
            </a:r>
          </a:p>
          <a:p>
            <a:endParaRPr lang="fr-FR" dirty="0"/>
          </a:p>
        </p:txBody>
      </p:sp>
    </p:spTree>
    <p:extLst>
      <p:ext uri="{BB962C8B-B14F-4D97-AF65-F5344CB8AC3E}">
        <p14:creationId xmlns:p14="http://schemas.microsoft.com/office/powerpoint/2010/main" val="22441980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B5C19EF-95AA-4018-A4A1-8D8874C1926D}"/>
              </a:ext>
            </a:extLst>
          </p:cNvPr>
          <p:cNvSpPr>
            <a:spLocks noGrp="1"/>
          </p:cNvSpPr>
          <p:nvPr>
            <p:ph type="title"/>
          </p:nvPr>
        </p:nvSpPr>
        <p:spPr/>
        <p:txBody>
          <a:bodyPr/>
          <a:lstStyle/>
          <a:p>
            <a:endParaRPr lang="fr-FR"/>
          </a:p>
        </p:txBody>
      </p:sp>
      <p:graphicFrame>
        <p:nvGraphicFramePr>
          <p:cNvPr id="5" name="Espace réservé du contenu 4">
            <a:extLst>
              <a:ext uri="{FF2B5EF4-FFF2-40B4-BE49-F238E27FC236}">
                <a16:creationId xmlns="" xmlns:a16="http://schemas.microsoft.com/office/drawing/2014/main" id="{24E9FC85-0C5E-4ECE-886C-9DB383462F3A}"/>
              </a:ext>
            </a:extLst>
          </p:cNvPr>
          <p:cNvGraphicFramePr>
            <a:graphicFrameLocks noGrp="1"/>
          </p:cNvGraphicFramePr>
          <p:nvPr>
            <p:ph idx="1"/>
            <p:extLst>
              <p:ext uri="{D42A27DB-BD31-4B8C-83A1-F6EECF244321}">
                <p14:modId xmlns:p14="http://schemas.microsoft.com/office/powerpoint/2010/main" val="3224195689"/>
              </p:ext>
            </p:extLst>
          </p:nvPr>
        </p:nvGraphicFramePr>
        <p:xfrm>
          <a:off x="-1" y="0"/>
          <a:ext cx="12192002" cy="6858000"/>
        </p:xfrm>
        <a:graphic>
          <a:graphicData uri="http://schemas.openxmlformats.org/drawingml/2006/table">
            <a:tbl>
              <a:tblPr firstRow="1" firstCol="1" bandRow="1">
                <a:tableStyleId>{5C22544A-7EE6-4342-B048-85BDC9FD1C3A}</a:tableStyleId>
              </a:tblPr>
              <a:tblGrid>
                <a:gridCol w="3594686">
                  <a:extLst>
                    <a:ext uri="{9D8B030D-6E8A-4147-A177-3AD203B41FA5}">
                      <a16:colId xmlns="" xmlns:a16="http://schemas.microsoft.com/office/drawing/2014/main" val="3095119960"/>
                    </a:ext>
                  </a:extLst>
                </a:gridCol>
                <a:gridCol w="6049263">
                  <a:extLst>
                    <a:ext uri="{9D8B030D-6E8A-4147-A177-3AD203B41FA5}">
                      <a16:colId xmlns="" xmlns:a16="http://schemas.microsoft.com/office/drawing/2014/main" val="2386173774"/>
                    </a:ext>
                  </a:extLst>
                </a:gridCol>
                <a:gridCol w="2548053">
                  <a:extLst>
                    <a:ext uri="{9D8B030D-6E8A-4147-A177-3AD203B41FA5}">
                      <a16:colId xmlns="" xmlns:a16="http://schemas.microsoft.com/office/drawing/2014/main" val="995748815"/>
                    </a:ext>
                  </a:extLst>
                </a:gridCol>
              </a:tblGrid>
              <a:tr h="685800">
                <a:tc>
                  <a:txBody>
                    <a:bodyPr/>
                    <a:lstStyle/>
                    <a:p>
                      <a:pPr>
                        <a:spcAft>
                          <a:spcPts val="0"/>
                        </a:spcAft>
                      </a:pPr>
                      <a:r>
                        <a:rPr lang="fr-FR" sz="2000" dirty="0">
                          <a:solidFill>
                            <a:schemeClr val="tx1"/>
                          </a:solidFill>
                          <a:effectLst/>
                        </a:rPr>
                        <a:t>Les enzyme et </a:t>
                      </a:r>
                      <a:r>
                        <a:rPr lang="fr-FR" sz="2000" dirty="0">
                          <a:solidFill>
                            <a:srgbClr val="002060"/>
                          </a:solidFill>
                          <a:effectLst/>
                        </a:rPr>
                        <a:t>isoenzymes</a:t>
                      </a:r>
                      <a:endParaRPr lang="fr-FR" sz="2000" dirty="0">
                        <a:solidFill>
                          <a:srgbClr val="00206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pPr>
                      <a:r>
                        <a:rPr lang="fr-FR" sz="2000" dirty="0">
                          <a:effectLst/>
                        </a:rPr>
                        <a:t>Indication de la prescription en biologie clinique</a:t>
                      </a:r>
                      <a:endParaRPr lang="fr-FR"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fr-FR" sz="2000">
                          <a:effectLst/>
                        </a:rPr>
                        <a:t>Les bilans biologiques</a:t>
                      </a:r>
                      <a:endParaRPr lang="fr-FR" sz="2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 xmlns:a16="http://schemas.microsoft.com/office/drawing/2014/main" val="3617528736"/>
                  </a:ext>
                </a:extLst>
              </a:tr>
              <a:tr h="685800">
                <a:tc>
                  <a:txBody>
                    <a:bodyPr/>
                    <a:lstStyle/>
                    <a:p>
                      <a:pPr>
                        <a:spcAft>
                          <a:spcPts val="0"/>
                        </a:spcAft>
                      </a:pPr>
                      <a:r>
                        <a:rPr lang="fr-FR" sz="2000" dirty="0">
                          <a:solidFill>
                            <a:schemeClr val="tx1"/>
                          </a:solidFill>
                          <a:effectLst/>
                        </a:rPr>
                        <a:t>Transaminases (ASAT, ALAT)</a:t>
                      </a:r>
                      <a:endParaRPr lang="fr-FR"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60000"/>
                        <a:lumOff val="40000"/>
                      </a:schemeClr>
                    </a:solidFill>
                  </a:tcPr>
                </a:tc>
                <a:tc>
                  <a:txBody>
                    <a:bodyPr/>
                    <a:lstStyle/>
                    <a:p>
                      <a:pPr>
                        <a:spcAft>
                          <a:spcPts val="0"/>
                        </a:spcAft>
                      </a:pPr>
                      <a:r>
                        <a:rPr lang="fr-FR" sz="2000" b="1" dirty="0">
                          <a:effectLst/>
                        </a:rPr>
                        <a:t>-Hépatites</a:t>
                      </a:r>
                    </a:p>
                    <a:p>
                      <a:pPr>
                        <a:spcAft>
                          <a:spcPts val="0"/>
                        </a:spcAft>
                      </a:pPr>
                      <a:r>
                        <a:rPr kumimoji="0" lang="fr-FR" sz="2000" b="1" i="0" u="none" strike="noStrike" kern="1200" cap="none" spc="0" normalizeH="0" baseline="0" noProof="0" dirty="0">
                          <a:ln>
                            <a:noFill/>
                          </a:ln>
                          <a:solidFill>
                            <a:prstClr val="black"/>
                          </a:solidFill>
                          <a:effectLst/>
                          <a:uLnTx/>
                          <a:uFillTx/>
                          <a:latin typeface="+mn-lt"/>
                          <a:ea typeface="+mn-ea"/>
                          <a:cs typeface="+mn-cs"/>
                        </a:rPr>
                        <a:t>-</a:t>
                      </a:r>
                      <a:r>
                        <a:rPr kumimoji="0" lang="fr-FR"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IDM (</a:t>
                      </a:r>
                      <a:r>
                        <a:rPr lang="fr-FR" sz="2000" b="0" dirty="0">
                          <a:effectLst/>
                          <a:latin typeface="Times New Roman" panose="02020603050405020304" pitchFamily="18" charset="0"/>
                          <a:ea typeface="Times New Roman" panose="02020603050405020304" pitchFamily="18" charset="0"/>
                          <a:cs typeface="Times New Roman" panose="02020603050405020304" pitchFamily="18" charset="0"/>
                        </a:rPr>
                        <a:t>ASAT: abandonné)</a:t>
                      </a:r>
                    </a:p>
                  </a:txBody>
                  <a:tcPr marL="68580" marR="68580" marT="0" marB="0">
                    <a:solidFill>
                      <a:schemeClr val="accent3">
                        <a:lumMod val="40000"/>
                        <a:lumOff val="60000"/>
                      </a:schemeClr>
                    </a:solidFill>
                  </a:tcPr>
                </a:tc>
                <a:tc rowSpan="3">
                  <a:txBody>
                    <a:bodyPr/>
                    <a:lstStyle/>
                    <a:p>
                      <a:pPr marL="0" algn="l" defTabSz="457200" rtl="0" eaLnBrk="1" latinLnBrk="0" hangingPunct="1">
                        <a:spcAft>
                          <a:spcPts val="0"/>
                        </a:spcAft>
                      </a:pPr>
                      <a:r>
                        <a:rPr lang="fr-FR" sz="2000" kern="1200" dirty="0">
                          <a:solidFill>
                            <a:schemeClr val="dk1"/>
                          </a:solidFill>
                          <a:effectLst/>
                          <a:latin typeface="+mn-lt"/>
                          <a:ea typeface="+mn-ea"/>
                          <a:cs typeface="+mn-cs"/>
                        </a:rPr>
                        <a:t>Bilan hépatique</a:t>
                      </a:r>
                    </a:p>
                  </a:txBody>
                  <a:tcPr marL="68580" marR="68580" marT="0" marB="0">
                    <a:solidFill>
                      <a:schemeClr val="accent3">
                        <a:lumMod val="20000"/>
                        <a:lumOff val="80000"/>
                      </a:schemeClr>
                    </a:solidFill>
                  </a:tcPr>
                </a:tc>
                <a:extLst>
                  <a:ext uri="{0D108BD9-81ED-4DB2-BD59-A6C34878D82A}">
                    <a16:rowId xmlns="" xmlns:a16="http://schemas.microsoft.com/office/drawing/2014/main" val="1977729190"/>
                  </a:ext>
                </a:extLst>
              </a:tr>
              <a:tr h="342900">
                <a:tc>
                  <a:txBody>
                    <a:bodyPr/>
                    <a:lstStyle/>
                    <a:p>
                      <a:pPr>
                        <a:spcAft>
                          <a:spcPts val="0"/>
                        </a:spcAft>
                      </a:pPr>
                      <a:r>
                        <a:rPr lang="fr-FR" sz="2000" dirty="0">
                          <a:solidFill>
                            <a:schemeClr val="tx1"/>
                          </a:solidFill>
                          <a:effectLst/>
                        </a:rPr>
                        <a:t>PAL</a:t>
                      </a:r>
                      <a:endParaRPr lang="fr-FR"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60000"/>
                        <a:lumOff val="40000"/>
                      </a:schemeClr>
                    </a:solidFill>
                  </a:tcPr>
                </a:tc>
                <a:tc>
                  <a:txBody>
                    <a:bodyPr/>
                    <a:lstStyle/>
                    <a:p>
                      <a:pPr>
                        <a:spcAft>
                          <a:spcPts val="0"/>
                        </a:spcAft>
                      </a:pPr>
                      <a:r>
                        <a:rPr lang="fr-FR" sz="2000" b="1" dirty="0">
                          <a:effectLst/>
                        </a:rPr>
                        <a:t>-Cholestase</a:t>
                      </a:r>
                      <a:endParaRPr lang="fr-FR" sz="2000" b="1" dirty="0">
                        <a:effectLst/>
                        <a:latin typeface="Times New Roman" panose="02020603050405020304" pitchFamily="18" charset="0"/>
                        <a:ea typeface="Times New Roman" panose="02020603050405020304" pitchFamily="18" charset="0"/>
                      </a:endParaRPr>
                    </a:p>
                  </a:txBody>
                  <a:tcPr marL="68580" marR="68580" marT="0" marB="0">
                    <a:solidFill>
                      <a:schemeClr val="accent3">
                        <a:lumMod val="40000"/>
                        <a:lumOff val="60000"/>
                      </a:schemeClr>
                    </a:solidFill>
                  </a:tcPr>
                </a:tc>
                <a:tc vMerge="1">
                  <a:txBody>
                    <a:bodyPr/>
                    <a:lstStyle/>
                    <a:p>
                      <a:endParaRPr lang="fr-FR"/>
                    </a:p>
                  </a:txBody>
                  <a:tcPr/>
                </a:tc>
                <a:extLst>
                  <a:ext uri="{0D108BD9-81ED-4DB2-BD59-A6C34878D82A}">
                    <a16:rowId xmlns="" xmlns:a16="http://schemas.microsoft.com/office/drawing/2014/main" val="11678521"/>
                  </a:ext>
                </a:extLst>
              </a:tr>
              <a:tr h="1028700">
                <a:tc>
                  <a:txBody>
                    <a:bodyPr/>
                    <a:lstStyle/>
                    <a:p>
                      <a:pPr>
                        <a:spcAft>
                          <a:spcPts val="0"/>
                        </a:spcAft>
                      </a:pPr>
                      <a:r>
                        <a:rPr lang="fr-FR" sz="2000" dirty="0">
                          <a:solidFill>
                            <a:schemeClr val="tx1"/>
                          </a:solidFill>
                          <a:effectLst/>
                        </a:rPr>
                        <a:t>Gamma-GT</a:t>
                      </a:r>
                      <a:endParaRPr lang="fr-FR"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3">
                        <a:lumMod val="60000"/>
                        <a:lumOff val="40000"/>
                      </a:schemeClr>
                    </a:solidFill>
                  </a:tcPr>
                </a:tc>
                <a:tc>
                  <a:txBody>
                    <a:bodyPr/>
                    <a:lstStyle/>
                    <a:p>
                      <a:pPr>
                        <a:spcAft>
                          <a:spcPts val="0"/>
                        </a:spcAft>
                      </a:pPr>
                      <a:r>
                        <a:rPr lang="fr-FR" sz="2000" b="1" dirty="0">
                          <a:effectLst/>
                        </a:rPr>
                        <a:t>-Cholestase</a:t>
                      </a:r>
                    </a:p>
                    <a:p>
                      <a:pPr>
                        <a:spcAft>
                          <a:spcPts val="0"/>
                        </a:spcAft>
                      </a:pPr>
                      <a:r>
                        <a:rPr lang="fr-FR" sz="2000" b="1" dirty="0">
                          <a:effectLst/>
                        </a:rPr>
                        <a:t>-Intoxication alcoolique chronique (intérêt dans le suivie du sevrage)</a:t>
                      </a:r>
                      <a:endParaRPr lang="fr-FR" sz="2000" b="1" dirty="0">
                        <a:effectLst/>
                        <a:latin typeface="Times New Roman" panose="02020603050405020304" pitchFamily="18" charset="0"/>
                        <a:ea typeface="Times New Roman" panose="02020603050405020304" pitchFamily="18" charset="0"/>
                      </a:endParaRPr>
                    </a:p>
                  </a:txBody>
                  <a:tcPr marL="68580" marR="68580" marT="0" marB="0">
                    <a:solidFill>
                      <a:schemeClr val="accent3">
                        <a:lumMod val="40000"/>
                        <a:lumOff val="60000"/>
                      </a:schemeClr>
                    </a:solidFill>
                  </a:tcPr>
                </a:tc>
                <a:tc vMerge="1">
                  <a:txBody>
                    <a:bodyPr/>
                    <a:lstStyle/>
                    <a:p>
                      <a:endParaRPr lang="fr-FR"/>
                    </a:p>
                  </a:txBody>
                  <a:tcPr/>
                </a:tc>
                <a:extLst>
                  <a:ext uri="{0D108BD9-81ED-4DB2-BD59-A6C34878D82A}">
                    <a16:rowId xmlns="" xmlns:a16="http://schemas.microsoft.com/office/drawing/2014/main" val="1885622622"/>
                  </a:ext>
                </a:extLst>
              </a:tr>
              <a:tr h="1371600">
                <a:tc>
                  <a:txBody>
                    <a:bodyPr/>
                    <a:lstStyle/>
                    <a:p>
                      <a:pPr>
                        <a:spcAft>
                          <a:spcPts val="0"/>
                        </a:spcAft>
                      </a:pPr>
                      <a:r>
                        <a:rPr lang="fr-FR" sz="2000" dirty="0">
                          <a:solidFill>
                            <a:schemeClr val="tx1"/>
                          </a:solidFill>
                          <a:effectLst/>
                        </a:rPr>
                        <a:t>Lipase </a:t>
                      </a:r>
                    </a:p>
                    <a:p>
                      <a:pPr>
                        <a:spcAft>
                          <a:spcPts val="0"/>
                        </a:spcAft>
                      </a:pPr>
                      <a:r>
                        <a:rPr lang="fr-FR" sz="2000" dirty="0">
                          <a:solidFill>
                            <a:schemeClr val="tx1"/>
                          </a:solidFill>
                          <a:effectLst/>
                        </a:rPr>
                        <a:t> </a:t>
                      </a:r>
                    </a:p>
                    <a:p>
                      <a:pPr>
                        <a:spcAft>
                          <a:spcPts val="0"/>
                        </a:spcAft>
                      </a:pPr>
                      <a:r>
                        <a:rPr lang="fr-FR" sz="2000" dirty="0">
                          <a:solidFill>
                            <a:schemeClr val="tx1"/>
                          </a:solidFill>
                          <a:effectLst/>
                        </a:rPr>
                        <a:t> </a:t>
                      </a:r>
                    </a:p>
                    <a:p>
                      <a:pPr marL="742950" lvl="1" indent="-285750">
                        <a:spcAft>
                          <a:spcPts val="0"/>
                        </a:spcAft>
                        <a:buFont typeface="Wingdings" panose="05000000000000000000" pitchFamily="2" charset="2"/>
                        <a:buChar char=""/>
                      </a:pPr>
                      <a:r>
                        <a:rPr lang="fr-FR" sz="2000" dirty="0">
                          <a:solidFill>
                            <a:srgbClr val="002060"/>
                          </a:solidFill>
                          <a:effectLst/>
                        </a:rPr>
                        <a:t>Lipase pancréatique </a:t>
                      </a:r>
                      <a:endParaRPr lang="fr-FR" sz="2000" dirty="0">
                        <a:solidFill>
                          <a:srgbClr val="002060"/>
                        </a:solidFill>
                        <a:effectLst/>
                        <a:latin typeface="Times New Roman" panose="02020603050405020304" pitchFamily="18" charset="0"/>
                        <a:ea typeface="Times New Roman" panose="02020603050405020304" pitchFamily="18" charset="0"/>
                      </a:endParaRPr>
                    </a:p>
                  </a:txBody>
                  <a:tcPr marL="68580" marR="68580" marT="0" marB="0">
                    <a:solidFill>
                      <a:schemeClr val="tx2">
                        <a:lumMod val="60000"/>
                        <a:lumOff val="40000"/>
                      </a:schemeClr>
                    </a:solidFill>
                  </a:tcPr>
                </a:tc>
                <a:tc>
                  <a:txBody>
                    <a:bodyPr/>
                    <a:lstStyle/>
                    <a:p>
                      <a:pPr>
                        <a:spcAft>
                          <a:spcPts val="0"/>
                        </a:spcAft>
                      </a:pPr>
                      <a:r>
                        <a:rPr lang="fr-FR" sz="2000" b="1" dirty="0">
                          <a:effectLst/>
                        </a:rPr>
                        <a:t>-</a:t>
                      </a:r>
                      <a:r>
                        <a:rPr lang="fr-FR" sz="2000" b="0" dirty="0">
                          <a:effectLst/>
                        </a:rPr>
                        <a:t>Douleur abdominale aigue inexpliquée</a:t>
                      </a:r>
                    </a:p>
                    <a:p>
                      <a:pPr>
                        <a:spcAft>
                          <a:spcPts val="0"/>
                        </a:spcAft>
                      </a:pPr>
                      <a:r>
                        <a:rPr lang="fr-FR" sz="2000" b="1" dirty="0">
                          <a:effectLst/>
                        </a:rPr>
                        <a:t>-</a:t>
                      </a:r>
                      <a:r>
                        <a:rPr lang="fr-FR" sz="2000" b="1" dirty="0">
                          <a:solidFill>
                            <a:srgbClr val="FF0000"/>
                          </a:solidFill>
                          <a:effectLst/>
                        </a:rPr>
                        <a:t>Pancréatite aiguë </a:t>
                      </a:r>
                      <a:r>
                        <a:rPr lang="fr-FR" sz="2000" b="0" dirty="0">
                          <a:effectLst/>
                        </a:rPr>
                        <a:t>et chronique</a:t>
                      </a:r>
                    </a:p>
                    <a:p>
                      <a:pPr>
                        <a:spcAft>
                          <a:spcPts val="0"/>
                        </a:spcAft>
                      </a:pPr>
                      <a:r>
                        <a:rPr lang="fr-FR" sz="2000" b="0" dirty="0">
                          <a:effectLst/>
                        </a:rPr>
                        <a:t>-Cancer du pancréas </a:t>
                      </a:r>
                    </a:p>
                    <a:p>
                      <a:pPr>
                        <a:spcAft>
                          <a:spcPts val="0"/>
                        </a:spcAft>
                      </a:pPr>
                      <a:r>
                        <a:rPr lang="fr-FR" sz="2000" b="1" dirty="0">
                          <a:effectLst/>
                        </a:rPr>
                        <a:t>→</a:t>
                      </a:r>
                      <a:r>
                        <a:rPr lang="fr-FR" sz="2000" b="1" dirty="0">
                          <a:solidFill>
                            <a:srgbClr val="002060"/>
                          </a:solidFill>
                          <a:effectLst/>
                        </a:rPr>
                        <a:t>Pancréatite aiguë</a:t>
                      </a:r>
                      <a:endParaRPr lang="fr-FR" sz="2000" b="1" dirty="0">
                        <a:solidFill>
                          <a:srgbClr val="002060"/>
                        </a:solidFill>
                        <a:effectLst/>
                        <a:latin typeface="Times New Roman" panose="02020603050405020304" pitchFamily="18" charset="0"/>
                        <a:ea typeface="Times New Roman" panose="02020603050405020304" pitchFamily="18" charset="0"/>
                      </a:endParaRPr>
                    </a:p>
                  </a:txBody>
                  <a:tcPr marL="68580" marR="68580" marT="0" marB="0">
                    <a:solidFill>
                      <a:schemeClr val="tx2">
                        <a:lumMod val="40000"/>
                        <a:lumOff val="60000"/>
                      </a:schemeClr>
                    </a:solidFill>
                  </a:tcPr>
                </a:tc>
                <a:tc rowSpan="2">
                  <a:txBody>
                    <a:bodyPr/>
                    <a:lstStyle/>
                    <a:p>
                      <a:pPr marL="0" algn="l" defTabSz="457200" rtl="0" eaLnBrk="1" latinLnBrk="0" hangingPunct="1">
                        <a:spcAft>
                          <a:spcPts val="0"/>
                        </a:spcAft>
                      </a:pPr>
                      <a:r>
                        <a:rPr lang="fr-FR" sz="2000" kern="1200" dirty="0">
                          <a:solidFill>
                            <a:schemeClr val="dk1"/>
                          </a:solidFill>
                          <a:effectLst/>
                          <a:latin typeface="+mn-lt"/>
                          <a:ea typeface="+mn-ea"/>
                          <a:cs typeface="+mn-cs"/>
                        </a:rPr>
                        <a:t> </a:t>
                      </a:r>
                    </a:p>
                    <a:p>
                      <a:pPr marL="0" algn="l" defTabSz="457200" rtl="0" eaLnBrk="1" latinLnBrk="0" hangingPunct="1">
                        <a:spcAft>
                          <a:spcPts val="0"/>
                        </a:spcAft>
                      </a:pPr>
                      <a:r>
                        <a:rPr lang="fr-FR" sz="2000" kern="1200" dirty="0">
                          <a:solidFill>
                            <a:schemeClr val="dk1"/>
                          </a:solidFill>
                          <a:effectLst/>
                          <a:latin typeface="+mn-lt"/>
                          <a:ea typeface="+mn-ea"/>
                          <a:cs typeface="+mn-cs"/>
                        </a:rPr>
                        <a:t> </a:t>
                      </a:r>
                    </a:p>
                    <a:p>
                      <a:pPr marL="0" algn="l" defTabSz="457200" rtl="0" eaLnBrk="1" latinLnBrk="0" hangingPunct="1">
                        <a:spcAft>
                          <a:spcPts val="0"/>
                        </a:spcAft>
                      </a:pPr>
                      <a:r>
                        <a:rPr lang="fr-FR" sz="2000" kern="1200" dirty="0">
                          <a:solidFill>
                            <a:schemeClr val="dk1"/>
                          </a:solidFill>
                          <a:effectLst/>
                          <a:latin typeface="+mn-lt"/>
                          <a:ea typeface="+mn-ea"/>
                          <a:cs typeface="+mn-cs"/>
                        </a:rPr>
                        <a:t> </a:t>
                      </a:r>
                    </a:p>
                    <a:p>
                      <a:pPr marL="0" algn="l" defTabSz="457200" rtl="0" eaLnBrk="1" latinLnBrk="0" hangingPunct="1">
                        <a:spcAft>
                          <a:spcPts val="0"/>
                        </a:spcAft>
                      </a:pPr>
                      <a:r>
                        <a:rPr lang="fr-FR" sz="2000" kern="1200" dirty="0">
                          <a:solidFill>
                            <a:schemeClr val="dk1"/>
                          </a:solidFill>
                          <a:effectLst/>
                          <a:latin typeface="+mn-lt"/>
                          <a:ea typeface="+mn-ea"/>
                          <a:cs typeface="+mn-cs"/>
                        </a:rPr>
                        <a:t> </a:t>
                      </a:r>
                    </a:p>
                    <a:p>
                      <a:pPr marL="0" algn="l" defTabSz="457200" rtl="0" eaLnBrk="1" latinLnBrk="0" hangingPunct="1">
                        <a:spcAft>
                          <a:spcPts val="0"/>
                        </a:spcAft>
                      </a:pPr>
                      <a:r>
                        <a:rPr lang="fr-FR" sz="2000" kern="1200" dirty="0">
                          <a:solidFill>
                            <a:schemeClr val="dk1"/>
                          </a:solidFill>
                          <a:effectLst/>
                          <a:latin typeface="+mn-lt"/>
                          <a:ea typeface="+mn-ea"/>
                          <a:cs typeface="+mn-cs"/>
                        </a:rPr>
                        <a:t> </a:t>
                      </a:r>
                    </a:p>
                    <a:p>
                      <a:pPr marL="0" algn="l" defTabSz="457200" rtl="0" eaLnBrk="1" latinLnBrk="0" hangingPunct="1">
                        <a:spcAft>
                          <a:spcPts val="0"/>
                        </a:spcAft>
                      </a:pPr>
                      <a:r>
                        <a:rPr lang="fr-FR" sz="2000" kern="1200" dirty="0">
                          <a:solidFill>
                            <a:schemeClr val="dk1"/>
                          </a:solidFill>
                          <a:effectLst/>
                          <a:latin typeface="+mn-lt"/>
                          <a:ea typeface="+mn-ea"/>
                          <a:cs typeface="+mn-cs"/>
                        </a:rPr>
                        <a:t>Bilan pancréatique</a:t>
                      </a:r>
                    </a:p>
                  </a:txBody>
                  <a:tcPr marL="68580" marR="68580" marT="0" marB="0">
                    <a:solidFill>
                      <a:schemeClr val="accent3">
                        <a:lumMod val="20000"/>
                        <a:lumOff val="80000"/>
                      </a:schemeClr>
                    </a:solidFill>
                  </a:tcPr>
                </a:tc>
                <a:extLst>
                  <a:ext uri="{0D108BD9-81ED-4DB2-BD59-A6C34878D82A}">
                    <a16:rowId xmlns="" xmlns:a16="http://schemas.microsoft.com/office/drawing/2014/main" val="424712306"/>
                  </a:ext>
                </a:extLst>
              </a:tr>
              <a:tr h="1371600">
                <a:tc>
                  <a:txBody>
                    <a:bodyPr/>
                    <a:lstStyle/>
                    <a:p>
                      <a:pPr>
                        <a:spcAft>
                          <a:spcPts val="0"/>
                        </a:spcAft>
                      </a:pPr>
                      <a:r>
                        <a:rPr lang="fr-FR" sz="2000" dirty="0">
                          <a:solidFill>
                            <a:schemeClr val="tx1"/>
                          </a:solidFill>
                          <a:effectLst/>
                        </a:rPr>
                        <a:t>Alpha-amylase</a:t>
                      </a:r>
                      <a:endParaRPr lang="fr-FR"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tx2">
                        <a:lumMod val="60000"/>
                        <a:lumOff val="40000"/>
                      </a:schemeClr>
                    </a:solidFill>
                  </a:tcPr>
                </a:tc>
                <a:tc>
                  <a:txBody>
                    <a:bodyPr/>
                    <a:lstStyle/>
                    <a:p>
                      <a:pPr>
                        <a:spcAft>
                          <a:spcPts val="0"/>
                        </a:spcAft>
                      </a:pPr>
                      <a:r>
                        <a:rPr lang="fr-FR" sz="2000" b="1" dirty="0">
                          <a:effectLst/>
                        </a:rPr>
                        <a:t>-</a:t>
                      </a:r>
                      <a:r>
                        <a:rPr lang="fr-FR" sz="2000" b="0" dirty="0">
                          <a:effectLst/>
                        </a:rPr>
                        <a:t>Douleur abdominale aigue inexpliquée</a:t>
                      </a:r>
                    </a:p>
                    <a:p>
                      <a:pPr>
                        <a:spcAft>
                          <a:spcPts val="0"/>
                        </a:spcAft>
                      </a:pPr>
                      <a:r>
                        <a:rPr lang="fr-FR" sz="2000" b="1" dirty="0">
                          <a:effectLst/>
                        </a:rPr>
                        <a:t>-</a:t>
                      </a:r>
                      <a:r>
                        <a:rPr lang="fr-FR" sz="2000" b="1" dirty="0">
                          <a:solidFill>
                            <a:srgbClr val="FF0000"/>
                          </a:solidFill>
                          <a:effectLst/>
                        </a:rPr>
                        <a:t>Pancréatite aiguë </a:t>
                      </a:r>
                      <a:r>
                        <a:rPr lang="fr-FR" sz="2000" b="0" dirty="0">
                          <a:effectLst/>
                        </a:rPr>
                        <a:t>et chronique</a:t>
                      </a:r>
                    </a:p>
                    <a:p>
                      <a:pPr>
                        <a:spcAft>
                          <a:spcPts val="0"/>
                        </a:spcAft>
                      </a:pPr>
                      <a:r>
                        <a:rPr lang="fr-FR" sz="2000" b="0" dirty="0">
                          <a:effectLst/>
                        </a:rPr>
                        <a:t>-Cancer du pancréas </a:t>
                      </a:r>
                    </a:p>
                    <a:p>
                      <a:pPr>
                        <a:spcAft>
                          <a:spcPts val="0"/>
                        </a:spcAft>
                      </a:pPr>
                      <a:r>
                        <a:rPr lang="fr-FR" sz="2000" b="0" dirty="0">
                          <a:effectLst/>
                        </a:rPr>
                        <a:t>-Pathologies des glandes salivaires</a:t>
                      </a:r>
                      <a:endParaRPr lang="fr-FR" sz="2000" b="0" dirty="0">
                        <a:effectLst/>
                        <a:latin typeface="Times New Roman" panose="02020603050405020304" pitchFamily="18" charset="0"/>
                        <a:ea typeface="Times New Roman" panose="02020603050405020304" pitchFamily="18" charset="0"/>
                      </a:endParaRPr>
                    </a:p>
                  </a:txBody>
                  <a:tcPr marL="68580" marR="68580" marT="0" marB="0">
                    <a:solidFill>
                      <a:schemeClr val="tx2">
                        <a:lumMod val="40000"/>
                        <a:lumOff val="60000"/>
                      </a:schemeClr>
                    </a:solidFill>
                  </a:tcPr>
                </a:tc>
                <a:tc vMerge="1">
                  <a:txBody>
                    <a:bodyPr/>
                    <a:lstStyle/>
                    <a:p>
                      <a:endParaRPr lang="fr-FR"/>
                    </a:p>
                  </a:txBody>
                  <a:tcPr/>
                </a:tc>
                <a:extLst>
                  <a:ext uri="{0D108BD9-81ED-4DB2-BD59-A6C34878D82A}">
                    <a16:rowId xmlns="" xmlns:a16="http://schemas.microsoft.com/office/drawing/2014/main" val="1780248775"/>
                  </a:ext>
                </a:extLst>
              </a:tr>
              <a:tr h="685800">
                <a:tc>
                  <a:txBody>
                    <a:bodyPr/>
                    <a:lstStyle/>
                    <a:p>
                      <a:pPr>
                        <a:spcAft>
                          <a:spcPts val="0"/>
                        </a:spcAft>
                      </a:pPr>
                      <a:r>
                        <a:rPr lang="fr-FR" sz="2000" dirty="0">
                          <a:solidFill>
                            <a:schemeClr val="tx1"/>
                          </a:solidFill>
                          <a:effectLst/>
                        </a:rPr>
                        <a:t>CPK</a:t>
                      </a:r>
                    </a:p>
                    <a:p>
                      <a:pPr marL="742950" lvl="1" indent="-285750">
                        <a:spcAft>
                          <a:spcPts val="0"/>
                        </a:spcAft>
                        <a:buFont typeface="Wingdings" panose="05000000000000000000" pitchFamily="2" charset="2"/>
                        <a:buChar char=""/>
                      </a:pPr>
                      <a:r>
                        <a:rPr lang="fr-FR" sz="2000" dirty="0">
                          <a:solidFill>
                            <a:srgbClr val="002060"/>
                          </a:solidFill>
                          <a:effectLst/>
                        </a:rPr>
                        <a:t>CPK-MB</a:t>
                      </a:r>
                      <a:endParaRPr lang="fr-FR" sz="2000" dirty="0">
                        <a:solidFill>
                          <a:srgbClr val="00206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40000"/>
                        <a:lumOff val="60000"/>
                      </a:schemeClr>
                    </a:solidFill>
                  </a:tcPr>
                </a:tc>
                <a:tc>
                  <a:txBody>
                    <a:bodyPr/>
                    <a:lstStyle/>
                    <a:p>
                      <a:pPr>
                        <a:spcAft>
                          <a:spcPts val="0"/>
                        </a:spcAft>
                      </a:pPr>
                      <a:r>
                        <a:rPr lang="fr-FR" sz="2000" b="1" dirty="0">
                          <a:effectLst/>
                        </a:rPr>
                        <a:t>-Pathologies musculaires</a:t>
                      </a:r>
                    </a:p>
                    <a:p>
                      <a:pPr>
                        <a:spcAft>
                          <a:spcPts val="0"/>
                        </a:spcAft>
                      </a:pPr>
                      <a:r>
                        <a:rPr lang="fr-FR" sz="2000" b="1" dirty="0">
                          <a:solidFill>
                            <a:srgbClr val="002060"/>
                          </a:solidFill>
                          <a:effectLst/>
                        </a:rPr>
                        <a:t>→IDM (+/- abandonné)</a:t>
                      </a:r>
                      <a:endParaRPr lang="fr-FR" sz="2000" b="1" dirty="0">
                        <a:solidFill>
                          <a:srgbClr val="00206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40000"/>
                        <a:lumOff val="60000"/>
                      </a:schemeClr>
                    </a:solidFill>
                  </a:tcPr>
                </a:tc>
                <a:tc>
                  <a:txBody>
                    <a:bodyPr/>
                    <a:lstStyle/>
                    <a:p>
                      <a:pPr>
                        <a:spcAft>
                          <a:spcPts val="0"/>
                        </a:spcAft>
                      </a:pPr>
                      <a:r>
                        <a:rPr lang="fr-FR" sz="2000" dirty="0">
                          <a:effectLst/>
                        </a:rPr>
                        <a:t> </a:t>
                      </a:r>
                    </a:p>
                    <a:p>
                      <a:pPr>
                        <a:spcAft>
                          <a:spcPts val="0"/>
                        </a:spcAft>
                      </a:pPr>
                      <a:r>
                        <a:rPr lang="fr-FR" sz="2000" b="1" dirty="0">
                          <a:solidFill>
                            <a:srgbClr val="002060"/>
                          </a:solidFill>
                          <a:effectLst/>
                        </a:rPr>
                        <a:t>Bilan cardiaque</a:t>
                      </a:r>
                      <a:endParaRPr lang="fr-FR" sz="2000" b="1" dirty="0">
                        <a:solidFill>
                          <a:srgbClr val="002060"/>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40000"/>
                        <a:lumOff val="60000"/>
                      </a:schemeClr>
                    </a:solidFill>
                  </a:tcPr>
                </a:tc>
                <a:extLst>
                  <a:ext uri="{0D108BD9-81ED-4DB2-BD59-A6C34878D82A}">
                    <a16:rowId xmlns="" xmlns:a16="http://schemas.microsoft.com/office/drawing/2014/main" val="974972384"/>
                  </a:ext>
                </a:extLst>
              </a:tr>
              <a:tr h="685800">
                <a:tc>
                  <a:txBody>
                    <a:bodyPr/>
                    <a:lstStyle/>
                    <a:p>
                      <a:pPr>
                        <a:spcAft>
                          <a:spcPts val="0"/>
                        </a:spcAft>
                      </a:pPr>
                      <a:r>
                        <a:rPr lang="fr-FR" sz="2000" dirty="0">
                          <a:solidFill>
                            <a:schemeClr val="tx1"/>
                          </a:solidFill>
                          <a:effectLst/>
                        </a:rPr>
                        <a:t>LDH</a:t>
                      </a:r>
                      <a:endParaRPr lang="fr-FR"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a:spcAft>
                          <a:spcPts val="0"/>
                        </a:spcAft>
                      </a:pPr>
                      <a:r>
                        <a:rPr lang="fr-FR" sz="2000" b="1" dirty="0">
                          <a:effectLst/>
                        </a:rPr>
                        <a:t>Pathologies </a:t>
                      </a:r>
                      <a:r>
                        <a:rPr lang="fr-FR" sz="2000" b="1" dirty="0" err="1">
                          <a:effectLst/>
                        </a:rPr>
                        <a:t>onco</a:t>
                      </a:r>
                      <a:r>
                        <a:rPr lang="fr-FR" sz="2000" b="1" dirty="0">
                          <a:effectLst/>
                        </a:rPr>
                        <a:t>-hématologiques</a:t>
                      </a:r>
                      <a:endParaRPr lang="fr-FR" sz="2000" b="1" dirty="0">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tc>
                  <a:txBody>
                    <a:bodyPr/>
                    <a:lstStyle/>
                    <a:p>
                      <a:pPr>
                        <a:spcAft>
                          <a:spcPts val="0"/>
                        </a:spcAft>
                      </a:pPr>
                      <a:r>
                        <a:rPr lang="fr-FR" sz="2000" dirty="0">
                          <a:effectLst/>
                        </a:rPr>
                        <a:t>Bilan hématologique</a:t>
                      </a:r>
                      <a:endParaRPr lang="fr-FR" sz="2000" dirty="0">
                        <a:effectLst/>
                        <a:latin typeface="Times New Roman" panose="02020603050405020304" pitchFamily="18" charset="0"/>
                        <a:ea typeface="Times New Roman" panose="02020603050405020304" pitchFamily="18" charset="0"/>
                      </a:endParaRPr>
                    </a:p>
                  </a:txBody>
                  <a:tcPr marL="68580" marR="68580" marT="0" marB="0">
                    <a:solidFill>
                      <a:schemeClr val="accent5">
                        <a:lumMod val="60000"/>
                        <a:lumOff val="40000"/>
                      </a:schemeClr>
                    </a:solidFill>
                  </a:tcPr>
                </a:tc>
                <a:extLst>
                  <a:ext uri="{0D108BD9-81ED-4DB2-BD59-A6C34878D82A}">
                    <a16:rowId xmlns="" xmlns:a16="http://schemas.microsoft.com/office/drawing/2014/main" val="1373652107"/>
                  </a:ext>
                </a:extLst>
              </a:tr>
            </a:tbl>
          </a:graphicData>
        </a:graphic>
      </p:graphicFrame>
      <p:sp>
        <p:nvSpPr>
          <p:cNvPr id="6" name="Rectangle 5">
            <a:extLst>
              <a:ext uri="{FF2B5EF4-FFF2-40B4-BE49-F238E27FC236}">
                <a16:creationId xmlns="" xmlns:a16="http://schemas.microsoft.com/office/drawing/2014/main" id="{B0596B01-F845-4112-B390-EB9F340CA7C3}"/>
              </a:ext>
            </a:extLst>
          </p:cNvPr>
          <p:cNvSpPr/>
          <p:nvPr/>
        </p:nvSpPr>
        <p:spPr>
          <a:xfrm>
            <a:off x="9658350" y="2781300"/>
            <a:ext cx="2533649" cy="2705100"/>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fr-FR" sz="2000" dirty="0">
                <a:solidFill>
                  <a:schemeClr val="tx1"/>
                </a:solidFill>
              </a:rPr>
              <a:t>Bilan pancréatique</a:t>
            </a:r>
          </a:p>
        </p:txBody>
      </p:sp>
    </p:spTree>
    <p:extLst>
      <p:ext uri="{BB962C8B-B14F-4D97-AF65-F5344CB8AC3E}">
        <p14:creationId xmlns:p14="http://schemas.microsoft.com/office/powerpoint/2010/main" val="1297416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E91FFC9-12B2-4646-8581-D4DC68B05278}"/>
              </a:ext>
            </a:extLst>
          </p:cNvPr>
          <p:cNvSpPr>
            <a:spLocks noGrp="1"/>
          </p:cNvSpPr>
          <p:nvPr>
            <p:ph type="title"/>
          </p:nvPr>
        </p:nvSpPr>
        <p:spPr>
          <a:xfrm>
            <a:off x="677334" y="609600"/>
            <a:ext cx="8596668" cy="2146852"/>
          </a:xfrm>
        </p:spPr>
        <p:txBody>
          <a:bodyPr>
            <a:normAutofit/>
          </a:bodyPr>
          <a:lstStyle/>
          <a:p>
            <a:pPr algn="ctr"/>
            <a:r>
              <a:rPr lang="fr-FR" sz="6000" b="1" dirty="0">
                <a:solidFill>
                  <a:srgbClr val="FF0000"/>
                </a:solidFill>
              </a:rPr>
              <a:t>ATTENTION</a:t>
            </a:r>
            <a:br>
              <a:rPr lang="fr-FR" sz="6000" b="1" dirty="0">
                <a:solidFill>
                  <a:srgbClr val="FF0000"/>
                </a:solidFill>
              </a:rPr>
            </a:br>
            <a:r>
              <a:rPr lang="fr-FR" sz="6000" b="1" dirty="0">
                <a:solidFill>
                  <a:srgbClr val="FF0000"/>
                </a:solidFill>
              </a:rPr>
              <a:t>VIGILENCE</a:t>
            </a:r>
          </a:p>
        </p:txBody>
      </p:sp>
      <p:sp>
        <p:nvSpPr>
          <p:cNvPr id="3" name="Espace réservé du contenu 2">
            <a:extLst>
              <a:ext uri="{FF2B5EF4-FFF2-40B4-BE49-F238E27FC236}">
                <a16:creationId xmlns="" xmlns:a16="http://schemas.microsoft.com/office/drawing/2014/main" id="{719C4F8B-CCB6-499B-A3B0-0C15F2BC15EC}"/>
              </a:ext>
            </a:extLst>
          </p:cNvPr>
          <p:cNvSpPr>
            <a:spLocks noGrp="1"/>
          </p:cNvSpPr>
          <p:nvPr>
            <p:ph idx="1"/>
          </p:nvPr>
        </p:nvSpPr>
        <p:spPr>
          <a:xfrm>
            <a:off x="344556" y="2795367"/>
            <a:ext cx="11264347" cy="3804215"/>
          </a:xfrm>
        </p:spPr>
        <p:txBody>
          <a:bodyPr>
            <a:normAutofit fontScale="92500" lnSpcReduction="10000"/>
          </a:bodyPr>
          <a:lstStyle/>
          <a:p>
            <a:r>
              <a:rPr lang="fr-FR" sz="3600" b="1" dirty="0">
                <a:latin typeface="Times New Roman" panose="02020603050405020304" pitchFamily="18" charset="0"/>
                <a:ea typeface="Times New Roman" panose="02020603050405020304" pitchFamily="18" charset="0"/>
              </a:rPr>
              <a:t>Hémolyse in vitro : interférence dosage des Enzs +++ (LDH et ASAT)</a:t>
            </a:r>
          </a:p>
          <a:p>
            <a:r>
              <a:rPr lang="fr-FR" sz="3600" b="1" dirty="0">
                <a:latin typeface="Times New Roman" panose="02020603050405020304" pitchFamily="18" charset="0"/>
                <a:ea typeface="Times New Roman" panose="02020603050405020304" pitchFamily="18" charset="0"/>
              </a:rPr>
              <a:t> Macroenzyme  +++(CPK et l’ɑ-amylase)</a:t>
            </a:r>
          </a:p>
          <a:p>
            <a:pPr marL="0" indent="0">
              <a:buNone/>
            </a:pPr>
            <a:r>
              <a:rPr lang="fr-FR" sz="3600" b="1" dirty="0">
                <a:latin typeface="Times New Roman" panose="02020603050405020304" pitchFamily="18" charset="0"/>
                <a:ea typeface="Times New Roman" panose="02020603050405020304" pitchFamily="18" charset="0"/>
              </a:rPr>
              <a:t>  Enz( petit poids M) + IG→ amylase-IG (poids M↑↑↑)  </a:t>
            </a:r>
          </a:p>
          <a:p>
            <a:pPr marL="0" indent="0">
              <a:buNone/>
            </a:pPr>
            <a:r>
              <a:rPr lang="fr-FR" sz="3600" b="1" dirty="0">
                <a:latin typeface="Times New Roman" panose="02020603050405020304" pitchFamily="18" charset="0"/>
                <a:ea typeface="Times New Roman" panose="02020603050405020304" pitchFamily="18" charset="0"/>
              </a:rPr>
              <a:t>  Enz (poids M↑↑↑) non éliminée par le rein </a:t>
            </a:r>
            <a:r>
              <a:rPr lang="fr-FR" sz="3600" b="1" dirty="0">
                <a:latin typeface="Abadi" panose="020B0604020104020204" pitchFamily="34" charset="0"/>
                <a:ea typeface="Times New Roman" panose="02020603050405020304" pitchFamily="18" charset="0"/>
              </a:rPr>
              <a:t>→</a:t>
            </a:r>
            <a:r>
              <a:rPr lang="fr-FR" sz="3600" b="1" dirty="0">
                <a:latin typeface="Times New Roman" panose="02020603050405020304" pitchFamily="18" charset="0"/>
                <a:ea typeface="Times New Roman" panose="02020603050405020304" pitchFamily="18" charset="0"/>
              </a:rPr>
              <a:t>↑ taux Enz  plasma</a:t>
            </a:r>
          </a:p>
          <a:p>
            <a:pPr marL="0" indent="0">
              <a:buNone/>
            </a:pPr>
            <a:r>
              <a:rPr lang="fr-FR" sz="3600" b="1" dirty="0">
                <a:latin typeface="Times New Roman" panose="02020603050405020304" pitchFamily="18" charset="0"/>
                <a:ea typeface="Times New Roman" panose="02020603050405020304" pitchFamily="18" charset="0"/>
              </a:rPr>
              <a:t> +++ </a:t>
            </a:r>
            <a:r>
              <a:rPr lang="fr-FR" sz="3600" b="1" dirty="0" err="1">
                <a:latin typeface="Times New Roman" panose="02020603050405020304" pitchFamily="18" charset="0"/>
                <a:ea typeface="Times New Roman" panose="02020603050405020304" pitchFamily="18" charset="0"/>
              </a:rPr>
              <a:t>MacroCPK</a:t>
            </a:r>
            <a:r>
              <a:rPr lang="fr-FR" sz="3600" b="1" dirty="0">
                <a:latin typeface="Times New Roman" panose="02020603050405020304" pitchFamily="18" charset="0"/>
                <a:ea typeface="Times New Roman" panose="02020603050405020304" pitchFamily="18" charset="0"/>
              </a:rPr>
              <a:t> et Macro ɑ-amylase</a:t>
            </a:r>
          </a:p>
          <a:p>
            <a:pPr marL="0" indent="0">
              <a:buNone/>
            </a:pPr>
            <a:endParaRPr lang="fr-FR" sz="3600" b="1" dirty="0">
              <a:latin typeface="Times New Roman" panose="02020603050405020304" pitchFamily="18" charset="0"/>
              <a:ea typeface="Times New Roman" panose="02020603050405020304" pitchFamily="18" charset="0"/>
            </a:endParaRPr>
          </a:p>
          <a:p>
            <a:endParaRPr lang="fr-FR" sz="3600" b="1"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1350217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A4D1763-6E97-41EB-B26D-A4AF0378500E}"/>
              </a:ext>
            </a:extLst>
          </p:cNvPr>
          <p:cNvSpPr>
            <a:spLocks noGrp="1"/>
          </p:cNvSpPr>
          <p:nvPr>
            <p:ph type="ctrTitle"/>
          </p:nvPr>
        </p:nvSpPr>
        <p:spPr>
          <a:xfrm>
            <a:off x="1149257" y="1497496"/>
            <a:ext cx="8736863" cy="4541166"/>
          </a:xfrm>
        </p:spPr>
        <p:txBody>
          <a:bodyPr/>
          <a:lstStyle/>
          <a:p>
            <a:pPr algn="ctr"/>
            <a:r>
              <a:rPr lang="fr-FR" sz="8800" dirty="0"/>
              <a:t>MERCI </a:t>
            </a:r>
            <a:br>
              <a:rPr lang="fr-FR" sz="8800" dirty="0"/>
            </a:br>
            <a:r>
              <a:rPr lang="fr-FR" sz="8800" dirty="0"/>
              <a:t>POUR </a:t>
            </a:r>
            <a:br>
              <a:rPr lang="fr-FR" sz="8800" dirty="0"/>
            </a:br>
            <a:r>
              <a:rPr lang="fr-FR" sz="8800" dirty="0"/>
              <a:t>VOTRE ATTENTION </a:t>
            </a:r>
          </a:p>
        </p:txBody>
      </p:sp>
    </p:spTree>
    <p:extLst>
      <p:ext uri="{BB962C8B-B14F-4D97-AF65-F5344CB8AC3E}">
        <p14:creationId xmlns:p14="http://schemas.microsoft.com/office/powerpoint/2010/main" val="3016463237"/>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8747</TotalTime>
  <Words>4610</Words>
  <Application>Microsoft Office PowerPoint</Application>
  <PresentationFormat>Grand écran</PresentationFormat>
  <Paragraphs>936</Paragraphs>
  <Slides>77</Slides>
  <Notes>51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77</vt:i4>
      </vt:variant>
    </vt:vector>
  </HeadingPairs>
  <TitlesOfParts>
    <vt:vector size="87" baseType="lpstr">
      <vt:lpstr>Abadi</vt:lpstr>
      <vt:lpstr>Abadi Extra Light</vt:lpstr>
      <vt:lpstr>Arial</vt:lpstr>
      <vt:lpstr>Calibri</vt:lpstr>
      <vt:lpstr>Tahoma</vt:lpstr>
      <vt:lpstr>Times New Roman</vt:lpstr>
      <vt:lpstr>Trebuchet MS</vt:lpstr>
      <vt:lpstr>Wingdings</vt:lpstr>
      <vt:lpstr>Wingdings 3</vt:lpstr>
      <vt:lpstr>Facette</vt:lpstr>
      <vt:lpstr>      L’Appareil Locomoteur  Module de biochimie   Enzymes sériques et tissulaires Enzymes musculaires et autres marqueurs ( 2 séances) </vt:lpstr>
      <vt:lpstr>PLANDU COURS </vt:lpstr>
      <vt:lpstr>RAPPEL</vt:lpstr>
      <vt:lpstr>INTRODUCTION</vt:lpstr>
      <vt:lpstr>ORIGINES ET VARIATIONS DES ENZYMES DANS LE PLASMA</vt:lpstr>
      <vt:lpstr>ORIGINES ET VARIATIONS DES ENZYMES DANS LE PLASMA</vt:lpstr>
      <vt:lpstr>ORIGINES ET VARIATIONS DES ENZYMES DANS LE PLASMA</vt:lpstr>
      <vt:lpstr>LE CHOIX D’UNE ENZYME COMME MARQUEUR </vt:lpstr>
      <vt:lpstr>MESURE DE L’ACTIVITE ENZYMATIQUE </vt:lpstr>
      <vt:lpstr>MESURE DE L’ACTIVITE ENZYMATIQUE </vt:lpstr>
      <vt:lpstr>LES ISOENZYMES ET METHODES DE MESURES DE LEURS ACTIVITES </vt:lpstr>
      <vt:lpstr>LES ISOENZYMES ET METHODES DE MESURES DE LEURS ACTIVITES </vt:lpstr>
      <vt:lpstr>EXEMPLES D’ACTIVITES ENZYMATIQUES FREQUEMMENT DETERMINEES EN PRATIQUE COURANTES</vt:lpstr>
      <vt:lpstr>1- AMINOTRANSFERASES (transaminases)</vt:lpstr>
      <vt:lpstr>1- AMINOTRANSFERASES (transaminases)</vt:lpstr>
      <vt:lpstr>1- AMINOTRANSFERASES (transaminases)</vt:lpstr>
      <vt:lpstr>1- AMINOTRANSFERASES (transaminases)</vt:lpstr>
      <vt:lpstr>1- AMINOTRANSFERASES (transaminases)</vt:lpstr>
      <vt:lpstr>1- AMINOTRANSFERASES (transaminases)</vt:lpstr>
      <vt:lpstr>Présentation PowerPoint</vt:lpstr>
      <vt:lpstr>1- AMINOTRANSFERASES (transaminases)</vt:lpstr>
      <vt:lpstr>1- AMINO TRANSFERASES (transaminases)</vt:lpstr>
      <vt:lpstr>1- AMINO TRANSFERASES (transaminases)</vt:lpstr>
      <vt:lpstr>1- AMINO TRANSFERASES (transaminases)</vt:lpstr>
      <vt:lpstr>1- AMINO TRANSFERASES (transaminases)</vt:lpstr>
      <vt:lpstr>1- AMINO TRANSFERASES (transaminases)</vt:lpstr>
      <vt:lpstr>1- AMINO TRANSFERASES (transaminases)</vt:lpstr>
      <vt:lpstr>1- AMINO TRANSFERASES (transaminases)</vt:lpstr>
      <vt:lpstr>Présentation PowerPoint</vt:lpstr>
      <vt:lpstr>2- LES PHOSPHATASES ALCALINES </vt:lpstr>
      <vt:lpstr>2- LES PHOSPHATASES ALCALINES </vt:lpstr>
      <vt:lpstr>2- LES PHOSPHATASES ALCALINES </vt:lpstr>
      <vt:lpstr>2- LES PHOSPHATASES ALCALINES </vt:lpstr>
      <vt:lpstr>Présentation PowerPoint</vt:lpstr>
      <vt:lpstr>2- LES PHOSPHATASES ALCALINES </vt:lpstr>
      <vt:lpstr>2- LES PHOSPHATASES ALCALINES </vt:lpstr>
      <vt:lpstr>2- LES PHOSPHATASES ALCALINES </vt:lpstr>
      <vt:lpstr>2- LES PHOSPHATASES ALCALINES </vt:lpstr>
      <vt:lpstr>2- LES PHOSPHATASES ALCALINES </vt:lpstr>
      <vt:lpstr>2- LES PHOSPHATASES ALCALINES </vt:lpstr>
      <vt:lpstr>C’EST QUOI UNE CHOLESTASE  ?</vt:lpstr>
      <vt:lpstr>            CHOLESTASE  ?</vt:lpstr>
      <vt:lpstr>2- LES PHOSPHATASES ALCALINES </vt:lpstr>
      <vt:lpstr>2- LES PHOSPHATASES ALCALINES</vt:lpstr>
      <vt:lpstr>3-GAMMA-GLUTAMYLTRANSFERASE (γGT) </vt:lpstr>
      <vt:lpstr>3-GAMMA-GLUTAMYLTRANSFERASE (γGT) </vt:lpstr>
      <vt:lpstr>3-GAMMA-GLUTAMYLTRANSFERASE (γGT) </vt:lpstr>
      <vt:lpstr>3-GAMMA-GLUTAMYLTRANSFERASE (γGT) </vt:lpstr>
      <vt:lpstr>3-GAMMA-GLUTAMYLTRANSFERASE (γGT) </vt:lpstr>
      <vt:lpstr>4- LA LIPASE </vt:lpstr>
      <vt:lpstr>4- LA LIPASE </vt:lpstr>
      <vt:lpstr>5-L’AMYLASE </vt:lpstr>
      <vt:lpstr>5-L’AMYLASE </vt:lpstr>
      <vt:lpstr>5-L’AMYLASE </vt:lpstr>
      <vt:lpstr>5-L’AMYLASE </vt:lpstr>
      <vt:lpstr>6-LA CREATINE PHOSPHATASE KINASE CPK </vt:lpstr>
      <vt:lpstr>6-LA CREATINE PHOSPHATASE KINASE CPK </vt:lpstr>
      <vt:lpstr>6-LA CREATINE PHOSPHATASE KINASE (CPK) </vt:lpstr>
      <vt:lpstr>6-LA CREATINE PHOSPHATASE KINASE CPK </vt:lpstr>
      <vt:lpstr>6-LA CREATINE PHOSPHATASE KINASE CPK </vt:lpstr>
      <vt:lpstr>6-LA CREATINE PHOSPHATASE KINASE CPK </vt:lpstr>
      <vt:lpstr>7-LES LACTATES DESHYDROGENASES  LDH  </vt:lpstr>
      <vt:lpstr>7-LES LACTATES DESHYDROGENASES  LDH  </vt:lpstr>
      <vt:lpstr>7-LES LACTATES DESHYDROGENASES  LDH  </vt:lpstr>
      <vt:lpstr>7-LES LACTATES DESHYDROGENASES  LDH  </vt:lpstr>
      <vt:lpstr>7-LES LACTATES DESHYDROGENASES  LDH  </vt:lpstr>
      <vt:lpstr>7-LES LACTATES DESHYDROGENASES LDH  </vt:lpstr>
      <vt:lpstr>7-LES LACTATES DESHYDROGENASES  LDH  </vt:lpstr>
      <vt:lpstr>8- L’ALDOLASE </vt:lpstr>
      <vt:lpstr>8- L’ALDOLASE </vt:lpstr>
      <vt:lpstr>8- L’ALDOLASE </vt:lpstr>
      <vt:lpstr>8- L’ALDOLASE </vt:lpstr>
      <vt:lpstr>Présentation PowerPoint</vt:lpstr>
      <vt:lpstr> VIII- CONCLUSION  </vt:lpstr>
      <vt:lpstr>Présentation PowerPoint</vt:lpstr>
      <vt:lpstr>ATTENTION VIGILENCE</vt:lpstr>
      <vt:lpstr>MERCI  POUR  VOTRE ATTENTION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pc</dc:creator>
  <cp:lastModifiedBy>Compte Microsoft</cp:lastModifiedBy>
  <cp:revision>393</cp:revision>
  <dcterms:created xsi:type="dcterms:W3CDTF">2021-03-02T19:18:15Z</dcterms:created>
  <dcterms:modified xsi:type="dcterms:W3CDTF">2023-01-20T17:20:05Z</dcterms:modified>
</cp:coreProperties>
</file>