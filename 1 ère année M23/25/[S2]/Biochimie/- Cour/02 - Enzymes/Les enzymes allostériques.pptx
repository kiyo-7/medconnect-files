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81" r:id="rId12"/>
    <p:sldId id="266" r:id="rId13"/>
    <p:sldId id="267" r:id="rId14"/>
    <p:sldId id="279" r:id="rId15"/>
    <p:sldId id="268" r:id="rId16"/>
    <p:sldId id="269" r:id="rId17"/>
    <p:sldId id="271" r:id="rId18"/>
    <p:sldId id="272" r:id="rId19"/>
    <p:sldId id="273" r:id="rId20"/>
    <p:sldId id="280" r:id="rId21"/>
    <p:sldId id="274" r:id="rId22"/>
    <p:sldId id="275" r:id="rId23"/>
    <p:sldId id="276" r:id="rId24"/>
    <p:sldId id="277" r:id="rId25"/>
    <p:sldId id="278" r:id="rId2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47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14A2A-89B8-4E48-A25C-30DCAF1BAB1F}" type="datetimeFigureOut">
              <a:rPr lang="fr-FR" smtClean="0"/>
              <a:t>16/03/2024</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9714B9-29B7-47F1-B235-E16985D44FDA}" type="slidenum">
              <a:rPr lang="fr-FR" smtClean="0"/>
              <a:t>‹N°›</a:t>
            </a:fld>
            <a:endParaRPr lang="fr-FR"/>
          </a:p>
        </p:txBody>
      </p:sp>
    </p:spTree>
    <p:extLst>
      <p:ext uri="{BB962C8B-B14F-4D97-AF65-F5344CB8AC3E}">
        <p14:creationId xmlns:p14="http://schemas.microsoft.com/office/powerpoint/2010/main" val="1668859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La </a:t>
            </a:r>
            <a:r>
              <a:rPr lang="fr-FR" sz="1200" b="1" i="0" kern="1200" dirty="0" smtClean="0">
                <a:solidFill>
                  <a:schemeClr val="tx1"/>
                </a:solidFill>
                <a:effectLst/>
                <a:latin typeface="+mn-lt"/>
                <a:ea typeface="+mn-ea"/>
                <a:cs typeface="+mn-cs"/>
              </a:rPr>
              <a:t>symétrie</a:t>
            </a:r>
            <a:r>
              <a:rPr lang="fr-FR" sz="1200" b="0" i="0" kern="1200" dirty="0" smtClean="0">
                <a:solidFill>
                  <a:schemeClr val="tx1"/>
                </a:solidFill>
                <a:effectLst/>
                <a:latin typeface="+mn-lt"/>
                <a:ea typeface="+mn-ea"/>
                <a:cs typeface="+mn-cs"/>
              </a:rPr>
              <a:t> est une propriété d'un système : c'est lorsque deux parties sont semblables.</a:t>
            </a:r>
            <a:endParaRPr lang="fr-FR" dirty="0"/>
          </a:p>
        </p:txBody>
      </p:sp>
      <p:sp>
        <p:nvSpPr>
          <p:cNvPr id="4" name="Espace réservé du numéro de diapositive 3"/>
          <p:cNvSpPr>
            <a:spLocks noGrp="1"/>
          </p:cNvSpPr>
          <p:nvPr>
            <p:ph type="sldNum" sz="quarter" idx="10"/>
          </p:nvPr>
        </p:nvSpPr>
        <p:spPr/>
        <p:txBody>
          <a:bodyPr/>
          <a:lstStyle/>
          <a:p>
            <a:fld id="{609714B9-29B7-47F1-B235-E16985D44FDA}" type="slidenum">
              <a:rPr lang="fr-FR" smtClean="0"/>
              <a:t>25</a:t>
            </a:fld>
            <a:endParaRPr lang="fr-FR"/>
          </a:p>
        </p:txBody>
      </p:sp>
    </p:spTree>
    <p:extLst>
      <p:ext uri="{BB962C8B-B14F-4D97-AF65-F5344CB8AC3E}">
        <p14:creationId xmlns:p14="http://schemas.microsoft.com/office/powerpoint/2010/main" val="4276766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fr-FR" smtClean="0"/>
              <a:t>Modifiez le style du titre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FD75318E-941B-4D3A-8C3B-27007014F2CF}" type="datetimeFigureOut">
              <a:rPr lang="fr-FR" smtClean="0"/>
              <a:t>16/03/2024</a:t>
            </a:fld>
            <a:endParaRPr lang="fr-FR"/>
          </a:p>
        </p:txBody>
      </p:sp>
      <p:sp>
        <p:nvSpPr>
          <p:cNvPr id="5" name="Footer Placeholder 4"/>
          <p:cNvSpPr>
            <a:spLocks noGrp="1"/>
          </p:cNvSpPr>
          <p:nvPr>
            <p:ph type="ftr" sz="quarter" idx="11"/>
          </p:nvPr>
        </p:nvSpPr>
        <p:spPr>
          <a:xfrm>
            <a:off x="914400" y="4323846"/>
            <a:ext cx="4880610" cy="365125"/>
          </a:xfrm>
        </p:spPr>
        <p:txBody>
          <a:bodyPr/>
          <a:lstStyle/>
          <a:p>
            <a:endParaRPr lang="fr-FR"/>
          </a:p>
        </p:txBody>
      </p:sp>
      <p:sp>
        <p:nvSpPr>
          <p:cNvPr id="6" name="Slide Number Placeholder 5"/>
          <p:cNvSpPr>
            <a:spLocks noGrp="1"/>
          </p:cNvSpPr>
          <p:nvPr>
            <p:ph type="sldNum" sz="quarter" idx="12"/>
          </p:nvPr>
        </p:nvSpPr>
        <p:spPr>
          <a:xfrm>
            <a:off x="6057900" y="1430867"/>
            <a:ext cx="2171700" cy="365125"/>
          </a:xfrm>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191988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FD75318E-941B-4D3A-8C3B-27007014F2CF}" type="datetimeFigureOut">
              <a:rPr lang="fr-FR" smtClean="0"/>
              <a:t>16/03/2024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1221361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fr-FR" smtClean="0"/>
              <a:t>Modifiez le style du titre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FD75318E-941B-4D3A-8C3B-27007014F2CF}" type="datetimeFigureOut">
              <a:rPr lang="fr-FR" smtClean="0"/>
              <a:t>16/03/2024</a:t>
            </a:fld>
            <a:endParaRPr lang="fr-FR"/>
          </a:p>
        </p:txBody>
      </p:sp>
      <p:sp>
        <p:nvSpPr>
          <p:cNvPr id="5" name="Footer Placeholder 4"/>
          <p:cNvSpPr>
            <a:spLocks noGrp="1"/>
          </p:cNvSpPr>
          <p:nvPr>
            <p:ph type="ftr" sz="quarter" idx="11"/>
          </p:nvPr>
        </p:nvSpPr>
        <p:spPr>
          <a:xfrm>
            <a:off x="594360" y="381001"/>
            <a:ext cx="4830656" cy="365125"/>
          </a:xfrm>
        </p:spPr>
        <p:txBody>
          <a:bodyPr/>
          <a:lstStyle/>
          <a:p>
            <a:endParaRPr lang="fr-FR"/>
          </a:p>
        </p:txBody>
      </p:sp>
      <p:sp>
        <p:nvSpPr>
          <p:cNvPr id="6" name="Slide Number Placeholder 5"/>
          <p:cNvSpPr>
            <a:spLocks noGrp="1"/>
          </p:cNvSpPr>
          <p:nvPr>
            <p:ph type="sldNum" sz="quarter" idx="12"/>
          </p:nvPr>
        </p:nvSpPr>
        <p:spPr>
          <a:xfrm>
            <a:off x="7882466" y="381001"/>
            <a:ext cx="667173" cy="365125"/>
          </a:xfrm>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2612739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2251240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594359" y="3132667"/>
            <a:ext cx="3910579" cy="3130973"/>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4642098" y="3132667"/>
            <a:ext cx="3907541" cy="3130973"/>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FD75318E-941B-4D3A-8C3B-27007014F2CF}" type="datetimeFigureOut">
              <a:rPr lang="fr-FR" smtClean="0"/>
              <a:t>16/03/2024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3152601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D75318E-941B-4D3A-8C3B-27007014F2CF}" type="datetimeFigureOut">
              <a:rPr lang="fr-FR" smtClean="0"/>
              <a:t>16/03/2024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3640090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75318E-941B-4D3A-8C3B-27007014F2CF}" type="datetimeFigureOut">
              <a:rPr lang="fr-FR" smtClean="0"/>
              <a:t>16/03/2024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284503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fr-FR" smtClean="0"/>
              <a:t>Modifiez le style du titre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3980968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159493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1742518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a:xfrm>
            <a:off x="594360" y="381001"/>
            <a:ext cx="4830656" cy="365125"/>
          </a:xfrm>
        </p:spPr>
        <p:txBody>
          <a:bodyPr/>
          <a:lstStyle/>
          <a:p>
            <a:endParaRPr lang="fr-FR"/>
          </a:p>
        </p:txBody>
      </p:sp>
      <p:sp>
        <p:nvSpPr>
          <p:cNvPr id="7" name="Slide Number Placeholder 6"/>
          <p:cNvSpPr>
            <a:spLocks noGrp="1"/>
          </p:cNvSpPr>
          <p:nvPr>
            <p:ph type="sldNum" sz="quarter" idx="12"/>
          </p:nvPr>
        </p:nvSpPr>
        <p:spPr>
          <a:xfrm>
            <a:off x="7882466" y="381001"/>
            <a:ext cx="667174" cy="365125"/>
          </a:xfrm>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4160752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fr-FR" smtClean="0"/>
              <a:t>Modifiez le style du titre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a:xfrm>
            <a:off x="594360" y="379438"/>
            <a:ext cx="4830656" cy="365125"/>
          </a:xfrm>
        </p:spPr>
        <p:txBody>
          <a:bodyPr/>
          <a:lstStyle/>
          <a:p>
            <a:endParaRPr lang="fr-FR"/>
          </a:p>
        </p:txBody>
      </p:sp>
      <p:sp>
        <p:nvSpPr>
          <p:cNvPr id="7" name="Slide Number Placeholder 6"/>
          <p:cNvSpPr>
            <a:spLocks noGrp="1"/>
          </p:cNvSpPr>
          <p:nvPr>
            <p:ph type="sldNum" sz="quarter" idx="12"/>
          </p:nvPr>
        </p:nvSpPr>
        <p:spPr>
          <a:xfrm>
            <a:off x="7882466" y="381001"/>
            <a:ext cx="667174" cy="365125"/>
          </a:xfrm>
        </p:spPr>
        <p:txBody>
          <a:bodyPr/>
          <a:lstStyle/>
          <a:p>
            <a:fld id="{199B329D-637C-4082-A190-19B3342F44C0}" type="slidenum">
              <a:rPr lang="fr-FR" smtClean="0"/>
              <a:t>‹N°›</a:t>
            </a:fld>
            <a:endParaRPr lang="fr-F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57415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FD75318E-941B-4D3A-8C3B-27007014F2CF}" type="datetimeFigureOut">
              <a:rPr lang="fr-FR" smtClean="0"/>
              <a:t>16/03/2024</a:t>
            </a:fld>
            <a:endParaRPr lang="fr-FR"/>
          </a:p>
        </p:txBody>
      </p:sp>
      <p:sp>
        <p:nvSpPr>
          <p:cNvPr id="6" name="Footer Placeholder 5"/>
          <p:cNvSpPr>
            <a:spLocks noGrp="1"/>
          </p:cNvSpPr>
          <p:nvPr>
            <p:ph type="ftr" sz="quarter" idx="11"/>
          </p:nvPr>
        </p:nvSpPr>
        <p:spPr>
          <a:xfrm>
            <a:off x="594360" y="378884"/>
            <a:ext cx="4830656" cy="365125"/>
          </a:xfrm>
        </p:spPr>
        <p:txBody>
          <a:bodyPr/>
          <a:lstStyle/>
          <a:p>
            <a:endParaRPr lang="fr-FR"/>
          </a:p>
        </p:txBody>
      </p:sp>
      <p:sp>
        <p:nvSpPr>
          <p:cNvPr id="7" name="Slide Number Placeholder 6"/>
          <p:cNvSpPr>
            <a:spLocks noGrp="1"/>
          </p:cNvSpPr>
          <p:nvPr>
            <p:ph type="sldNum" sz="quarter" idx="12"/>
          </p:nvPr>
        </p:nvSpPr>
        <p:spPr>
          <a:xfrm>
            <a:off x="7882466" y="381001"/>
            <a:ext cx="667174" cy="365125"/>
          </a:xfrm>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3624980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fr-FR" smtClean="0"/>
              <a:t>Modifiez le style du titre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3" name="Date Placeholder 2"/>
          <p:cNvSpPr>
            <a:spLocks noGrp="1"/>
          </p:cNvSpPr>
          <p:nvPr>
            <p:ph type="dt" sz="half" idx="10"/>
          </p:nvPr>
        </p:nvSpPr>
        <p:spPr/>
        <p:txBody>
          <a:bodyPr/>
          <a:lstStyle/>
          <a:p>
            <a:fld id="{FD75318E-941B-4D3A-8C3B-27007014F2CF}" type="datetimeFigureOut">
              <a:rPr lang="fr-FR" smtClean="0"/>
              <a:t>16/03/2024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3958269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fr-FR" smtClean="0"/>
              <a:t>Modifiez le style du titre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3" name="Date Placeholder 2"/>
          <p:cNvSpPr>
            <a:spLocks noGrp="1"/>
          </p:cNvSpPr>
          <p:nvPr>
            <p:ph type="dt" sz="half" idx="10"/>
          </p:nvPr>
        </p:nvSpPr>
        <p:spPr/>
        <p:txBody>
          <a:bodyPr/>
          <a:lstStyle/>
          <a:p>
            <a:fld id="{FD75318E-941B-4D3A-8C3B-27007014F2CF}" type="datetimeFigureOut">
              <a:rPr lang="fr-FR" smtClean="0"/>
              <a:t>16/03/2024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118540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FD75318E-941B-4D3A-8C3B-27007014F2CF}" type="datetimeFigureOut">
              <a:rPr lang="fr-FR" smtClean="0"/>
              <a:t>16/03/2024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783661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fr-FR" smtClean="0"/>
              <a:t>Modifiez le style du titre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FD75318E-941B-4D3A-8C3B-27007014F2CF}" type="datetimeFigureOut">
              <a:rPr lang="fr-FR" smtClean="0"/>
              <a:t>16/03/2024</a:t>
            </a:fld>
            <a:endParaRPr lang="fr-FR"/>
          </a:p>
        </p:txBody>
      </p:sp>
      <p:sp>
        <p:nvSpPr>
          <p:cNvPr id="5" name="Footer Placeholder 4"/>
          <p:cNvSpPr>
            <a:spLocks noGrp="1"/>
          </p:cNvSpPr>
          <p:nvPr>
            <p:ph type="ftr" sz="quarter" idx="11"/>
          </p:nvPr>
        </p:nvSpPr>
        <p:spPr>
          <a:xfrm>
            <a:off x="594360" y="381001"/>
            <a:ext cx="4830656" cy="365125"/>
          </a:xfrm>
        </p:spPr>
        <p:txBody>
          <a:bodyPr/>
          <a:lstStyle/>
          <a:p>
            <a:endParaRPr lang="fr-FR"/>
          </a:p>
        </p:txBody>
      </p:sp>
      <p:sp>
        <p:nvSpPr>
          <p:cNvPr id="6" name="Slide Number Placeholder 5"/>
          <p:cNvSpPr>
            <a:spLocks noGrp="1"/>
          </p:cNvSpPr>
          <p:nvPr>
            <p:ph type="sldNum" sz="quarter" idx="12"/>
          </p:nvPr>
        </p:nvSpPr>
        <p:spPr>
          <a:xfrm>
            <a:off x="7882466" y="381001"/>
            <a:ext cx="667174" cy="365125"/>
          </a:xfrm>
        </p:spPr>
        <p:txBody>
          <a:bodyPr/>
          <a:lstStyle/>
          <a:p>
            <a:fld id="{199B329D-637C-4082-A190-19B3342F44C0}" type="slidenum">
              <a:rPr lang="fr-FR" smtClean="0"/>
              <a:t>‹N°›</a:t>
            </a:fld>
            <a:endParaRPr lang="fr-FR"/>
          </a:p>
        </p:txBody>
      </p:sp>
    </p:spTree>
    <p:extLst>
      <p:ext uri="{BB962C8B-B14F-4D97-AF65-F5344CB8AC3E}">
        <p14:creationId xmlns:p14="http://schemas.microsoft.com/office/powerpoint/2010/main" val="559029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D75318E-941B-4D3A-8C3B-27007014F2CF}" type="datetimeFigureOut">
              <a:rPr lang="fr-FR" smtClean="0"/>
              <a:t>16/03/2024</a:t>
            </a:fld>
            <a:endParaRPr lang="fr-F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99B329D-637C-4082-A190-19B3342F44C0}" type="slidenum">
              <a:rPr lang="fr-FR" smtClean="0"/>
              <a:t>‹N°›</a:t>
            </a:fld>
            <a:endParaRPr lang="fr-FR"/>
          </a:p>
        </p:txBody>
      </p:sp>
    </p:spTree>
    <p:extLst>
      <p:ext uri="{BB962C8B-B14F-4D97-AF65-F5344CB8AC3E}">
        <p14:creationId xmlns:p14="http://schemas.microsoft.com/office/powerpoint/2010/main" val="176656767"/>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899592" y="1556792"/>
            <a:ext cx="7315200" cy="1825096"/>
          </a:xfrm>
        </p:spPr>
        <p:txBody>
          <a:bodyPr/>
          <a:lstStyle/>
          <a:p>
            <a:r>
              <a:rPr lang="fr-FR" b="1" dirty="0" smtClean="0">
                <a:solidFill>
                  <a:srgbClr val="00B0F0"/>
                </a:solidFill>
              </a:rPr>
              <a:t>Les enzymes allostériques</a:t>
            </a:r>
            <a:endParaRPr lang="fr-FR" b="1" dirty="0">
              <a:solidFill>
                <a:srgbClr val="00B0F0"/>
              </a:solidFill>
            </a:endParaRPr>
          </a:p>
        </p:txBody>
      </p:sp>
      <p:sp>
        <p:nvSpPr>
          <p:cNvPr id="3" name="Sous-titre 2"/>
          <p:cNvSpPr>
            <a:spLocks noGrp="1"/>
          </p:cNvSpPr>
          <p:nvPr>
            <p:ph type="subTitle" idx="1"/>
          </p:nvPr>
        </p:nvSpPr>
        <p:spPr>
          <a:xfrm>
            <a:off x="2491680" y="3886200"/>
            <a:ext cx="6400800" cy="1752600"/>
          </a:xfrm>
        </p:spPr>
        <p:txBody>
          <a:bodyPr/>
          <a:lstStyle/>
          <a:p>
            <a:r>
              <a:rPr lang="fr-FR" dirty="0" smtClean="0"/>
              <a:t>Présenté par : Dr. DEMMAK R.G</a:t>
            </a:r>
            <a:endParaRPr lang="fr-FR" dirty="0"/>
          </a:p>
        </p:txBody>
      </p:sp>
    </p:spTree>
    <p:extLst>
      <p:ext uri="{BB962C8B-B14F-4D97-AF65-F5344CB8AC3E}">
        <p14:creationId xmlns:p14="http://schemas.microsoft.com/office/powerpoint/2010/main" val="12681206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00B0F0"/>
                </a:solidFill>
              </a:rPr>
              <a:t>Plan</a:t>
            </a:r>
            <a:endParaRPr lang="fr-FR" b="1" dirty="0">
              <a:solidFill>
                <a:srgbClr val="00B0F0"/>
              </a:solidFill>
            </a:endParaRPr>
          </a:p>
        </p:txBody>
      </p:sp>
      <p:sp>
        <p:nvSpPr>
          <p:cNvPr id="3" name="Espace réservé du contenu 2"/>
          <p:cNvSpPr>
            <a:spLocks noGrp="1"/>
          </p:cNvSpPr>
          <p:nvPr>
            <p:ph idx="1"/>
          </p:nvPr>
        </p:nvSpPr>
        <p:spPr>
          <a:xfrm>
            <a:off x="594360" y="1556792"/>
            <a:ext cx="7955280" cy="4706848"/>
          </a:xfrm>
        </p:spPr>
        <p:txBody>
          <a:bodyPr/>
          <a:lstStyle/>
          <a:p>
            <a:r>
              <a:rPr lang="fr-FR" b="1" dirty="0" smtClean="0"/>
              <a:t>Introduction</a:t>
            </a:r>
          </a:p>
          <a:p>
            <a:r>
              <a:rPr lang="fr-FR" b="1" dirty="0"/>
              <a:t>I. Régulation </a:t>
            </a:r>
            <a:r>
              <a:rPr lang="fr-FR" b="1" dirty="0" smtClean="0"/>
              <a:t>allostérique</a:t>
            </a:r>
          </a:p>
          <a:p>
            <a:r>
              <a:rPr lang="fr-FR" b="1" dirty="0"/>
              <a:t>II. Les effecteurs </a:t>
            </a:r>
            <a:r>
              <a:rPr lang="fr-FR" b="1" dirty="0" smtClean="0"/>
              <a:t>allostériques</a:t>
            </a:r>
          </a:p>
          <a:p>
            <a:r>
              <a:rPr lang="fr-FR" b="1" dirty="0"/>
              <a:t>III. Régulation de l’activité enzymatique par l’effet </a:t>
            </a:r>
            <a:r>
              <a:rPr lang="fr-FR" b="1" dirty="0" smtClean="0"/>
              <a:t>allostérique</a:t>
            </a:r>
          </a:p>
          <a:p>
            <a:r>
              <a:rPr lang="fr-FR" b="1" dirty="0"/>
              <a:t>IV. Notion de </a:t>
            </a:r>
            <a:r>
              <a:rPr lang="fr-FR" b="1" dirty="0" smtClean="0"/>
              <a:t>coopérativité</a:t>
            </a:r>
          </a:p>
          <a:p>
            <a:r>
              <a:rPr lang="fr-FR" b="1" dirty="0"/>
              <a:t>V. Modèles </a:t>
            </a:r>
            <a:r>
              <a:rPr lang="fr-FR" b="1" dirty="0" smtClean="0"/>
              <a:t>moléculaire</a:t>
            </a:r>
          </a:p>
          <a:p>
            <a:r>
              <a:rPr lang="fr-FR" b="1" dirty="0"/>
              <a:t>VI. Caractéristiques cinétiques des enzymes allostériques </a:t>
            </a:r>
            <a:endParaRPr lang="fr-FR" b="1" dirty="0" smtClean="0"/>
          </a:p>
          <a:p>
            <a:r>
              <a:rPr lang="fr-FR" b="1" dirty="0"/>
              <a:t>VII. Importance de la régulation allostérique</a:t>
            </a:r>
            <a:endParaRPr lang="fr-FR" dirty="0" smtClean="0"/>
          </a:p>
          <a:p>
            <a:endParaRPr lang="fr-FR" dirty="0"/>
          </a:p>
        </p:txBody>
      </p:sp>
    </p:spTree>
    <p:extLst>
      <p:ext uri="{BB962C8B-B14F-4D97-AF65-F5344CB8AC3E}">
        <p14:creationId xmlns:p14="http://schemas.microsoft.com/office/powerpoint/2010/main" val="21426084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764373"/>
            <a:ext cx="4030677" cy="1293028"/>
          </a:xfrm>
        </p:spPr>
        <p:txBody>
          <a:bodyPr/>
          <a:lstStyle/>
          <a:p>
            <a:r>
              <a:rPr lang="fr-FR" b="1" dirty="0" smtClean="0">
                <a:solidFill>
                  <a:srgbClr val="00B0F0"/>
                </a:solidFill>
              </a:rPr>
              <a:t>Introduction</a:t>
            </a:r>
            <a:endParaRPr lang="fr-FR" b="1" dirty="0">
              <a:solidFill>
                <a:srgbClr val="00B0F0"/>
              </a:solidFill>
            </a:endParaRPr>
          </a:p>
        </p:txBody>
      </p:sp>
      <p:sp>
        <p:nvSpPr>
          <p:cNvPr id="3" name="Espace réservé du contenu 2"/>
          <p:cNvSpPr>
            <a:spLocks noGrp="1"/>
          </p:cNvSpPr>
          <p:nvPr>
            <p:ph idx="1"/>
          </p:nvPr>
        </p:nvSpPr>
        <p:spPr/>
        <p:txBody>
          <a:bodyPr/>
          <a:lstStyle/>
          <a:p>
            <a:pPr algn="just"/>
            <a:r>
              <a:rPr lang="fr-FR" dirty="0"/>
              <a:t>Les enzymes sont des protéines capables d’accélérer considérablement la vitesse d’une réaction chimique. Si l’étude de la structure et du fonctionnement des enzymes est importante, l’étude des mécanismes de régulation les concernant l’est encore plus, car dans l’organisme règne une parfaite harmonie grâce à l’action très finement régulée de ces enzymes. </a:t>
            </a:r>
          </a:p>
          <a:p>
            <a:pPr algn="just"/>
            <a:r>
              <a:rPr lang="fr-FR" dirty="0"/>
              <a:t>Les organismes sont capables de moduler l'activité enzymatique cellulaire de façon à pouvoir s'adapter aux changements métaboliques. De cette façon, les enzymes peuvent coordonner les voies métaboliques, en réponse à l'environnement. </a:t>
            </a:r>
          </a:p>
          <a:p>
            <a:endParaRPr lang="fr-FR" dirty="0"/>
          </a:p>
        </p:txBody>
      </p:sp>
    </p:spTree>
    <p:extLst>
      <p:ext uri="{BB962C8B-B14F-4D97-AF65-F5344CB8AC3E}">
        <p14:creationId xmlns:p14="http://schemas.microsoft.com/office/powerpoint/2010/main" val="4152171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764373"/>
            <a:ext cx="4049648" cy="1293028"/>
          </a:xfrm>
        </p:spPr>
        <p:txBody>
          <a:bodyPr/>
          <a:lstStyle/>
          <a:p>
            <a:r>
              <a:rPr lang="fr-FR" b="1" dirty="0" smtClean="0">
                <a:solidFill>
                  <a:srgbClr val="00B0F0"/>
                </a:solidFill>
              </a:rPr>
              <a:t>Introduction</a:t>
            </a:r>
            <a:endParaRPr lang="fr-FR" b="1" dirty="0">
              <a:solidFill>
                <a:srgbClr val="00B0F0"/>
              </a:solidFill>
            </a:endParaRPr>
          </a:p>
        </p:txBody>
      </p:sp>
      <p:sp>
        <p:nvSpPr>
          <p:cNvPr id="3" name="Espace réservé du contenu 2"/>
          <p:cNvSpPr>
            <a:spLocks noGrp="1"/>
          </p:cNvSpPr>
          <p:nvPr>
            <p:ph idx="1"/>
          </p:nvPr>
        </p:nvSpPr>
        <p:spPr/>
        <p:txBody>
          <a:bodyPr/>
          <a:lstStyle/>
          <a:p>
            <a:pPr algn="just"/>
            <a:r>
              <a:rPr lang="fr-FR" sz="2800" dirty="0"/>
              <a:t>Certaines enzymes possèdent des propriétés qui leur permettent spécifiquement de jouer un rôle de régulation du métabolisme. De telles enzymes hautement spécialisées, sont appelées : enzymes régulatrices tels que  les enzymes allostériques.</a:t>
            </a:r>
          </a:p>
          <a:p>
            <a:endParaRPr lang="fr-FR" dirty="0"/>
          </a:p>
        </p:txBody>
      </p:sp>
    </p:spTree>
    <p:extLst>
      <p:ext uri="{BB962C8B-B14F-4D97-AF65-F5344CB8AC3E}">
        <p14:creationId xmlns:p14="http://schemas.microsoft.com/office/powerpoint/2010/main" val="918472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6552" y="980728"/>
            <a:ext cx="8280920" cy="1293028"/>
          </a:xfrm>
        </p:spPr>
        <p:txBody>
          <a:bodyPr>
            <a:normAutofit/>
          </a:bodyPr>
          <a:lstStyle/>
          <a:p>
            <a:r>
              <a:rPr lang="fr-FR" b="1" dirty="0" smtClean="0">
                <a:solidFill>
                  <a:srgbClr val="00B0F0"/>
                </a:solidFill>
              </a:rPr>
              <a:t>I. Régulation </a:t>
            </a:r>
            <a:r>
              <a:rPr lang="fr-FR" b="1" dirty="0">
                <a:solidFill>
                  <a:srgbClr val="00B0F0"/>
                </a:solidFill>
              </a:rPr>
              <a:t>allostérique</a:t>
            </a:r>
            <a:br>
              <a:rPr lang="fr-FR" b="1" dirty="0">
                <a:solidFill>
                  <a:srgbClr val="00B0F0"/>
                </a:solidFill>
              </a:rPr>
            </a:br>
            <a:endParaRPr lang="fr-FR" b="1" dirty="0">
              <a:solidFill>
                <a:srgbClr val="00B0F0"/>
              </a:solidFill>
            </a:endParaRPr>
          </a:p>
        </p:txBody>
      </p:sp>
      <p:sp>
        <p:nvSpPr>
          <p:cNvPr id="3" name="Espace réservé du contenu 2"/>
          <p:cNvSpPr>
            <a:spLocks noGrp="1"/>
          </p:cNvSpPr>
          <p:nvPr>
            <p:ph idx="1"/>
          </p:nvPr>
        </p:nvSpPr>
        <p:spPr/>
        <p:txBody>
          <a:bodyPr/>
          <a:lstStyle/>
          <a:p>
            <a:r>
              <a:rPr lang="fr-FR" b="1" dirty="0">
                <a:solidFill>
                  <a:srgbClr val="FFC000"/>
                </a:solidFill>
              </a:rPr>
              <a:t>I.1.Définition de l’enzyme allostérique :</a:t>
            </a:r>
            <a:r>
              <a:rPr lang="fr-FR" dirty="0">
                <a:solidFill>
                  <a:srgbClr val="FFC000"/>
                </a:solidFill>
              </a:rPr>
              <a:t> </a:t>
            </a:r>
          </a:p>
          <a:p>
            <a:pPr algn="just"/>
            <a:r>
              <a:rPr lang="fr-FR" dirty="0"/>
              <a:t>Les enzymes allostériques sont des enzymes polymériques ayant des sous unités en nombre paire, le plus souvent quatre (04) et dont l’activité enzymatique varie en fonction de la conformation de leurs monomères.</a:t>
            </a:r>
          </a:p>
          <a:p>
            <a:pPr algn="just"/>
            <a:r>
              <a:rPr lang="fr-FR" dirty="0"/>
              <a:t>Allo: autre ; </a:t>
            </a:r>
            <a:r>
              <a:rPr lang="fr-FR" dirty="0" err="1"/>
              <a:t>Stereos</a:t>
            </a:r>
            <a:r>
              <a:rPr lang="fr-FR" dirty="0"/>
              <a:t>: site ou forme </a:t>
            </a:r>
          </a:p>
          <a:p>
            <a:pPr lvl="0" algn="just"/>
            <a:r>
              <a:rPr lang="fr-FR" dirty="0"/>
              <a:t>Allostérie= autre site </a:t>
            </a:r>
          </a:p>
          <a:p>
            <a:endParaRPr lang="fr-FR" dirty="0"/>
          </a:p>
        </p:txBody>
      </p:sp>
    </p:spTree>
    <p:extLst>
      <p:ext uri="{BB962C8B-B14F-4D97-AF65-F5344CB8AC3E}">
        <p14:creationId xmlns:p14="http://schemas.microsoft.com/office/powerpoint/2010/main" val="24449950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3773" y="736979"/>
            <a:ext cx="8169843" cy="1320422"/>
          </a:xfrm>
        </p:spPr>
        <p:txBody>
          <a:bodyPr>
            <a:normAutofit/>
          </a:bodyPr>
          <a:lstStyle/>
          <a:p>
            <a:r>
              <a:rPr lang="fr-FR" b="1" dirty="0">
                <a:solidFill>
                  <a:srgbClr val="00B0F0"/>
                </a:solidFill>
              </a:rPr>
              <a:t>I. Régulation </a:t>
            </a:r>
            <a:r>
              <a:rPr lang="fr-FR" b="1" dirty="0" smtClean="0">
                <a:solidFill>
                  <a:srgbClr val="00B0F0"/>
                </a:solidFill>
              </a:rPr>
              <a:t>allostérique</a:t>
            </a:r>
            <a:endParaRPr lang="fr-FR" dirty="0">
              <a:solidFill>
                <a:srgbClr val="00B0F0"/>
              </a:solidFill>
            </a:endParaRPr>
          </a:p>
        </p:txBody>
      </p:sp>
      <p:sp>
        <p:nvSpPr>
          <p:cNvPr id="3" name="Espace réservé du contenu 2"/>
          <p:cNvSpPr>
            <a:spLocks noGrp="1"/>
          </p:cNvSpPr>
          <p:nvPr>
            <p:ph idx="1"/>
          </p:nvPr>
        </p:nvSpPr>
        <p:spPr/>
        <p:txBody>
          <a:bodyPr/>
          <a:lstStyle/>
          <a:p>
            <a:r>
              <a:rPr lang="fr-FR" b="1" dirty="0">
                <a:solidFill>
                  <a:srgbClr val="FFC000"/>
                </a:solidFill>
              </a:rPr>
              <a:t>Allostérie</a:t>
            </a:r>
            <a:r>
              <a:rPr lang="fr-FR" dirty="0">
                <a:solidFill>
                  <a:srgbClr val="FFC000"/>
                </a:solidFill>
              </a:rPr>
              <a:t>:</a:t>
            </a:r>
            <a:r>
              <a:rPr lang="fr-FR" dirty="0"/>
              <a:t> propriété de certaines protéines actives qui peuvent changer de conformation lorsqu’elles se lient à un effecteur allostérique en un site différent du site actif. Cette liaison se traduit par une modification de l’activité.</a:t>
            </a:r>
          </a:p>
          <a:p>
            <a:endParaRPr lang="fr-FR" dirty="0"/>
          </a:p>
        </p:txBody>
      </p:sp>
      <p:pic>
        <p:nvPicPr>
          <p:cNvPr id="5" name="Image 4"/>
          <p:cNvPicPr/>
          <p:nvPr/>
        </p:nvPicPr>
        <p:blipFill rotWithShape="1">
          <a:blip r:embed="rId2"/>
          <a:srcRect l="25628" t="34700" r="33697" b="17369"/>
          <a:stretch/>
        </p:blipFill>
        <p:spPr bwMode="auto">
          <a:xfrm>
            <a:off x="1907704" y="4036665"/>
            <a:ext cx="4536504" cy="24886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198031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a:bodyPr>
          <a:lstStyle/>
          <a:p>
            <a:r>
              <a:rPr lang="fr-FR" b="1" dirty="0">
                <a:solidFill>
                  <a:srgbClr val="FFC000"/>
                </a:solidFill>
              </a:rPr>
              <a:t>I.2.Classification </a:t>
            </a:r>
          </a:p>
          <a:p>
            <a:r>
              <a:rPr lang="fr-FR" dirty="0"/>
              <a:t>D’après Monod ; </a:t>
            </a:r>
            <a:r>
              <a:rPr lang="fr-FR" dirty="0" err="1"/>
              <a:t>Wyman</a:t>
            </a:r>
            <a:r>
              <a:rPr lang="fr-FR" dirty="0"/>
              <a:t> et Changeux (1965), on distingue 3 groupes d’enzymes de régulation :</a:t>
            </a:r>
          </a:p>
          <a:p>
            <a:r>
              <a:rPr lang="fr-FR" b="1" dirty="0">
                <a:solidFill>
                  <a:srgbClr val="00B050"/>
                </a:solidFill>
              </a:rPr>
              <a:t>1. Enzyme </a:t>
            </a:r>
            <a:r>
              <a:rPr lang="fr-FR" b="1" dirty="0" err="1" smtClean="0">
                <a:solidFill>
                  <a:srgbClr val="00B050"/>
                </a:solidFill>
              </a:rPr>
              <a:t>homotropique</a:t>
            </a:r>
            <a:r>
              <a:rPr lang="fr-FR" dirty="0" smtClean="0">
                <a:solidFill>
                  <a:srgbClr val="00B050"/>
                </a:solidFill>
              </a:rPr>
              <a:t> </a:t>
            </a:r>
            <a:r>
              <a:rPr lang="fr-FR" dirty="0"/>
              <a:t>: Le substrat dans ce groupe joue également le rôle de modulateur, il accélère l’activité enzymatique </a:t>
            </a:r>
          </a:p>
          <a:p>
            <a:r>
              <a:rPr lang="fr-FR" b="1" dirty="0">
                <a:solidFill>
                  <a:srgbClr val="00B050"/>
                </a:solidFill>
              </a:rPr>
              <a:t>2. Enzyme </a:t>
            </a:r>
            <a:r>
              <a:rPr lang="fr-FR" b="1" dirty="0" err="1" smtClean="0">
                <a:solidFill>
                  <a:srgbClr val="00B050"/>
                </a:solidFill>
              </a:rPr>
              <a:t>hétérotropique</a:t>
            </a:r>
            <a:r>
              <a:rPr lang="fr-FR" dirty="0" smtClean="0">
                <a:solidFill>
                  <a:srgbClr val="00B050"/>
                </a:solidFill>
              </a:rPr>
              <a:t> </a:t>
            </a:r>
            <a:r>
              <a:rPr lang="fr-FR" dirty="0"/>
              <a:t>: Ces enzymes sont stimulés ou inhibés par des substances de régulation inhabituelles et différentes du substrat, il s’agit d’effecteurs</a:t>
            </a:r>
          </a:p>
          <a:p>
            <a:r>
              <a:rPr lang="fr-FR" dirty="0"/>
              <a:t> </a:t>
            </a:r>
            <a:r>
              <a:rPr lang="fr-FR" b="1" dirty="0">
                <a:solidFill>
                  <a:srgbClr val="00B050"/>
                </a:solidFill>
              </a:rPr>
              <a:t>3. Enzyme homo-</a:t>
            </a:r>
            <a:r>
              <a:rPr lang="fr-FR" b="1" dirty="0" err="1">
                <a:solidFill>
                  <a:srgbClr val="00B050"/>
                </a:solidFill>
              </a:rPr>
              <a:t>hétérotropique</a:t>
            </a:r>
            <a:r>
              <a:rPr lang="fr-FR" dirty="0">
                <a:solidFill>
                  <a:srgbClr val="00B050"/>
                </a:solidFill>
              </a:rPr>
              <a:t> </a:t>
            </a:r>
            <a:r>
              <a:rPr lang="fr-FR" dirty="0"/>
              <a:t>: Dans ce groupe, les enzymes ont pour effecteurs le substrat et d’autres molécules.</a:t>
            </a:r>
          </a:p>
          <a:p>
            <a:endParaRPr lang="fr-FR" dirty="0"/>
          </a:p>
        </p:txBody>
      </p:sp>
      <p:sp>
        <p:nvSpPr>
          <p:cNvPr id="5" name="Titre 1"/>
          <p:cNvSpPr txBox="1">
            <a:spLocks/>
          </p:cNvSpPr>
          <p:nvPr/>
        </p:nvSpPr>
        <p:spPr>
          <a:xfrm>
            <a:off x="163773" y="736979"/>
            <a:ext cx="8169843" cy="1320422"/>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fr-FR" b="1" smtClean="0">
                <a:solidFill>
                  <a:srgbClr val="00B0F0"/>
                </a:solidFill>
              </a:rPr>
              <a:t>I. Régulation allostérique</a:t>
            </a:r>
            <a:endParaRPr lang="fr-FR" dirty="0">
              <a:solidFill>
                <a:srgbClr val="00B0F0"/>
              </a:solidFill>
            </a:endParaRPr>
          </a:p>
        </p:txBody>
      </p:sp>
    </p:spTree>
    <p:extLst>
      <p:ext uri="{BB962C8B-B14F-4D97-AF65-F5344CB8AC3E}">
        <p14:creationId xmlns:p14="http://schemas.microsoft.com/office/powerpoint/2010/main" val="11933761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4624" y="764275"/>
            <a:ext cx="9810288" cy="1293126"/>
          </a:xfrm>
        </p:spPr>
        <p:txBody>
          <a:bodyPr>
            <a:normAutofit/>
          </a:bodyPr>
          <a:lstStyle/>
          <a:p>
            <a:r>
              <a:rPr lang="fr-FR" b="1" dirty="0">
                <a:solidFill>
                  <a:srgbClr val="00B0F0"/>
                </a:solidFill>
              </a:rPr>
              <a:t>II. Les effecteurs </a:t>
            </a:r>
            <a:r>
              <a:rPr lang="fr-FR" b="1" dirty="0" smtClean="0">
                <a:solidFill>
                  <a:srgbClr val="00B0F0"/>
                </a:solidFill>
              </a:rPr>
              <a:t>allostériques</a:t>
            </a:r>
            <a:endParaRPr lang="fr-FR" dirty="0">
              <a:solidFill>
                <a:srgbClr val="00B0F0"/>
              </a:solidFill>
            </a:endParaRPr>
          </a:p>
        </p:txBody>
      </p:sp>
      <p:sp>
        <p:nvSpPr>
          <p:cNvPr id="3" name="Espace réservé du contenu 2"/>
          <p:cNvSpPr>
            <a:spLocks noGrp="1"/>
          </p:cNvSpPr>
          <p:nvPr>
            <p:ph idx="1"/>
          </p:nvPr>
        </p:nvSpPr>
        <p:spPr/>
        <p:txBody>
          <a:bodyPr>
            <a:normAutofit fontScale="92500"/>
          </a:bodyPr>
          <a:lstStyle/>
          <a:p>
            <a:pPr algn="just"/>
            <a:r>
              <a:rPr lang="fr-FR" sz="2800" dirty="0" smtClean="0"/>
              <a:t>La </a:t>
            </a:r>
            <a:r>
              <a:rPr lang="fr-FR" sz="2800" dirty="0" smtClean="0">
                <a:solidFill>
                  <a:srgbClr val="00B0F0"/>
                </a:solidFill>
              </a:rPr>
              <a:t>molécule</a:t>
            </a:r>
            <a:r>
              <a:rPr lang="fr-FR" sz="2800" dirty="0"/>
              <a:t> </a:t>
            </a:r>
            <a:r>
              <a:rPr lang="fr-FR" sz="2800" dirty="0" smtClean="0"/>
              <a:t>qui </a:t>
            </a:r>
            <a:r>
              <a:rPr lang="fr-FR" sz="2800" dirty="0"/>
              <a:t>se lie au site allostérique est appelée effectrice (elle peut aussi être appelée modulatrice) et elle régule l'activité de l'enzyme à laquelle elle se lie.</a:t>
            </a:r>
          </a:p>
          <a:p>
            <a:pPr algn="just"/>
            <a:r>
              <a:rPr lang="fr-FR" sz="2800" dirty="0"/>
              <a:t>L'activité de l'enzyme est augmentée lorsqu'un effecteur allostérique positif se lie au site allostérique. </a:t>
            </a:r>
          </a:p>
          <a:p>
            <a:pPr algn="just"/>
            <a:r>
              <a:rPr lang="fr-FR" sz="2800" dirty="0"/>
              <a:t>Tandis que l'activité de l'enzyme est diminuée lorsqu'un effecteur allostérique négatif se lie au site allostérique - ils inhibent l'enzyme</a:t>
            </a:r>
            <a:r>
              <a:rPr lang="fr-FR" sz="2800" dirty="0" smtClean="0"/>
              <a:t>.</a:t>
            </a:r>
            <a:endParaRPr lang="fr-FR" sz="2800" dirty="0"/>
          </a:p>
        </p:txBody>
      </p:sp>
    </p:spTree>
    <p:extLst>
      <p:ext uri="{BB962C8B-B14F-4D97-AF65-F5344CB8AC3E}">
        <p14:creationId xmlns:p14="http://schemas.microsoft.com/office/powerpoint/2010/main" val="2690387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solidFill>
                  <a:srgbClr val="FFC000"/>
                </a:solidFill>
              </a:rPr>
              <a:t>II.1. Action des effecteurs allostériques</a:t>
            </a:r>
            <a:endParaRPr lang="fr-FR" dirty="0">
              <a:solidFill>
                <a:srgbClr val="FFC000"/>
              </a:solidFill>
            </a:endParaRPr>
          </a:p>
          <a:p>
            <a:r>
              <a:rPr lang="fr-FR" dirty="0"/>
              <a:t> Ce sont des substances qui agissent comme activateurs ou inhibiteurs en modifiant la conformation des sites de liaison au substrat, ce qui change l’affinité pour le substrat</a:t>
            </a:r>
            <a:r>
              <a:rPr lang="fr-FR" dirty="0" smtClean="0"/>
              <a:t>.</a:t>
            </a:r>
          </a:p>
          <a:p>
            <a:endParaRPr lang="fr-FR" dirty="0"/>
          </a:p>
        </p:txBody>
      </p:sp>
      <p:pic>
        <p:nvPicPr>
          <p:cNvPr id="4" name="Image 3"/>
          <p:cNvPicPr/>
          <p:nvPr/>
        </p:nvPicPr>
        <p:blipFill rotWithShape="1">
          <a:blip r:embed="rId2"/>
          <a:srcRect l="24967" t="26465" r="41964" b="12370"/>
          <a:stretch/>
        </p:blipFill>
        <p:spPr bwMode="auto">
          <a:xfrm>
            <a:off x="1835696" y="4040088"/>
            <a:ext cx="4032448" cy="2485256"/>
          </a:xfrm>
          <a:prstGeom prst="rect">
            <a:avLst/>
          </a:prstGeom>
          <a:ln>
            <a:noFill/>
          </a:ln>
          <a:extLst>
            <a:ext uri="{53640926-AAD7-44D8-BBD7-CCE9431645EC}">
              <a14:shadowObscured xmlns:a14="http://schemas.microsoft.com/office/drawing/2010/main"/>
            </a:ext>
          </a:extLst>
        </p:spPr>
      </p:pic>
      <p:sp>
        <p:nvSpPr>
          <p:cNvPr id="6" name="Titre 1"/>
          <p:cNvSpPr>
            <a:spLocks noGrp="1"/>
          </p:cNvSpPr>
          <p:nvPr>
            <p:ph type="title"/>
          </p:nvPr>
        </p:nvSpPr>
        <p:spPr>
          <a:xfrm>
            <a:off x="-1044624" y="764275"/>
            <a:ext cx="9810288" cy="1293126"/>
          </a:xfrm>
        </p:spPr>
        <p:txBody>
          <a:bodyPr>
            <a:normAutofit/>
          </a:bodyPr>
          <a:lstStyle/>
          <a:p>
            <a:r>
              <a:rPr lang="fr-FR" b="1" dirty="0">
                <a:solidFill>
                  <a:srgbClr val="00B0F0"/>
                </a:solidFill>
              </a:rPr>
              <a:t>II. Les effecteurs </a:t>
            </a:r>
            <a:r>
              <a:rPr lang="fr-FR" b="1" dirty="0" smtClean="0">
                <a:solidFill>
                  <a:srgbClr val="00B0F0"/>
                </a:solidFill>
              </a:rPr>
              <a:t>allostériques</a:t>
            </a:r>
            <a:endParaRPr lang="fr-FR" dirty="0">
              <a:solidFill>
                <a:srgbClr val="00B0F0"/>
              </a:solidFill>
            </a:endParaRPr>
          </a:p>
        </p:txBody>
      </p:sp>
    </p:spTree>
    <p:extLst>
      <p:ext uri="{BB962C8B-B14F-4D97-AF65-F5344CB8AC3E}">
        <p14:creationId xmlns:p14="http://schemas.microsoft.com/office/powerpoint/2010/main" val="32746419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lvl="0"/>
            <a:r>
              <a:rPr lang="fr-FR" b="1" dirty="0">
                <a:solidFill>
                  <a:srgbClr val="FFC000"/>
                </a:solidFill>
              </a:rPr>
              <a:t>Activateurs allostériques : </a:t>
            </a:r>
            <a:endParaRPr lang="fr-FR" dirty="0">
              <a:solidFill>
                <a:srgbClr val="FFC000"/>
              </a:solidFill>
            </a:endParaRPr>
          </a:p>
          <a:p>
            <a:r>
              <a:rPr lang="fr-FR" dirty="0"/>
              <a:t>Augmentent l’affinité de l’enzyme pour le substrat, lui permettant d’agir à de faible concentration en substrat</a:t>
            </a:r>
          </a:p>
          <a:p>
            <a:pPr lvl="0"/>
            <a:r>
              <a:rPr lang="fr-FR" b="1" dirty="0">
                <a:solidFill>
                  <a:srgbClr val="FFC000"/>
                </a:solidFill>
              </a:rPr>
              <a:t>Inhibiteurs allostériques :</a:t>
            </a:r>
            <a:endParaRPr lang="fr-FR" dirty="0">
              <a:solidFill>
                <a:srgbClr val="FFC000"/>
              </a:solidFill>
            </a:endParaRPr>
          </a:p>
          <a:p>
            <a:r>
              <a:rPr lang="fr-FR" dirty="0"/>
              <a:t>Comme les inhibiteurs compétitifs, diminuent l’affinité de l’enzyme pour le substrat</a:t>
            </a:r>
          </a:p>
          <a:p>
            <a:endParaRPr lang="fr-FR" dirty="0"/>
          </a:p>
        </p:txBody>
      </p:sp>
      <p:sp>
        <p:nvSpPr>
          <p:cNvPr id="6" name="Titre 1"/>
          <p:cNvSpPr>
            <a:spLocks noGrp="1"/>
          </p:cNvSpPr>
          <p:nvPr>
            <p:ph type="title"/>
          </p:nvPr>
        </p:nvSpPr>
        <p:spPr>
          <a:xfrm>
            <a:off x="-1088571" y="764275"/>
            <a:ext cx="9854235" cy="1293126"/>
          </a:xfrm>
        </p:spPr>
        <p:txBody>
          <a:bodyPr>
            <a:normAutofit/>
          </a:bodyPr>
          <a:lstStyle/>
          <a:p>
            <a:r>
              <a:rPr lang="fr-FR" b="1" dirty="0">
                <a:solidFill>
                  <a:srgbClr val="00B0F0"/>
                </a:solidFill>
              </a:rPr>
              <a:t>II. Les effecteurs </a:t>
            </a:r>
            <a:r>
              <a:rPr lang="fr-FR" b="1" dirty="0" smtClean="0">
                <a:solidFill>
                  <a:srgbClr val="00B0F0"/>
                </a:solidFill>
              </a:rPr>
              <a:t>allostériques</a:t>
            </a:r>
            <a:endParaRPr lang="fr-FR" dirty="0">
              <a:solidFill>
                <a:srgbClr val="00B0F0"/>
              </a:solidFill>
            </a:endParaRPr>
          </a:p>
        </p:txBody>
      </p:sp>
    </p:spTree>
    <p:extLst>
      <p:ext uri="{BB962C8B-B14F-4D97-AF65-F5344CB8AC3E}">
        <p14:creationId xmlns:p14="http://schemas.microsoft.com/office/powerpoint/2010/main" val="32517927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rotWithShape="1">
          <a:blip r:embed="rId2"/>
          <a:srcRect l="43700" t="38795" r="27950" b="33191"/>
          <a:stretch/>
        </p:blipFill>
        <p:spPr>
          <a:xfrm>
            <a:off x="899592" y="1988841"/>
            <a:ext cx="7272808" cy="3960440"/>
          </a:xfrm>
          <a:prstGeom prst="rect">
            <a:avLst/>
          </a:prstGeom>
        </p:spPr>
      </p:pic>
      <p:sp>
        <p:nvSpPr>
          <p:cNvPr id="7" name="Titre 1"/>
          <p:cNvSpPr>
            <a:spLocks noGrp="1"/>
          </p:cNvSpPr>
          <p:nvPr>
            <p:ph type="title"/>
          </p:nvPr>
        </p:nvSpPr>
        <p:spPr>
          <a:xfrm>
            <a:off x="-1088571" y="476672"/>
            <a:ext cx="9854235" cy="1293126"/>
          </a:xfrm>
        </p:spPr>
        <p:txBody>
          <a:bodyPr>
            <a:normAutofit/>
          </a:bodyPr>
          <a:lstStyle/>
          <a:p>
            <a:r>
              <a:rPr lang="fr-FR" b="1" dirty="0">
                <a:solidFill>
                  <a:srgbClr val="00B0F0"/>
                </a:solidFill>
              </a:rPr>
              <a:t>II. Les effecteurs </a:t>
            </a:r>
            <a:r>
              <a:rPr lang="fr-FR" b="1" dirty="0" smtClean="0">
                <a:solidFill>
                  <a:srgbClr val="00B0F0"/>
                </a:solidFill>
              </a:rPr>
              <a:t>allostériques</a:t>
            </a:r>
            <a:endParaRPr lang="fr-FR" dirty="0">
              <a:solidFill>
                <a:srgbClr val="00B0F0"/>
              </a:solidFill>
            </a:endParaRPr>
          </a:p>
        </p:txBody>
      </p:sp>
    </p:spTree>
    <p:extLst>
      <p:ext uri="{BB962C8B-B14F-4D97-AF65-F5344CB8AC3E}">
        <p14:creationId xmlns:p14="http://schemas.microsoft.com/office/powerpoint/2010/main" val="3283074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692696"/>
            <a:ext cx="8229600" cy="990600"/>
          </a:xfrm>
        </p:spPr>
        <p:txBody>
          <a:bodyPr>
            <a:normAutofit fontScale="90000"/>
          </a:bodyPr>
          <a:lstStyle/>
          <a:p>
            <a:pPr algn="l"/>
            <a:r>
              <a:rPr lang="fr-FR" b="1" dirty="0">
                <a:solidFill>
                  <a:srgbClr val="00B0F0"/>
                </a:solidFill>
              </a:rPr>
              <a:t>III. Régulation de l’activité enzymatique par </a:t>
            </a:r>
            <a:r>
              <a:rPr lang="fr-FR" b="1" dirty="0" smtClean="0">
                <a:solidFill>
                  <a:srgbClr val="00B0F0"/>
                </a:solidFill>
              </a:rPr>
              <a:t>l’effet </a:t>
            </a:r>
            <a:r>
              <a:rPr lang="fr-FR" b="1" dirty="0">
                <a:solidFill>
                  <a:srgbClr val="00B0F0"/>
                </a:solidFill>
              </a:rPr>
              <a:t>allostérique </a:t>
            </a:r>
            <a:r>
              <a:rPr lang="fr-FR" dirty="0"/>
              <a:t/>
            </a:r>
            <a:br>
              <a:rPr lang="fr-FR" dirty="0"/>
            </a:br>
            <a:endParaRPr lang="fr-FR" dirty="0"/>
          </a:p>
        </p:txBody>
      </p:sp>
      <p:sp>
        <p:nvSpPr>
          <p:cNvPr id="3" name="Espace réservé du contenu 2"/>
          <p:cNvSpPr>
            <a:spLocks noGrp="1"/>
          </p:cNvSpPr>
          <p:nvPr>
            <p:ph idx="1"/>
          </p:nvPr>
        </p:nvSpPr>
        <p:spPr>
          <a:xfrm>
            <a:off x="457200" y="1988840"/>
            <a:ext cx="8229600" cy="4488160"/>
          </a:xfrm>
        </p:spPr>
        <p:txBody>
          <a:bodyPr>
            <a:normAutofit/>
          </a:bodyPr>
          <a:lstStyle/>
          <a:p>
            <a:r>
              <a:rPr lang="fr-FR" b="1" dirty="0">
                <a:solidFill>
                  <a:srgbClr val="FFC000"/>
                </a:solidFill>
              </a:rPr>
              <a:t>III.1. L’effet allostérique </a:t>
            </a:r>
            <a:endParaRPr lang="fr-FR" dirty="0">
              <a:solidFill>
                <a:srgbClr val="FFC000"/>
              </a:solidFill>
            </a:endParaRPr>
          </a:p>
          <a:p>
            <a:r>
              <a:rPr lang="fr-FR" dirty="0"/>
              <a:t>L’effet allostérique est d’abord né à partir de l’observation suivante: </a:t>
            </a:r>
          </a:p>
          <a:p>
            <a:pPr algn="just"/>
            <a:r>
              <a:rPr lang="fr-FR" dirty="0"/>
              <a:t>Dans certains systèmes enzymatiques, l’enzyme clé (catalysant l’étape d’engagement dans une voie métabolique ou la réaction la plus lente) est inhibée par le produit final de cette voie=</a:t>
            </a:r>
            <a:r>
              <a:rPr lang="fr-FR" dirty="0" err="1"/>
              <a:t>rétro-contrôle</a:t>
            </a:r>
            <a:r>
              <a:rPr lang="fr-FR" dirty="0"/>
              <a:t> ou </a:t>
            </a:r>
            <a:r>
              <a:rPr lang="fr-FR" dirty="0" err="1"/>
              <a:t>feed</a:t>
            </a:r>
            <a:r>
              <a:rPr lang="fr-FR" dirty="0"/>
              <a:t> back. C’est uniquement cette enzyme clé= enzyme </a:t>
            </a:r>
            <a:r>
              <a:rPr lang="fr-FR" dirty="0" smtClean="0"/>
              <a:t>régulatrice </a:t>
            </a:r>
            <a:r>
              <a:rPr lang="fr-FR" dirty="0"/>
              <a:t>qui est inhibée par le produit final et c’est uniquement le produit final, et le produit lui seul, qui inhibe cette enzyme</a:t>
            </a:r>
            <a:r>
              <a:rPr lang="fr-FR" dirty="0" smtClean="0"/>
              <a:t>..</a:t>
            </a:r>
            <a:endParaRPr lang="fr-FR" dirty="0"/>
          </a:p>
          <a:p>
            <a:endParaRPr lang="fr-FR" dirty="0"/>
          </a:p>
        </p:txBody>
      </p:sp>
    </p:spTree>
    <p:extLst>
      <p:ext uri="{BB962C8B-B14F-4D97-AF65-F5344CB8AC3E}">
        <p14:creationId xmlns:p14="http://schemas.microsoft.com/office/powerpoint/2010/main" val="35627979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a:spLocks noGrp="1"/>
          </p:cNvSpPr>
          <p:nvPr>
            <p:ph type="title"/>
          </p:nvPr>
        </p:nvSpPr>
        <p:spPr>
          <a:xfrm>
            <a:off x="179512" y="710208"/>
            <a:ext cx="9721080" cy="990600"/>
          </a:xfrm>
        </p:spPr>
        <p:txBody>
          <a:bodyPr>
            <a:normAutofit fontScale="90000"/>
          </a:bodyPr>
          <a:lstStyle/>
          <a:p>
            <a:pPr algn="l"/>
            <a:r>
              <a:rPr lang="fr-FR" b="1" dirty="0">
                <a:solidFill>
                  <a:srgbClr val="00B0F0"/>
                </a:solidFill>
              </a:rPr>
              <a:t>III. Régulation de l’activité enzymatique par </a:t>
            </a:r>
            <a:r>
              <a:rPr lang="fr-FR" b="1" dirty="0" smtClean="0">
                <a:solidFill>
                  <a:srgbClr val="00B0F0"/>
                </a:solidFill>
              </a:rPr>
              <a:t>l’effet </a:t>
            </a:r>
            <a:r>
              <a:rPr lang="fr-FR" b="1" dirty="0">
                <a:solidFill>
                  <a:srgbClr val="00B0F0"/>
                </a:solidFill>
              </a:rPr>
              <a:t>allostérique </a:t>
            </a:r>
            <a:r>
              <a:rPr lang="fr-FR" dirty="0"/>
              <a:t/>
            </a:r>
            <a:br>
              <a:rPr lang="fr-FR" dirty="0"/>
            </a:br>
            <a:endParaRPr lang="fr-FR" dirty="0"/>
          </a:p>
        </p:txBody>
      </p:sp>
      <p:sp>
        <p:nvSpPr>
          <p:cNvPr id="3" name="Espace réservé du contenu 2"/>
          <p:cNvSpPr>
            <a:spLocks noGrp="1"/>
          </p:cNvSpPr>
          <p:nvPr>
            <p:ph idx="1"/>
          </p:nvPr>
        </p:nvSpPr>
        <p:spPr>
          <a:xfrm>
            <a:off x="594360" y="1700808"/>
            <a:ext cx="7955280" cy="4562832"/>
          </a:xfrm>
        </p:spPr>
        <p:txBody>
          <a:bodyPr/>
          <a:lstStyle/>
          <a:p>
            <a:r>
              <a:rPr lang="fr-FR" dirty="0" smtClean="0"/>
              <a:t>Le </a:t>
            </a:r>
            <a:r>
              <a:rPr lang="fr-FR" dirty="0"/>
              <a:t>produit a une structure différente de celle du substrat, donc n’agit jamais par une inhibition compétitive. Cette action du produit final </a:t>
            </a:r>
            <a:r>
              <a:rPr lang="fr-FR" dirty="0" smtClean="0"/>
              <a:t>est donc </a:t>
            </a:r>
            <a:r>
              <a:rPr lang="fr-FR" dirty="0"/>
              <a:t>due à un </a:t>
            </a:r>
            <a:r>
              <a:rPr lang="fr-FR" dirty="0" err="1" smtClean="0"/>
              <a:t>un</a:t>
            </a:r>
            <a:r>
              <a:rPr lang="fr-FR" dirty="0" smtClean="0"/>
              <a:t> </a:t>
            </a:r>
            <a:r>
              <a:rPr lang="fr-FR" dirty="0"/>
              <a:t>effet allostérique. Ce produit final doué d’une activité régulatrice= effecteur allostérique</a:t>
            </a:r>
            <a:r>
              <a:rPr lang="fr-FR" dirty="0" smtClean="0"/>
              <a:t>.</a:t>
            </a:r>
          </a:p>
          <a:p>
            <a:r>
              <a:rPr lang="fr-FR" b="1" dirty="0" smtClean="0">
                <a:solidFill>
                  <a:srgbClr val="FFC000"/>
                </a:solidFill>
              </a:rPr>
              <a:t>Exemple :</a:t>
            </a:r>
          </a:p>
          <a:p>
            <a:r>
              <a:rPr lang="fr-FR" dirty="0"/>
              <a:t>La thréonine-désaminase enzyme situe au début de la chaine de synthèse de l’isoleucine est inhibée par isoleucine</a:t>
            </a:r>
          </a:p>
        </p:txBody>
      </p:sp>
    </p:spTree>
    <p:extLst>
      <p:ext uri="{BB962C8B-B14F-4D97-AF65-F5344CB8AC3E}">
        <p14:creationId xmlns:p14="http://schemas.microsoft.com/office/powerpoint/2010/main" val="35755855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rotWithShape="1">
          <a:blip r:embed="rId2"/>
          <a:srcRect l="35081" t="37419" r="16183" b="34276"/>
          <a:stretch/>
        </p:blipFill>
        <p:spPr>
          <a:xfrm>
            <a:off x="1115616" y="1700808"/>
            <a:ext cx="7560840" cy="1944216"/>
          </a:xfrm>
          <a:prstGeom prst="rect">
            <a:avLst/>
          </a:prstGeom>
        </p:spPr>
      </p:pic>
      <p:sp>
        <p:nvSpPr>
          <p:cNvPr id="5" name="Titre 1"/>
          <p:cNvSpPr>
            <a:spLocks noGrp="1"/>
          </p:cNvSpPr>
          <p:nvPr>
            <p:ph type="title"/>
          </p:nvPr>
        </p:nvSpPr>
        <p:spPr>
          <a:xfrm>
            <a:off x="179512" y="710208"/>
            <a:ext cx="9721080" cy="990600"/>
          </a:xfrm>
        </p:spPr>
        <p:txBody>
          <a:bodyPr>
            <a:normAutofit fontScale="90000"/>
          </a:bodyPr>
          <a:lstStyle/>
          <a:p>
            <a:pPr algn="l"/>
            <a:r>
              <a:rPr lang="fr-FR" b="1" dirty="0">
                <a:solidFill>
                  <a:srgbClr val="00B0F0"/>
                </a:solidFill>
              </a:rPr>
              <a:t>III. Régulation de l’activité enzymatique par </a:t>
            </a:r>
            <a:r>
              <a:rPr lang="fr-FR" b="1" dirty="0" smtClean="0">
                <a:solidFill>
                  <a:srgbClr val="00B0F0"/>
                </a:solidFill>
              </a:rPr>
              <a:t>l’effet </a:t>
            </a:r>
            <a:r>
              <a:rPr lang="fr-FR" b="1" dirty="0">
                <a:solidFill>
                  <a:srgbClr val="00B0F0"/>
                </a:solidFill>
              </a:rPr>
              <a:t>allostérique </a:t>
            </a:r>
            <a:r>
              <a:rPr lang="fr-FR" dirty="0"/>
              <a:t/>
            </a:r>
            <a:br>
              <a:rPr lang="fr-FR" dirty="0"/>
            </a:br>
            <a:endParaRPr lang="fr-FR" dirty="0"/>
          </a:p>
        </p:txBody>
      </p:sp>
      <p:pic>
        <p:nvPicPr>
          <p:cNvPr id="6" name="Image 5"/>
          <p:cNvPicPr/>
          <p:nvPr/>
        </p:nvPicPr>
        <p:blipFill rotWithShape="1">
          <a:blip r:embed="rId3"/>
          <a:srcRect l="36376" t="48814" r="33532" b="14723"/>
          <a:stretch/>
        </p:blipFill>
        <p:spPr bwMode="auto">
          <a:xfrm>
            <a:off x="1115616" y="4005064"/>
            <a:ext cx="7416824" cy="266429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148387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94360" y="1700808"/>
            <a:ext cx="7955280" cy="4562832"/>
          </a:xfrm>
        </p:spPr>
        <p:txBody>
          <a:bodyPr/>
          <a:lstStyle/>
          <a:p>
            <a:r>
              <a:rPr lang="fr-FR" dirty="0"/>
              <a:t>Le rôle de ces contrôles allostériques est de moduler l'activité de cette enzyme-clé en fonction des besoins énergétiques de la cellule. </a:t>
            </a:r>
            <a:endParaRPr lang="fr-FR" dirty="0" smtClean="0"/>
          </a:p>
          <a:p>
            <a:pPr>
              <a:buFont typeface="Wingdings" panose="05000000000000000000" pitchFamily="2" charset="2"/>
              <a:buChar char="Ø"/>
            </a:pPr>
            <a:r>
              <a:rPr lang="fr-FR" dirty="0" smtClean="0"/>
              <a:t>Les</a:t>
            </a:r>
            <a:r>
              <a:rPr lang="fr-FR" dirty="0"/>
              <a:t> </a:t>
            </a:r>
            <a:r>
              <a:rPr lang="fr-FR" b="1" dirty="0">
                <a:solidFill>
                  <a:srgbClr val="FFC000"/>
                </a:solidFill>
              </a:rPr>
              <a:t>inhibiteurs</a:t>
            </a:r>
            <a:r>
              <a:rPr lang="fr-FR" dirty="0"/>
              <a:t> sont tous des indicateurs d'un </a:t>
            </a:r>
            <a:r>
              <a:rPr lang="fr-FR" b="1" dirty="0"/>
              <a:t>état de charge énergétique </a:t>
            </a:r>
            <a:r>
              <a:rPr lang="fr-FR" b="1" dirty="0" err="1"/>
              <a:t>élévé</a:t>
            </a:r>
            <a:r>
              <a:rPr lang="fr-FR" dirty="0"/>
              <a:t> de la cellule, </a:t>
            </a:r>
            <a:endParaRPr lang="fr-FR" dirty="0" smtClean="0"/>
          </a:p>
          <a:p>
            <a:pPr>
              <a:buFont typeface="Wingdings" panose="05000000000000000000" pitchFamily="2" charset="2"/>
              <a:buChar char="Ø"/>
            </a:pPr>
            <a:r>
              <a:rPr lang="fr-FR" dirty="0"/>
              <a:t>L</a:t>
            </a:r>
            <a:r>
              <a:rPr lang="fr-FR" dirty="0" smtClean="0"/>
              <a:t>es</a:t>
            </a:r>
            <a:r>
              <a:rPr lang="fr-FR" dirty="0"/>
              <a:t> </a:t>
            </a:r>
            <a:r>
              <a:rPr lang="fr-FR" b="1" dirty="0"/>
              <a:t>activateurs</a:t>
            </a:r>
            <a:r>
              <a:rPr lang="fr-FR" dirty="0"/>
              <a:t> sont des indicateurs d'un </a:t>
            </a:r>
            <a:r>
              <a:rPr lang="fr-FR" b="1" dirty="0"/>
              <a:t>manque de ressources énergétiques</a:t>
            </a:r>
            <a:r>
              <a:rPr lang="fr-FR" dirty="0"/>
              <a:t>.</a:t>
            </a:r>
          </a:p>
          <a:p>
            <a:pPr marL="0" indent="0">
              <a:buNone/>
            </a:pPr>
            <a:endParaRPr lang="fr-FR" dirty="0"/>
          </a:p>
        </p:txBody>
      </p:sp>
      <p:sp>
        <p:nvSpPr>
          <p:cNvPr id="6" name="Titre 1"/>
          <p:cNvSpPr>
            <a:spLocks noGrp="1"/>
          </p:cNvSpPr>
          <p:nvPr>
            <p:ph type="title"/>
          </p:nvPr>
        </p:nvSpPr>
        <p:spPr>
          <a:xfrm>
            <a:off x="179512" y="710208"/>
            <a:ext cx="9721080" cy="990600"/>
          </a:xfrm>
        </p:spPr>
        <p:txBody>
          <a:bodyPr>
            <a:normAutofit fontScale="90000"/>
          </a:bodyPr>
          <a:lstStyle/>
          <a:p>
            <a:pPr algn="l"/>
            <a:r>
              <a:rPr lang="fr-FR" b="1" dirty="0">
                <a:solidFill>
                  <a:srgbClr val="00B0F0"/>
                </a:solidFill>
              </a:rPr>
              <a:t>III. Régulation de l’activité enzymatique par </a:t>
            </a:r>
            <a:r>
              <a:rPr lang="fr-FR" b="1" dirty="0" smtClean="0">
                <a:solidFill>
                  <a:srgbClr val="00B0F0"/>
                </a:solidFill>
              </a:rPr>
              <a:t>l’effet </a:t>
            </a:r>
            <a:r>
              <a:rPr lang="fr-FR" b="1" dirty="0">
                <a:solidFill>
                  <a:srgbClr val="00B0F0"/>
                </a:solidFill>
              </a:rPr>
              <a:t>allostérique </a:t>
            </a:r>
            <a:r>
              <a:rPr lang="fr-FR" dirty="0"/>
              <a:t/>
            </a:r>
            <a:br>
              <a:rPr lang="fr-FR" dirty="0"/>
            </a:br>
            <a:endParaRPr lang="fr-FR" dirty="0"/>
          </a:p>
        </p:txBody>
      </p:sp>
    </p:spTree>
    <p:extLst>
      <p:ext uri="{BB962C8B-B14F-4D97-AF65-F5344CB8AC3E}">
        <p14:creationId xmlns:p14="http://schemas.microsoft.com/office/powerpoint/2010/main" val="34483107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60648"/>
            <a:ext cx="8370128" cy="1293028"/>
          </a:xfrm>
        </p:spPr>
        <p:txBody>
          <a:bodyPr/>
          <a:lstStyle/>
          <a:p>
            <a:pPr algn="l"/>
            <a:r>
              <a:rPr lang="fr-FR" b="1" dirty="0">
                <a:solidFill>
                  <a:srgbClr val="00B0F0"/>
                </a:solidFill>
              </a:rPr>
              <a:t>IV. Notion de coopérativité</a:t>
            </a:r>
            <a:endParaRPr lang="fr-FR" dirty="0">
              <a:solidFill>
                <a:srgbClr val="00B0F0"/>
              </a:solidFill>
            </a:endParaRPr>
          </a:p>
        </p:txBody>
      </p:sp>
      <p:sp>
        <p:nvSpPr>
          <p:cNvPr id="3" name="Espace réservé du contenu 2"/>
          <p:cNvSpPr>
            <a:spLocks noGrp="1"/>
          </p:cNvSpPr>
          <p:nvPr>
            <p:ph idx="1"/>
          </p:nvPr>
        </p:nvSpPr>
        <p:spPr>
          <a:xfrm>
            <a:off x="594360" y="1412776"/>
            <a:ext cx="7955280" cy="4850864"/>
          </a:xfrm>
        </p:spPr>
        <p:txBody>
          <a:bodyPr/>
          <a:lstStyle/>
          <a:p>
            <a:pPr algn="just"/>
            <a:r>
              <a:rPr lang="fr-FR" dirty="0"/>
              <a:t>L’étude des enzymes allostériques a montré qu’ils sont formés de plusieurs sites actifs identiques et plusieurs sites allostériques identiques. Cependant, ces sites n’agissent pas de façon indépendante l’un par rapport à l’autre, mais ils montrent une certaine coopérativité, </a:t>
            </a:r>
            <a:r>
              <a:rPr lang="fr-FR" dirty="0" err="1"/>
              <a:t>cad</a:t>
            </a:r>
            <a:r>
              <a:rPr lang="fr-FR" dirty="0"/>
              <a:t> ils multiplient par interactions réciproques, leurs propres potentialités réactionnelles. </a:t>
            </a:r>
            <a:endParaRPr lang="fr-FR" dirty="0" smtClean="0"/>
          </a:p>
          <a:p>
            <a:pPr algn="just"/>
            <a:r>
              <a:rPr lang="fr-FR" dirty="0" smtClean="0"/>
              <a:t>La </a:t>
            </a:r>
            <a:r>
              <a:rPr lang="fr-FR" dirty="0"/>
              <a:t>coopérativité traduit le fait que la fixation sur l’enzyme d’une molécule d’un effet allostérique (activateur ou inhibiteur) influe sur l’activité des ligands (substrats, effecteur) de l’enzyme soit en augmentant la coopérativité ou en diminuant la coopérativité. </a:t>
            </a:r>
          </a:p>
        </p:txBody>
      </p:sp>
    </p:spTree>
    <p:extLst>
      <p:ext uri="{BB962C8B-B14F-4D97-AF65-F5344CB8AC3E}">
        <p14:creationId xmlns:p14="http://schemas.microsoft.com/office/powerpoint/2010/main" val="16743006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1070" y="332656"/>
            <a:ext cx="7103422" cy="1293028"/>
          </a:xfrm>
        </p:spPr>
        <p:txBody>
          <a:bodyPr/>
          <a:lstStyle/>
          <a:p>
            <a:r>
              <a:rPr lang="fr-FR" b="1" dirty="0">
                <a:solidFill>
                  <a:srgbClr val="00B0F0"/>
                </a:solidFill>
              </a:rPr>
              <a:t>V. Modèles moléculaire</a:t>
            </a:r>
            <a:endParaRPr lang="fr-FR" dirty="0">
              <a:solidFill>
                <a:srgbClr val="00B0F0"/>
              </a:solidFill>
            </a:endParaRPr>
          </a:p>
        </p:txBody>
      </p:sp>
      <p:sp>
        <p:nvSpPr>
          <p:cNvPr id="3" name="Espace réservé du contenu 2"/>
          <p:cNvSpPr>
            <a:spLocks noGrp="1"/>
          </p:cNvSpPr>
          <p:nvPr>
            <p:ph idx="1"/>
          </p:nvPr>
        </p:nvSpPr>
        <p:spPr>
          <a:xfrm>
            <a:off x="594360" y="1412776"/>
            <a:ext cx="7955280" cy="4850864"/>
          </a:xfrm>
        </p:spPr>
        <p:txBody>
          <a:bodyPr>
            <a:normAutofit/>
          </a:bodyPr>
          <a:lstStyle/>
          <a:p>
            <a:pPr algn="just"/>
            <a:r>
              <a:rPr lang="fr-FR" sz="2400" dirty="0"/>
              <a:t>Deux modèles différents ont été proposés pour expliquer la fixation coopérative des ligands. Ils reposent sur l’hypothèse, confirmée expérimentalement, de l’existence de deux conformations tridimensionnelles distinctes pour l’enzyme allostérique, l’une active, l’autre inactive. La conformation active est appelée relâchée (R), tandis que la forme inactive est appelée tendue (T). La forme R fixe le substrat et l’activateur, alors que la forme T fixe les inhibiteurs. </a:t>
            </a:r>
          </a:p>
        </p:txBody>
      </p:sp>
    </p:spTree>
    <p:extLst>
      <p:ext uri="{BB962C8B-B14F-4D97-AF65-F5344CB8AC3E}">
        <p14:creationId xmlns:p14="http://schemas.microsoft.com/office/powerpoint/2010/main" val="22458947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rotWithShape="1">
          <a:blip r:embed="rId2"/>
          <a:srcRect l="38690" t="42050" r="32044" b="29132"/>
          <a:stretch/>
        </p:blipFill>
        <p:spPr bwMode="auto">
          <a:xfrm>
            <a:off x="1547664" y="1988840"/>
            <a:ext cx="6192687" cy="3456384"/>
          </a:xfrm>
          <a:prstGeom prst="rect">
            <a:avLst/>
          </a:prstGeom>
          <a:ln>
            <a:solidFill>
              <a:schemeClr val="tx1"/>
            </a:solidFill>
          </a:ln>
          <a:extLst>
            <a:ext uri="{53640926-AAD7-44D8-BBD7-CCE9431645EC}">
              <a14:shadowObscured xmlns:a14="http://schemas.microsoft.com/office/drawing/2010/main"/>
            </a:ext>
          </a:extLst>
        </p:spPr>
      </p:pic>
      <p:sp>
        <p:nvSpPr>
          <p:cNvPr id="5" name="Titre 1"/>
          <p:cNvSpPr>
            <a:spLocks noGrp="1"/>
          </p:cNvSpPr>
          <p:nvPr>
            <p:ph type="title"/>
          </p:nvPr>
        </p:nvSpPr>
        <p:spPr>
          <a:xfrm>
            <a:off x="191070" y="332656"/>
            <a:ext cx="7103422" cy="1293028"/>
          </a:xfrm>
        </p:spPr>
        <p:txBody>
          <a:bodyPr/>
          <a:lstStyle/>
          <a:p>
            <a:r>
              <a:rPr lang="fr-FR" b="1" dirty="0">
                <a:solidFill>
                  <a:srgbClr val="00B0F0"/>
                </a:solidFill>
              </a:rPr>
              <a:t>V. Modèles moléculaire</a:t>
            </a:r>
            <a:endParaRPr lang="fr-FR" dirty="0">
              <a:solidFill>
                <a:srgbClr val="00B0F0"/>
              </a:solidFill>
            </a:endParaRPr>
          </a:p>
        </p:txBody>
      </p:sp>
    </p:spTree>
    <p:extLst>
      <p:ext uri="{BB962C8B-B14F-4D97-AF65-F5344CB8AC3E}">
        <p14:creationId xmlns:p14="http://schemas.microsoft.com/office/powerpoint/2010/main" val="39165465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94360" y="1207562"/>
            <a:ext cx="7955280" cy="4093646"/>
          </a:xfrm>
        </p:spPr>
        <p:txBody>
          <a:bodyPr>
            <a:normAutofit/>
          </a:bodyPr>
          <a:lstStyle/>
          <a:p>
            <a:r>
              <a:rPr lang="fr-FR" b="1" dirty="0">
                <a:solidFill>
                  <a:srgbClr val="FFC000"/>
                </a:solidFill>
              </a:rPr>
              <a:t>1</a:t>
            </a:r>
            <a:r>
              <a:rPr lang="fr-FR" dirty="0">
                <a:solidFill>
                  <a:srgbClr val="FFC000"/>
                </a:solidFill>
              </a:rPr>
              <a:t>. </a:t>
            </a:r>
            <a:r>
              <a:rPr lang="fr-FR" b="1" dirty="0">
                <a:solidFill>
                  <a:srgbClr val="FFC000"/>
                </a:solidFill>
              </a:rPr>
              <a:t>Modèle symétrique (concerté): </a:t>
            </a:r>
            <a:r>
              <a:rPr lang="fr-FR" dirty="0"/>
              <a:t>Jacques et Monod (1965) </a:t>
            </a:r>
          </a:p>
          <a:p>
            <a:r>
              <a:rPr lang="fr-FR" dirty="0"/>
              <a:t>Une enzyme allostérique n’existe que sous 2 conformations, actives ou inactives. Toutes les sous unités sont soit sous forme actives, soit sous forme inactive. Chaque molécule de substrat qui se lie augmente la probabilité de transition de la forme inactive à la forme active.</a:t>
            </a:r>
          </a:p>
          <a:p>
            <a:r>
              <a:rPr lang="fr-FR" b="1" dirty="0">
                <a:solidFill>
                  <a:srgbClr val="FFC000"/>
                </a:solidFill>
              </a:rPr>
              <a:t>2. Modèle séquentiel: </a:t>
            </a:r>
            <a:r>
              <a:rPr lang="fr-FR" b="1" dirty="0" err="1">
                <a:solidFill>
                  <a:srgbClr val="FFC000"/>
                </a:solidFill>
              </a:rPr>
              <a:t>Koshland</a:t>
            </a:r>
            <a:r>
              <a:rPr lang="fr-FR" b="1" dirty="0">
                <a:solidFill>
                  <a:srgbClr val="FFC000"/>
                </a:solidFill>
              </a:rPr>
              <a:t> (1966):</a:t>
            </a:r>
            <a:endParaRPr lang="fr-FR" dirty="0">
              <a:solidFill>
                <a:srgbClr val="FFC000"/>
              </a:solidFill>
            </a:endParaRPr>
          </a:p>
          <a:p>
            <a:r>
              <a:rPr lang="fr-FR" dirty="0"/>
              <a:t>La transition TR se fait en bloc, la fixation d’un substrat à une sous unité induit sa transition, et facilitera la transition des autres sous unités voisines.</a:t>
            </a:r>
          </a:p>
        </p:txBody>
      </p:sp>
      <p:pic>
        <p:nvPicPr>
          <p:cNvPr id="4" name="Image 3"/>
          <p:cNvPicPr/>
          <p:nvPr/>
        </p:nvPicPr>
        <p:blipFill rotWithShape="1">
          <a:blip r:embed="rId2"/>
          <a:srcRect l="31911" t="30582" r="32044" b="43541"/>
          <a:stretch/>
        </p:blipFill>
        <p:spPr bwMode="auto">
          <a:xfrm>
            <a:off x="2123728" y="5301208"/>
            <a:ext cx="4115147" cy="1514475"/>
          </a:xfrm>
          <a:prstGeom prst="rect">
            <a:avLst/>
          </a:prstGeom>
          <a:ln>
            <a:noFill/>
          </a:ln>
          <a:extLst>
            <a:ext uri="{53640926-AAD7-44D8-BBD7-CCE9431645EC}">
              <a14:shadowObscured xmlns:a14="http://schemas.microsoft.com/office/drawing/2010/main"/>
            </a:ext>
          </a:extLst>
        </p:spPr>
      </p:pic>
      <p:sp>
        <p:nvSpPr>
          <p:cNvPr id="5" name="Titre 1"/>
          <p:cNvSpPr>
            <a:spLocks noGrp="1"/>
          </p:cNvSpPr>
          <p:nvPr>
            <p:ph type="title"/>
          </p:nvPr>
        </p:nvSpPr>
        <p:spPr>
          <a:xfrm>
            <a:off x="191070" y="332656"/>
            <a:ext cx="7103422" cy="1293028"/>
          </a:xfrm>
        </p:spPr>
        <p:txBody>
          <a:bodyPr/>
          <a:lstStyle/>
          <a:p>
            <a:r>
              <a:rPr lang="fr-FR" b="1" dirty="0">
                <a:solidFill>
                  <a:srgbClr val="00B0F0"/>
                </a:solidFill>
              </a:rPr>
              <a:t>V. Modèles moléculaire</a:t>
            </a:r>
            <a:endParaRPr lang="fr-FR" dirty="0">
              <a:solidFill>
                <a:srgbClr val="00B0F0"/>
              </a:solidFill>
            </a:endParaRPr>
          </a:p>
        </p:txBody>
      </p:sp>
    </p:spTree>
    <p:extLst>
      <p:ext uri="{BB962C8B-B14F-4D97-AF65-F5344CB8AC3E}">
        <p14:creationId xmlns:p14="http://schemas.microsoft.com/office/powerpoint/2010/main" val="35041493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191070" y="332656"/>
            <a:ext cx="7103422" cy="1293028"/>
          </a:xfrm>
        </p:spPr>
        <p:txBody>
          <a:bodyPr/>
          <a:lstStyle/>
          <a:p>
            <a:r>
              <a:rPr lang="fr-FR" b="1" dirty="0" smtClean="0">
                <a:solidFill>
                  <a:srgbClr val="00B0F0"/>
                </a:solidFill>
              </a:rPr>
              <a:t> Comparaison</a:t>
            </a:r>
            <a:endParaRPr lang="fr-FR" dirty="0">
              <a:solidFill>
                <a:srgbClr val="00B0F0"/>
              </a:solidFill>
            </a:endParaRPr>
          </a:p>
        </p:txBody>
      </p:sp>
      <p:graphicFrame>
        <p:nvGraphicFramePr>
          <p:cNvPr id="6" name="Tableau 5"/>
          <p:cNvGraphicFramePr>
            <a:graphicFrameLocks noGrp="1"/>
          </p:cNvGraphicFramePr>
          <p:nvPr>
            <p:extLst>
              <p:ext uri="{D42A27DB-BD31-4B8C-83A1-F6EECF244321}">
                <p14:modId xmlns:p14="http://schemas.microsoft.com/office/powerpoint/2010/main" val="2484120922"/>
              </p:ext>
            </p:extLst>
          </p:nvPr>
        </p:nvGraphicFramePr>
        <p:xfrm>
          <a:off x="899592" y="1397000"/>
          <a:ext cx="6720408" cy="4552280"/>
        </p:xfrm>
        <a:graphic>
          <a:graphicData uri="http://schemas.openxmlformats.org/drawingml/2006/table">
            <a:tbl>
              <a:tblPr firstRow="1" bandRow="1">
                <a:tableStyleId>{5C22544A-7EE6-4342-B048-85BDC9FD1C3A}</a:tableStyleId>
              </a:tblPr>
              <a:tblGrid>
                <a:gridCol w="3360204"/>
                <a:gridCol w="3360204"/>
              </a:tblGrid>
              <a:tr h="526650">
                <a:tc>
                  <a:txBody>
                    <a:bodyPr/>
                    <a:lstStyle/>
                    <a:p>
                      <a:r>
                        <a:rPr lang="fr-FR" dirty="0" smtClean="0"/>
                        <a:t>Modèle symétrique</a:t>
                      </a:r>
                      <a:endParaRPr lang="fr-FR" dirty="0"/>
                    </a:p>
                  </a:txBody>
                  <a:tcPr/>
                </a:tc>
                <a:tc>
                  <a:txBody>
                    <a:bodyPr/>
                    <a:lstStyle/>
                    <a:p>
                      <a:r>
                        <a:rPr lang="fr-FR" dirty="0" smtClean="0"/>
                        <a:t>Modèle séquentiel</a:t>
                      </a:r>
                      <a:endParaRPr lang="fr-FR" dirty="0"/>
                    </a:p>
                  </a:txBody>
                  <a:tcPr/>
                </a:tc>
              </a:tr>
              <a:tr h="4025630">
                <a:tc>
                  <a:txBody>
                    <a:bodyPr/>
                    <a:lstStyle/>
                    <a:p>
                      <a:pPr marL="285750" indent="-285750">
                        <a:buFont typeface="Wingdings" panose="05000000000000000000" pitchFamily="2" charset="2"/>
                        <a:buChar char="v"/>
                      </a:pPr>
                      <a:r>
                        <a:rPr lang="fr-FR" dirty="0" smtClean="0"/>
                        <a:t>Le couplage mécanique entre</a:t>
                      </a:r>
                      <a:r>
                        <a:rPr lang="fr-FR" baseline="0" dirty="0" smtClean="0"/>
                        <a:t> les s/u est fort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fr-FR" baseline="0" dirty="0" smtClean="0"/>
                        <a:t>Explique la coopérativité</a:t>
                      </a:r>
                      <a:endParaRPr lang="fr-FR" dirty="0" smtClean="0"/>
                    </a:p>
                    <a:p>
                      <a:pPr marL="285750" indent="-285750">
                        <a:buFont typeface="Wingdings" panose="05000000000000000000" pitchFamily="2" charset="2"/>
                        <a:buChar char="v"/>
                      </a:pPr>
                      <a:r>
                        <a:rPr lang="fr-FR" dirty="0" smtClean="0"/>
                        <a:t>La</a:t>
                      </a:r>
                      <a:r>
                        <a:rPr lang="fr-FR" baseline="0" dirty="0" smtClean="0"/>
                        <a:t> forme hybride RT est interdite </a:t>
                      </a:r>
                    </a:p>
                    <a:p>
                      <a:pPr marL="285750" indent="-285750">
                        <a:buFont typeface="Wingdings" panose="05000000000000000000" pitchFamily="2" charset="2"/>
                        <a:buChar char="v"/>
                      </a:pPr>
                      <a:r>
                        <a:rPr lang="fr-FR" baseline="0" dirty="0" smtClean="0"/>
                        <a:t>Il ne met pas en évidence les interactions entre les s/u</a:t>
                      </a:r>
                    </a:p>
                    <a:p>
                      <a:pPr marL="285750" indent="-285750">
                        <a:buFont typeface="Wingdings" panose="05000000000000000000" pitchFamily="2" charset="2"/>
                        <a:buChar char="v"/>
                      </a:pPr>
                      <a:r>
                        <a:rPr lang="fr-FR" baseline="0" dirty="0" smtClean="0"/>
                        <a:t>Transition allostérique est globale </a:t>
                      </a:r>
                      <a:endParaRPr lang="fr-FR" dirty="0"/>
                    </a:p>
                  </a:txBody>
                  <a:tcPr/>
                </a:tc>
                <a:tc>
                  <a:txBody>
                    <a:bodyPr/>
                    <a:lstStyle/>
                    <a:p>
                      <a:pPr marL="285750" indent="-285750">
                        <a:buFont typeface="Wingdings" panose="05000000000000000000" pitchFamily="2" charset="2"/>
                        <a:buChar char="v"/>
                      </a:pPr>
                      <a:r>
                        <a:rPr lang="fr-FR" dirty="0" smtClean="0"/>
                        <a:t>Le couplage est</a:t>
                      </a:r>
                      <a:r>
                        <a:rPr lang="fr-FR" baseline="0" dirty="0" smtClean="0"/>
                        <a:t> faible; structure </a:t>
                      </a:r>
                      <a:r>
                        <a:rPr lang="fr-FR" baseline="0" dirty="0" err="1" smtClean="0"/>
                        <a:t>lache</a:t>
                      </a:r>
                      <a:endParaRPr lang="fr-FR" baseline="0" dirty="0" smtClean="0"/>
                    </a:p>
                    <a:p>
                      <a:pPr marL="285750" indent="-285750">
                        <a:buFont typeface="Wingdings" panose="05000000000000000000" pitchFamily="2" charset="2"/>
                        <a:buChar char="v"/>
                      </a:pPr>
                      <a:r>
                        <a:rPr lang="fr-FR" baseline="0" dirty="0" smtClean="0"/>
                        <a:t>Explique la coopérativité</a:t>
                      </a:r>
                    </a:p>
                    <a:p>
                      <a:pPr marL="285750" indent="-285750">
                        <a:buFont typeface="Wingdings" panose="05000000000000000000" pitchFamily="2" charset="2"/>
                        <a:buChar char="v"/>
                      </a:pPr>
                      <a:r>
                        <a:rPr lang="fr-FR" baseline="0" dirty="0" smtClean="0"/>
                        <a:t>La forme RT est possible </a:t>
                      </a:r>
                    </a:p>
                    <a:p>
                      <a:pPr marL="285750" indent="-285750">
                        <a:buFont typeface="Wingdings" panose="05000000000000000000" pitchFamily="2" charset="2"/>
                        <a:buChar char="v"/>
                      </a:pPr>
                      <a:r>
                        <a:rPr lang="fr-FR" baseline="0" dirty="0" smtClean="0"/>
                        <a:t>Mets en évidence ces interactions</a:t>
                      </a:r>
                    </a:p>
                    <a:p>
                      <a:pPr marL="0" indent="0">
                        <a:buFont typeface="Wingdings" panose="05000000000000000000" pitchFamily="2" charset="2"/>
                        <a:buNone/>
                      </a:pPr>
                      <a:endParaRPr lang="fr-FR" baseline="0" dirty="0" smtClean="0"/>
                    </a:p>
                    <a:p>
                      <a:pPr marL="285750" indent="-285750">
                        <a:buFont typeface="Wingdings" panose="05000000000000000000" pitchFamily="2" charset="2"/>
                        <a:buChar char="v"/>
                      </a:pPr>
                      <a:r>
                        <a:rPr lang="fr-FR" baseline="0" dirty="0" smtClean="0"/>
                        <a:t>La transition entre les s/u est progressive</a:t>
                      </a:r>
                      <a:endParaRPr lang="fr-FR" dirty="0"/>
                    </a:p>
                  </a:txBody>
                  <a:tcPr/>
                </a:tc>
              </a:tr>
            </a:tbl>
          </a:graphicData>
        </a:graphic>
      </p:graphicFrame>
    </p:spTree>
    <p:extLst>
      <p:ext uri="{BB962C8B-B14F-4D97-AF65-F5344CB8AC3E}">
        <p14:creationId xmlns:p14="http://schemas.microsoft.com/office/powerpoint/2010/main" val="2593123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94360" y="764373"/>
            <a:ext cx="7955280" cy="1293028"/>
          </a:xfrm>
        </p:spPr>
        <p:txBody>
          <a:bodyPr>
            <a:normAutofit fontScale="90000"/>
          </a:bodyPr>
          <a:lstStyle/>
          <a:p>
            <a:pPr algn="l"/>
            <a:r>
              <a:rPr lang="fr-FR" b="1" dirty="0" err="1">
                <a:solidFill>
                  <a:srgbClr val="00B0F0"/>
                </a:solidFill>
              </a:rPr>
              <a:t>VI.Caractéristiques</a:t>
            </a:r>
            <a:r>
              <a:rPr lang="fr-FR" b="1" dirty="0">
                <a:solidFill>
                  <a:srgbClr val="00B0F0"/>
                </a:solidFill>
              </a:rPr>
              <a:t> cinétiques des enzymes allostériques </a:t>
            </a:r>
            <a:endParaRPr lang="fr-FR" dirty="0">
              <a:solidFill>
                <a:srgbClr val="00B0F0"/>
              </a:solidFill>
            </a:endParaRPr>
          </a:p>
        </p:txBody>
      </p:sp>
      <p:sp>
        <p:nvSpPr>
          <p:cNvPr id="3" name="Espace réservé du contenu 2"/>
          <p:cNvSpPr>
            <a:spLocks noGrp="1"/>
          </p:cNvSpPr>
          <p:nvPr>
            <p:ph idx="1"/>
          </p:nvPr>
        </p:nvSpPr>
        <p:spPr/>
        <p:txBody>
          <a:bodyPr>
            <a:normAutofit/>
          </a:bodyPr>
          <a:lstStyle/>
          <a:p>
            <a:pPr algn="just"/>
            <a:r>
              <a:rPr lang="fr-FR" sz="2400" dirty="0"/>
              <a:t>Les enzymes allostériques ne répondent pas aux cinétiques classiques de </a:t>
            </a:r>
            <a:r>
              <a:rPr lang="fr-FR" sz="2400" dirty="0" err="1"/>
              <a:t>Michaelis-Menten</a:t>
            </a:r>
            <a:r>
              <a:rPr lang="fr-FR" sz="2400" dirty="0"/>
              <a:t>, mais à une courbe sigmoïde traduisant un phénomène de coopérativité. En effet, dans les enzymes allostériques, un site actif d’une molécule d’enzyme peut affecter un autre site actif de la même molécule d’enzyme.</a:t>
            </a:r>
          </a:p>
        </p:txBody>
      </p:sp>
    </p:spTree>
    <p:extLst>
      <p:ext uri="{BB962C8B-B14F-4D97-AF65-F5344CB8AC3E}">
        <p14:creationId xmlns:p14="http://schemas.microsoft.com/office/powerpoint/2010/main" val="35218820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sz="2400" dirty="0"/>
              <a:t>Une conséquence de cette interaction entre les sous unité est que sur le plan cinétique, la coopérativité se manifeste par des courbes vitesse-substrat de formes non plus hyperboliques mais sigmoïdales. Tout se passe comme si les premières molécules de substrat se fixaient difficilement mais qu’une fois fixées, elles favorisent la fixation des suivantes.</a:t>
            </a:r>
            <a:endParaRPr lang="fr-FR" dirty="0"/>
          </a:p>
        </p:txBody>
      </p:sp>
      <p:sp>
        <p:nvSpPr>
          <p:cNvPr id="4" name="Titre 1"/>
          <p:cNvSpPr>
            <a:spLocks noGrp="1"/>
          </p:cNvSpPr>
          <p:nvPr>
            <p:ph type="title"/>
          </p:nvPr>
        </p:nvSpPr>
        <p:spPr>
          <a:xfrm>
            <a:off x="594360" y="764703"/>
            <a:ext cx="7955280" cy="1292697"/>
          </a:xfrm>
        </p:spPr>
        <p:txBody>
          <a:bodyPr>
            <a:normAutofit fontScale="90000"/>
          </a:bodyPr>
          <a:lstStyle/>
          <a:p>
            <a:pPr algn="l"/>
            <a:r>
              <a:rPr lang="fr-FR" b="1" dirty="0" smtClean="0">
                <a:solidFill>
                  <a:srgbClr val="00B0F0"/>
                </a:solidFill>
              </a:rPr>
              <a:t>VI. Caractéristiques </a:t>
            </a:r>
            <a:r>
              <a:rPr lang="fr-FR" b="1" dirty="0">
                <a:solidFill>
                  <a:srgbClr val="00B0F0"/>
                </a:solidFill>
              </a:rPr>
              <a:t>cinétiques des enzymes allostériques </a:t>
            </a:r>
            <a:endParaRPr lang="fr-FR" dirty="0">
              <a:solidFill>
                <a:srgbClr val="00B0F0"/>
              </a:solidFill>
            </a:endParaRPr>
          </a:p>
        </p:txBody>
      </p:sp>
    </p:spTree>
    <p:extLst>
      <p:ext uri="{BB962C8B-B14F-4D97-AF65-F5344CB8AC3E}">
        <p14:creationId xmlns:p14="http://schemas.microsoft.com/office/powerpoint/2010/main" val="17294491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p:cNvPicPr>
          <p:nvPr>
            <p:ph idx="1"/>
          </p:nvPr>
        </p:nvPicPr>
        <p:blipFill rotWithShape="1">
          <a:blip r:embed="rId2"/>
          <a:srcRect l="37368" t="38522" r="21958" b="19722"/>
          <a:stretch/>
        </p:blipFill>
        <p:spPr bwMode="auto">
          <a:xfrm>
            <a:off x="1043608" y="1238561"/>
            <a:ext cx="5292155" cy="3054535"/>
          </a:xfrm>
          <a:prstGeom prst="rect">
            <a:avLst/>
          </a:prstGeom>
          <a:ln>
            <a:solidFill>
              <a:schemeClr val="dk1"/>
            </a:solidFill>
          </a:ln>
          <a:extLst>
            <a:ext uri="{53640926-AAD7-44D8-BBD7-CCE9431645EC}">
              <a14:shadowObscured xmlns:a14="http://schemas.microsoft.com/office/drawing/2010/main"/>
            </a:ext>
          </a:extLst>
        </p:spPr>
      </p:pic>
      <p:sp>
        <p:nvSpPr>
          <p:cNvPr id="5" name="Titre 1"/>
          <p:cNvSpPr>
            <a:spLocks noGrp="1"/>
          </p:cNvSpPr>
          <p:nvPr>
            <p:ph type="title"/>
          </p:nvPr>
        </p:nvSpPr>
        <p:spPr>
          <a:xfrm>
            <a:off x="594360" y="-27384"/>
            <a:ext cx="7955280" cy="1292697"/>
          </a:xfrm>
        </p:spPr>
        <p:txBody>
          <a:bodyPr>
            <a:normAutofit fontScale="90000"/>
          </a:bodyPr>
          <a:lstStyle/>
          <a:p>
            <a:pPr algn="l"/>
            <a:r>
              <a:rPr lang="fr-FR" b="1" dirty="0" err="1">
                <a:solidFill>
                  <a:srgbClr val="00B0F0"/>
                </a:solidFill>
              </a:rPr>
              <a:t>VI.Caractéristiques</a:t>
            </a:r>
            <a:r>
              <a:rPr lang="fr-FR" b="1" dirty="0">
                <a:solidFill>
                  <a:srgbClr val="00B0F0"/>
                </a:solidFill>
              </a:rPr>
              <a:t> cinétiques des enzymes allostériques </a:t>
            </a:r>
            <a:endParaRPr lang="fr-FR" dirty="0">
              <a:solidFill>
                <a:srgbClr val="00B0F0"/>
              </a:solidFill>
            </a:endParaRPr>
          </a:p>
        </p:txBody>
      </p:sp>
      <p:sp>
        <p:nvSpPr>
          <p:cNvPr id="6" name="Rectangle 5"/>
          <p:cNvSpPr/>
          <p:nvPr/>
        </p:nvSpPr>
        <p:spPr>
          <a:xfrm>
            <a:off x="594360" y="4987042"/>
            <a:ext cx="7722056" cy="1338828"/>
          </a:xfrm>
          <a:prstGeom prst="rect">
            <a:avLst/>
          </a:prstGeom>
        </p:spPr>
        <p:txBody>
          <a:bodyPr wrap="square">
            <a:spAutoFit/>
          </a:bodyPr>
          <a:lstStyle/>
          <a:p>
            <a:pPr>
              <a:lnSpc>
                <a:spcPct val="150000"/>
              </a:lnSpc>
              <a:spcAft>
                <a:spcPts val="800"/>
              </a:spcAft>
            </a:pPr>
            <a:r>
              <a:rPr lang="fr-FR" dirty="0">
                <a:latin typeface="Times New Roman" panose="02020603050405020304" pitchFamily="18" charset="0"/>
                <a:ea typeface="Calibri" panose="020F0502020204030204" pitchFamily="34" charset="0"/>
                <a:cs typeface="Arial" panose="020B0604020202020204" pitchFamily="34" charset="0"/>
              </a:rPr>
              <a:t>Il n’est plus possible de définir la Km comme en cinétique </a:t>
            </a:r>
            <a:r>
              <a:rPr lang="fr-FR" dirty="0" err="1">
                <a:latin typeface="Times New Roman" panose="02020603050405020304" pitchFamily="18" charset="0"/>
                <a:ea typeface="Calibri" panose="020F0502020204030204" pitchFamily="34" charset="0"/>
                <a:cs typeface="Arial" panose="020B0604020202020204" pitchFamily="34" charset="0"/>
              </a:rPr>
              <a:t>Michaelienne</a:t>
            </a:r>
            <a:r>
              <a:rPr lang="fr-FR" dirty="0">
                <a:latin typeface="Times New Roman" panose="02020603050405020304" pitchFamily="18" charset="0"/>
                <a:ea typeface="Calibri" panose="020F0502020204030204" pitchFamily="34" charset="0"/>
                <a:cs typeface="Arial" panose="020B0604020202020204" pitchFamily="34" charset="0"/>
              </a:rPr>
              <a:t>. On parle donc de façon purement descriptive de K</a:t>
            </a:r>
            <a:r>
              <a:rPr lang="fr-FR" baseline="-25000" dirty="0">
                <a:latin typeface="Times New Roman" panose="02020603050405020304" pitchFamily="18" charset="0"/>
                <a:ea typeface="Calibri" panose="020F0502020204030204" pitchFamily="34" charset="0"/>
                <a:cs typeface="Arial" panose="020B0604020202020204" pitchFamily="34" charset="0"/>
              </a:rPr>
              <a:t>1/2</a:t>
            </a:r>
            <a:r>
              <a:rPr lang="fr-FR" dirty="0">
                <a:latin typeface="Times New Roman" panose="02020603050405020304" pitchFamily="18" charset="0"/>
                <a:ea typeface="Calibri" panose="020F0502020204030204" pitchFamily="34" charset="0"/>
                <a:cs typeface="Arial" panose="020B0604020202020204" pitchFamily="34" charset="0"/>
              </a:rPr>
              <a:t> : La concentration de substrat qui donne la moitié de la vitesse maximale. </a:t>
            </a:r>
            <a:endParaRPr lang="fr-FR"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Rectangle 6"/>
          <p:cNvSpPr/>
          <p:nvPr/>
        </p:nvSpPr>
        <p:spPr>
          <a:xfrm>
            <a:off x="2441002" y="3780173"/>
            <a:ext cx="978870" cy="440915"/>
          </a:xfrm>
          <a:prstGeom prst="rect">
            <a:avLst/>
          </a:prstGeom>
          <a:noFill/>
          <a:ln>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050" b="1" dirty="0">
                <a:effectLst/>
                <a:ea typeface="Calibri" panose="020F0502020204030204" pitchFamily="34" charset="0"/>
                <a:cs typeface="Arial" panose="020B0604020202020204" pitchFamily="34" charset="0"/>
              </a:rPr>
              <a:t>K1/2</a:t>
            </a:r>
            <a:endParaRPr lang="fr-FR" sz="1600" b="1" dirty="0">
              <a:effectLst/>
              <a:ea typeface="Calibri" panose="020F0502020204030204" pitchFamily="34" charset="0"/>
              <a:cs typeface="Arial" panose="020B0604020202020204" pitchFamily="34" charset="0"/>
            </a:endParaRPr>
          </a:p>
        </p:txBody>
      </p:sp>
      <p:sp>
        <p:nvSpPr>
          <p:cNvPr id="2" name="Rectangle 1"/>
          <p:cNvSpPr/>
          <p:nvPr/>
        </p:nvSpPr>
        <p:spPr>
          <a:xfrm>
            <a:off x="1475656" y="4341462"/>
            <a:ext cx="3816424" cy="6717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latin typeface="Times New Roman" panose="02020603050405020304" pitchFamily="18" charset="0"/>
                <a:cs typeface="Times New Roman" panose="02020603050405020304" pitchFamily="18" charset="0"/>
              </a:rPr>
              <a:t>Représentation de Hill</a:t>
            </a:r>
            <a:endParaRPr lang="fr-FR" b="1" dirty="0">
              <a:latin typeface="Times New Roman" panose="02020603050405020304" pitchFamily="18" charset="0"/>
              <a:cs typeface="Times New Roman" panose="02020603050405020304" pitchFamily="18" charset="0"/>
            </a:endParaRPr>
          </a:p>
        </p:txBody>
      </p:sp>
      <p:sp>
        <p:nvSpPr>
          <p:cNvPr id="8" name="Rectangle 7"/>
          <p:cNvSpPr/>
          <p:nvPr/>
        </p:nvSpPr>
        <p:spPr>
          <a:xfrm>
            <a:off x="6660232" y="2852936"/>
            <a:ext cx="2160240" cy="10317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latin typeface="Times New Roman" panose="02020603050405020304" pitchFamily="18" charset="0"/>
                <a:cs typeface="Times New Roman" panose="02020603050405020304" pitchFamily="18" charset="0"/>
              </a:rPr>
              <a:t>n: nombre de Hill ou indice de coopérativité</a:t>
            </a:r>
            <a:endParaRPr lang="fr-FR"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rotWithShape="1">
          <a:blip r:embed="rId3"/>
          <a:srcRect l="12201" t="21987" r="65750" b="62606"/>
          <a:stretch/>
        </p:blipFill>
        <p:spPr>
          <a:xfrm>
            <a:off x="6804248" y="1772816"/>
            <a:ext cx="2016224" cy="792089"/>
          </a:xfrm>
          <a:prstGeom prst="rect">
            <a:avLst/>
          </a:prstGeom>
        </p:spPr>
      </p:pic>
    </p:spTree>
    <p:extLst>
      <p:ext uri="{BB962C8B-B14F-4D97-AF65-F5344CB8AC3E}">
        <p14:creationId xmlns:p14="http://schemas.microsoft.com/office/powerpoint/2010/main" val="4560485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764373"/>
            <a:ext cx="8892480" cy="1293028"/>
          </a:xfrm>
        </p:spPr>
        <p:txBody>
          <a:bodyPr>
            <a:normAutofit/>
          </a:bodyPr>
          <a:lstStyle/>
          <a:p>
            <a:pPr algn="l"/>
            <a:r>
              <a:rPr lang="fr-FR" b="1" dirty="0">
                <a:solidFill>
                  <a:srgbClr val="00B0F0"/>
                </a:solidFill>
              </a:rPr>
              <a:t>VII. Importance de la régulation allostérique</a:t>
            </a:r>
            <a:endParaRPr lang="fr-FR" dirty="0">
              <a:solidFill>
                <a:srgbClr val="00B0F0"/>
              </a:solidFill>
            </a:endParaRPr>
          </a:p>
        </p:txBody>
      </p:sp>
      <p:sp>
        <p:nvSpPr>
          <p:cNvPr id="3" name="Espace réservé du contenu 2"/>
          <p:cNvSpPr>
            <a:spLocks noGrp="1"/>
          </p:cNvSpPr>
          <p:nvPr>
            <p:ph idx="1"/>
          </p:nvPr>
        </p:nvSpPr>
        <p:spPr/>
        <p:txBody>
          <a:bodyPr>
            <a:normAutofit/>
          </a:bodyPr>
          <a:lstStyle/>
          <a:p>
            <a:pPr algn="just"/>
            <a:r>
              <a:rPr lang="fr-FR" sz="2400" dirty="0"/>
              <a:t>La régulation allostérique joue un rôle très important dans la vie cellulaire. Elle permet de moduler la synthèse ou la dégradation d’un composé en fonction de sa concentration et d’adapter ainsi le métabolisme de la cellule à ses besoins du moment. La rétro-inhibition (feed-back) empêche l’accumulation des produits synthétisés alors que les activateurs allostériques favorisent la synthèse d’un composé important dont la concentration devient relativement insuffisante dans le milieu cellulaire</a:t>
            </a:r>
            <a:r>
              <a:rPr lang="fr-FR" sz="2400" dirty="0" smtClean="0"/>
              <a:t>.</a:t>
            </a:r>
            <a:endParaRPr lang="fr-FR" sz="2400" dirty="0"/>
          </a:p>
        </p:txBody>
      </p:sp>
    </p:spTree>
    <p:extLst>
      <p:ext uri="{BB962C8B-B14F-4D97-AF65-F5344CB8AC3E}">
        <p14:creationId xmlns:p14="http://schemas.microsoft.com/office/powerpoint/2010/main" val="26421873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00B0F0"/>
                </a:solidFill>
              </a:rPr>
              <a:t>conclusion</a:t>
            </a:r>
            <a:endParaRPr lang="fr-FR" b="1" dirty="0">
              <a:solidFill>
                <a:srgbClr val="00B0F0"/>
              </a:solidFill>
            </a:endParaRPr>
          </a:p>
        </p:txBody>
      </p:sp>
      <p:sp>
        <p:nvSpPr>
          <p:cNvPr id="3" name="Espace réservé du contenu 2"/>
          <p:cNvSpPr>
            <a:spLocks noGrp="1"/>
          </p:cNvSpPr>
          <p:nvPr>
            <p:ph idx="1"/>
          </p:nvPr>
        </p:nvSpPr>
        <p:spPr/>
        <p:txBody>
          <a:bodyPr>
            <a:normAutofit/>
          </a:bodyPr>
          <a:lstStyle/>
          <a:p>
            <a:r>
              <a:rPr lang="fr-FR" sz="2400" dirty="0"/>
              <a:t>Les enzymes allostériques sont caractérisés par une courbe sigmoïde (coopérativité) et la modulation de l’activité se fait par des effecteurs. </a:t>
            </a:r>
            <a:endParaRPr lang="fr-FR" sz="2400" dirty="0" smtClean="0"/>
          </a:p>
          <a:p>
            <a:r>
              <a:rPr lang="fr-FR" sz="2400" dirty="0" smtClean="0"/>
              <a:t>Toutes </a:t>
            </a:r>
            <a:r>
              <a:rPr lang="fr-FR" sz="2400" dirty="0"/>
              <a:t>les enzymes allostériques sont construites par plusieurs sous unités autour des axes de </a:t>
            </a:r>
            <a:r>
              <a:rPr lang="fr-FR" sz="2400" dirty="0" smtClean="0"/>
              <a:t>symétrie (</a:t>
            </a:r>
            <a:r>
              <a:rPr lang="fr-FR" sz="2400" smtClean="0"/>
              <a:t>model concerté).</a:t>
            </a:r>
            <a:endParaRPr lang="fr-FR" sz="2400" dirty="0" smtClean="0"/>
          </a:p>
        </p:txBody>
      </p:sp>
    </p:spTree>
    <p:extLst>
      <p:ext uri="{BB962C8B-B14F-4D97-AF65-F5344CB8AC3E}">
        <p14:creationId xmlns:p14="http://schemas.microsoft.com/office/powerpoint/2010/main" val="3812255259"/>
      </p:ext>
    </p:extLst>
  </p:cSld>
  <p:clrMapOvr>
    <a:masterClrMapping/>
  </p:clrMapOvr>
  <p:timing>
    <p:tnLst>
      <p:par>
        <p:cTn id="1" dur="indefinite" restart="never" nodeType="tmRoot"/>
      </p:par>
    </p:tnLst>
  </p:timing>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Traînée de condensation</Template>
  <TotalTime>11486</TotalTime>
  <Words>1207</Words>
  <Application>Microsoft Office PowerPoint</Application>
  <PresentationFormat>Affichage à l'écran (4:3)</PresentationFormat>
  <Paragraphs>96</Paragraphs>
  <Slides>25</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Arial</vt:lpstr>
      <vt:lpstr>Calibri</vt:lpstr>
      <vt:lpstr>Century Gothic</vt:lpstr>
      <vt:lpstr>Times New Roman</vt:lpstr>
      <vt:lpstr>Wingdings</vt:lpstr>
      <vt:lpstr>Traînée de condensation</vt:lpstr>
      <vt:lpstr>Les enzymes allostériques</vt:lpstr>
      <vt:lpstr>Plan</vt:lpstr>
      <vt:lpstr>Introduction</vt:lpstr>
      <vt:lpstr>Introduction</vt:lpstr>
      <vt:lpstr>I. Régulation allostérique </vt:lpstr>
      <vt:lpstr>I. Régulation allostérique</vt:lpstr>
      <vt:lpstr>Présentation PowerPoint</vt:lpstr>
      <vt:lpstr>II. Les effecteurs allostériques</vt:lpstr>
      <vt:lpstr>II. Les effecteurs allostériques</vt:lpstr>
      <vt:lpstr>II. Les effecteurs allostériques</vt:lpstr>
      <vt:lpstr>II. Les effecteurs allostériques</vt:lpstr>
      <vt:lpstr>III. Régulation de l’activité enzymatique par l’effet allostérique  </vt:lpstr>
      <vt:lpstr>III. Régulation de l’activité enzymatique par l’effet allostérique  </vt:lpstr>
      <vt:lpstr>III. Régulation de l’activité enzymatique par l’effet allostérique  </vt:lpstr>
      <vt:lpstr>III. Régulation de l’activité enzymatique par l’effet allostérique  </vt:lpstr>
      <vt:lpstr>IV. Notion de coopérativité</vt:lpstr>
      <vt:lpstr>V. Modèles moléculaire</vt:lpstr>
      <vt:lpstr>V. Modèles moléculaire</vt:lpstr>
      <vt:lpstr>V. Modèles moléculaire</vt:lpstr>
      <vt:lpstr> Comparaison</vt:lpstr>
      <vt:lpstr>VI.Caractéristiques cinétiques des enzymes allostériques </vt:lpstr>
      <vt:lpstr>VI. Caractéristiques cinétiques des enzymes allostériques </vt:lpstr>
      <vt:lpstr>VI.Caractéristiques cinétiques des enzymes allostériques </vt:lpstr>
      <vt:lpstr>VII. Importance de la régulation allostérique</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enzymes allostériques</dc:title>
  <dc:creator>USER</dc:creator>
  <cp:lastModifiedBy>HP</cp:lastModifiedBy>
  <cp:revision>34</cp:revision>
  <dcterms:created xsi:type="dcterms:W3CDTF">2022-03-27T09:23:20Z</dcterms:created>
  <dcterms:modified xsi:type="dcterms:W3CDTF">2024-03-17T23:52:14Z</dcterms:modified>
</cp:coreProperties>
</file>