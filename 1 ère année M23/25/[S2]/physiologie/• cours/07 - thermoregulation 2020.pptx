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632575" cy="9872650"/>
  <p:embeddedFontLst>
    <p:embeddedFont>
      <p:font typeface="Libre Franklin"/>
      <p:regular r:id="rId37"/>
      <p:bold r:id="rId38"/>
      <p:italic r:id="rId39"/>
      <p:boldItalic r:id="rId40"/>
    </p:embeddedFont>
    <p:embeddedFont>
      <p:font typeface="Arimo"/>
      <p:regular r:id="rId41"/>
      <p:bold r:id="rId42"/>
      <p:italic r:id="rId43"/>
      <p:boldItalic r:id="rId44"/>
    </p:embeddedFont>
    <p:embeddedFont>
      <p:font typeface="Book Antiqua"/>
      <p:regular r:id="rId45"/>
      <p:bold r:id="rId46"/>
      <p:italic r:id="rId47"/>
      <p:boldItalic r:id="rId48"/>
    </p:embeddedFont>
    <p:embeddedFont>
      <p:font typeface="Libre Baskerville"/>
      <p:regular r:id="rId49"/>
      <p:bold r:id="rId50"/>
      <p: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gc1+XDV4oC/Jp2btn78ZSH5kUT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7E520A-B538-4EE2-9DB6-7049B4AAF121}">
  <a:tblStyle styleId="{4A7E520A-B538-4EE2-9DB6-7049B4AAF1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Franklin-boldItalic.fntdata"/><Relationship Id="rId42" Type="http://schemas.openxmlformats.org/officeDocument/2006/relationships/font" Target="fonts/Arimo-bold.fntdata"/><Relationship Id="rId41" Type="http://schemas.openxmlformats.org/officeDocument/2006/relationships/font" Target="fonts/Arimo-regular.fntdata"/><Relationship Id="rId44" Type="http://schemas.openxmlformats.org/officeDocument/2006/relationships/font" Target="fonts/Arimo-boldItalic.fntdata"/><Relationship Id="rId43" Type="http://schemas.openxmlformats.org/officeDocument/2006/relationships/font" Target="fonts/Arimo-italic.fntdata"/><Relationship Id="rId46" Type="http://schemas.openxmlformats.org/officeDocument/2006/relationships/font" Target="fonts/BookAntiqua-bold.fntdata"/><Relationship Id="rId45" Type="http://schemas.openxmlformats.org/officeDocument/2006/relationships/font" Target="fonts/BookAntiqu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ookAntiqua-boldItalic.fntdata"/><Relationship Id="rId47" Type="http://schemas.openxmlformats.org/officeDocument/2006/relationships/font" Target="fonts/BookAntiqua-italic.fntdata"/><Relationship Id="rId49" Type="http://schemas.openxmlformats.org/officeDocument/2006/relationships/font" Target="fonts/LibreBaskervill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LibreFranklin-regular.fntdata"/><Relationship Id="rId36" Type="http://schemas.openxmlformats.org/officeDocument/2006/relationships/slide" Target="slides/slide30.xml"/><Relationship Id="rId39" Type="http://schemas.openxmlformats.org/officeDocument/2006/relationships/font" Target="fonts/LibreFranklin-italic.fntdata"/><Relationship Id="rId38" Type="http://schemas.openxmlformats.org/officeDocument/2006/relationships/font" Target="fonts/LibreFranklin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ibreBaskerville-italic.fntdata"/><Relationship Id="rId50" Type="http://schemas.openxmlformats.org/officeDocument/2006/relationships/font" Target="fonts/LibreBaskerville-bold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/>
          <p:nvPr/>
        </p:nvSpPr>
        <p:spPr>
          <a:xfrm>
            <a:off x="2938463" y="9407525"/>
            <a:ext cx="7572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87300" spcFirstLastPara="1" rIns="87300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2" type="sldNum"/>
          </p:nvPr>
        </p:nvSpPr>
        <p:spPr>
          <a:xfrm>
            <a:off x="3756732" y="9378052"/>
            <a:ext cx="2874404" cy="492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/>
          <p:nvPr>
            <p:ph idx="12" type="sldNum"/>
          </p:nvPr>
        </p:nvSpPr>
        <p:spPr>
          <a:xfrm>
            <a:off x="3756732" y="9378052"/>
            <a:ext cx="2874404" cy="492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2" type="sldNum"/>
          </p:nvPr>
        </p:nvSpPr>
        <p:spPr>
          <a:xfrm>
            <a:off x="3756732" y="9378052"/>
            <a:ext cx="2874404" cy="492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6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:notes"/>
          <p:cNvSpPr txBox="1"/>
          <p:nvPr>
            <p:ph idx="1" type="body"/>
          </p:nvPr>
        </p:nvSpPr>
        <p:spPr>
          <a:xfrm>
            <a:off x="884238" y="4692650"/>
            <a:ext cx="4864100" cy="4157663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:notes"/>
          <p:cNvSpPr/>
          <p:nvPr>
            <p:ph idx="2" type="sldImg"/>
          </p:nvPr>
        </p:nvSpPr>
        <p:spPr>
          <a:xfrm>
            <a:off x="260350" y="298450"/>
            <a:ext cx="6113463" cy="45862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4 contenus" type="fourObj">
  <p:cSld name="FOUR_OBJECT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2"/>
          <p:cNvSpPr txBox="1"/>
          <p:nvPr>
            <p:ph type="title"/>
          </p:nvPr>
        </p:nvSpPr>
        <p:spPr>
          <a:xfrm>
            <a:off x="971550" y="323850"/>
            <a:ext cx="7162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" type="body"/>
          </p:nvPr>
        </p:nvSpPr>
        <p:spPr>
          <a:xfrm>
            <a:off x="990600" y="1981200"/>
            <a:ext cx="3505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2" type="body"/>
          </p:nvPr>
        </p:nvSpPr>
        <p:spPr>
          <a:xfrm>
            <a:off x="4648200" y="1981200"/>
            <a:ext cx="3505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3" type="body"/>
          </p:nvPr>
        </p:nvSpPr>
        <p:spPr>
          <a:xfrm>
            <a:off x="990600" y="4114800"/>
            <a:ext cx="3505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4" type="body"/>
          </p:nvPr>
        </p:nvSpPr>
        <p:spPr>
          <a:xfrm>
            <a:off x="4648200" y="4114800"/>
            <a:ext cx="3505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" name="Google Shape;37;p36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8" name="Google Shape;38;p36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2" name="Google Shape;42;p3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3" name="Google Shape;43;p36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4" name="Google Shape;44;p36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" name="Google Shape;45;p36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8" name="Google Shape;48;p37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" name="Google Shape;49;p37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4" name="Google Shape;54;p3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5" name="Google Shape;55;p37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6" name="Google Shape;56;p37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" name="Google Shape;62;p38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1" name="Google Shape;71;p39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75" name="Google Shape;75;p40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76" name="Google Shape;76;p40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1" name="Google Shape;81;p40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1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8" name="Google Shape;88;p41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9" name="Google Shape;89;p4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0" name="Google Shape;90;p41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1" name="Google Shape;91;p41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3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" name="Google Shape;8;p31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" name="Google Shape;9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3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EBEBE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BEBEB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3" name="Google Shape;13;p3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/>
        </p:nvSpPr>
        <p:spPr>
          <a:xfrm>
            <a:off x="611560" y="4807974"/>
            <a:ext cx="445182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200" u="sng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Réalisé par</a:t>
            </a:r>
            <a:r>
              <a:rPr b="1" i="1" lang="fr-FR" sz="3200" u="sng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1" lang="fr-FR" sz="2400" u="sng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 Medani</a:t>
            </a:r>
            <a:endParaRPr b="1" i="1" sz="2400" u="sng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1" lang="fr-FR" sz="2400" u="sng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b="1" i="1" sz="2400" u="sng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727177" y="1174076"/>
            <a:ext cx="74169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</a:t>
            </a:r>
            <a:r>
              <a:rPr b="0" i="0" lang="fr-FR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b="1" i="0" lang="fr-FR" sz="4400" u="sng" cap="none" strike="noStrike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THERMOREGULATION</a:t>
            </a:r>
            <a:br>
              <a:rPr b="1" i="0" lang="fr-FR" sz="2800" u="sng" cap="none" strike="noStrike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sz="2800">
              <a:solidFill>
                <a:srgbClr val="FF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0" name="Google Shape;110;p1"/>
          <p:cNvSpPr txBox="1"/>
          <p:nvPr>
            <p:ph idx="3" type="body"/>
          </p:nvPr>
        </p:nvSpPr>
        <p:spPr>
          <a:xfrm>
            <a:off x="425624" y="2665241"/>
            <a:ext cx="8718376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b="1" lang="fr-FR" sz="2800" u="sng">
                <a:latin typeface="AngsanaUPC"/>
                <a:ea typeface="AngsanaUPC"/>
                <a:cs typeface="AngsanaUPC"/>
                <a:sym typeface="AngsanaUPC"/>
              </a:rPr>
              <a:t>SERVICE DE PHYSIOLOGIE CHU CONSTANTINE</a:t>
            </a:r>
            <a:endParaRPr b="1" sz="2800" u="sng">
              <a:latin typeface="AngsanaUPC"/>
              <a:ea typeface="AngsanaUPC"/>
              <a:cs typeface="AngsanaUPC"/>
              <a:sym typeface="AngsanaUPC"/>
            </a:endParaRPr>
          </a:p>
        </p:txBody>
      </p:sp>
      <p:sp>
        <p:nvSpPr>
          <p:cNvPr id="111" name="Google Shape;111;p1"/>
          <p:cNvSpPr txBox="1"/>
          <p:nvPr>
            <p:ph idx="4" type="body"/>
          </p:nvPr>
        </p:nvSpPr>
        <p:spPr>
          <a:xfrm>
            <a:off x="5638800" y="4840307"/>
            <a:ext cx="3505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683568" y="6206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fr-FR" sz="3200" u="sng">
                <a:latin typeface="Times New Roman"/>
                <a:ea typeface="Times New Roman"/>
                <a:cs typeface="Times New Roman"/>
                <a:sym typeface="Times New Roman"/>
              </a:rPr>
              <a:t>THERMOREGULATION</a:t>
            </a:r>
            <a:br>
              <a:rPr lang="fr-FR" sz="3200" u="sng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899592" y="1828800"/>
            <a:ext cx="716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Char char="→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Définition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1444" lvl="1" marL="548640" rtl="0" algn="l">
              <a:spcBef>
                <a:spcPts val="370"/>
              </a:spcBef>
              <a:spcAft>
                <a:spcPts val="0"/>
              </a:spcAft>
              <a:buSzPts val="1530"/>
              <a:buFont typeface="Noto Sans Symbols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1444" lvl="1" marL="548640" rtl="0" algn="l">
              <a:spcBef>
                <a:spcPts val="370"/>
              </a:spcBef>
              <a:spcAft>
                <a:spcPts val="0"/>
              </a:spcAft>
              <a:buSzPts val="1530"/>
              <a:buFont typeface="Noto Sans Symbols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→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mécanisme d’echange de la chaleur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→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3)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Régulation thermique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→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4)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Mesure de la température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→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5)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physiopathologie</a:t>
            </a:r>
            <a:endParaRPr/>
          </a:p>
          <a:p>
            <a:pPr indent="-131444" lvl="1" marL="548640" rtl="0" algn="l">
              <a:spcBef>
                <a:spcPts val="370"/>
              </a:spcBef>
              <a:spcAft>
                <a:spcPts val="0"/>
              </a:spcAft>
              <a:buSzPts val="1530"/>
              <a:buFont typeface="Noto Sans Symbols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1444" lvl="1" marL="548640" rtl="0" algn="l">
              <a:spcBef>
                <a:spcPts val="370"/>
              </a:spcBef>
              <a:spcAft>
                <a:spcPts val="0"/>
              </a:spcAft>
              <a:buSzPts val="1530"/>
              <a:buFont typeface="Noto Sans Symbols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1)- DEFINITIONS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1676400" y="1219200"/>
            <a:ext cx="6172200" cy="225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Times New Roman"/>
              <a:buNone/>
            </a:pPr>
            <a:r>
              <a:rPr lang="fr-FR" sz="1800" u="sng">
                <a:latin typeface="Times New Roman"/>
                <a:ea typeface="Times New Roman"/>
                <a:cs typeface="Times New Roman"/>
                <a:sym typeface="Times New Roman"/>
              </a:rPr>
              <a:t>CHALEUR 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Times New Roman"/>
              <a:buNone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1° DECHET DU METABOLISME CELLULAIRE</a:t>
            </a:r>
            <a:r>
              <a:rPr lang="fr-FR" sz="1600">
                <a:latin typeface="Times New Roman"/>
                <a:ea typeface="Times New Roman"/>
                <a:cs typeface="Times New Roman"/>
                <a:sym typeface="Times New Roman"/>
              </a:rPr>
              <a:t> PRODUIT DE FAÇON PERMANENTE.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Times New Roman"/>
              <a:buNone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2° TEMPERATURE OPTIMALES POUR LES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Times New Roman"/>
              <a:buNone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REACTIONS CHIMIQUES/ENZYMATIQUES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Times New Roman"/>
              <a:buNone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(37°C)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191000" y="3505200"/>
            <a:ext cx="362280" cy="258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3886200" y="3886200"/>
            <a:ext cx="0" cy="21050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5486400" y="3886200"/>
            <a:ext cx="0" cy="21050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3"/>
          <p:cNvSpPr/>
          <p:nvPr/>
        </p:nvSpPr>
        <p:spPr>
          <a:xfrm>
            <a:off x="1524000" y="4038600"/>
            <a:ext cx="2305119" cy="258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HOMEOTHERMES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Température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indépendante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milieu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production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chaleur interne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537200" y="4110038"/>
            <a:ext cx="2350003" cy="202876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POIKILOTHERMES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Température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dépendante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milieu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1) DEFINITION</a:t>
            </a:r>
            <a:endParaRPr b="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038600" y="3733800"/>
            <a:ext cx="1219200" cy="1295400"/>
          </a:xfrm>
          <a:prstGeom prst="triangle">
            <a:avLst>
              <a:gd fmla="val 50000" name="adj"/>
            </a:avLst>
          </a:prstGeom>
          <a:solidFill>
            <a:srgbClr val="66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1524000" y="3657600"/>
            <a:ext cx="6172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4"/>
          <p:cNvSpPr txBox="1"/>
          <p:nvPr/>
        </p:nvSpPr>
        <p:spPr>
          <a:xfrm>
            <a:off x="838200" y="2587625"/>
            <a:ext cx="15588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 GAIN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 CHALEUR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6537325" y="2708275"/>
            <a:ext cx="132504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PERTES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CHALEUR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 rot="10800000">
            <a:off x="4648200" y="2819400"/>
            <a:ext cx="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4"/>
          <p:cNvSpPr txBox="1"/>
          <p:nvPr/>
        </p:nvSpPr>
        <p:spPr>
          <a:xfrm>
            <a:off x="3886200" y="2130425"/>
            <a:ext cx="21221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TEMPÉRATURE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CENTRALE</a:t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98525" y="4003675"/>
            <a:ext cx="23711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THERMOGENESE</a:t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477000" y="3959225"/>
            <a:ext cx="19430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THERMOLYSE</a:t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7" name="Google Shape;147;p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fr-FR" sz="3400"/>
              <a:t>2. Mécanismes d’échange de chaleur</a:t>
            </a:r>
            <a:br>
              <a:rPr lang="fr-FR" sz="3800">
                <a:solidFill>
                  <a:schemeClr val="dk1"/>
                </a:solidFill>
              </a:rPr>
            </a:br>
            <a:endParaRPr sz="3800">
              <a:solidFill>
                <a:schemeClr val="dk1"/>
              </a:solidFill>
            </a:endParaRPr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Char char="•"/>
            </a:pPr>
            <a:r>
              <a:rPr b="1" lang="fr-FR" sz="2000"/>
              <a:t>Mécanismes physiques qui gouvernent l’échange de chaleur entre notre peau et l’environnement externe sont identiques à ceux qui règlent le transfert de chaleur entre les objets inanimés. </a:t>
            </a:r>
            <a:endParaRPr/>
          </a:p>
          <a:p>
            <a:pPr indent="-274320" lvl="0" marL="27432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Baskerville"/>
              <a:buChar char="•"/>
            </a:pPr>
            <a:r>
              <a:rPr lang="fr-FR" sz="2400">
                <a:solidFill>
                  <a:schemeClr val="dk2"/>
                </a:solidFill>
              </a:rPr>
              <a:t>Chaleur se déplace suivant son gradient de concentration: </a:t>
            </a:r>
            <a:r>
              <a:rPr b="1" lang="fr-FR" sz="2400">
                <a:solidFill>
                  <a:schemeClr val="dk2"/>
                </a:solidFill>
              </a:rPr>
              <a:t>du plus chaud vers le plus froid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rPr lang="fr-FR" sz="2200"/>
              <a:t>4 mécanismes de transfert de chaleur :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870"/>
              <a:buFont typeface="Libre Baskerville"/>
              <a:buChar char="•"/>
            </a:pPr>
            <a:r>
              <a:rPr b="1" lang="fr-FR" sz="2200">
                <a:solidFill>
                  <a:srgbClr val="FF0000"/>
                </a:solidFill>
              </a:rPr>
              <a:t>Rayonnement – Conduction – Convection - Evaporation</a:t>
            </a:r>
            <a:endParaRPr/>
          </a:p>
          <a:p>
            <a:pPr indent="-134620" lvl="0" marL="27432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t/>
            </a:r>
            <a:endParaRPr b="1" sz="2200">
              <a:solidFill>
                <a:srgbClr val="FF0000"/>
              </a:solidFill>
            </a:endParaRPr>
          </a:p>
          <a:p>
            <a:pPr indent="-1092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sz="2600">
              <a:solidFill>
                <a:srgbClr val="0000CC"/>
              </a:solidFill>
            </a:endParaRPr>
          </a:p>
          <a:p>
            <a:pPr indent="-147320" lvl="0" marL="27432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</a:pPr>
            <a:r>
              <a:t/>
            </a:r>
            <a:endParaRPr sz="2000"/>
          </a:p>
          <a:p>
            <a:pPr indent="-166370" lvl="0" marL="274320" rtl="0" algn="l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357158" y="323850"/>
            <a:ext cx="7777192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lang="fr-FR" sz="2400" u="sng">
                <a:latin typeface="Times New Roman"/>
                <a:ea typeface="Times New Roman"/>
                <a:cs typeface="Times New Roman"/>
                <a:sym typeface="Times New Roman"/>
              </a:rPr>
              <a:t>BASES PHYSIQUES DES ÉCHANGES THERMIQUES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1219200" y="1295400"/>
            <a:ext cx="7162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RADIATION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(60%) (</a:t>
            </a:r>
            <a:r>
              <a:rPr lang="fr-FR" sz="2800">
                <a:solidFill>
                  <a:srgbClr val="0000CC"/>
                </a:solidFill>
              </a:rPr>
              <a:t>transfert de chaleur du soleil au corps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CONVECTION( </a:t>
            </a:r>
            <a:r>
              <a:rPr lang="fr-FR" sz="2800"/>
              <a:t>le courant d’air du vent éloigne l’air chaud du corps)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CONDUCTION (contact direct ex bain chaud)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Font typeface="Libre Baskerville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EVAPORATION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599" lvl="1" marL="548640" rtl="0" algn="l">
              <a:spcBef>
                <a:spcPts val="370"/>
              </a:spcBef>
              <a:spcAft>
                <a:spcPts val="0"/>
              </a:spcAft>
              <a:buSzPts val="1530"/>
              <a:buChar char="⚫"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pertes insensibles (respiration)</a:t>
            </a:r>
            <a:endParaRPr/>
          </a:p>
          <a:p>
            <a:pPr indent="-228600" lvl="2" marL="822960" rtl="0" algn="l">
              <a:spcBef>
                <a:spcPts val="370"/>
              </a:spcBef>
              <a:spcAft>
                <a:spcPts val="0"/>
              </a:spcAft>
              <a:buSzPts val="1530"/>
              <a:buChar char="⚫"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600mL/24h = 390 Kca l/24h</a:t>
            </a:r>
            <a:endParaRPr/>
          </a:p>
          <a:p>
            <a:pPr indent="-228599" lvl="1" marL="548640" rtl="0" algn="l">
              <a:spcBef>
                <a:spcPts val="370"/>
              </a:spcBef>
              <a:spcAft>
                <a:spcPts val="0"/>
              </a:spcAft>
              <a:buSzPts val="1530"/>
              <a:buChar char="⚫"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pertes urinaires, fèces</a:t>
            </a:r>
            <a:endParaRPr/>
          </a:p>
          <a:p>
            <a:pPr indent="-228599" lvl="1" marL="548640" rtl="0" algn="l">
              <a:spcBef>
                <a:spcPts val="370"/>
              </a:spcBef>
              <a:spcAft>
                <a:spcPts val="0"/>
              </a:spcAft>
              <a:buSzPts val="1530"/>
              <a:buChar char="⚫"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SUDATION +++</a:t>
            </a:r>
            <a:endParaRPr/>
          </a:p>
          <a:p>
            <a:pPr indent="-228600" lvl="2" marL="822960" rtl="0" algn="l">
              <a:spcBef>
                <a:spcPts val="370"/>
              </a:spcBef>
              <a:spcAft>
                <a:spcPts val="0"/>
              </a:spcAft>
              <a:buSzPts val="1530"/>
              <a:buChar char="⚫"/>
            </a:pPr>
            <a:r>
              <a:rPr lang="fr-FR" sz="1800">
                <a:latin typeface="Times New Roman"/>
                <a:ea typeface="Times New Roman"/>
                <a:cs typeface="Times New Roman"/>
                <a:sym typeface="Times New Roman"/>
              </a:rPr>
              <a:t>1ml d’eau                      0.58 kcal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889750" y="4670425"/>
            <a:ext cx="182808" cy="64376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14678" y="5857892"/>
            <a:ext cx="928694" cy="7143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2" name="Google Shape;162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None/>
            </a:pPr>
            <a:br>
              <a:rPr lang="fr-FR" sz="2000"/>
            </a:br>
            <a:r>
              <a:rPr b="1" lang="fr-FR" sz="3300"/>
              <a:t>Rôle du sang et de la circulation sanguine</a:t>
            </a:r>
            <a:r>
              <a:rPr lang="fr-FR" sz="3700"/>
              <a:t> </a:t>
            </a:r>
            <a:endParaRPr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Libre Baskerville"/>
              <a:buChar char="•"/>
            </a:pPr>
            <a:r>
              <a:rPr b="1" lang="fr-FR" sz="2100">
                <a:solidFill>
                  <a:srgbClr val="FF0000"/>
                </a:solidFill>
              </a:rPr>
              <a:t>Sang = agent de transfert ou d’échange de chaleur entre l’intérieur du corps et sa surface.</a:t>
            </a:r>
            <a:endParaRPr/>
          </a:p>
          <a:p>
            <a:pPr indent="-571500" lvl="0" marL="5715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AutoNum type="arabicParenR"/>
            </a:pPr>
            <a:r>
              <a:rPr lang="fr-FR" sz="2400"/>
              <a:t>Si surface plus chaude que extérieur ⮲ </a:t>
            </a:r>
            <a:r>
              <a:rPr b="1" lang="fr-FR" sz="2400"/>
              <a:t>déperdition de chaleur</a:t>
            </a:r>
            <a:r>
              <a:rPr lang="fr-FR" sz="2400"/>
              <a:t> ⮲ du sang chaud coule dans les capillaires de la peau (</a:t>
            </a:r>
            <a:r>
              <a:rPr b="1" lang="fr-FR" sz="2400"/>
              <a:t>vasodilatation</a:t>
            </a:r>
            <a:r>
              <a:rPr lang="fr-FR" sz="2400"/>
              <a:t>)</a:t>
            </a:r>
            <a:endParaRPr/>
          </a:p>
          <a:p>
            <a:pPr indent="-571500" lvl="0" marL="5715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AutoNum type="arabicParenR"/>
            </a:pPr>
            <a:r>
              <a:rPr lang="fr-FR" sz="2400"/>
              <a:t>Si surface moins chaude que extérieur ⮲ </a:t>
            </a:r>
            <a:r>
              <a:rPr b="1" lang="fr-FR" sz="2400"/>
              <a:t>la chaleur doit être conservée</a:t>
            </a:r>
            <a:r>
              <a:rPr lang="fr-FR" sz="2400"/>
              <a:t> ⮲ le sang évite en grande partie le réseau capillaire sous cutané (</a:t>
            </a:r>
            <a:r>
              <a:rPr b="1" lang="fr-FR" sz="2400"/>
              <a:t>vasoconstriction</a:t>
            </a:r>
            <a:r>
              <a:rPr lang="fr-FR" sz="2400"/>
              <a:t>) ⮲ limitation des pertes de chaleur</a:t>
            </a:r>
            <a:endParaRPr sz="2400">
              <a:solidFill>
                <a:srgbClr val="0000CC"/>
              </a:solidFill>
            </a:endParaRPr>
          </a:p>
          <a:p>
            <a:pPr indent="-571500" lvl="0" marL="571500" rtl="0" algn="l">
              <a:spcBef>
                <a:spcPts val="1050"/>
              </a:spcBef>
              <a:spcAft>
                <a:spcPts val="0"/>
              </a:spcAft>
              <a:buClr>
                <a:srgbClr val="0000CC"/>
              </a:buClr>
              <a:buSzPts val="2100"/>
              <a:buFont typeface="Libre Baskerville"/>
              <a:buNone/>
            </a:pPr>
            <a:r>
              <a:rPr b="1" lang="fr-FR" sz="2100">
                <a:solidFill>
                  <a:srgbClr val="0000CC"/>
                </a:solidFill>
              </a:rPr>
              <a:t>	La Tcent est relativement stable alors que la Tcut peut fluctuer de manière très importante (entre 20 et 40°C)</a:t>
            </a:r>
            <a:endParaRPr b="1" sz="2100"/>
          </a:p>
          <a:p>
            <a:pPr indent="-458152" lvl="0" marL="571500" rtl="0" algn="l">
              <a:spcBef>
                <a:spcPts val="580"/>
              </a:spcBef>
              <a:spcAft>
                <a:spcPts val="0"/>
              </a:spcAft>
              <a:buSzPts val="1785"/>
              <a:buNone/>
            </a:pPr>
            <a:r>
              <a:t/>
            </a:r>
            <a:endParaRPr b="1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9" name="Google Shape;169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Libre Franklin"/>
              <a:buNone/>
            </a:pPr>
            <a:r>
              <a:rPr lang="fr-FR" sz="3400"/>
              <a:t>Rôle de l’hypothalamus</a:t>
            </a:r>
            <a:endParaRPr/>
          </a:p>
        </p:txBody>
      </p:sp>
      <p:sp>
        <p:nvSpPr>
          <p:cNvPr id="170" name="Google Shape;170;p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1" lang="fr-FR" sz="2600"/>
              <a:t>Hypothalamus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Char char="•"/>
            </a:pPr>
            <a:r>
              <a:rPr b="1" lang="fr-FR" sz="2600"/>
              <a:t>principal centre d’intégration de la thermorégulation : </a:t>
            </a:r>
            <a:r>
              <a:rPr b="1" lang="fr-FR" sz="2600">
                <a:solidFill>
                  <a:srgbClr val="FF0000"/>
                </a:solidFill>
              </a:rPr>
              <a:t>rôle de thermostat</a:t>
            </a:r>
            <a:endParaRPr sz="2200"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Char char="•"/>
            </a:pPr>
            <a:r>
              <a:rPr lang="fr-FR" sz="2600"/>
              <a:t>partie antérieure qui assure la défense contre la chaleur </a:t>
            </a:r>
            <a:r>
              <a:rPr lang="fr-FR" sz="2600">
                <a:solidFill>
                  <a:schemeClr val="dk2"/>
                </a:solidFill>
              </a:rPr>
              <a:t>(</a:t>
            </a:r>
            <a:r>
              <a:rPr b="1" lang="fr-FR" sz="2600">
                <a:solidFill>
                  <a:schemeClr val="dk2"/>
                </a:solidFill>
              </a:rPr>
              <a:t>thermolyse)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Char char="•"/>
            </a:pPr>
            <a:r>
              <a:rPr lang="fr-FR" sz="2600"/>
              <a:t>partie postérieure qui assure la défense contre le froid </a:t>
            </a:r>
            <a:r>
              <a:rPr lang="fr-FR" sz="2600">
                <a:solidFill>
                  <a:schemeClr val="dk2"/>
                </a:solidFill>
              </a:rPr>
              <a:t>(</a:t>
            </a:r>
            <a:r>
              <a:rPr b="1" lang="fr-FR" sz="2600">
                <a:solidFill>
                  <a:schemeClr val="dk2"/>
                </a:solidFill>
              </a:rPr>
              <a:t>thermogenèse)</a:t>
            </a:r>
            <a:endParaRPr/>
          </a:p>
          <a:p>
            <a:pPr indent="-274320" lvl="0" marL="274320" rtl="0" algn="just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3) REGULATION THERMIQUE</a:t>
            </a:r>
            <a:endParaRPr b="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295400" y="4419600"/>
            <a:ext cx="5187831" cy="92076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 RYTHME CIRCADIEN ET SAISONNIER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à 5h et maxi à 20 h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 rot="10800000">
            <a:off x="5657850" y="1782763"/>
            <a:ext cx="0" cy="21812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9"/>
          <p:cNvCxnSpPr/>
          <p:nvPr/>
        </p:nvCxnSpPr>
        <p:spPr>
          <a:xfrm>
            <a:off x="984250" y="1677988"/>
            <a:ext cx="0" cy="2276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" name="Google Shape;179;p9"/>
          <p:cNvCxnSpPr/>
          <p:nvPr/>
        </p:nvCxnSpPr>
        <p:spPr>
          <a:xfrm flipH="1" rot="10800000">
            <a:off x="5462588" y="2297113"/>
            <a:ext cx="2219325" cy="123825"/>
          </a:xfrm>
          <a:prstGeom prst="straightConnector1">
            <a:avLst/>
          </a:prstGeom>
          <a:noFill/>
          <a:ln cap="flat" cmpd="sng" w="38100">
            <a:solidFill>
              <a:srgbClr val="FFCC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9"/>
          <p:cNvCxnSpPr/>
          <p:nvPr/>
        </p:nvCxnSpPr>
        <p:spPr>
          <a:xfrm>
            <a:off x="992188" y="3959225"/>
            <a:ext cx="69945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9"/>
          <p:cNvSpPr/>
          <p:nvPr/>
        </p:nvSpPr>
        <p:spPr>
          <a:xfrm>
            <a:off x="3200400" y="4000500"/>
            <a:ext cx="2341563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27                        31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 rot="10800000">
            <a:off x="3422650" y="1782763"/>
            <a:ext cx="0" cy="21812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9"/>
          <p:cNvSpPr/>
          <p:nvPr/>
        </p:nvSpPr>
        <p:spPr>
          <a:xfrm>
            <a:off x="457200" y="1771650"/>
            <a:ext cx="460375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37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3314700"/>
            <a:ext cx="423863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31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60400" y="1371600"/>
            <a:ext cx="412750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°C</a:t>
            </a:r>
            <a:endParaRPr/>
          </a:p>
        </p:txBody>
      </p:sp>
      <p:cxnSp>
        <p:nvCxnSpPr>
          <p:cNvPr id="186" name="Google Shape;186;p9"/>
          <p:cNvCxnSpPr/>
          <p:nvPr/>
        </p:nvCxnSpPr>
        <p:spPr>
          <a:xfrm flipH="1" rot="10800000">
            <a:off x="1500188" y="1839913"/>
            <a:ext cx="6181725" cy="1809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9"/>
          <p:cNvCxnSpPr/>
          <p:nvPr/>
        </p:nvCxnSpPr>
        <p:spPr>
          <a:xfrm flipH="1" rot="10800000">
            <a:off x="1703388" y="2411413"/>
            <a:ext cx="3743325" cy="866775"/>
          </a:xfrm>
          <a:prstGeom prst="straightConnector1">
            <a:avLst/>
          </a:prstGeom>
          <a:noFill/>
          <a:ln cap="flat" cmpd="sng" w="38100">
            <a:solidFill>
              <a:srgbClr val="FFCC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9"/>
          <p:cNvSpPr/>
          <p:nvPr/>
        </p:nvSpPr>
        <p:spPr>
          <a:xfrm>
            <a:off x="6248400" y="1447800"/>
            <a:ext cx="1638300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Tcent (noyau)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553200" y="2343150"/>
            <a:ext cx="138271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Tcut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(enveloppe)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858000" y="4114800"/>
            <a:ext cx="1066800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Tamb °C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505200" y="3086100"/>
            <a:ext cx="126047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neutralité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thermique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7" name="Google Shape;197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Libre Franklin"/>
              <a:buNone/>
            </a:pPr>
            <a:r>
              <a:rPr lang="fr-FR" sz="3400"/>
              <a:t> thermogenèse</a:t>
            </a:r>
            <a:endParaRPr/>
          </a:p>
        </p:txBody>
      </p:sp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fr-FR">
                <a:solidFill>
                  <a:srgbClr val="FF0000"/>
                </a:solidFill>
              </a:rPr>
              <a:t>Thermogenèse = production de chaleur</a:t>
            </a:r>
            <a:endParaRPr b="1">
              <a:solidFill>
                <a:srgbClr val="FF0000"/>
              </a:solidFill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>
                <a:solidFill>
                  <a:schemeClr val="dk2"/>
                </a:solidFill>
              </a:rPr>
              <a:t>Si Text ou Tsang 🢆 : centre hypothalamique de la thermogenèse est activé.</a:t>
            </a:r>
            <a:r>
              <a:rPr b="1" lang="fr-FR">
                <a:solidFill>
                  <a:srgbClr val="0000CC"/>
                </a:solidFill>
              </a:rPr>
              <a:t> </a:t>
            </a:r>
            <a:endParaRPr/>
          </a:p>
          <a:p>
            <a:pPr indent="-274320" lvl="0" marL="27432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/>
              <a:t>🡺 Déclenchement de plusieurs mécanismes pour maintenir ou augmenter Tcent du corps.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 b="1">
              <a:solidFill>
                <a:srgbClr val="0000CC"/>
              </a:solidFill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solidFill>
                <a:srgbClr val="0000CC"/>
              </a:solidFill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4" name="Google Shape;204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ibre Franklin"/>
              <a:buNone/>
            </a:pPr>
            <a:r>
              <a:rPr b="1" lang="fr-FR" sz="3000">
                <a:solidFill>
                  <a:srgbClr val="FF0000"/>
                </a:solidFill>
              </a:rPr>
              <a:t>1- Vasoconstriction des vaisseaux sanguins cutanés</a:t>
            </a:r>
            <a:endParaRPr/>
          </a:p>
        </p:txBody>
      </p:sp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 sz="2600"/>
              <a:t>Activation des fibres nerveuses du SN Sympathique</a:t>
            </a:r>
            <a:endParaRPr/>
          </a:p>
          <a:p>
            <a:pPr indent="-274320" lvl="0" marL="27432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⮲"/>
            </a:pPr>
            <a:r>
              <a:rPr lang="fr-FR" sz="2200"/>
              <a:t>Stimulation des muscles lisses des artérioles de la peau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⮲"/>
            </a:pPr>
            <a:r>
              <a:rPr b="1" lang="fr-FR">
                <a:solidFill>
                  <a:srgbClr val="FF0000"/>
                </a:solidFill>
              </a:rPr>
              <a:t>Vasoconstriction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⮲"/>
            </a:pPr>
            <a:r>
              <a:rPr b="1" lang="fr-FR" sz="2600"/>
              <a:t>Sang restreint aux régions profondes et détourné des réseaux capillaires sous cutanés</a:t>
            </a:r>
            <a:endParaRPr sz="2600">
              <a:solidFill>
                <a:srgbClr val="0000CC"/>
              </a:solidFill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>
                <a:solidFill>
                  <a:schemeClr val="dk2"/>
                </a:solidFill>
              </a:rPr>
              <a:t>Déperdition de chaleur limitée</a:t>
            </a:r>
            <a:r>
              <a:rPr lang="fr-FR" sz="2600">
                <a:solidFill>
                  <a:schemeClr val="dk2"/>
                </a:solidFill>
              </a:rPr>
              <a:t> </a:t>
            </a:r>
            <a:r>
              <a:rPr lang="fr-FR" sz="2200">
                <a:solidFill>
                  <a:schemeClr val="dk2"/>
                </a:solidFill>
              </a:rPr>
              <a:t>(hypoderme = isolant) </a:t>
            </a:r>
            <a:endParaRPr/>
          </a:p>
          <a:p>
            <a:pPr indent="-228599" lvl="1" marL="548640" rtl="0" algn="l">
              <a:spcBef>
                <a:spcPts val="370"/>
              </a:spcBef>
              <a:spcAft>
                <a:spcPts val="0"/>
              </a:spcAft>
              <a:buSzPts val="1870"/>
              <a:buChar char="⚫"/>
            </a:pPr>
            <a:r>
              <a:rPr lang="fr-FR" sz="2200">
                <a:solidFill>
                  <a:schemeClr val="dk2"/>
                </a:solidFill>
              </a:rPr>
              <a:t>si prolongée :  nécrose </a:t>
            </a:r>
            <a:endParaRPr sz="2200">
              <a:solidFill>
                <a:schemeClr val="dk2"/>
              </a:solidFill>
            </a:endParaRPr>
          </a:p>
          <a:p>
            <a:pPr indent="-1092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-1092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092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sz="2600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11" name="Google Shape;211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ibre Franklin"/>
              <a:buNone/>
            </a:pPr>
            <a:r>
              <a:rPr b="1" lang="fr-FR" sz="3000">
                <a:solidFill>
                  <a:srgbClr val="FF0000"/>
                </a:solidFill>
              </a:rPr>
              <a:t>2- Augmentation de la vitesse du métabolisme</a:t>
            </a:r>
            <a:endParaRPr/>
          </a:p>
        </p:txBody>
      </p:sp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sz="2600"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/>
              <a:t>A-</a:t>
            </a:r>
            <a:r>
              <a:rPr lang="fr-FR" sz="2600"/>
              <a:t>Stimulation des fibres nerveuses sympathiques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⮲"/>
            </a:pPr>
            <a:r>
              <a:rPr lang="fr-FR"/>
              <a:t>Libération de noradrénaline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fr-FR"/>
              <a:t>🢅 Vitesse du métabolisme des cellules cibles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⮲"/>
            </a:pPr>
            <a:r>
              <a:rPr lang="fr-FR"/>
              <a:t>Augmentation de l’utilisation de glycogène (consommation d’O2 🢅)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oto Sans Symbols"/>
              <a:buNone/>
            </a:pPr>
            <a:r>
              <a:rPr lang="fr-FR">
                <a:solidFill>
                  <a:schemeClr val="dk2"/>
                </a:solidFill>
              </a:rPr>
              <a:t>🢅 Chaleur = thermogénèse chimique</a:t>
            </a:r>
            <a:endParaRPr/>
          </a:p>
          <a:p>
            <a:pPr indent="-274320" lvl="0" marL="274320" rtl="0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1092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1092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18" name="Google Shape;218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None/>
            </a:pPr>
            <a:r>
              <a:t/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fr-FR"/>
              <a:t>B-</a:t>
            </a:r>
            <a:r>
              <a:rPr lang="fr-FR" sz="2800"/>
              <a:t>Augmentation de la libération de thyroxine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🢆"/>
            </a:pPr>
            <a:r>
              <a:rPr lang="fr-FR"/>
              <a:t>Text</a:t>
            </a:r>
            <a:endParaRPr/>
          </a:p>
          <a:p>
            <a:pPr indent="-274320" lvl="0" marL="27432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lang="fr-FR" sz="2200"/>
              <a:t>⮲ Activation hypothalamus … Libération TRH (thyréolibérine) … Activation adéno-hypophyse, sécrétion TSH (thyréostimuline)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1" lang="fr-FR"/>
              <a:t>⮲</a:t>
            </a:r>
            <a:r>
              <a:rPr b="1" lang="fr-FR">
                <a:solidFill>
                  <a:schemeClr val="dk2"/>
                </a:solidFill>
              </a:rPr>
              <a:t>Stimulation thyroïde… libération thyroxine dans le sang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🢅"/>
            </a:pPr>
            <a:r>
              <a:rPr b="1" lang="fr-FR"/>
              <a:t>Vitesse du métabolisme des cellules cibles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🢅"/>
            </a:pPr>
            <a:r>
              <a:rPr b="1" lang="fr-FR">
                <a:solidFill>
                  <a:srgbClr val="FF0000"/>
                </a:solidFill>
              </a:rPr>
              <a:t>Production chaleur</a:t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b="1" sz="2600">
              <a:solidFill>
                <a:srgbClr val="FF0000"/>
              </a:solidFill>
            </a:endParaRPr>
          </a:p>
          <a:p>
            <a:pPr indent="-1092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5" name="Google Shape;225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400"/>
              <a:buFont typeface="Libre Franklin"/>
              <a:buNone/>
            </a:pPr>
            <a:r>
              <a:rPr b="1" lang="fr-FR" sz="3400">
                <a:solidFill>
                  <a:srgbClr val="FF0000"/>
                </a:solidFill>
              </a:rPr>
              <a:t>3- Frisson thermique </a:t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 sz="2600"/>
              <a:t>L’incapacité des situations décrites avant de maîtriser la situation déclenche le frisson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 sz="2600"/>
              <a:t>⮲Activation des centres de l’encéphale régulateurs du tonus musculaire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 sz="2600"/>
              <a:t>⮲Contraction involontaire des muscles squelettiques = frisson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oto Sans Symbols"/>
              <a:buChar char="🢅"/>
            </a:pPr>
            <a:r>
              <a:rPr b="1" lang="fr-FR" sz="2600">
                <a:solidFill>
                  <a:schemeClr val="dk2"/>
                </a:solidFill>
              </a:rPr>
              <a:t>Chaleur = 🢅 Tcorp … l’activité musculaire engendre une production de chaleur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2" name="Google Shape;232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400"/>
              <a:buFont typeface="Libre Franklin"/>
              <a:buNone/>
            </a:pPr>
            <a:r>
              <a:rPr b="1" lang="fr-FR" sz="3400">
                <a:solidFill>
                  <a:srgbClr val="FF0000"/>
                </a:solidFill>
              </a:rPr>
              <a:t>Adaptations humaines:</a:t>
            </a:r>
            <a:endParaRPr b="1" sz="3400">
              <a:solidFill>
                <a:srgbClr val="FF0000"/>
              </a:solidFill>
            </a:endParaRPr>
          </a:p>
        </p:txBody>
      </p:sp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vêtements chauds pour éviter déperdition de chaleur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boire des liquides chauds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augmenter activité musculaire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changer de posture pour réduire la surface corporelle exposée (croiser les bras)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9" name="Google Shape;239;p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Libre Franklin"/>
              <a:buNone/>
            </a:pPr>
            <a:r>
              <a:rPr b="1" lang="fr-FR" sz="3400"/>
              <a:t> thermolyse</a:t>
            </a:r>
            <a:endParaRPr/>
          </a:p>
        </p:txBody>
      </p:sp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fr-FR">
                <a:solidFill>
                  <a:schemeClr val="dk2"/>
                </a:solidFill>
              </a:rPr>
              <a:t>Thermolyse = dissipation de chaleur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870"/>
              <a:buChar char="⚫"/>
            </a:pPr>
            <a:r>
              <a:rPr lang="fr-FR" sz="2200"/>
              <a:t>Différents mécanismes pour la déperdition de chaleur : rayonnement - conduction - convection – évaporation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 Tcent &gt; normale :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>
                <a:solidFill>
                  <a:schemeClr val="dk2"/>
                </a:solidFill>
              </a:rPr>
              <a:t>Centre hypothalamique thermogenèse = inhibé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lang="fr-FR">
                <a:solidFill>
                  <a:srgbClr val="FF0000"/>
                </a:solidFill>
              </a:rPr>
              <a:t>Centre hypothalamique thermolyse = activé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/>
              <a:t>Ce qui peut engendrer plusieurs réactions</a:t>
            </a:r>
            <a:endParaRPr b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6" name="Google Shape;246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Libre Franklin"/>
              <a:buNone/>
            </a:pPr>
            <a:r>
              <a:rPr b="1" lang="fr-FR" sz="3000">
                <a:solidFill>
                  <a:srgbClr val="FF0000"/>
                </a:solidFill>
              </a:rPr>
              <a:t>1- Vasodilatation des artérioles cutanées</a:t>
            </a:r>
            <a:r>
              <a:rPr b="1" lang="fr-FR" sz="3800">
                <a:solidFill>
                  <a:schemeClr val="dk1"/>
                </a:solidFill>
              </a:rPr>
              <a:t> </a:t>
            </a:r>
            <a:br>
              <a:rPr lang="fr-FR" sz="3800">
                <a:solidFill>
                  <a:schemeClr val="dk1"/>
                </a:solidFill>
              </a:rPr>
            </a:br>
            <a:endParaRPr sz="3800">
              <a:solidFill>
                <a:schemeClr val="dk1"/>
              </a:solidFill>
            </a:endParaRPr>
          </a:p>
        </p:txBody>
      </p:sp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rPr lang="fr-FR" sz="2200"/>
              <a:t> de fréquence cardiaque qui 🢅)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fr-FR" sz="2600"/>
              <a:t>Modulation des fibres nerveuses du SN Sympathique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lang="fr-FR" sz="2600"/>
              <a:t>⮲ </a:t>
            </a:r>
            <a:r>
              <a:rPr lang="fr-FR" sz="2200"/>
              <a:t>Stimulation des muscles lisses des artérioles de la peau </a:t>
            </a:r>
            <a:r>
              <a:rPr b="1" lang="fr-FR" sz="2200">
                <a:solidFill>
                  <a:srgbClr val="FF0000"/>
                </a:solidFill>
              </a:rPr>
              <a:t>🢆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⮲"/>
            </a:pPr>
            <a:r>
              <a:rPr b="1" lang="fr-FR">
                <a:solidFill>
                  <a:srgbClr val="FF0000"/>
                </a:solidFill>
              </a:rPr>
              <a:t>Vasodilatation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⮲"/>
            </a:pPr>
            <a:r>
              <a:rPr b="1" lang="fr-FR"/>
              <a:t>Sang chaud envahit les vaisseaux de la peau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Char char="•"/>
            </a:pPr>
            <a:r>
              <a:rPr lang="fr-FR">
                <a:solidFill>
                  <a:schemeClr val="dk2"/>
                </a:solidFill>
              </a:rPr>
              <a:t>Chaleur se dissipe à la surface de la peau : rayonnement, conduction et convection</a:t>
            </a:r>
            <a:endParaRPr/>
          </a:p>
          <a:p>
            <a:pPr indent="-1092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3" name="Google Shape;253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ibre Franklin"/>
              <a:buNone/>
            </a:pPr>
            <a:r>
              <a:rPr b="1" lang="fr-FR" sz="3000">
                <a:solidFill>
                  <a:srgbClr val="FF0000"/>
                </a:solidFill>
              </a:rPr>
              <a:t>2- Augmentation de la transpiration</a:t>
            </a:r>
            <a:endParaRPr/>
          </a:p>
        </p:txBody>
      </p:sp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🢅"/>
            </a:pPr>
            <a:r>
              <a:rPr lang="fr-FR" sz="2800"/>
              <a:t>🢅 Text</a:t>
            </a:r>
            <a:endParaRPr sz="2800"/>
          </a:p>
          <a:p>
            <a:pPr indent="-274320" lvl="0" marL="27432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fr-FR" sz="2800"/>
              <a:t>⮲ Stimulation des fibres nerveuses du SN sympathique</a:t>
            </a:r>
            <a:endParaRPr b="1" sz="2800">
              <a:solidFill>
                <a:srgbClr val="FF0000"/>
              </a:solidFill>
            </a:endParaRPr>
          </a:p>
          <a:p>
            <a:pPr indent="-274320" lvl="0" marL="27432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1" lang="fr-FR" sz="2800"/>
              <a:t> Stimulation des glandes sudoripares : sueur</a:t>
            </a:r>
            <a:r>
              <a:rPr lang="fr-FR" sz="2800"/>
              <a:t> 🢅</a:t>
            </a:r>
            <a:endParaRPr/>
          </a:p>
          <a:p>
            <a:pPr indent="-274320" lvl="0" marL="27432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lang="fr-FR" sz="2800"/>
              <a:t> Evaporation de la sueur : </a:t>
            </a:r>
            <a:r>
              <a:rPr b="1" lang="fr-FR" sz="2800">
                <a:solidFill>
                  <a:srgbClr val="FF0000"/>
                </a:solidFill>
              </a:rPr>
              <a:t>déperdition de chaleur</a:t>
            </a:r>
            <a:endParaRPr b="1" sz="2800">
              <a:solidFill>
                <a:srgbClr val="0000CC"/>
              </a:solidFill>
            </a:endParaRPr>
          </a:p>
          <a:p>
            <a:pPr indent="-228600" lvl="1" marL="5486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Char char="•"/>
            </a:pPr>
            <a:r>
              <a:rPr b="1" lang="fr-FR" sz="2400">
                <a:solidFill>
                  <a:schemeClr val="dk2"/>
                </a:solidFill>
              </a:rPr>
              <a:t>Si taux d’humidité &gt; 60% : problème pour transpirer</a:t>
            </a:r>
            <a:endParaRPr/>
          </a:p>
          <a:p>
            <a:pPr indent="-228600" lvl="1" marL="5486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Char char="•"/>
            </a:pPr>
            <a:r>
              <a:rPr b="1" lang="fr-FR" sz="2400">
                <a:solidFill>
                  <a:schemeClr val="dk2"/>
                </a:solidFill>
              </a:rPr>
              <a:t>Déperdition de chaleur difficile</a:t>
            </a:r>
            <a:endParaRPr/>
          </a:p>
          <a:p>
            <a:pPr indent="-274320" lvl="0" marL="27432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0" name="Google Shape;260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ibre Franklin"/>
              <a:buNone/>
            </a:pPr>
            <a:r>
              <a:rPr b="1" lang="fr-FR" sz="3000">
                <a:solidFill>
                  <a:srgbClr val="FF0000"/>
                </a:solidFill>
              </a:rPr>
              <a:t>Les adaptations humaines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Porter des vêtements amples, de couleurs claires, qui réduisent le gain de chaleur.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Moins chaud habillé que nu car la peau nue absorbe l’énergie radiante du soleil.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Rechercher un environnement frais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Augmenter la convection (ventilateur)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Diminuer la Text (climatiseur)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C:\Users\PC\Downloads\thermoregulation.pn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82" y="113444"/>
            <a:ext cx="8228846" cy="60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74" name="Google Shape;274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fr-FR" sz="3400"/>
              <a:t> </a:t>
            </a:r>
            <a:br>
              <a:rPr lang="fr-FR" sz="3400"/>
            </a:br>
            <a:r>
              <a:rPr b="1" lang="fr-FR" sz="3400"/>
              <a:t>Variations physiologiques</a:t>
            </a:r>
            <a:r>
              <a:rPr b="1" lang="fr-FR"/>
              <a:t> </a:t>
            </a:r>
            <a:endParaRPr/>
          </a:p>
        </p:txBody>
      </p:sp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85"/>
              <a:buFont typeface="Noto Sans Symbols"/>
              <a:buNone/>
            </a:pPr>
            <a:r>
              <a:rPr lang="fr-FR" sz="2100"/>
              <a:t>Facteurs externes :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température ambiante, le climat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Font typeface="Noto Sans Symbols"/>
              <a:buNone/>
            </a:pPr>
            <a:r>
              <a:rPr lang="fr-FR" sz="2100"/>
              <a:t>Facteurs physiologiques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période d’ovulation chez la femme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âge  (vieillard 35,5-36,5: frilosité)</a:t>
            </a:r>
            <a:endParaRPr sz="2100"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état émotionnel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travail physique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None/>
            </a:pPr>
            <a:r>
              <a:t/>
            </a:r>
            <a:endParaRPr sz="2100"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heure de prise au cours d’une journée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Font typeface="Noto Sans Symbols"/>
              <a:buNone/>
            </a:pPr>
            <a:r>
              <a:rPr lang="fr-FR" sz="2100"/>
              <a:t>Facteurs liés à la prise de température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région anatomique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785"/>
              <a:buChar char="⚫"/>
            </a:pPr>
            <a:r>
              <a:rPr lang="fr-FR" sz="2100"/>
              <a:t>méthode de mesure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2" name="Google Shape;282;p2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br>
              <a:rPr lang="fr-FR" sz="3400"/>
            </a:br>
            <a:r>
              <a:rPr lang="fr-FR" sz="3800"/>
              <a:t>Mesures de température</a:t>
            </a:r>
            <a:br>
              <a:rPr lang="fr-FR" sz="3800"/>
            </a:br>
            <a:endParaRPr sz="3800"/>
          </a:p>
        </p:txBody>
      </p:sp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La température centrale</a:t>
            </a:r>
            <a:r>
              <a:rPr lang="fr-FR" sz="2600"/>
              <a:t> (température contrôlée au cours d’interventions ou pose de cathéters centraux)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température des organes, de la circulation sanguine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température tympanique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La température périphérique</a:t>
            </a:r>
            <a:r>
              <a:rPr lang="fr-FR" sz="2600"/>
              <a:t> évaluée au niveau :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cavités naturelles (rectum, bouche)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surface cutanée au passage des gros vaisseaux, dans les plis de flexion (creux axillaire, pli de l’aine)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Libre Franklin"/>
              <a:buNone/>
            </a:pPr>
            <a:r>
              <a:rPr lang="fr-FR" sz="3400"/>
              <a:t>Les méthodes de prise de température</a:t>
            </a:r>
            <a:endParaRPr/>
          </a:p>
        </p:txBody>
      </p:sp>
      <p:graphicFrame>
        <p:nvGraphicFramePr>
          <p:cNvPr id="290" name="Google Shape;290;p23"/>
          <p:cNvGraphicFramePr/>
          <p:nvPr/>
        </p:nvGraphicFramePr>
        <p:xfrm>
          <a:off x="250825" y="1489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{4A7E520A-B538-4EE2-9DB6-7049B4AAF121}</a:tableStyleId>
              </a:tblPr>
              <a:tblGrid>
                <a:gridCol w="1409700"/>
                <a:gridCol w="2095500"/>
                <a:gridCol w="1524000"/>
                <a:gridCol w="1428750"/>
                <a:gridCol w="2152650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METHODE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100000">
                          <a:srgbClr val="BFFDF6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SITE DE LA MESURE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100000">
                          <a:srgbClr val="BFFDF6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DUREE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100000">
                          <a:srgbClr val="BFFDF6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100000">
                          <a:srgbClr val="BFFDF6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INCONVENIENTS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100000">
                          <a:srgbClr val="BFFDF6"/>
                        </a:gs>
                      </a:gsLst>
                      <a:lin ang="5400000" scaled="0"/>
                    </a:gra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RECTALE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50000">
                          <a:srgbClr val="BFFDF6"/>
                        </a:gs>
                        <a:gs pos="100000">
                          <a:srgbClr val="86B2A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La pointe du thermomètre dépasse la marge anale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1’30’’ à 2’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Température de référence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Inconfort / septique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Risque de lésion anale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Non respect de la pudeur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BUCCALE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50000">
                          <a:srgbClr val="BFFDF6"/>
                        </a:gs>
                        <a:gs pos="100000">
                          <a:srgbClr val="86B2A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La pointe est positionne en sublingual, les lèvres bien fermées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minute avec un thermomètre électronique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Simple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non invasif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Imprécis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Variations importantes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Risque septique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AXILLAIRE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50000">
                          <a:srgbClr val="BFFDF6"/>
                        </a:gs>
                        <a:gs pos="100000">
                          <a:srgbClr val="86B2A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La pointe est placée dans le creux de l’aisselle, le coude contre le corps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 à 5 minutes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Simple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non invasif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asepsie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Des Imprécisions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Longueur de temps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1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TYMPANIQUE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6B2AD"/>
                        </a:gs>
                        <a:gs pos="50000">
                          <a:srgbClr val="BFFDF6"/>
                        </a:gs>
                        <a:gs pos="100000">
                          <a:srgbClr val="86B2A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L’embout est positionné dans l’axe du conduit auditif externe face au tympan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Lecture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quasi-immédiate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Facile / Précis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Reflet de la t° C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Asepsie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Urgence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confort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Petit conduit auditif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Contre indiqué 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45"/>
                        <a:buFont typeface="Noto Sans Symbols"/>
                        <a:buNone/>
                      </a:pPr>
                      <a:r>
                        <a:rPr b="0" i="0" lang="fr-FR" sz="13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Otite / trauma du rocher /  bouchon de cérumen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fr-FR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6)-LA FIEVRE</a:t>
            </a:r>
            <a:endParaRPr/>
          </a:p>
        </p:txBody>
      </p:sp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990600" y="1371600"/>
            <a:ext cx="7162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HYPERTHERMIE PAR DEREGLEMENT DES MECANISMES DE REGULATION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AGENTS INFECTIEUX,....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PYROGENES BACTERIENS = endotoxines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PYROGENES ENDOGENES = système immunitaire en réponse à l'infection (ex IL6)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700"/>
              <a:buFont typeface="Noto Sans Symbols"/>
              <a:buChar char="→"/>
            </a:pPr>
            <a:r>
              <a:rPr lang="fr-FR" sz="2000">
                <a:latin typeface="Times New Roman"/>
                <a:ea typeface="Times New Roman"/>
                <a:cs typeface="Times New Roman"/>
                <a:sym typeface="Times New Roman"/>
              </a:rPr>
              <a:t>DECALAGE DU POINT DE CONSIGNE</a:t>
            </a:r>
            <a:endParaRPr/>
          </a:p>
        </p:txBody>
      </p:sp>
      <p:cxnSp>
        <p:nvCxnSpPr>
          <p:cNvPr id="297" name="Google Shape;297;p24"/>
          <p:cNvCxnSpPr/>
          <p:nvPr/>
        </p:nvCxnSpPr>
        <p:spPr>
          <a:xfrm>
            <a:off x="2514600" y="5486400"/>
            <a:ext cx="7969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8" name="Google Shape;298;p24"/>
          <p:cNvCxnSpPr/>
          <p:nvPr/>
        </p:nvCxnSpPr>
        <p:spPr>
          <a:xfrm>
            <a:off x="5715000" y="5638800"/>
            <a:ext cx="7969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4"/>
          <p:cNvCxnSpPr/>
          <p:nvPr/>
        </p:nvCxnSpPr>
        <p:spPr>
          <a:xfrm>
            <a:off x="1085850" y="4421188"/>
            <a:ext cx="0" cy="18192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" name="Google Shape;300;p24"/>
          <p:cNvCxnSpPr/>
          <p:nvPr/>
        </p:nvCxnSpPr>
        <p:spPr>
          <a:xfrm>
            <a:off x="1093788" y="6245225"/>
            <a:ext cx="76041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4"/>
          <p:cNvCxnSpPr/>
          <p:nvPr/>
        </p:nvCxnSpPr>
        <p:spPr>
          <a:xfrm>
            <a:off x="1500188" y="5902325"/>
            <a:ext cx="12033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4"/>
          <p:cNvCxnSpPr/>
          <p:nvPr/>
        </p:nvCxnSpPr>
        <p:spPr>
          <a:xfrm flipH="1" rot="10800000">
            <a:off x="2719388" y="4525963"/>
            <a:ext cx="695325" cy="13811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4"/>
          <p:cNvCxnSpPr/>
          <p:nvPr/>
        </p:nvCxnSpPr>
        <p:spPr>
          <a:xfrm>
            <a:off x="3430588" y="4530725"/>
            <a:ext cx="19145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4"/>
          <p:cNvCxnSpPr/>
          <p:nvPr/>
        </p:nvCxnSpPr>
        <p:spPr>
          <a:xfrm>
            <a:off x="5360988" y="4535488"/>
            <a:ext cx="593725" cy="13620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4"/>
          <p:cNvCxnSpPr/>
          <p:nvPr/>
        </p:nvCxnSpPr>
        <p:spPr>
          <a:xfrm>
            <a:off x="5970588" y="5902325"/>
            <a:ext cx="23209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4"/>
          <p:cNvSpPr/>
          <p:nvPr/>
        </p:nvSpPr>
        <p:spPr>
          <a:xfrm>
            <a:off x="8178800" y="6229350"/>
            <a:ext cx="614363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TPS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1066800" y="4286250"/>
            <a:ext cx="806450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Tcent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457200" y="5715000"/>
            <a:ext cx="554038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37°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3911600" y="4171950"/>
            <a:ext cx="928688" cy="36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39-40°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1828800" y="4800600"/>
            <a:ext cx="195738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Vasoconstriction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Frisson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5715000" y="4876800"/>
            <a:ext cx="165576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vasodilatation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4724400" y="3886200"/>
            <a:ext cx="107791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nouvelle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consigne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type="title"/>
          </p:nvPr>
        </p:nvSpPr>
        <p:spPr>
          <a:xfrm>
            <a:off x="250825" y="333375"/>
            <a:ext cx="88931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fr-FR"/>
              <a:t> </a:t>
            </a:r>
            <a:r>
              <a:rPr lang="fr-FR" sz="3200" u="sng">
                <a:latin typeface="Times New Roman"/>
                <a:ea typeface="Times New Roman"/>
                <a:cs typeface="Times New Roman"/>
                <a:sym typeface="Times New Roman"/>
              </a:rPr>
              <a:t>La thermorégulation au cours de la fièvre</a:t>
            </a:r>
            <a:endParaRPr/>
          </a:p>
        </p:txBody>
      </p:sp>
      <p:sp>
        <p:nvSpPr>
          <p:cNvPr id="318" name="Google Shape;318;p25"/>
          <p:cNvSpPr txBox="1"/>
          <p:nvPr>
            <p:ph idx="1" type="body"/>
          </p:nvPr>
        </p:nvSpPr>
        <p:spPr>
          <a:xfrm>
            <a:off x="0" y="1268413"/>
            <a:ext cx="9144000" cy="558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br>
              <a:rPr lang="fr-FR"/>
            </a:br>
            <a:br>
              <a:rPr lang="fr-FR"/>
            </a:b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Lorsque la </a:t>
            </a:r>
            <a:r>
              <a:rPr lang="fr-FR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température du thermostat</a:t>
            </a:r>
            <a:r>
              <a:rPr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est réglée à une valeur plus élevée par exemple 40° au lieu de 37°, l’organisme réagit comme s’il était placé dans une enceinte dont la température ambiante serait basse ; les mécanismes régulateurs de thermogenèse sont donc mis en Jeu pour amener la température corporelle à ce nouveau niveau : vasoconstriction cutanée, frisson, augmentation du métabolisme cellulaire, d’où apparition de la </a:t>
            </a:r>
            <a:r>
              <a:rPr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sudation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title"/>
          </p:nvPr>
        </p:nvSpPr>
        <p:spPr>
          <a:xfrm>
            <a:off x="684213" y="323850"/>
            <a:ext cx="81359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fr-FR" sz="3200" u="sng">
                <a:latin typeface="Times New Roman"/>
                <a:ea typeface="Times New Roman"/>
                <a:cs typeface="Times New Roman"/>
                <a:sym typeface="Times New Roman"/>
              </a:rPr>
              <a:t>Les conséquences de la fièvre :</a:t>
            </a:r>
            <a:endParaRPr/>
          </a:p>
        </p:txBody>
      </p:sp>
      <p:sp>
        <p:nvSpPr>
          <p:cNvPr id="324" name="Google Shape;324;p26"/>
          <p:cNvSpPr txBox="1"/>
          <p:nvPr>
            <p:ph idx="1" type="body"/>
          </p:nvPr>
        </p:nvSpPr>
        <p:spPr>
          <a:xfrm>
            <a:off x="755650" y="1341438"/>
            <a:ext cx="7162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br>
              <a:rPr lang="fr-FR" sz="1800"/>
            </a:b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Augmentation du métabolisme cellulaire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: d’où augmentation de la fréquence et du débit cardiaque.</a:t>
            </a:r>
            <a:b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Hyper catabolisme protidique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: d’où amaigrissement.</a:t>
            </a:r>
            <a:b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fr-FR" u="sng">
                <a:latin typeface="Times New Roman"/>
                <a:ea typeface="Times New Roman"/>
                <a:cs typeface="Times New Roman"/>
                <a:sym typeface="Times New Roman"/>
              </a:rPr>
              <a:t>Déperdition hydrique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: donc risque de déshydratation.</a:t>
            </a:r>
            <a:b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— Si la température s’élève à 41 ° risque de </a:t>
            </a:r>
            <a:r>
              <a:rPr lang="fr-FR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convulsions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. Ces convulsions sont surtout</a:t>
            </a:r>
            <a:b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fréquentes chez l’enfant chez lequel elles apparaissent pour un seuil d’autant plus bas que l’enfant est plus jeune.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0" name="Google Shape;330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400"/>
              <a:buFont typeface="Libre Franklin"/>
              <a:buNone/>
            </a:pPr>
            <a:r>
              <a:rPr b="1" lang="fr-FR" sz="3400">
                <a:solidFill>
                  <a:srgbClr val="008000"/>
                </a:solidFill>
              </a:rPr>
              <a:t>L’hypothermie</a:t>
            </a:r>
            <a:endParaRPr/>
          </a:p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Légère</a:t>
            </a:r>
            <a:r>
              <a:rPr lang="fr-FR" sz="2600"/>
              <a:t> : 35°- 34°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patient conscient, frissonnant - peau froide, pâle  - TA élevée, FC rapide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Modérée</a:t>
            </a:r>
            <a:r>
              <a:rPr lang="fr-FR" sz="2600"/>
              <a:t> : 34°- 32°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peau froide sèche, cyanose des extrémités, frissons, lenteur des mouvements volontaires, obnubilation, difficulté à parler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b="1" lang="fr-FR" sz="2600"/>
              <a:t>Sévère </a:t>
            </a:r>
            <a:r>
              <a:rPr lang="fr-FR" sz="2600"/>
              <a:t>: &lt; 32°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hypertonie diffuse, myosis, troubles de la conscience, évolue vers coma, chute FC.TA.FR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7" name="Google Shape;337;p2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400"/>
              <a:buFont typeface="Libre Franklin"/>
              <a:buNone/>
            </a:pPr>
            <a:r>
              <a:rPr b="1" lang="fr-FR" sz="3400">
                <a:solidFill>
                  <a:srgbClr val="008000"/>
                </a:solidFill>
              </a:rPr>
              <a:t>L’hyperthermie</a:t>
            </a:r>
            <a:endParaRPr/>
          </a:p>
        </p:txBody>
      </p:sp>
      <p:sp>
        <p:nvSpPr>
          <p:cNvPr id="338" name="Google Shape;338;p2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Entre 38 - 40°C : thermorégulation aisée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&gt; 40°C : thermorégulation perturbée avec apparition de troubles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fr-FR" sz="2600"/>
              <a:t>&gt; 42°C : pronostic vital en jeu (souffrance SNC - convulsions)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fr-FR" sz="3200" u="sng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344" name="Google Shape;344;p29"/>
          <p:cNvSpPr txBox="1"/>
          <p:nvPr>
            <p:ph idx="1" type="body"/>
          </p:nvPr>
        </p:nvSpPr>
        <p:spPr>
          <a:xfrm>
            <a:off x="990600" y="1981200"/>
            <a:ext cx="7162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Fonction dont aucun organe n'est vraiment spécialisé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Adaptation de l'humain plutôt à la chaleur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Régulation par le SNC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Importance en clinique :</a:t>
            </a:r>
            <a:endParaRPr/>
          </a:p>
          <a:p>
            <a:pPr indent="-228600" lvl="1" marL="548640" rtl="0" algn="l">
              <a:spcBef>
                <a:spcPts val="370"/>
              </a:spcBef>
              <a:spcAft>
                <a:spcPts val="0"/>
              </a:spcAft>
              <a:buSzPct val="85000"/>
              <a:buChar char="⚫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Contrôle de l'hyperthermie et de la fièvre</a:t>
            </a:r>
            <a:endParaRPr/>
          </a:p>
          <a:p>
            <a:pPr indent="-228600" lvl="1" marL="548640" rtl="0" algn="l">
              <a:spcBef>
                <a:spcPts val="370"/>
              </a:spcBef>
              <a:spcAft>
                <a:spcPts val="0"/>
              </a:spcAft>
              <a:buSzPct val="85000"/>
              <a:buChar char="⚫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Effets des agents anesthésiques sur la thermorégulation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Adaptation (acclimatisation)</a:t>
            </a:r>
            <a:endParaRPr/>
          </a:p>
          <a:p>
            <a:pPr indent="-108775" lvl="1" marL="548640" rtl="0" algn="l">
              <a:spcBef>
                <a:spcPts val="37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fr-FR"/>
              <a:t>REFERENCES: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pitaux">
  <a:themeElements>
    <a:clrScheme name="Nuances de gri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