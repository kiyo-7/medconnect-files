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6858000" cx="9144000"/>
  <p:notesSz cx="6858000" cy="9144000"/>
  <p:embeddedFontLst>
    <p:embeddedFont>
      <p:font typeface="Century Schoolbook"/>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1" roundtripDataSignature="AMtx7mgED3L7vDn3ZGBIvEKwB3Ng+7wv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0887C96-8192-4D15-9D35-93BFC3A88EA5}">
  <a:tblStyle styleId="{E0887C96-8192-4D15-9D35-93BFC3A88EA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enturySchoolbook-boldItalic.fntdata"/><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CenturySchoolbook-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CenturySchoolbook-italic.fntdata"/><Relationship Id="rId16" Type="http://schemas.openxmlformats.org/officeDocument/2006/relationships/slide" Target="slides/slide10.xml"/><Relationship Id="rId38" Type="http://schemas.openxmlformats.org/officeDocument/2006/relationships/font" Target="fonts/CenturySchoolbook-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3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21" name="Shape 21"/>
        <p:cNvGrpSpPr/>
        <p:nvPr/>
      </p:nvGrpSpPr>
      <p:grpSpPr>
        <a:xfrm>
          <a:off x="0" y="0"/>
          <a:ext cx="0" cy="0"/>
          <a:chOff x="0" y="0"/>
          <a:chExt cx="0" cy="0"/>
        </a:xfrm>
      </p:grpSpPr>
      <p:sp>
        <p:nvSpPr>
          <p:cNvPr id="22" name="Google Shape;22;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34"/>
          <p:cNvSpPr txBox="1"/>
          <p:nvPr>
            <p:ph type="title"/>
          </p:nvPr>
        </p:nvSpPr>
        <p:spPr>
          <a:xfrm>
            <a:off x="457404" y="275070"/>
            <a:ext cx="8229192" cy="114203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4"/>
          <p:cNvSpPr txBox="1"/>
          <p:nvPr>
            <p:ph idx="1" type="body"/>
          </p:nvPr>
        </p:nvSpPr>
        <p:spPr>
          <a:xfrm>
            <a:off x="457404" y="1600008"/>
            <a:ext cx="8229192" cy="4526395"/>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8" name="Shape 28"/>
        <p:cNvGrpSpPr/>
        <p:nvPr/>
      </p:nvGrpSpPr>
      <p:grpSpPr>
        <a:xfrm>
          <a:off x="0" y="0"/>
          <a:ext cx="0" cy="0"/>
          <a:chOff x="0" y="0"/>
          <a:chExt cx="0" cy="0"/>
        </a:xfrm>
      </p:grpSpPr>
      <p:sp>
        <p:nvSpPr>
          <p:cNvPr id="29" name="Google Shape;29;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 name="Google Shape;31;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34" name="Shape 34"/>
        <p:cNvGrpSpPr/>
        <p:nvPr/>
      </p:nvGrpSpPr>
      <p:grpSpPr>
        <a:xfrm>
          <a:off x="0" y="0"/>
          <a:ext cx="0" cy="0"/>
          <a:chOff x="0" y="0"/>
          <a:chExt cx="0" cy="0"/>
        </a:xfrm>
      </p:grpSpPr>
      <p:sp>
        <p:nvSpPr>
          <p:cNvPr id="35" name="Google Shape;35;p3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3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7" name="Google Shape;37;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40" name="Shape 40"/>
        <p:cNvGrpSpPr/>
        <p:nvPr/>
      </p:nvGrpSpPr>
      <p:grpSpPr>
        <a:xfrm>
          <a:off x="0" y="0"/>
          <a:ext cx="0" cy="0"/>
          <a:chOff x="0" y="0"/>
          <a:chExt cx="0" cy="0"/>
        </a:xfrm>
      </p:grpSpPr>
      <p:sp>
        <p:nvSpPr>
          <p:cNvPr id="41" name="Google Shape;41;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3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47" name="Shape 47"/>
        <p:cNvGrpSpPr/>
        <p:nvPr/>
      </p:nvGrpSpPr>
      <p:grpSpPr>
        <a:xfrm>
          <a:off x="0" y="0"/>
          <a:ext cx="0" cy="0"/>
          <a:chOff x="0" y="0"/>
          <a:chExt cx="0" cy="0"/>
        </a:xfrm>
      </p:grpSpPr>
      <p:sp>
        <p:nvSpPr>
          <p:cNvPr id="48" name="Google Shape;48;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3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3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1" name="Google Shape;51;p3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2" name="Google Shape;52;p3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3" name="Google Shape;53;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56" name="Shape 56"/>
        <p:cNvGrpSpPr/>
        <p:nvPr/>
      </p:nvGrpSpPr>
      <p:grpSpPr>
        <a:xfrm>
          <a:off x="0" y="0"/>
          <a:ext cx="0" cy="0"/>
          <a:chOff x="0" y="0"/>
          <a:chExt cx="0" cy="0"/>
        </a:xfrm>
      </p:grpSpPr>
      <p:sp>
        <p:nvSpPr>
          <p:cNvPr id="57" name="Google Shape;57;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61" name="Shape 61"/>
        <p:cNvGrpSpPr/>
        <p:nvPr/>
      </p:nvGrpSpPr>
      <p:grpSpPr>
        <a:xfrm>
          <a:off x="0" y="0"/>
          <a:ext cx="0" cy="0"/>
          <a:chOff x="0" y="0"/>
          <a:chExt cx="0" cy="0"/>
        </a:xfrm>
      </p:grpSpPr>
      <p:sp>
        <p:nvSpPr>
          <p:cNvPr id="62" name="Google Shape;62;p4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4" name="Google Shape;64;p4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68" name="Shape 68"/>
        <p:cNvGrpSpPr/>
        <p:nvPr/>
      </p:nvGrpSpPr>
      <p:grpSpPr>
        <a:xfrm>
          <a:off x="0" y="0"/>
          <a:ext cx="0" cy="0"/>
          <a:chOff x="0" y="0"/>
          <a:chExt cx="0" cy="0"/>
        </a:xfrm>
      </p:grpSpPr>
      <p:sp>
        <p:nvSpPr>
          <p:cNvPr id="69" name="Google Shape;69;p4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1"/>
          <p:cNvSpPr/>
          <p:nvPr>
            <p:ph idx="2" type="pic"/>
          </p:nvPr>
        </p:nvSpPr>
        <p:spPr>
          <a:xfrm>
            <a:off x="1792288" y="612775"/>
            <a:ext cx="5486400" cy="4114800"/>
          </a:xfrm>
          <a:prstGeom prst="rect">
            <a:avLst/>
          </a:prstGeom>
          <a:noFill/>
          <a:ln>
            <a:noFill/>
          </a:ln>
        </p:spPr>
      </p:sp>
      <p:sp>
        <p:nvSpPr>
          <p:cNvPr id="71" name="Google Shape;71;p4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2" name="Google Shape;72;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75" name="Shape 75"/>
        <p:cNvGrpSpPr/>
        <p:nvPr/>
      </p:nvGrpSpPr>
      <p:grpSpPr>
        <a:xfrm>
          <a:off x="0" y="0"/>
          <a:ext cx="0" cy="0"/>
          <a:chOff x="0" y="0"/>
          <a:chExt cx="0" cy="0"/>
        </a:xfrm>
      </p:grpSpPr>
      <p:sp>
        <p:nvSpPr>
          <p:cNvPr id="76" name="Google Shape;76;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4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8" name="Google Shape;78;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81" name="Shape 81"/>
        <p:cNvGrpSpPr/>
        <p:nvPr/>
      </p:nvGrpSpPr>
      <p:grpSpPr>
        <a:xfrm>
          <a:off x="0" y="0"/>
          <a:ext cx="0" cy="0"/>
          <a:chOff x="0" y="0"/>
          <a:chExt cx="0" cy="0"/>
        </a:xfrm>
      </p:grpSpPr>
      <p:sp>
        <p:nvSpPr>
          <p:cNvPr id="82" name="Google Shape;82;p4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4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4" name="Google Shape;84;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26.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6.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4.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hyperlink" Target="http://biochimej.univ-angers.fr/Page2/COURS/7RelStructFonction/2Biochimie/1SyntheseProteines/1SyntheseProt.htm" TargetMode="External"/><Relationship Id="rId5" Type="http://schemas.openxmlformats.org/officeDocument/2006/relationships/hyperlink" Target="http://biochimej.univ-angers.fr/Page2/COURS/3CoursdeBiochSTRUCT/2GLUCIDES/1Glucides.ht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7.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8.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ph type="ctrTitle"/>
          </p:nvPr>
        </p:nvSpPr>
        <p:spPr>
          <a:xfrm>
            <a:off x="685800" y="273037"/>
            <a:ext cx="7772400" cy="2941649"/>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6000"/>
              <a:buFont typeface="Arial"/>
              <a:buNone/>
            </a:pPr>
            <a:r>
              <a:rPr b="1" lang="fr-FR" sz="6000">
                <a:latin typeface="Arial"/>
                <a:ea typeface="Arial"/>
                <a:cs typeface="Arial"/>
                <a:sym typeface="Arial"/>
              </a:rPr>
              <a:t>Le  Système Endomembranaire </a:t>
            </a:r>
            <a:endParaRPr b="1" sz="6000">
              <a:latin typeface="Arial"/>
              <a:ea typeface="Arial"/>
              <a:cs typeface="Arial"/>
              <a:sym typeface="Arial"/>
            </a:endParaRPr>
          </a:p>
        </p:txBody>
      </p:sp>
      <p:pic>
        <p:nvPicPr>
          <p:cNvPr descr="https://encrypted-tbn3.gstatic.com/images?q=tbn:ANd9GcQisT-lrrlE1CjaEHBykxmPfpT93ofjlbwr9mfbbVrYTfwVuUpsAg" id="92" name="Google Shape;92;p1"/>
          <p:cNvPicPr preferRelativeResize="0"/>
          <p:nvPr/>
        </p:nvPicPr>
        <p:blipFill rotWithShape="1">
          <a:blip r:embed="rId3">
            <a:alphaModFix/>
          </a:blip>
          <a:srcRect b="0" l="0" r="0" t="0"/>
          <a:stretch/>
        </p:blipFill>
        <p:spPr>
          <a:xfrm>
            <a:off x="428596" y="3429000"/>
            <a:ext cx="8286808" cy="321471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p:nvPr/>
        </p:nvSpPr>
        <p:spPr>
          <a:xfrm>
            <a:off x="251520" y="523701"/>
            <a:ext cx="8568952" cy="6001643"/>
          </a:xfrm>
          <a:prstGeom prst="rect">
            <a:avLst/>
          </a:prstGeom>
          <a:noFill/>
          <a:ln>
            <a:noFill/>
          </a:ln>
        </p:spPr>
        <p:txBody>
          <a:bodyPr anchorCtr="0" anchor="t" bIns="45700" lIns="91425" spcFirstLastPara="1" rIns="91425" wrap="square" tIns="45700">
            <a:spAutoFit/>
          </a:bodyPr>
          <a:lstStyle/>
          <a:p>
            <a:pPr indent="-457200" lvl="0" marL="457200" marR="0" rtl="0" algn="just">
              <a:spcBef>
                <a:spcPts val="0"/>
              </a:spcBef>
              <a:spcAft>
                <a:spcPts val="0"/>
              </a:spcAft>
              <a:buClr>
                <a:schemeClr val="dk1"/>
              </a:buClr>
              <a:buSzPts val="2400"/>
              <a:buFont typeface="Arial"/>
              <a:buChar char="•"/>
            </a:pPr>
            <a:r>
              <a:rPr b="0" i="0" lang="fr-FR" sz="2400" u="none" cap="none" strike="noStrike">
                <a:solidFill>
                  <a:schemeClr val="dk1"/>
                </a:solidFill>
                <a:latin typeface="Century Schoolbook"/>
                <a:ea typeface="Century Schoolbook"/>
                <a:cs typeface="Century Schoolbook"/>
                <a:sym typeface="Century Schoolbook"/>
              </a:rPr>
              <a:t>le système endomembranaire est l'ensemble des cavités cytoplasmiques limitées par des membranes inter-communicantes entre elles par l'intermédiaire de vésicules ou canalicules. </a:t>
            </a:r>
            <a:endParaRPr/>
          </a:p>
          <a:p>
            <a:pPr indent="-457200" lvl="0" marL="457200" marR="0" rtl="0" algn="just">
              <a:spcBef>
                <a:spcPts val="0"/>
              </a:spcBef>
              <a:spcAft>
                <a:spcPts val="0"/>
              </a:spcAft>
              <a:buClr>
                <a:schemeClr val="dk1"/>
              </a:buClr>
              <a:buSzPts val="2400"/>
              <a:buFont typeface="Arial"/>
              <a:buChar char="•"/>
            </a:pPr>
            <a:r>
              <a:rPr b="0" i="0" lang="fr-FR" sz="2400" u="none" cap="none" strike="noStrike">
                <a:solidFill>
                  <a:schemeClr val="dk1"/>
                </a:solidFill>
                <a:latin typeface="Century Schoolbook"/>
                <a:ea typeface="Century Schoolbook"/>
                <a:cs typeface="Century Schoolbook"/>
                <a:sym typeface="Century Schoolbook"/>
              </a:rPr>
              <a:t>Ces organites existent uniquement dans les cellules eucaryotes.</a:t>
            </a:r>
            <a:endParaRPr/>
          </a:p>
          <a:p>
            <a:pPr indent="0" lvl="0" marL="0" marR="0" rtl="0" algn="just">
              <a:spcBef>
                <a:spcPts val="0"/>
              </a:spcBef>
              <a:spcAft>
                <a:spcPts val="0"/>
              </a:spcAft>
              <a:buNone/>
            </a:pPr>
            <a:r>
              <a:t/>
            </a:r>
            <a:endParaRPr b="0" i="0" sz="2400" u="none" cap="none" strike="noStrike">
              <a:solidFill>
                <a:schemeClr val="dk1"/>
              </a:solidFill>
              <a:latin typeface="Century Schoolbook"/>
              <a:ea typeface="Century Schoolbook"/>
              <a:cs typeface="Century Schoolbook"/>
              <a:sym typeface="Century Schoolbook"/>
            </a:endParaRPr>
          </a:p>
          <a:p>
            <a:pPr indent="-342900" lvl="0" marL="342900" marR="0" rtl="0" algn="just">
              <a:spcBef>
                <a:spcPts val="0"/>
              </a:spcBef>
              <a:spcAft>
                <a:spcPts val="0"/>
              </a:spcAft>
              <a:buClr>
                <a:schemeClr val="dk1"/>
              </a:buClr>
              <a:buSzPts val="2400"/>
              <a:buFont typeface="Arial"/>
              <a:buChar char="•"/>
            </a:pPr>
            <a:r>
              <a:rPr b="0" i="0" lang="fr-FR" sz="2400" u="none" cap="none" strike="noStrike">
                <a:solidFill>
                  <a:schemeClr val="dk1"/>
                </a:solidFill>
                <a:latin typeface="Century Schoolbook"/>
                <a:ea typeface="Century Schoolbook"/>
                <a:cs typeface="Century Schoolbook"/>
                <a:sym typeface="Century Schoolbook"/>
              </a:rPr>
              <a:t>Les différents compartiments de ce système sont: </a:t>
            </a:r>
            <a:endParaRPr/>
          </a:p>
          <a:p>
            <a:pPr indent="0" lvl="0" marL="0" marR="0" rtl="0" algn="just">
              <a:spcBef>
                <a:spcPts val="0"/>
              </a:spcBef>
              <a:spcAft>
                <a:spcPts val="0"/>
              </a:spcAft>
              <a:buNone/>
            </a:pPr>
            <a:r>
              <a:rPr b="0" i="0" lang="fr-FR" sz="2400" u="none" cap="none" strike="noStrike">
                <a:solidFill>
                  <a:schemeClr val="dk1"/>
                </a:solidFill>
                <a:latin typeface="Century Schoolbook"/>
                <a:ea typeface="Century Schoolbook"/>
                <a:cs typeface="Century Schoolbook"/>
                <a:sym typeface="Century Schoolbook"/>
              </a:rPr>
              <a:t>* Le réticulum endoplasmique  </a:t>
            </a:r>
            <a:endParaRPr b="0" i="0" sz="2400" u="none" cap="none" strike="noStrike">
              <a:solidFill>
                <a:schemeClr val="dk1"/>
              </a:solidFill>
              <a:latin typeface="Century Schoolbook"/>
              <a:ea typeface="Century Schoolbook"/>
              <a:cs typeface="Century Schoolbook"/>
              <a:sym typeface="Century Schoolbook"/>
            </a:endParaRPr>
          </a:p>
          <a:p>
            <a:pPr indent="0" lvl="0" marL="0" marR="0" rtl="0" algn="just">
              <a:spcBef>
                <a:spcPts val="0"/>
              </a:spcBef>
              <a:spcAft>
                <a:spcPts val="0"/>
              </a:spcAft>
              <a:buNone/>
            </a:pPr>
            <a:r>
              <a:rPr b="0" i="0" lang="fr-FR" sz="2400" u="none" cap="none" strike="noStrike">
                <a:solidFill>
                  <a:schemeClr val="dk1"/>
                </a:solidFill>
                <a:latin typeface="Century Schoolbook"/>
                <a:ea typeface="Century Schoolbook"/>
                <a:cs typeface="Century Schoolbook"/>
                <a:sym typeface="Century Schoolbook"/>
              </a:rPr>
              <a:t>* L’appareil de Golgi    </a:t>
            </a:r>
            <a:endParaRPr b="0" i="0" sz="2400" u="none" cap="none" strike="noStrike">
              <a:solidFill>
                <a:schemeClr val="dk1"/>
              </a:solidFill>
              <a:latin typeface="Century Schoolbook"/>
              <a:ea typeface="Century Schoolbook"/>
              <a:cs typeface="Century Schoolbook"/>
              <a:sym typeface="Century Schoolbook"/>
            </a:endParaRPr>
          </a:p>
          <a:p>
            <a:pPr indent="0" lvl="0" marL="0" marR="0" rtl="0" algn="just">
              <a:spcBef>
                <a:spcPts val="0"/>
              </a:spcBef>
              <a:spcAft>
                <a:spcPts val="0"/>
              </a:spcAft>
              <a:buNone/>
            </a:pPr>
            <a:r>
              <a:rPr b="0" i="0" lang="fr-FR" sz="2400" u="none" cap="none" strike="noStrike">
                <a:solidFill>
                  <a:schemeClr val="dk1"/>
                </a:solidFill>
                <a:latin typeface="Century Schoolbook"/>
                <a:ea typeface="Century Schoolbook"/>
                <a:cs typeface="Century Schoolbook"/>
                <a:sym typeface="Century Schoolbook"/>
              </a:rPr>
              <a:t>* Les endosomes </a:t>
            </a:r>
            <a:endParaRPr/>
          </a:p>
          <a:p>
            <a:pPr indent="0" lvl="0" marL="0" marR="0" rtl="0" algn="just">
              <a:spcBef>
                <a:spcPts val="0"/>
              </a:spcBef>
              <a:spcAft>
                <a:spcPts val="0"/>
              </a:spcAft>
              <a:buNone/>
            </a:pPr>
            <a:r>
              <a:rPr b="0" i="0" lang="fr-FR" sz="2400" u="none" cap="none" strike="noStrike">
                <a:solidFill>
                  <a:schemeClr val="dk1"/>
                </a:solidFill>
                <a:latin typeface="Century Schoolbook"/>
                <a:ea typeface="Century Schoolbook"/>
                <a:cs typeface="Century Schoolbook"/>
                <a:sym typeface="Century Schoolbook"/>
              </a:rPr>
              <a:t>* Les lysosomes </a:t>
            </a:r>
            <a:endParaRPr b="0" i="0" sz="2400" u="none" cap="none" strike="noStrike">
              <a:solidFill>
                <a:schemeClr val="dk1"/>
              </a:solidFill>
              <a:latin typeface="Century Schoolbook"/>
              <a:ea typeface="Century Schoolbook"/>
              <a:cs typeface="Century Schoolbook"/>
              <a:sym typeface="Century Schoolbook"/>
            </a:endParaRPr>
          </a:p>
          <a:p>
            <a:pPr indent="-304800" lvl="0" marL="457200" marR="0" rtl="0" algn="just">
              <a:spcBef>
                <a:spcPts val="0"/>
              </a:spcBef>
              <a:spcAft>
                <a:spcPts val="0"/>
              </a:spcAft>
              <a:buClr>
                <a:schemeClr val="dk1"/>
              </a:buClr>
              <a:buSzPts val="2400"/>
              <a:buFont typeface="Arial"/>
              <a:buNone/>
            </a:pPr>
            <a:r>
              <a:t/>
            </a:r>
            <a:endParaRPr b="0" i="0" sz="2400" u="none" cap="none" strike="noStrike">
              <a:solidFill>
                <a:schemeClr val="dk1"/>
              </a:solidFill>
              <a:latin typeface="Century Schoolbook"/>
              <a:ea typeface="Century Schoolbook"/>
              <a:cs typeface="Century Schoolbook"/>
              <a:sym typeface="Century Schoolbook"/>
            </a:endParaRPr>
          </a:p>
          <a:p>
            <a:pPr indent="-304800" lvl="0" marL="457200" marR="0" rtl="0" algn="just">
              <a:spcBef>
                <a:spcPts val="0"/>
              </a:spcBef>
              <a:spcAft>
                <a:spcPts val="0"/>
              </a:spcAft>
              <a:buClr>
                <a:schemeClr val="dk1"/>
              </a:buClr>
              <a:buSzPts val="2400"/>
              <a:buFont typeface="Arial"/>
              <a:buNone/>
            </a:pPr>
            <a:r>
              <a:t/>
            </a:r>
            <a:endParaRPr b="0" i="0" sz="2400" u="none" cap="none" strike="noStrike">
              <a:solidFill>
                <a:schemeClr val="dk1"/>
              </a:solidFill>
              <a:latin typeface="Century Schoolbook"/>
              <a:ea typeface="Century Schoolbook"/>
              <a:cs typeface="Century Schoolbook"/>
              <a:sym typeface="Century Schoolbook"/>
            </a:endParaRPr>
          </a:p>
          <a:p>
            <a:pPr indent="0" lvl="0" marL="0" marR="0" rtl="0" algn="just">
              <a:spcBef>
                <a:spcPts val="0"/>
              </a:spcBef>
              <a:spcAft>
                <a:spcPts val="0"/>
              </a:spcAft>
              <a:buNone/>
            </a:pPr>
            <a:r>
              <a:rPr b="0" i="0" lang="fr-FR" sz="2400" u="none" cap="none" strike="noStrike">
                <a:solidFill>
                  <a:schemeClr val="dk1"/>
                </a:solidFill>
                <a:latin typeface="Century Schoolbook"/>
                <a:ea typeface="Century Schoolbook"/>
                <a:cs typeface="Century Schoolbook"/>
                <a:sym typeface="Century Schoolbook"/>
              </a:rPr>
              <a:t>Nb: les mitochondries et les peroxysomes ne font pas partie de ce système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3"/>
          <p:cNvPicPr preferRelativeResize="0"/>
          <p:nvPr/>
        </p:nvPicPr>
        <p:blipFill rotWithShape="1">
          <a:blip r:embed="rId3">
            <a:alphaModFix/>
          </a:blip>
          <a:srcRect b="0" l="0" r="52599" t="0"/>
          <a:stretch/>
        </p:blipFill>
        <p:spPr>
          <a:xfrm>
            <a:off x="393463" y="3861048"/>
            <a:ext cx="3927950" cy="2894773"/>
          </a:xfrm>
          <a:prstGeom prst="rect">
            <a:avLst/>
          </a:prstGeom>
          <a:noFill/>
          <a:ln>
            <a:noFill/>
          </a:ln>
        </p:spPr>
      </p:pic>
      <p:sp>
        <p:nvSpPr>
          <p:cNvPr id="103" name="Google Shape;103;p3"/>
          <p:cNvSpPr/>
          <p:nvPr/>
        </p:nvSpPr>
        <p:spPr>
          <a:xfrm>
            <a:off x="71438" y="3241011"/>
            <a:ext cx="4572000" cy="637097"/>
          </a:xfrm>
          <a:prstGeom prst="rect">
            <a:avLst/>
          </a:prstGeom>
          <a:noFill/>
          <a:ln>
            <a:noFill/>
          </a:ln>
        </p:spPr>
        <p:txBody>
          <a:bodyPr anchorCtr="0" anchor="t" bIns="45700" lIns="91425" spcFirstLastPara="1" rIns="91425" wrap="square" tIns="45700">
            <a:spAutoFit/>
          </a:bodyPr>
          <a:lstStyle/>
          <a:p>
            <a:pPr indent="0" lvl="0" marL="411480" marR="0" rtl="0" algn="l">
              <a:lnSpc>
                <a:spcPct val="80639"/>
              </a:lnSpc>
              <a:spcBef>
                <a:spcPts val="0"/>
              </a:spcBef>
              <a:spcAft>
                <a:spcPts val="0"/>
              </a:spcAft>
              <a:buNone/>
            </a:pPr>
            <a:r>
              <a:rPr b="1" i="0" lang="fr-FR" sz="2000" u="none" cap="none" strike="noStrike">
                <a:solidFill>
                  <a:srgbClr val="000000"/>
                </a:solidFill>
                <a:latin typeface="Arial"/>
                <a:ea typeface="Arial"/>
                <a:cs typeface="Arial"/>
                <a:sym typeface="Arial"/>
              </a:rPr>
              <a:t>Observation de la cellule</a:t>
            </a:r>
            <a:endParaRPr/>
          </a:p>
          <a:p>
            <a:pPr indent="0" lvl="0" marL="411480" marR="0" rtl="0" algn="l">
              <a:lnSpc>
                <a:spcPct val="95999"/>
              </a:lnSpc>
              <a:spcBef>
                <a:spcPts val="0"/>
              </a:spcBef>
              <a:spcAft>
                <a:spcPts val="0"/>
              </a:spcAft>
              <a:buNone/>
            </a:pPr>
            <a:r>
              <a:rPr b="1" i="0" lang="fr-FR" sz="2000" u="none" cap="none" strike="noStrike">
                <a:solidFill>
                  <a:srgbClr val="000000"/>
                </a:solidFill>
                <a:latin typeface="Arial"/>
                <a:ea typeface="Arial"/>
                <a:cs typeface="Arial"/>
                <a:sym typeface="Arial"/>
              </a:rPr>
              <a:t>au Microscope électronique</a:t>
            </a:r>
            <a:endParaRPr b="1" i="0" sz="2000" u="none" cap="none" strike="noStrike">
              <a:solidFill>
                <a:srgbClr val="000000"/>
              </a:solidFill>
              <a:latin typeface="Arial"/>
              <a:ea typeface="Arial"/>
              <a:cs typeface="Arial"/>
              <a:sym typeface="Arial"/>
            </a:endParaRPr>
          </a:p>
        </p:txBody>
      </p:sp>
      <p:sp>
        <p:nvSpPr>
          <p:cNvPr id="104" name="Google Shape;104;p3"/>
          <p:cNvSpPr/>
          <p:nvPr/>
        </p:nvSpPr>
        <p:spPr>
          <a:xfrm>
            <a:off x="235532" y="10432"/>
            <a:ext cx="8568952" cy="378565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i="0" lang="fr-FR" sz="1800" u="none" cap="none" strike="noStrike">
                <a:solidFill>
                  <a:schemeClr val="dk1"/>
                </a:solidFill>
                <a:latin typeface="Century Schoolbook"/>
                <a:ea typeface="Century Schoolbook"/>
                <a:cs typeface="Century Schoolbook"/>
                <a:sym typeface="Century Schoolbook"/>
              </a:rPr>
              <a:t>Le réticulum endoplasmique   </a:t>
            </a:r>
            <a:endParaRPr b="1" i="0" sz="1800" u="none" cap="none" strike="noStrike">
              <a:solidFill>
                <a:schemeClr val="dk1"/>
              </a:solidFill>
              <a:latin typeface="Century Schoolbook"/>
              <a:ea typeface="Century Schoolbook"/>
              <a:cs typeface="Century Schoolbook"/>
              <a:sym typeface="Century Schoolbook"/>
            </a:endParaRPr>
          </a:p>
          <a:p>
            <a:pPr indent="0" lvl="0" marL="0" marR="0" rtl="0" algn="just">
              <a:lnSpc>
                <a:spcPct val="150000"/>
              </a:lnSpc>
              <a:spcBef>
                <a:spcPts val="0"/>
              </a:spcBef>
              <a:spcAft>
                <a:spcPts val="0"/>
              </a:spcAft>
              <a:buNone/>
            </a:pPr>
            <a:r>
              <a:rPr b="0" i="0" lang="fr-FR" sz="1800" u="none" cap="none" strike="noStrike">
                <a:solidFill>
                  <a:schemeClr val="dk1"/>
                </a:solidFill>
                <a:latin typeface="Century Schoolbook"/>
                <a:ea typeface="Century Schoolbook"/>
                <a:cs typeface="Century Schoolbook"/>
                <a:sym typeface="Century Schoolbook"/>
              </a:rPr>
              <a:t>Est un organite prépondérant occupant environs 20% du volume cellulaire chez les eucaryotes. Isolé du cytosol par une membrane qui forme un feuillet continu délimitant un espace interne « lumière ou citerne » et créant un réseau de cavités ou de vésicules plus ou moins dilatés communiquant entre elles. </a:t>
            </a:r>
            <a:r>
              <a:rPr b="0" i="0" lang="fr-FR" sz="1800" u="none" cap="none" strike="noStrike">
                <a:solidFill>
                  <a:schemeClr val="dk1"/>
                </a:solidFill>
                <a:latin typeface="Calibri"/>
                <a:ea typeface="Calibri"/>
                <a:cs typeface="Calibri"/>
                <a:sym typeface="Calibri"/>
              </a:rPr>
              <a:t>L’observation au microscope électronique montre une continuité entre la membrane réticulaire et l’enveloppe nucléaire. </a:t>
            </a:r>
            <a:endParaRPr/>
          </a:p>
          <a:p>
            <a:pPr indent="0" lvl="0" marL="0" marR="0" rtl="0" algn="just">
              <a:lnSpc>
                <a:spcPct val="150000"/>
              </a:lnSpc>
              <a:spcBef>
                <a:spcPts val="0"/>
              </a:spcBef>
              <a:spcAft>
                <a:spcPts val="0"/>
              </a:spcAft>
              <a:buNone/>
            </a:pPr>
            <a:r>
              <a:t/>
            </a:r>
            <a:endParaRPr b="0" i="0" sz="1600" u="none" cap="none" strike="noStrike">
              <a:solidFill>
                <a:schemeClr val="dk1"/>
              </a:solidFill>
              <a:latin typeface="Calibri"/>
              <a:ea typeface="Calibri"/>
              <a:cs typeface="Calibri"/>
              <a:sym typeface="Calibri"/>
            </a:endParaRPr>
          </a:p>
          <a:p>
            <a:pPr indent="0" lvl="0" marL="0" marR="0" rtl="0" algn="just">
              <a:lnSpc>
                <a:spcPct val="150000"/>
              </a:lnSpc>
              <a:spcBef>
                <a:spcPts val="0"/>
              </a:spcBef>
              <a:spcAft>
                <a:spcPts val="0"/>
              </a:spcAft>
              <a:buNone/>
            </a:pPr>
            <a:r>
              <a:rPr b="0" i="0" lang="fr-FR" sz="1800" u="none" cap="none" strike="noStrike">
                <a:solidFill>
                  <a:schemeClr val="dk1"/>
                </a:solidFill>
                <a:latin typeface="Century Schoolbook"/>
                <a:ea typeface="Century Schoolbook"/>
                <a:cs typeface="Century Schoolbook"/>
                <a:sym typeface="Century Schoolbook"/>
              </a:rPr>
              <a:t> </a:t>
            </a:r>
            <a:endParaRPr b="0" i="0" sz="1600" u="none" cap="none" strike="noStrike">
              <a:solidFill>
                <a:schemeClr val="dk1"/>
              </a:solidFill>
              <a:latin typeface="Calibri"/>
              <a:ea typeface="Calibri"/>
              <a:cs typeface="Calibri"/>
              <a:sym typeface="Calibri"/>
            </a:endParaRPr>
          </a:p>
        </p:txBody>
      </p:sp>
      <p:pic>
        <p:nvPicPr>
          <p:cNvPr descr="http://lesbeauxjardins.com/cours/botanique/2-cytologie/reticulum.gif" id="105" name="Google Shape;105;p3"/>
          <p:cNvPicPr preferRelativeResize="0"/>
          <p:nvPr/>
        </p:nvPicPr>
        <p:blipFill rotWithShape="1">
          <a:blip r:embed="rId4">
            <a:alphaModFix/>
          </a:blip>
          <a:srcRect b="0" l="3089" r="4994" t="22105"/>
          <a:stretch/>
        </p:blipFill>
        <p:spPr>
          <a:xfrm>
            <a:off x="4788024" y="3241011"/>
            <a:ext cx="4032448" cy="351481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idx="4294967295" type="body"/>
          </p:nvPr>
        </p:nvSpPr>
        <p:spPr>
          <a:xfrm>
            <a:off x="571472" y="357166"/>
            <a:ext cx="8219691" cy="778258"/>
          </a:xfrm>
          <a:prstGeom prst="rect">
            <a:avLst/>
          </a:prstGeom>
          <a:noFill/>
          <a:ln>
            <a:noFill/>
          </a:ln>
        </p:spPr>
        <p:txBody>
          <a:bodyPr anchorCtr="0" anchor="t" bIns="0" lIns="0" spcFirstLastPara="1" rIns="0" wrap="square" tIns="0">
            <a:normAutofit/>
          </a:bodyPr>
          <a:lstStyle/>
          <a:p>
            <a:pPr indent="0" lvl="0" marL="1763237" rtl="0" algn="l">
              <a:lnSpc>
                <a:spcPct val="82559"/>
              </a:lnSpc>
              <a:spcBef>
                <a:spcPts val="0"/>
              </a:spcBef>
              <a:spcAft>
                <a:spcPts val="0"/>
              </a:spcAft>
              <a:buClr>
                <a:srgbClr val="D83804"/>
              </a:buClr>
              <a:buSzPts val="4000"/>
              <a:buNone/>
            </a:pPr>
            <a:r>
              <a:rPr b="1" lang="fr-FR" sz="4000">
                <a:solidFill>
                  <a:srgbClr val="D83804"/>
                </a:solidFill>
                <a:latin typeface="Arial"/>
                <a:ea typeface="Arial"/>
                <a:cs typeface="Arial"/>
                <a:sym typeface="Arial"/>
              </a:rPr>
              <a:t>REL et REG</a:t>
            </a:r>
            <a:endParaRPr/>
          </a:p>
        </p:txBody>
      </p:sp>
      <p:sp>
        <p:nvSpPr>
          <p:cNvPr id="111" name="Google Shape;111;p4"/>
          <p:cNvSpPr txBox="1"/>
          <p:nvPr>
            <p:ph idx="4294967295" type="body"/>
          </p:nvPr>
        </p:nvSpPr>
        <p:spPr>
          <a:xfrm>
            <a:off x="563000" y="1224705"/>
            <a:ext cx="8219691" cy="271324"/>
          </a:xfrm>
          <a:prstGeom prst="rect">
            <a:avLst/>
          </a:prstGeom>
          <a:noFill/>
          <a:ln>
            <a:noFill/>
          </a:ln>
        </p:spPr>
        <p:txBody>
          <a:bodyPr anchorCtr="0" anchor="t" bIns="0" lIns="0" spcFirstLastPara="1" rIns="0" wrap="square" tIns="0">
            <a:normAutofit/>
          </a:bodyPr>
          <a:lstStyle/>
          <a:p>
            <a:pPr indent="0" lvl="0" marL="4528315" rtl="0" algn="l">
              <a:lnSpc>
                <a:spcPct val="95999"/>
              </a:lnSpc>
              <a:spcBef>
                <a:spcPts val="0"/>
              </a:spcBef>
              <a:spcAft>
                <a:spcPts val="0"/>
              </a:spcAft>
              <a:buClr>
                <a:srgbClr val="000000"/>
              </a:buClr>
              <a:buSzPts val="1400"/>
              <a:buNone/>
            </a:pPr>
            <a:r>
              <a:rPr b="1" i="1" lang="fr-FR" sz="1400">
                <a:solidFill>
                  <a:srgbClr val="000000"/>
                </a:solidFill>
                <a:latin typeface="Arial"/>
                <a:ea typeface="Arial"/>
                <a:cs typeface="Arial"/>
                <a:sym typeface="Arial"/>
              </a:rPr>
              <a:t>Observation au microscope électronique</a:t>
            </a:r>
            <a:endParaRPr/>
          </a:p>
        </p:txBody>
      </p:sp>
      <p:graphicFrame>
        <p:nvGraphicFramePr>
          <p:cNvPr id="112" name="Google Shape;112;p4"/>
          <p:cNvGraphicFramePr/>
          <p:nvPr/>
        </p:nvGraphicFramePr>
        <p:xfrm>
          <a:off x="214282" y="1496029"/>
          <a:ext cx="3000000" cy="3000000"/>
        </p:xfrm>
        <a:graphic>
          <a:graphicData uri="http://schemas.openxmlformats.org/drawingml/2006/table">
            <a:tbl>
              <a:tblPr>
                <a:noFill/>
                <a:tableStyleId>{E0887C96-8192-4D15-9D35-93BFC3A88EA5}</a:tableStyleId>
              </a:tblPr>
              <a:tblGrid>
                <a:gridCol w="4302875"/>
                <a:gridCol w="4265525"/>
              </a:tblGrid>
              <a:tr h="4940875">
                <a:tc>
                  <a:txBody>
                    <a:bodyPr/>
                    <a:lstStyle/>
                    <a:p>
                      <a:pPr indent="411480" lvl="0" marL="0" marR="0" rtl="0" algn="l">
                        <a:lnSpc>
                          <a:spcPct val="95999"/>
                        </a:lnSpc>
                        <a:spcBef>
                          <a:spcPts val="0"/>
                        </a:spcBef>
                        <a:spcAft>
                          <a:spcPts val="0"/>
                        </a:spcAft>
                        <a:buClr>
                          <a:srgbClr val="000000"/>
                        </a:buClr>
                        <a:buSzPts val="2400"/>
                        <a:buFont typeface="Noto Sans Symbols"/>
                        <a:buNone/>
                      </a:pPr>
                      <a:r>
                        <a:rPr b="1" lang="fr-FR" sz="2400" u="none" cap="none" strike="noStrike">
                          <a:solidFill>
                            <a:srgbClr val="000000"/>
                          </a:solidFill>
                          <a:latin typeface="Arial"/>
                          <a:ea typeface="Arial"/>
                          <a:cs typeface="Arial"/>
                          <a:sym typeface="Arial"/>
                        </a:rPr>
                        <a:t>2 types de réticulum sont définis:</a:t>
                      </a:r>
                      <a:endParaRPr/>
                    </a:p>
                    <a:p>
                      <a:pPr indent="-411480" lvl="0" marL="411480" marR="0" rtl="0" algn="l">
                        <a:lnSpc>
                          <a:spcPct val="95999"/>
                        </a:lnSpc>
                        <a:spcBef>
                          <a:spcPts val="4320"/>
                        </a:spcBef>
                        <a:spcAft>
                          <a:spcPts val="0"/>
                        </a:spcAft>
                        <a:buClr>
                          <a:srgbClr val="000000"/>
                        </a:buClr>
                        <a:buSzPts val="1900"/>
                        <a:buFont typeface="Noto Sans Symbols"/>
                        <a:buChar char="∙"/>
                      </a:pPr>
                      <a:r>
                        <a:rPr b="1" lang="fr-FR" sz="1900" u="none" cap="none" strike="noStrike">
                          <a:solidFill>
                            <a:srgbClr val="000000"/>
                          </a:solidFill>
                          <a:latin typeface="Arial"/>
                          <a:ea typeface="Arial"/>
                          <a:cs typeface="Arial"/>
                          <a:sym typeface="Arial"/>
                        </a:rPr>
                        <a:t>Le Réticulum Endoplasmique</a:t>
                      </a:r>
                      <a:endParaRPr/>
                    </a:p>
                    <a:p>
                      <a:pPr indent="0" lvl="0" marL="342900" marR="0" rtl="0" algn="l">
                        <a:lnSpc>
                          <a:spcPct val="95999"/>
                        </a:lnSpc>
                        <a:spcBef>
                          <a:spcPts val="0"/>
                        </a:spcBef>
                        <a:spcAft>
                          <a:spcPts val="0"/>
                        </a:spcAft>
                        <a:buNone/>
                      </a:pPr>
                      <a:r>
                        <a:rPr b="1" lang="fr-FR" sz="1900" u="none" cap="none" strike="noStrike">
                          <a:solidFill>
                            <a:srgbClr val="000000"/>
                          </a:solidFill>
                          <a:latin typeface="Arial"/>
                          <a:ea typeface="Arial"/>
                          <a:cs typeface="Arial"/>
                          <a:sym typeface="Arial"/>
                        </a:rPr>
                        <a:t>Lisse (REL)</a:t>
                      </a:r>
                      <a:endParaRPr/>
                    </a:p>
                    <a:p>
                      <a:pPr indent="-411480" lvl="0" marL="411480" marR="0" rtl="0" algn="l">
                        <a:lnSpc>
                          <a:spcPct val="95999"/>
                        </a:lnSpc>
                        <a:spcBef>
                          <a:spcPts val="3960"/>
                        </a:spcBef>
                        <a:spcAft>
                          <a:spcPts val="0"/>
                        </a:spcAft>
                        <a:buClr>
                          <a:srgbClr val="000000"/>
                        </a:buClr>
                        <a:buSzPts val="1900"/>
                        <a:buFont typeface="Noto Sans Symbols"/>
                        <a:buChar char="∙"/>
                      </a:pPr>
                      <a:r>
                        <a:rPr b="1" lang="fr-FR" sz="1900" u="none" cap="none" strike="noStrike">
                          <a:solidFill>
                            <a:srgbClr val="000000"/>
                          </a:solidFill>
                          <a:latin typeface="Arial"/>
                          <a:ea typeface="Arial"/>
                          <a:cs typeface="Arial"/>
                          <a:sym typeface="Arial"/>
                        </a:rPr>
                        <a:t>Le Réticulum Endoplasmique</a:t>
                      </a:r>
                      <a:endParaRPr/>
                    </a:p>
                    <a:p>
                      <a:pPr indent="0" lvl="0" marL="342900" marR="0" rtl="0" algn="l">
                        <a:lnSpc>
                          <a:spcPct val="95999"/>
                        </a:lnSpc>
                        <a:spcBef>
                          <a:spcPts val="0"/>
                        </a:spcBef>
                        <a:spcAft>
                          <a:spcPts val="0"/>
                        </a:spcAft>
                        <a:buNone/>
                      </a:pPr>
                      <a:r>
                        <a:rPr b="1" lang="fr-FR" sz="1900" u="none" cap="none" strike="noStrike">
                          <a:solidFill>
                            <a:srgbClr val="000000"/>
                          </a:solidFill>
                          <a:latin typeface="Arial"/>
                          <a:ea typeface="Arial"/>
                          <a:cs typeface="Arial"/>
                          <a:sym typeface="Arial"/>
                        </a:rPr>
                        <a:t>Granuleux (REG) qui comporte</a:t>
                      </a:r>
                      <a:endParaRPr/>
                    </a:p>
                    <a:p>
                      <a:pPr indent="0" lvl="0" marL="342900" marR="0" rtl="0" algn="l">
                        <a:lnSpc>
                          <a:spcPct val="77759"/>
                        </a:lnSpc>
                        <a:spcBef>
                          <a:spcPts val="360"/>
                        </a:spcBef>
                        <a:spcAft>
                          <a:spcPts val="0"/>
                        </a:spcAft>
                        <a:buNone/>
                      </a:pPr>
                      <a:r>
                        <a:rPr b="1" lang="fr-FR" sz="1900" u="none" cap="none" strike="noStrike">
                          <a:solidFill>
                            <a:srgbClr val="000000"/>
                          </a:solidFill>
                          <a:latin typeface="Arial"/>
                          <a:ea typeface="Arial"/>
                          <a:cs typeface="Arial"/>
                          <a:sym typeface="Arial"/>
                        </a:rPr>
                        <a:t>des ribosomes</a:t>
                      </a:r>
                      <a:endParaRPr/>
                    </a:p>
                  </a:txBody>
                  <a:tcPr marT="0" marB="0" marR="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fr-FR" sz="100" u="none" cap="none" strike="noStrike"/>
                        <a:t> </a:t>
                      </a:r>
                      <a:endParaRPr/>
                    </a:p>
                  </a:txBody>
                  <a:tcPr marT="0" marB="0" marR="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34125">
                <a:tc>
                  <a:txBody>
                    <a:bodyPr/>
                    <a:lstStyle/>
                    <a:p>
                      <a:pPr indent="0" lvl="0" marL="0" marR="0" rtl="0" algn="l">
                        <a:spcBef>
                          <a:spcPts val="0"/>
                        </a:spcBef>
                        <a:spcAft>
                          <a:spcPts val="0"/>
                        </a:spcAft>
                        <a:buNone/>
                      </a:pPr>
                      <a:r>
                        <a:rPr lang="fr-FR" sz="100" u="none" cap="none" strike="noStrike"/>
                        <a:t> </a:t>
                      </a:r>
                      <a:endParaRPr/>
                    </a:p>
                  </a:txBody>
                  <a:tcPr marT="0" marB="0" marR="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2865755" rtl="0" algn="r">
                        <a:lnSpc>
                          <a:spcPct val="95999"/>
                        </a:lnSpc>
                        <a:spcBef>
                          <a:spcPts val="0"/>
                        </a:spcBef>
                        <a:spcAft>
                          <a:spcPts val="0"/>
                        </a:spcAft>
                        <a:buNone/>
                      </a:pPr>
                      <a:r>
                        <a:t/>
                      </a:r>
                      <a:endParaRPr b="1" i="1" sz="1400" u="none" cap="none" strike="noStrike">
                        <a:solidFill>
                          <a:srgbClr val="000000"/>
                        </a:solidFill>
                        <a:latin typeface="Arial"/>
                        <a:ea typeface="Arial"/>
                        <a:cs typeface="Arial"/>
                        <a:sym typeface="Arial"/>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113" name="Google Shape;113;p4"/>
          <p:cNvPicPr preferRelativeResize="0"/>
          <p:nvPr/>
        </p:nvPicPr>
        <p:blipFill rotWithShape="1">
          <a:blip r:embed="rId3">
            <a:alphaModFix/>
          </a:blip>
          <a:srcRect b="0" l="0" r="0" t="0"/>
          <a:stretch/>
        </p:blipFill>
        <p:spPr>
          <a:xfrm>
            <a:off x="4714876" y="1571612"/>
            <a:ext cx="4083786" cy="494087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5"/>
          <p:cNvSpPr/>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 name="Google Shape;119;p5"/>
          <p:cNvSpPr/>
          <p:nvPr/>
        </p:nvSpPr>
        <p:spPr>
          <a:xfrm>
            <a:off x="96045" y="2559932"/>
            <a:ext cx="2749471" cy="923330"/>
          </a:xfrm>
          <a:prstGeom prst="rect">
            <a:avLst/>
          </a:prstGeom>
          <a:noFill/>
          <a:ln>
            <a:noFill/>
          </a:ln>
        </p:spPr>
        <p:txBody>
          <a:bodyPr anchorCtr="0" anchor="ctr" bIns="45700" lIns="91425" spcFirstLastPara="1" rIns="91425" wrap="square" tIns="45700">
            <a:spAutoFit/>
          </a:bodyPr>
          <a:lstStyle/>
          <a:p>
            <a:pPr indent="0" lvl="0" marL="0" marR="0" rtl="0" algn="l">
              <a:lnSpc>
                <a:spcPct val="150000"/>
              </a:lnSpc>
              <a:spcBef>
                <a:spcPts val="0"/>
              </a:spcBef>
              <a:spcAft>
                <a:spcPts val="0"/>
              </a:spcAft>
              <a:buClr>
                <a:schemeClr val="dk1"/>
              </a:buClr>
              <a:buSzPts val="1800"/>
              <a:buFont typeface="Arial"/>
              <a:buNone/>
            </a:pPr>
            <a:r>
              <a:rPr i="0" lang="fr-FR" sz="1800" u="none" cap="none" strike="noStrike">
                <a:solidFill>
                  <a:schemeClr val="dk1"/>
                </a:solidFill>
                <a:latin typeface="Arial"/>
                <a:ea typeface="Arial"/>
                <a:cs typeface="Arial"/>
                <a:sym typeface="Arial"/>
              </a:rPr>
              <a:t>Membrane RE granuleux</a:t>
            </a:r>
            <a:endParaRPr/>
          </a:p>
          <a:p>
            <a:pPr indent="0" lvl="0" marL="0" marR="0" rtl="0" algn="l">
              <a:lnSpc>
                <a:spcPct val="150000"/>
              </a:lnSpc>
              <a:spcBef>
                <a:spcPts val="0"/>
              </a:spcBef>
              <a:spcAft>
                <a:spcPts val="0"/>
              </a:spcAft>
              <a:buClr>
                <a:schemeClr val="dk1"/>
              </a:buClr>
              <a:buSzPts val="1800"/>
              <a:buFont typeface="Arial"/>
              <a:buNone/>
            </a:pPr>
            <a:r>
              <a:rPr i="0" lang="fr-FR" sz="1800" cap="none" strike="noStrike">
                <a:solidFill>
                  <a:schemeClr val="dk1"/>
                </a:solidFill>
                <a:latin typeface="Arial"/>
                <a:ea typeface="Arial"/>
                <a:cs typeface="Arial"/>
                <a:sym typeface="Arial"/>
              </a:rPr>
              <a:t>Membrane RE lisse</a:t>
            </a:r>
            <a:endParaRPr i="0" sz="1800" cap="none" strike="noStrike">
              <a:solidFill>
                <a:schemeClr val="dk1"/>
              </a:solidFill>
              <a:latin typeface="Arial"/>
              <a:ea typeface="Arial"/>
              <a:cs typeface="Arial"/>
              <a:sym typeface="Arial"/>
            </a:endParaRPr>
          </a:p>
        </p:txBody>
      </p:sp>
      <p:sp>
        <p:nvSpPr>
          <p:cNvPr id="120" name="Google Shape;120;p5"/>
          <p:cNvSpPr/>
          <p:nvPr/>
        </p:nvSpPr>
        <p:spPr>
          <a:xfrm>
            <a:off x="3851920" y="1263808"/>
            <a:ext cx="4434547" cy="2246769"/>
          </a:xfrm>
          <a:prstGeom prst="rect">
            <a:avLst/>
          </a:prstGeom>
          <a:noFill/>
          <a:ln>
            <a:noFill/>
          </a:ln>
        </p:spPr>
        <p:txBody>
          <a:bodyPr anchorCtr="0" anchor="ctr" bIns="45700" lIns="91425" spcFirstLastPara="1" rIns="91425" wrap="square" tIns="45700">
            <a:spAutoFit/>
          </a:bodyPr>
          <a:lstStyle/>
          <a:p>
            <a:pPr indent="182563" lvl="0" marL="0" marR="0" rtl="0" algn="l">
              <a:lnSpc>
                <a:spcPct val="100000"/>
              </a:lnSpc>
              <a:spcBef>
                <a:spcPts val="0"/>
              </a:spcBef>
              <a:spcAft>
                <a:spcPts val="0"/>
              </a:spcAft>
              <a:buClr>
                <a:schemeClr val="dk1"/>
              </a:buClr>
              <a:buSzPts val="1700"/>
              <a:buFont typeface="Calibri"/>
              <a:buNone/>
            </a:pPr>
            <a:r>
              <a:t/>
            </a:r>
            <a:endParaRPr b="1" i="0" sz="1700" u="none" cap="none" strike="noStrike">
              <a:solidFill>
                <a:schemeClr val="dk1"/>
              </a:solidFill>
              <a:latin typeface="Arial"/>
              <a:ea typeface="Arial"/>
              <a:cs typeface="Arial"/>
              <a:sym typeface="Arial"/>
            </a:endParaRPr>
          </a:p>
          <a:p>
            <a:pPr indent="182563" lvl="0" marL="0" marR="0" rtl="0" algn="l">
              <a:lnSpc>
                <a:spcPct val="100000"/>
              </a:lnSpc>
              <a:spcBef>
                <a:spcPts val="0"/>
              </a:spcBef>
              <a:spcAft>
                <a:spcPts val="0"/>
              </a:spcAft>
              <a:buClr>
                <a:schemeClr val="dk1"/>
              </a:buClr>
              <a:buSzPts val="1700"/>
              <a:buFont typeface="Calibri"/>
              <a:buNone/>
            </a:pPr>
            <a:r>
              <a:t/>
            </a:r>
            <a:endParaRPr b="1" sz="1700">
              <a:solidFill>
                <a:schemeClr val="dk1"/>
              </a:solidFill>
              <a:latin typeface="Arial"/>
              <a:ea typeface="Arial"/>
              <a:cs typeface="Arial"/>
              <a:sym typeface="Arial"/>
            </a:endParaRPr>
          </a:p>
          <a:p>
            <a:pPr indent="182563" lvl="0" marL="0" marR="0" rtl="0" algn="l">
              <a:lnSpc>
                <a:spcPct val="100000"/>
              </a:lnSpc>
              <a:spcBef>
                <a:spcPts val="0"/>
              </a:spcBef>
              <a:spcAft>
                <a:spcPts val="0"/>
              </a:spcAft>
              <a:buClr>
                <a:schemeClr val="dk1"/>
              </a:buClr>
              <a:buSzPts val="800"/>
              <a:buFont typeface="Calibri"/>
              <a:buNone/>
            </a:pPr>
            <a:r>
              <a:t/>
            </a:r>
            <a:endParaRPr b="1" i="0" sz="800" u="none" cap="none" strike="noStrike">
              <a:solidFill>
                <a:schemeClr val="dk1"/>
              </a:solidFill>
              <a:latin typeface="Arial"/>
              <a:ea typeface="Arial"/>
              <a:cs typeface="Arial"/>
              <a:sym typeface="Arial"/>
            </a:endParaRPr>
          </a:p>
          <a:p>
            <a:pPr indent="182563" lvl="0" marL="0" marR="0" rtl="0" algn="l">
              <a:lnSpc>
                <a:spcPct val="100000"/>
              </a:lnSpc>
              <a:spcBef>
                <a:spcPts val="0"/>
              </a:spcBef>
              <a:spcAft>
                <a:spcPts val="0"/>
              </a:spcAft>
              <a:buClr>
                <a:schemeClr val="dk1"/>
              </a:buClr>
              <a:buSzPts val="1800"/>
              <a:buFont typeface="Arial"/>
              <a:buNone/>
            </a:pPr>
            <a:r>
              <a:rPr b="1" i="0" lang="fr-FR" sz="1800" u="none" cap="none" strike="noStrike">
                <a:solidFill>
                  <a:schemeClr val="dk1"/>
                </a:solidFill>
                <a:latin typeface="Arial"/>
                <a:ea typeface="Arial"/>
                <a:cs typeface="Arial"/>
                <a:sym typeface="Arial"/>
              </a:rPr>
              <a:t>                                       </a:t>
            </a:r>
            <a:r>
              <a:rPr i="0" lang="fr-FR" sz="1800" u="none" cap="none" strike="noStrike">
                <a:solidFill>
                  <a:schemeClr val="dk1"/>
                </a:solidFill>
                <a:latin typeface="Arial"/>
                <a:ea typeface="Arial"/>
                <a:cs typeface="Arial"/>
                <a:sym typeface="Arial"/>
              </a:rPr>
              <a:t>CELLULE </a:t>
            </a:r>
            <a:endParaRPr i="0" sz="1800" u="none" cap="none" strike="noStrike">
              <a:solidFill>
                <a:schemeClr val="dk1"/>
              </a:solidFill>
              <a:latin typeface="Arial"/>
              <a:ea typeface="Arial"/>
              <a:cs typeface="Arial"/>
              <a:sym typeface="Arial"/>
            </a:endParaRPr>
          </a:p>
          <a:p>
            <a:pPr indent="182563" lvl="0" marL="0" marR="0" rtl="0" algn="l">
              <a:lnSpc>
                <a:spcPct val="100000"/>
              </a:lnSpc>
              <a:spcBef>
                <a:spcPts val="0"/>
              </a:spcBef>
              <a:spcAft>
                <a:spcPts val="0"/>
              </a:spcAft>
              <a:buClr>
                <a:schemeClr val="dk1"/>
              </a:buClr>
              <a:buSzPts val="1600"/>
              <a:buFont typeface="Arial"/>
              <a:buNone/>
            </a:pPr>
            <a:r>
              <a:rPr i="0" lang="fr-FR" sz="1600" u="none" cap="none" strike="noStrike">
                <a:solidFill>
                  <a:schemeClr val="dk1"/>
                </a:solidFill>
                <a:latin typeface="Arial"/>
                <a:ea typeface="Arial"/>
                <a:cs typeface="Arial"/>
                <a:sym typeface="Arial"/>
              </a:rPr>
              <a:t>HEPATOCYTE	                 PANCREATIQUE</a:t>
            </a:r>
            <a:endParaRPr i="0" sz="1600" u="none" cap="none" strike="noStrike">
              <a:solidFill>
                <a:schemeClr val="dk1"/>
              </a:solidFill>
              <a:latin typeface="Arial"/>
              <a:ea typeface="Arial"/>
              <a:cs typeface="Arial"/>
              <a:sym typeface="Arial"/>
            </a:endParaRPr>
          </a:p>
          <a:p>
            <a:pPr indent="182563" lvl="0" marL="0" marR="0" rtl="0" algn="l">
              <a:lnSpc>
                <a:spcPct val="100000"/>
              </a:lnSpc>
              <a:spcBef>
                <a:spcPts val="0"/>
              </a:spcBef>
              <a:spcAft>
                <a:spcPts val="0"/>
              </a:spcAft>
              <a:buClr>
                <a:schemeClr val="dk1"/>
              </a:buClr>
              <a:buSzPts val="1600"/>
              <a:buFont typeface="Arial"/>
              <a:buNone/>
            </a:pPr>
            <a:r>
              <a:rPr i="0" lang="fr-FR" sz="1600" u="none" cap="none" strike="noStrike">
                <a:solidFill>
                  <a:schemeClr val="dk1"/>
                </a:solidFill>
                <a:latin typeface="Arial"/>
                <a:ea typeface="Arial"/>
                <a:cs typeface="Arial"/>
                <a:sym typeface="Arial"/>
              </a:rPr>
              <a:t>	</a:t>
            </a:r>
            <a:endParaRPr i="0" sz="1600" u="none" cap="none" strike="noStrike">
              <a:solidFill>
                <a:schemeClr val="dk1"/>
              </a:solidFill>
              <a:latin typeface="Arial"/>
              <a:ea typeface="Arial"/>
              <a:cs typeface="Arial"/>
              <a:sym typeface="Arial"/>
            </a:endParaRPr>
          </a:p>
          <a:p>
            <a:pPr indent="182563" lvl="0" marL="0" marR="0" rtl="0" algn="l">
              <a:lnSpc>
                <a:spcPct val="100000"/>
              </a:lnSpc>
              <a:spcBef>
                <a:spcPts val="0"/>
              </a:spcBef>
              <a:spcAft>
                <a:spcPts val="0"/>
              </a:spcAft>
              <a:buClr>
                <a:schemeClr val="dk1"/>
              </a:buClr>
              <a:buSzPts val="1600"/>
              <a:buFont typeface="Arial"/>
              <a:buNone/>
            </a:pPr>
            <a:r>
              <a:rPr i="0" lang="fr-FR" sz="1600" u="none" cap="none" strike="noStrike">
                <a:solidFill>
                  <a:schemeClr val="dk1"/>
                </a:solidFill>
                <a:latin typeface="Arial"/>
                <a:ea typeface="Arial"/>
                <a:cs typeface="Arial"/>
                <a:sym typeface="Arial"/>
              </a:rPr>
              <a:t>	35	60</a:t>
            </a:r>
            <a:endParaRPr i="0" sz="1600" u="none" cap="none" strike="noStrike">
              <a:solidFill>
                <a:schemeClr val="dk1"/>
              </a:solidFill>
              <a:latin typeface="Arial"/>
              <a:ea typeface="Arial"/>
              <a:cs typeface="Arial"/>
              <a:sym typeface="Arial"/>
            </a:endParaRPr>
          </a:p>
          <a:p>
            <a:pPr indent="182563" lvl="0" marL="0" marR="0" rtl="0" algn="l">
              <a:lnSpc>
                <a:spcPct val="100000"/>
              </a:lnSpc>
              <a:spcBef>
                <a:spcPts val="0"/>
              </a:spcBef>
              <a:spcAft>
                <a:spcPts val="0"/>
              </a:spcAft>
              <a:buClr>
                <a:schemeClr val="dk1"/>
              </a:buClr>
              <a:buSzPts val="1600"/>
              <a:buFont typeface="Arial"/>
              <a:buNone/>
            </a:pPr>
            <a:r>
              <a:rPr i="0" lang="fr-FR" sz="1600" u="none" cap="none" strike="noStrike">
                <a:solidFill>
                  <a:schemeClr val="dk1"/>
                </a:solidFill>
                <a:latin typeface="Arial"/>
                <a:ea typeface="Arial"/>
                <a:cs typeface="Arial"/>
                <a:sym typeface="Arial"/>
              </a:rPr>
              <a:t>	</a:t>
            </a:r>
            <a:endParaRPr/>
          </a:p>
          <a:p>
            <a:pPr indent="182563" lvl="0" marL="0" marR="0" rtl="0" algn="l">
              <a:lnSpc>
                <a:spcPct val="100000"/>
              </a:lnSpc>
              <a:spcBef>
                <a:spcPts val="0"/>
              </a:spcBef>
              <a:spcAft>
                <a:spcPts val="0"/>
              </a:spcAft>
              <a:buClr>
                <a:schemeClr val="dk1"/>
              </a:buClr>
              <a:buSzPts val="1600"/>
              <a:buFont typeface="Arial"/>
              <a:buNone/>
            </a:pPr>
            <a:r>
              <a:rPr lang="fr-FR" sz="1600">
                <a:solidFill>
                  <a:schemeClr val="dk1"/>
                </a:solidFill>
                <a:latin typeface="Arial"/>
                <a:ea typeface="Arial"/>
                <a:cs typeface="Arial"/>
                <a:sym typeface="Arial"/>
              </a:rPr>
              <a:t>         </a:t>
            </a:r>
            <a:r>
              <a:rPr i="0" lang="fr-FR" sz="1600" u="none" cap="none" strike="noStrike">
                <a:solidFill>
                  <a:schemeClr val="dk1"/>
                </a:solidFill>
                <a:latin typeface="Arial"/>
                <a:ea typeface="Arial"/>
                <a:cs typeface="Arial"/>
                <a:sym typeface="Arial"/>
              </a:rPr>
              <a:t>16	                                          </a:t>
            </a:r>
            <a:r>
              <a:rPr i="0" lang="fr-FR" sz="1600" cap="none" strike="noStrike">
                <a:solidFill>
                  <a:schemeClr val="dk1"/>
                </a:solidFill>
                <a:latin typeface="Arial"/>
                <a:ea typeface="Arial"/>
                <a:cs typeface="Arial"/>
                <a:sym typeface="Arial"/>
              </a:rPr>
              <a:t>&lt;1 </a:t>
            </a:r>
            <a:endParaRPr i="0" sz="1600" cap="none" strike="noStrike">
              <a:solidFill>
                <a:schemeClr val="dk1"/>
              </a:solidFill>
              <a:latin typeface="Arial"/>
              <a:ea typeface="Arial"/>
              <a:cs typeface="Arial"/>
              <a:sym typeface="Arial"/>
            </a:endParaRPr>
          </a:p>
        </p:txBody>
      </p:sp>
      <p:sp>
        <p:nvSpPr>
          <p:cNvPr id="121" name="Google Shape;121;p5"/>
          <p:cNvSpPr/>
          <p:nvPr/>
        </p:nvSpPr>
        <p:spPr>
          <a:xfrm>
            <a:off x="827584" y="57090"/>
            <a:ext cx="8572560" cy="400110"/>
          </a:xfrm>
          <a:prstGeom prst="rect">
            <a:avLst/>
          </a:prstGeom>
          <a:noFill/>
          <a:ln>
            <a:noFill/>
          </a:ln>
        </p:spPr>
        <p:txBody>
          <a:bodyPr anchorCtr="0" anchor="t" bIns="45700" lIns="91425" spcFirstLastPara="1" rIns="91425" wrap="square" tIns="45700">
            <a:spAutoFit/>
          </a:bodyPr>
          <a:lstStyle/>
          <a:p>
            <a:pPr indent="182563" lvl="0" marL="0" marR="0" rtl="0" algn="l">
              <a:spcBef>
                <a:spcPts val="0"/>
              </a:spcBef>
              <a:spcAft>
                <a:spcPts val="0"/>
              </a:spcAft>
              <a:buNone/>
            </a:pPr>
            <a:r>
              <a:rPr b="1" lang="fr-FR" sz="2000">
                <a:solidFill>
                  <a:schemeClr val="dk1"/>
                </a:solidFill>
                <a:latin typeface="Arial"/>
                <a:ea typeface="Arial"/>
                <a:cs typeface="Arial"/>
                <a:sym typeface="Arial"/>
              </a:rPr>
              <a:t>POURCENTAGE DES MEMBRANES CELLULAIRES</a:t>
            </a:r>
            <a:endParaRPr sz="2000">
              <a:solidFill>
                <a:schemeClr val="dk1"/>
              </a:solidFill>
              <a:latin typeface="Arial"/>
              <a:ea typeface="Arial"/>
              <a:cs typeface="Arial"/>
              <a:sym typeface="Arial"/>
            </a:endParaRPr>
          </a:p>
        </p:txBody>
      </p:sp>
      <p:pic>
        <p:nvPicPr>
          <p:cNvPr descr="http://lesbeauxjardins.com/cours/botanique/2-cytologie/reticulum.gif" id="122" name="Google Shape;122;p5"/>
          <p:cNvPicPr preferRelativeResize="0"/>
          <p:nvPr/>
        </p:nvPicPr>
        <p:blipFill rotWithShape="1">
          <a:blip r:embed="rId3">
            <a:alphaModFix/>
          </a:blip>
          <a:srcRect b="0" l="3089" r="4994" t="22105"/>
          <a:stretch/>
        </p:blipFill>
        <p:spPr>
          <a:xfrm>
            <a:off x="392877" y="3717031"/>
            <a:ext cx="8358246" cy="2880751"/>
          </a:xfrm>
          <a:prstGeom prst="rect">
            <a:avLst/>
          </a:prstGeom>
          <a:noFill/>
          <a:ln>
            <a:noFill/>
          </a:ln>
        </p:spPr>
      </p:pic>
      <p:sp>
        <p:nvSpPr>
          <p:cNvPr id="123" name="Google Shape;123;p5"/>
          <p:cNvSpPr/>
          <p:nvPr/>
        </p:nvSpPr>
        <p:spPr>
          <a:xfrm>
            <a:off x="251520" y="476672"/>
            <a:ext cx="8640960" cy="13234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fr-FR" sz="2000">
                <a:solidFill>
                  <a:schemeClr val="dk1"/>
                </a:solidFill>
                <a:latin typeface="Calibri"/>
                <a:ea typeface="Calibri"/>
                <a:cs typeface="Calibri"/>
                <a:sym typeface="Calibri"/>
              </a:rPr>
              <a:t>Le REG et le REL peuvent coexister dans une même cellule et peuvent communiquer entre eux (cellule hépatique). En cas de  synthèse active des protéines, le REG est généralement très développé (cellules du pancréas). En cas de métabolisme lipidique important le REL est très abondant (cellule hépatique).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6"/>
          <p:cNvSpPr/>
          <p:nvPr/>
        </p:nvSpPr>
        <p:spPr>
          <a:xfrm>
            <a:off x="107504" y="-34798"/>
            <a:ext cx="8496944" cy="40626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400">
                <a:solidFill>
                  <a:schemeClr val="dk1"/>
                </a:solidFill>
                <a:latin typeface="Calibri"/>
                <a:ea typeface="Calibri"/>
                <a:cs typeface="Calibri"/>
                <a:sym typeface="Calibri"/>
              </a:rPr>
              <a:t>La composition chimique du RE </a:t>
            </a:r>
            <a:endParaRPr/>
          </a:p>
          <a:p>
            <a:pPr indent="0" lvl="0" marL="0" marR="0" rtl="0" algn="just">
              <a:spcBef>
                <a:spcPts val="0"/>
              </a:spcBef>
              <a:spcAft>
                <a:spcPts val="0"/>
              </a:spcAft>
              <a:buNone/>
            </a:pPr>
            <a:r>
              <a:t/>
            </a:r>
            <a:endParaRPr b="1" sz="2400" u="sng">
              <a:solidFill>
                <a:schemeClr val="dk1"/>
              </a:solidFill>
              <a:latin typeface="Calibri"/>
              <a:ea typeface="Calibri"/>
              <a:cs typeface="Calibri"/>
              <a:sym typeface="Calibri"/>
            </a:endParaRPr>
          </a:p>
          <a:p>
            <a:pPr indent="0" lvl="0" marL="0" marR="0" rtl="0" algn="just">
              <a:spcBef>
                <a:spcPts val="0"/>
              </a:spcBef>
              <a:spcAft>
                <a:spcPts val="0"/>
              </a:spcAft>
              <a:buNone/>
            </a:pPr>
            <a:r>
              <a:rPr lang="fr-FR" sz="2400">
                <a:solidFill>
                  <a:schemeClr val="dk1"/>
                </a:solidFill>
                <a:latin typeface="Calibri"/>
                <a:ea typeface="Calibri"/>
                <a:cs typeface="Calibri"/>
                <a:sym typeface="Calibri"/>
              </a:rPr>
              <a:t>  Les études biochimiques réalisées sur la membrane réticulaire après isolement par centrifugation  ont montré  qu’elle renferme (70%) de protéines généralement des enzymes et (30%) de lipides. La membrane réticulaire présente une asymétrie très marquée puisque sur la face cytosolique on trouve : cytochrome b5, cytochrome P450 réductase et l’ATPase Ca++ dépendante. </a:t>
            </a:r>
            <a:endParaRPr sz="2400">
              <a:solidFill>
                <a:schemeClr val="dk1"/>
              </a:solidFill>
              <a:latin typeface="Calibri"/>
              <a:ea typeface="Calibri"/>
              <a:cs typeface="Calibri"/>
              <a:sym typeface="Calibri"/>
            </a:endParaRPr>
          </a:p>
          <a:p>
            <a:pPr indent="0" lvl="0" marL="0" marR="0" rtl="0" algn="just">
              <a:spcBef>
                <a:spcPts val="0"/>
              </a:spcBef>
              <a:spcAft>
                <a:spcPts val="0"/>
              </a:spcAft>
              <a:buNone/>
            </a:pPr>
            <a:r>
              <a:rPr lang="fr-FR" sz="2400">
                <a:solidFill>
                  <a:schemeClr val="dk1"/>
                </a:solidFill>
                <a:latin typeface="Calibri"/>
                <a:ea typeface="Calibri"/>
                <a:cs typeface="Calibri"/>
                <a:sym typeface="Calibri"/>
              </a:rPr>
              <a:t>Sur la face luminale on a : la glucose-6-phosphatase, β glucuronidase et des glycosyl transférases. </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p:txBody>
      </p:sp>
      <p:pic>
        <p:nvPicPr>
          <p:cNvPr id="129" name="Google Shape;129;p6"/>
          <p:cNvPicPr preferRelativeResize="0"/>
          <p:nvPr/>
        </p:nvPicPr>
        <p:blipFill rotWithShape="1">
          <a:blip r:embed="rId3">
            <a:alphaModFix/>
          </a:blip>
          <a:srcRect b="12329" l="0" r="74192" t="10991"/>
          <a:stretch/>
        </p:blipFill>
        <p:spPr>
          <a:xfrm>
            <a:off x="2123728" y="4003576"/>
            <a:ext cx="4968552" cy="266429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descr="http://tp-svt.pagesperso-orange.fr/arn_fichiers/proteine2.jpg" id="135" name="Google Shape;135;p7"/>
          <p:cNvPicPr preferRelativeResize="0"/>
          <p:nvPr/>
        </p:nvPicPr>
        <p:blipFill rotWithShape="1">
          <a:blip r:embed="rId3">
            <a:alphaModFix/>
          </a:blip>
          <a:srcRect b="0" l="0" r="0" t="0"/>
          <a:stretch/>
        </p:blipFill>
        <p:spPr>
          <a:xfrm>
            <a:off x="642910" y="1000108"/>
            <a:ext cx="7786742" cy="5429288"/>
          </a:xfrm>
          <a:prstGeom prst="rect">
            <a:avLst/>
          </a:prstGeom>
          <a:noFill/>
          <a:ln>
            <a:noFill/>
          </a:ln>
        </p:spPr>
      </p:pic>
      <p:sp>
        <p:nvSpPr>
          <p:cNvPr id="136" name="Google Shape;136;p7"/>
          <p:cNvSpPr/>
          <p:nvPr/>
        </p:nvSpPr>
        <p:spPr>
          <a:xfrm>
            <a:off x="928662" y="170988"/>
            <a:ext cx="752994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800">
                <a:solidFill>
                  <a:srgbClr val="000000"/>
                </a:solidFill>
                <a:latin typeface="Arial"/>
                <a:ea typeface="Arial"/>
                <a:cs typeface="Arial"/>
                <a:sym typeface="Arial"/>
              </a:rPr>
              <a:t>Rôle du REG dans la synthèse des protéines </a:t>
            </a:r>
            <a:endParaRPr sz="2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8"/>
          <p:cNvPicPr preferRelativeResize="0"/>
          <p:nvPr/>
        </p:nvPicPr>
        <p:blipFill rotWithShape="1">
          <a:blip r:embed="rId3">
            <a:alphaModFix/>
          </a:blip>
          <a:srcRect b="12391" l="24351" r="29715" t="19687"/>
          <a:stretch/>
        </p:blipFill>
        <p:spPr>
          <a:xfrm>
            <a:off x="251520" y="980728"/>
            <a:ext cx="8712968" cy="5688632"/>
          </a:xfrm>
          <a:prstGeom prst="rect">
            <a:avLst/>
          </a:prstGeom>
          <a:noFill/>
          <a:ln>
            <a:noFill/>
          </a:ln>
        </p:spPr>
      </p:pic>
      <p:pic>
        <p:nvPicPr>
          <p:cNvPr id="142" name="Google Shape;142;p8"/>
          <p:cNvPicPr preferRelativeResize="0"/>
          <p:nvPr/>
        </p:nvPicPr>
        <p:blipFill rotWithShape="1">
          <a:blip r:embed="rId4">
            <a:alphaModFix/>
          </a:blip>
          <a:srcRect b="0" l="0" r="0" t="0"/>
          <a:stretch/>
        </p:blipFill>
        <p:spPr>
          <a:xfrm>
            <a:off x="1187624" y="230855"/>
            <a:ext cx="6912768" cy="74987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9"/>
          <p:cNvPicPr preferRelativeResize="0"/>
          <p:nvPr/>
        </p:nvPicPr>
        <p:blipFill rotWithShape="1">
          <a:blip r:embed="rId3">
            <a:alphaModFix/>
          </a:blip>
          <a:srcRect b="15452" l="0" r="0" t="80017"/>
          <a:stretch/>
        </p:blipFill>
        <p:spPr>
          <a:xfrm>
            <a:off x="35496" y="5256075"/>
            <a:ext cx="10081120" cy="333165"/>
          </a:xfrm>
          <a:prstGeom prst="rect">
            <a:avLst/>
          </a:prstGeom>
          <a:noFill/>
          <a:ln>
            <a:noFill/>
          </a:ln>
        </p:spPr>
      </p:pic>
      <p:pic>
        <p:nvPicPr>
          <p:cNvPr id="148" name="Google Shape;148;p9"/>
          <p:cNvPicPr preferRelativeResize="0"/>
          <p:nvPr/>
        </p:nvPicPr>
        <p:blipFill rotWithShape="1">
          <a:blip r:embed="rId3">
            <a:alphaModFix/>
          </a:blip>
          <a:srcRect b="25644" l="0" r="0" t="0"/>
          <a:stretch/>
        </p:blipFill>
        <p:spPr>
          <a:xfrm>
            <a:off x="214282" y="285728"/>
            <a:ext cx="8715436" cy="4727448"/>
          </a:xfrm>
          <a:prstGeom prst="rect">
            <a:avLst/>
          </a:prstGeom>
          <a:noFill/>
          <a:ln>
            <a:noFill/>
          </a:ln>
        </p:spPr>
      </p:pic>
      <p:pic>
        <p:nvPicPr>
          <p:cNvPr id="149" name="Google Shape;149;p9"/>
          <p:cNvPicPr preferRelativeResize="0"/>
          <p:nvPr/>
        </p:nvPicPr>
        <p:blipFill rotWithShape="1">
          <a:blip r:embed="rId3">
            <a:alphaModFix/>
          </a:blip>
          <a:srcRect b="0" l="0" r="0" t="84548"/>
          <a:stretch/>
        </p:blipFill>
        <p:spPr>
          <a:xfrm>
            <a:off x="-252536" y="5661248"/>
            <a:ext cx="9182254" cy="98246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0"/>
          <p:cNvSpPr/>
          <p:nvPr/>
        </p:nvSpPr>
        <p:spPr>
          <a:xfrm>
            <a:off x="0" y="363268"/>
            <a:ext cx="9144000" cy="5874044"/>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fr-FR" sz="1400">
                <a:solidFill>
                  <a:schemeClr val="dk1"/>
                </a:solidFill>
                <a:latin typeface="Century Schoolbook"/>
                <a:ea typeface="Century Schoolbook"/>
                <a:cs typeface="Century Schoolbook"/>
                <a:sym typeface="Century Schoolbook"/>
              </a:rPr>
              <a:t>La synthèse protéique </a:t>
            </a:r>
            <a:r>
              <a:rPr lang="fr-FR" sz="1400">
                <a:solidFill>
                  <a:schemeClr val="dk1"/>
                </a:solidFill>
                <a:latin typeface="Century Schoolbook"/>
                <a:ea typeface="Century Schoolbook"/>
                <a:cs typeface="Century Schoolbook"/>
                <a:sym typeface="Century Schoolbook"/>
              </a:rPr>
              <a:t>commence au niveau du noyau, où la phase de transcription a lieu, à la suite de laquelle un ARNm est libéré dans le cytosol. Parmi tous les ribosomes certains seulement ayant commencés la synthèse des protéines à l’état libre dans le hyaloplasme, sont aiguillés vers les membranes du réticulum ; à partir de ce moment, la destinée des protéines fabriquées par ces ribosomes est fixée et seul un nombre réduit de compartiments leur sera accessible.</a:t>
            </a:r>
            <a:endParaRPr sz="1400">
              <a:solidFill>
                <a:schemeClr val="dk1"/>
              </a:solidFill>
              <a:latin typeface="Calibri"/>
              <a:ea typeface="Calibri"/>
              <a:cs typeface="Calibri"/>
              <a:sym typeface="Calibri"/>
            </a:endParaRPr>
          </a:p>
          <a:p>
            <a:pPr indent="-285750" lvl="0" marL="285750" marR="0" rtl="0" algn="just">
              <a:lnSpc>
                <a:spcPct val="150000"/>
              </a:lnSpc>
              <a:spcBef>
                <a:spcPts val="0"/>
              </a:spcBef>
              <a:spcAft>
                <a:spcPts val="0"/>
              </a:spcAft>
              <a:buClr>
                <a:schemeClr val="dk1"/>
              </a:buClr>
              <a:buSzPts val="1400"/>
              <a:buFont typeface="Arial"/>
              <a:buChar char="•"/>
            </a:pPr>
            <a:r>
              <a:rPr lang="fr-FR" sz="1400">
                <a:solidFill>
                  <a:schemeClr val="dk1"/>
                </a:solidFill>
                <a:latin typeface="Century Schoolbook"/>
                <a:ea typeface="Century Schoolbook"/>
                <a:cs typeface="Century Schoolbook"/>
                <a:sym typeface="Century Schoolbook"/>
              </a:rPr>
              <a:t>La deuxième étape débute par la fixation de l’ARNm par son extrémité 5’ au niveau de son site sur le ribosome libre, cet ARNm possède sur son extrémité 5’ après le codon AUG une séquence nucléotidique spéciale qui une fois traduite donne la formation du peptide à résidu hydrophobe nommé le peptide signal. </a:t>
            </a:r>
            <a:endParaRPr/>
          </a:p>
          <a:p>
            <a:pPr indent="-285750" lvl="0" marL="285750" marR="0" rtl="0" algn="just">
              <a:lnSpc>
                <a:spcPct val="150000"/>
              </a:lnSpc>
              <a:spcBef>
                <a:spcPts val="0"/>
              </a:spcBef>
              <a:spcAft>
                <a:spcPts val="0"/>
              </a:spcAft>
              <a:buClr>
                <a:schemeClr val="dk1"/>
              </a:buClr>
              <a:buSzPts val="1400"/>
              <a:buFont typeface="Arial"/>
              <a:buChar char="•"/>
            </a:pPr>
            <a:r>
              <a:rPr lang="fr-FR" sz="1400">
                <a:solidFill>
                  <a:schemeClr val="dk1"/>
                </a:solidFill>
                <a:latin typeface="Century Schoolbook"/>
                <a:ea typeface="Century Schoolbook"/>
                <a:cs typeface="Century Schoolbook"/>
                <a:sym typeface="Century Schoolbook"/>
              </a:rPr>
              <a:t>Un composé actif appelé la particule de reconnaissance du signal (SRP) se fixe à la partie N terminal du peptide signal en bloquant la synthèse protéique, le complexe SRP-peptide signal se dirige vers la membrane du RE où il se fixe à un récepteur de la SRP. Après contact, la SRP est dissociée du complexe et se libère dans le cytosol. </a:t>
            </a:r>
            <a:endParaRPr sz="1400">
              <a:solidFill>
                <a:schemeClr val="dk1"/>
              </a:solidFill>
              <a:latin typeface="Calibri"/>
              <a:ea typeface="Calibri"/>
              <a:cs typeface="Calibri"/>
              <a:sym typeface="Calibri"/>
            </a:endParaRPr>
          </a:p>
          <a:p>
            <a:pPr indent="-285750" lvl="0" marL="285750" marR="0" rtl="0" algn="just">
              <a:lnSpc>
                <a:spcPct val="150000"/>
              </a:lnSpc>
              <a:spcBef>
                <a:spcPts val="0"/>
              </a:spcBef>
              <a:spcAft>
                <a:spcPts val="0"/>
              </a:spcAft>
              <a:buClr>
                <a:schemeClr val="dk1"/>
              </a:buClr>
              <a:buSzPts val="1400"/>
              <a:buFont typeface="Arial"/>
              <a:buChar char="•"/>
            </a:pPr>
            <a:r>
              <a:rPr lang="fr-FR" sz="1400">
                <a:solidFill>
                  <a:schemeClr val="dk1"/>
                </a:solidFill>
                <a:latin typeface="Century Schoolbook"/>
                <a:ea typeface="Century Schoolbook"/>
                <a:cs typeface="Century Schoolbook"/>
                <a:sym typeface="Century Schoolbook"/>
              </a:rPr>
              <a:t>La synthèse protéique reprend et la protéine en cours de synthèse pénètre et assure la translocation à travers la double couche lipidique du ribosome. </a:t>
            </a:r>
            <a:endParaRPr sz="1400">
              <a:solidFill>
                <a:schemeClr val="dk1"/>
              </a:solidFill>
              <a:latin typeface="Calibri"/>
              <a:ea typeface="Calibri"/>
              <a:cs typeface="Calibri"/>
              <a:sym typeface="Calibri"/>
            </a:endParaRPr>
          </a:p>
          <a:p>
            <a:pPr indent="-285750" lvl="0" marL="285750" marR="0" rtl="0" algn="just">
              <a:lnSpc>
                <a:spcPct val="150000"/>
              </a:lnSpc>
              <a:spcBef>
                <a:spcPts val="0"/>
              </a:spcBef>
              <a:spcAft>
                <a:spcPts val="0"/>
              </a:spcAft>
              <a:buClr>
                <a:schemeClr val="dk1"/>
              </a:buClr>
              <a:buSzPts val="1400"/>
              <a:buFont typeface="Arial"/>
              <a:buChar char="•"/>
            </a:pPr>
            <a:r>
              <a:rPr lang="fr-FR" sz="1400">
                <a:solidFill>
                  <a:schemeClr val="dk1"/>
                </a:solidFill>
                <a:latin typeface="Century Schoolbook"/>
                <a:ea typeface="Century Schoolbook"/>
                <a:cs typeface="Century Schoolbook"/>
                <a:sym typeface="Century Schoolbook"/>
              </a:rPr>
              <a:t>Une fois que la protéine traverse le port ; des peptidases coupent le peptide signal de la protéine, ensuite il est dégradé par des protéases du RE. A la fin la protéine synthétisée est libérée dans la lumière du RE où elle acquiert sa forme tridimensionnelle.</a:t>
            </a:r>
            <a:endParaRPr sz="14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11"/>
          <p:cNvPicPr preferRelativeResize="0"/>
          <p:nvPr/>
        </p:nvPicPr>
        <p:blipFill rotWithShape="1">
          <a:blip r:embed="rId3">
            <a:alphaModFix/>
          </a:blip>
          <a:srcRect b="8433" l="0" r="0" t="0"/>
          <a:stretch/>
        </p:blipFill>
        <p:spPr>
          <a:xfrm>
            <a:off x="539550" y="955000"/>
            <a:ext cx="9872825" cy="5616625"/>
          </a:xfrm>
          <a:prstGeom prst="rect">
            <a:avLst/>
          </a:prstGeom>
          <a:noFill/>
          <a:ln>
            <a:noFill/>
          </a:ln>
        </p:spPr>
      </p:pic>
      <p:sp>
        <p:nvSpPr>
          <p:cNvPr id="160" name="Google Shape;160;p11"/>
          <p:cNvSpPr txBox="1"/>
          <p:nvPr/>
        </p:nvSpPr>
        <p:spPr>
          <a:xfrm>
            <a:off x="2699792" y="169476"/>
            <a:ext cx="3240360" cy="523220"/>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Les ribosomes</a:t>
            </a:r>
            <a:endParaRPr b="1" sz="2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12"/>
          <p:cNvPicPr preferRelativeResize="0"/>
          <p:nvPr/>
        </p:nvPicPr>
        <p:blipFill rotWithShape="1">
          <a:blip r:embed="rId3">
            <a:alphaModFix/>
          </a:blip>
          <a:srcRect b="1427" l="0" r="0" t="72857"/>
          <a:stretch/>
        </p:blipFill>
        <p:spPr>
          <a:xfrm>
            <a:off x="539552" y="4725145"/>
            <a:ext cx="7776864" cy="1296144"/>
          </a:xfrm>
          <a:prstGeom prst="rect">
            <a:avLst/>
          </a:prstGeom>
          <a:noFill/>
          <a:ln>
            <a:noFill/>
          </a:ln>
        </p:spPr>
      </p:pic>
      <p:pic>
        <p:nvPicPr>
          <p:cNvPr id="166" name="Google Shape;166;p12"/>
          <p:cNvPicPr preferRelativeResize="0"/>
          <p:nvPr/>
        </p:nvPicPr>
        <p:blipFill rotWithShape="1">
          <a:blip r:embed="rId3">
            <a:alphaModFix/>
          </a:blip>
          <a:srcRect b="39999" l="0" r="0" t="0"/>
          <a:stretch/>
        </p:blipFill>
        <p:spPr>
          <a:xfrm>
            <a:off x="1763688" y="1340768"/>
            <a:ext cx="5544616" cy="3024336"/>
          </a:xfrm>
          <a:prstGeom prst="rect">
            <a:avLst/>
          </a:prstGeom>
          <a:noFill/>
          <a:ln>
            <a:noFill/>
          </a:ln>
        </p:spPr>
      </p:pic>
      <p:sp>
        <p:nvSpPr>
          <p:cNvPr id="167" name="Google Shape;167;p12"/>
          <p:cNvSpPr txBox="1"/>
          <p:nvPr/>
        </p:nvSpPr>
        <p:spPr>
          <a:xfrm>
            <a:off x="971600" y="169476"/>
            <a:ext cx="6912768" cy="523220"/>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La particule de reconnaissance du signal</a:t>
            </a:r>
            <a:endParaRPr b="1" sz="2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descr="http://biochimej.univ-angers.fr/Page2/COURS/7RelStructFonction/2Biochimie/2ModifPOSTtraduc/8Glycosylation/2Figures/4SynthAvecDolichol.gif" id="173" name="Google Shape;173;p13"/>
          <p:cNvPicPr preferRelativeResize="0"/>
          <p:nvPr/>
        </p:nvPicPr>
        <p:blipFill rotWithShape="1">
          <a:blip r:embed="rId3">
            <a:alphaModFix/>
          </a:blip>
          <a:srcRect b="0" l="0" r="0" t="0"/>
          <a:stretch/>
        </p:blipFill>
        <p:spPr>
          <a:xfrm>
            <a:off x="500034" y="176195"/>
            <a:ext cx="8143932" cy="3609995"/>
          </a:xfrm>
          <a:prstGeom prst="rect">
            <a:avLst/>
          </a:prstGeom>
          <a:noFill/>
          <a:ln>
            <a:noFill/>
          </a:ln>
        </p:spPr>
      </p:pic>
      <p:sp>
        <p:nvSpPr>
          <p:cNvPr id="174" name="Google Shape;174;p13"/>
          <p:cNvSpPr txBox="1"/>
          <p:nvPr/>
        </p:nvSpPr>
        <p:spPr>
          <a:xfrm>
            <a:off x="142844" y="3790141"/>
            <a:ext cx="8929718" cy="313932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fr-FR" sz="1800">
                <a:solidFill>
                  <a:schemeClr val="dk1"/>
                </a:solidFill>
                <a:latin typeface="Calibri"/>
                <a:ea typeface="Calibri"/>
                <a:cs typeface="Calibri"/>
                <a:sym typeface="Calibri"/>
              </a:rPr>
              <a:t>Les oligosaccharides attachés via une liaison N-glycosidique proviennent d'une molécule précurseur contenant 14 oses : la N-acétylglucosamine (GlcNAc), le mannose (Man) et le glucose (Glc).</a:t>
            </a:r>
            <a:endParaRPr/>
          </a:p>
          <a:p>
            <a:pPr indent="0" lvl="0" marL="0" marR="0" rtl="0" algn="just">
              <a:spcBef>
                <a:spcPts val="0"/>
              </a:spcBef>
              <a:spcAft>
                <a:spcPts val="0"/>
              </a:spcAft>
              <a:buNone/>
            </a:pPr>
            <a:r>
              <a:rPr lang="fr-FR" sz="1800">
                <a:solidFill>
                  <a:schemeClr val="dk1"/>
                </a:solidFill>
                <a:latin typeface="Calibri"/>
                <a:ea typeface="Calibri"/>
                <a:cs typeface="Calibri"/>
                <a:sym typeface="Calibri"/>
              </a:rPr>
              <a:t>Ces oses sont ajoutés successivement au dolichol, un lipide isoprénoïde enchâssé dans la membrane du réticulum endoplasmique. </a:t>
            </a:r>
            <a:endParaRPr/>
          </a:p>
          <a:p>
            <a:pPr indent="0" lvl="0" marL="0" marR="0" rtl="0" algn="just">
              <a:spcBef>
                <a:spcPts val="0"/>
              </a:spcBef>
              <a:spcAft>
                <a:spcPts val="0"/>
              </a:spcAft>
              <a:buNone/>
            </a:pPr>
            <a:r>
              <a:rPr lang="fr-FR" sz="1800">
                <a:solidFill>
                  <a:schemeClr val="dk1"/>
                </a:solidFill>
                <a:latin typeface="Calibri"/>
                <a:ea typeface="Calibri"/>
                <a:cs typeface="Calibri"/>
                <a:sym typeface="Calibri"/>
              </a:rPr>
              <a:t>Les 7 premiers oses sont apportés par des sucres-nucléotides (UDP-oses et GDP-oses) dans le cytoplasme et attachés au dolichol via une liaison pyrophosphate (PP). </a:t>
            </a:r>
            <a:endParaRPr/>
          </a:p>
          <a:p>
            <a:pPr indent="0" lvl="0" marL="0" marR="0" rtl="0" algn="just">
              <a:spcBef>
                <a:spcPts val="0"/>
              </a:spcBef>
              <a:spcAft>
                <a:spcPts val="0"/>
              </a:spcAft>
              <a:buNone/>
            </a:pPr>
            <a:r>
              <a:rPr lang="fr-FR" sz="1800">
                <a:solidFill>
                  <a:schemeClr val="dk1"/>
                </a:solidFill>
                <a:latin typeface="Calibri"/>
                <a:ea typeface="Calibri"/>
                <a:cs typeface="Calibri"/>
                <a:sym typeface="Calibri"/>
              </a:rPr>
              <a:t>Après que l'intermédiaire de Man</a:t>
            </a:r>
            <a:r>
              <a:rPr baseline="-25000" lang="fr-FR" sz="1800">
                <a:solidFill>
                  <a:schemeClr val="dk1"/>
                </a:solidFill>
                <a:latin typeface="Calibri"/>
                <a:ea typeface="Calibri"/>
                <a:cs typeface="Calibri"/>
                <a:sym typeface="Calibri"/>
              </a:rPr>
              <a:t>5</a:t>
            </a:r>
            <a:r>
              <a:rPr lang="fr-FR" sz="1800">
                <a:solidFill>
                  <a:schemeClr val="dk1"/>
                </a:solidFill>
                <a:latin typeface="Calibri"/>
                <a:ea typeface="Calibri"/>
                <a:cs typeface="Calibri"/>
                <a:sym typeface="Calibri"/>
              </a:rPr>
              <a:t>GlcNAc</a:t>
            </a:r>
            <a:r>
              <a:rPr baseline="-25000" lang="fr-FR" sz="1800">
                <a:solidFill>
                  <a:schemeClr val="dk1"/>
                </a:solidFill>
                <a:latin typeface="Calibri"/>
                <a:ea typeface="Calibri"/>
                <a:cs typeface="Calibri"/>
                <a:sym typeface="Calibri"/>
              </a:rPr>
              <a:t>2</a:t>
            </a:r>
            <a:r>
              <a:rPr lang="fr-FR" sz="1800">
                <a:solidFill>
                  <a:schemeClr val="dk1"/>
                </a:solidFill>
                <a:latin typeface="Calibri"/>
                <a:ea typeface="Calibri"/>
                <a:cs typeface="Calibri"/>
                <a:sym typeface="Calibri"/>
              </a:rPr>
              <a:t>-PP-dolichol soit formé, le complexe entier bascule dans le lumen du réticulum endoplasmique.</a:t>
            </a:r>
            <a:endParaRPr/>
          </a:p>
          <a:p>
            <a:pPr indent="0" lvl="0" marL="0" marR="0" rtl="0" algn="just">
              <a:spcBef>
                <a:spcPts val="0"/>
              </a:spcBef>
              <a:spcAft>
                <a:spcPts val="0"/>
              </a:spcAft>
              <a:buNone/>
            </a:pPr>
            <a:r>
              <a:rPr lang="fr-FR" sz="1800">
                <a:solidFill>
                  <a:schemeClr val="dk1"/>
                </a:solidFill>
                <a:latin typeface="Calibri"/>
                <a:ea typeface="Calibri"/>
                <a:cs typeface="Calibri"/>
                <a:sym typeface="Calibri"/>
              </a:rPr>
              <a:t>Les 7 oses terminaux sont apportés par des molécules de Man-P-dolichol et de Glc-P-dolichol pour former le glycane précurseur Gcl</a:t>
            </a:r>
            <a:r>
              <a:rPr baseline="-25000" lang="fr-FR" sz="1800">
                <a:solidFill>
                  <a:schemeClr val="dk1"/>
                </a:solidFill>
                <a:latin typeface="Calibri"/>
                <a:ea typeface="Calibri"/>
                <a:cs typeface="Calibri"/>
                <a:sym typeface="Calibri"/>
              </a:rPr>
              <a:t>3</a:t>
            </a:r>
            <a:r>
              <a:rPr lang="fr-FR" sz="1800">
                <a:solidFill>
                  <a:schemeClr val="dk1"/>
                </a:solidFill>
                <a:latin typeface="Calibri"/>
                <a:ea typeface="Calibri"/>
                <a:cs typeface="Calibri"/>
                <a:sym typeface="Calibri"/>
              </a:rPr>
              <a:t>Man</a:t>
            </a:r>
            <a:r>
              <a:rPr baseline="-25000" lang="fr-FR" sz="1800">
                <a:solidFill>
                  <a:schemeClr val="dk1"/>
                </a:solidFill>
                <a:latin typeface="Calibri"/>
                <a:ea typeface="Calibri"/>
                <a:cs typeface="Calibri"/>
                <a:sym typeface="Calibri"/>
              </a:rPr>
              <a:t>9</a:t>
            </a:r>
            <a:r>
              <a:rPr lang="fr-FR" sz="1800">
                <a:solidFill>
                  <a:schemeClr val="dk1"/>
                </a:solidFill>
                <a:latin typeface="Calibri"/>
                <a:ea typeface="Calibri"/>
                <a:cs typeface="Calibri"/>
                <a:sym typeface="Calibri"/>
              </a:rPr>
              <a:t>GlcNAc</a:t>
            </a:r>
            <a:r>
              <a:rPr baseline="-25000" lang="fr-FR" sz="1800">
                <a:solidFill>
                  <a:schemeClr val="dk1"/>
                </a:solidFill>
                <a:latin typeface="Calibri"/>
                <a:ea typeface="Calibri"/>
                <a:cs typeface="Calibri"/>
                <a:sym typeface="Calibri"/>
              </a:rPr>
              <a:t>2</a:t>
            </a:r>
            <a:r>
              <a:rPr lang="fr-FR" sz="1800">
                <a:solidFill>
                  <a:schemeClr val="dk1"/>
                </a:solidFill>
                <a:latin typeface="Calibri"/>
                <a:ea typeface="Calibri"/>
                <a:cs typeface="Calibri"/>
                <a:sym typeface="Calibri"/>
              </a:rPr>
              <a:t>-PP-dolichol.</a:t>
            </a:r>
            <a:endParaRPr sz="1800">
              <a:solidFill>
                <a:schemeClr val="dk1"/>
              </a:solidFill>
              <a:latin typeface="Calibri"/>
              <a:ea typeface="Calibri"/>
              <a:cs typeface="Calibri"/>
              <a:sym typeface="Calibri"/>
            </a:endParaRPr>
          </a:p>
        </p:txBody>
      </p:sp>
      <p:sp>
        <p:nvSpPr>
          <p:cNvPr id="175" name="Google Shape;175;p13"/>
          <p:cNvSpPr txBox="1"/>
          <p:nvPr/>
        </p:nvSpPr>
        <p:spPr>
          <a:xfrm>
            <a:off x="142876" y="0"/>
            <a:ext cx="335755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2800">
                <a:solidFill>
                  <a:schemeClr val="dk1"/>
                </a:solidFill>
                <a:latin typeface="Calibri"/>
                <a:ea typeface="Calibri"/>
                <a:cs typeface="Calibri"/>
                <a:sym typeface="Calibri"/>
              </a:rPr>
              <a:t>La N-glycosylation</a:t>
            </a:r>
            <a:endParaRPr sz="2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14"/>
          <p:cNvPicPr preferRelativeResize="0"/>
          <p:nvPr/>
        </p:nvPicPr>
        <p:blipFill rotWithShape="1">
          <a:blip r:embed="rId3">
            <a:alphaModFix/>
          </a:blip>
          <a:srcRect b="0" l="0" r="0" t="0"/>
          <a:stretch/>
        </p:blipFill>
        <p:spPr>
          <a:xfrm>
            <a:off x="357158" y="1928802"/>
            <a:ext cx="8358246" cy="4286279"/>
          </a:xfrm>
          <a:prstGeom prst="rect">
            <a:avLst/>
          </a:prstGeom>
          <a:noFill/>
          <a:ln>
            <a:noFill/>
          </a:ln>
        </p:spPr>
      </p:pic>
      <p:sp>
        <p:nvSpPr>
          <p:cNvPr id="181" name="Google Shape;181;p14"/>
          <p:cNvSpPr/>
          <p:nvPr/>
        </p:nvSpPr>
        <p:spPr>
          <a:xfrm>
            <a:off x="357158" y="103038"/>
            <a:ext cx="8429684"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800">
                <a:solidFill>
                  <a:schemeClr val="dk1"/>
                </a:solidFill>
                <a:latin typeface="Calibri"/>
                <a:ea typeface="Calibri"/>
                <a:cs typeface="Calibri"/>
                <a:sym typeface="Calibri"/>
              </a:rPr>
              <a:t>La N-glycosylation est essentiellement co-traductionnelle : en effet, le glycane est attaché à la chaîne polypeptidique en cours de </a:t>
            </a:r>
            <a:r>
              <a:rPr lang="fr-FR" sz="1800" u="sng">
                <a:solidFill>
                  <a:schemeClr val="dk1"/>
                </a:solidFill>
                <a:latin typeface="Calibri"/>
                <a:ea typeface="Calibri"/>
                <a:cs typeface="Calibri"/>
                <a:sym typeface="Calibri"/>
                <a:hlinkClick r:id="rId4">
                  <a:extLst>
                    <a:ext uri="{A12FA001-AC4F-418D-AE19-62706E023703}">
                      <ahyp:hlinkClr val="tx"/>
                    </a:ext>
                  </a:extLst>
                </a:hlinkClick>
              </a:rPr>
              <a:t>biosynthèse</a:t>
            </a:r>
            <a:r>
              <a:rPr lang="fr-FR" sz="1800">
                <a:solidFill>
                  <a:schemeClr val="dk1"/>
                </a:solidFill>
                <a:latin typeface="Calibri"/>
                <a:ea typeface="Calibri"/>
                <a:cs typeface="Calibri"/>
                <a:sym typeface="Calibri"/>
              </a:rPr>
              <a:t> et pendant son transport dans le réticulum endoplasmique. </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Le N signifie que le glycane est attaché de manière covalente à l'azote du groupement amide d'une asparagine (motif Asn-X-[Ser/Thr]).</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Le sucre immédiatement attachés à l'asparagine est la </a:t>
            </a:r>
            <a:r>
              <a:rPr lang="fr-FR" sz="1800" u="sng">
                <a:solidFill>
                  <a:schemeClr val="dk1"/>
                </a:solidFill>
                <a:latin typeface="Calibri"/>
                <a:ea typeface="Calibri"/>
                <a:cs typeface="Calibri"/>
                <a:sym typeface="Calibri"/>
                <a:hlinkClick r:id="rId5">
                  <a:extLst>
                    <a:ext uri="{A12FA001-AC4F-418D-AE19-62706E023703}">
                      <ahyp:hlinkClr val="tx"/>
                    </a:ext>
                  </a:extLst>
                </a:hlinkClick>
              </a:rPr>
              <a:t>N-acétylglucosamine</a:t>
            </a:r>
            <a:r>
              <a:rPr lang="fr-FR"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descr="http://www.facbio.com/content/images/stories/bio/Organites/FBOG_NGlycosyl.jpg" id="186" name="Google Shape;186;p15"/>
          <p:cNvPicPr preferRelativeResize="0"/>
          <p:nvPr/>
        </p:nvPicPr>
        <p:blipFill rotWithShape="1">
          <a:blip r:embed="rId3">
            <a:alphaModFix/>
          </a:blip>
          <a:srcRect b="0" l="0" r="0" t="0"/>
          <a:stretch/>
        </p:blipFill>
        <p:spPr>
          <a:xfrm>
            <a:off x="785786" y="571480"/>
            <a:ext cx="7643866" cy="5929354"/>
          </a:xfrm>
          <a:prstGeom prst="rect">
            <a:avLst/>
          </a:prstGeom>
          <a:noFill/>
          <a:ln>
            <a:noFill/>
          </a:ln>
        </p:spPr>
      </p:pic>
      <p:pic>
        <p:nvPicPr>
          <p:cNvPr descr="http://www.facbio.com/content/images/stories/bio/Organites/FBOG_NGlycosyl.jpg" id="187" name="Google Shape;187;p15"/>
          <p:cNvPicPr preferRelativeResize="0"/>
          <p:nvPr/>
        </p:nvPicPr>
        <p:blipFill rotWithShape="1">
          <a:blip r:embed="rId3">
            <a:alphaModFix/>
          </a:blip>
          <a:srcRect b="5800" l="40003" r="57171" t="90556"/>
          <a:stretch/>
        </p:blipFill>
        <p:spPr>
          <a:xfrm>
            <a:off x="7308304" y="778352"/>
            <a:ext cx="216024" cy="2160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descr="N glycosylation N-acetylglucosamine asparagine" id="192" name="Google Shape;192;p16"/>
          <p:cNvPicPr preferRelativeResize="0"/>
          <p:nvPr/>
        </p:nvPicPr>
        <p:blipFill rotWithShape="1">
          <a:blip r:embed="rId3">
            <a:alphaModFix/>
          </a:blip>
          <a:srcRect b="0" l="0" r="0" t="0"/>
          <a:stretch/>
        </p:blipFill>
        <p:spPr>
          <a:xfrm>
            <a:off x="827584" y="2705687"/>
            <a:ext cx="7429552" cy="4036099"/>
          </a:xfrm>
          <a:prstGeom prst="rect">
            <a:avLst/>
          </a:prstGeom>
          <a:noFill/>
          <a:ln>
            <a:noFill/>
          </a:ln>
        </p:spPr>
      </p:pic>
      <p:sp>
        <p:nvSpPr>
          <p:cNvPr id="193" name="Google Shape;193;p16"/>
          <p:cNvSpPr/>
          <p:nvPr/>
        </p:nvSpPr>
        <p:spPr>
          <a:xfrm>
            <a:off x="437904" y="767152"/>
            <a:ext cx="8208912"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800">
                <a:solidFill>
                  <a:schemeClr val="dk1"/>
                </a:solidFill>
                <a:latin typeface="Calibri"/>
                <a:ea typeface="Calibri"/>
                <a:cs typeface="Calibri"/>
                <a:sym typeface="Calibri"/>
              </a:rPr>
              <a:t>La découverte de cet organite revient au biologiste italien Camillo GOLGI « prix Nobel 1906) ». Il est constitué d’un ensemble de citernes ou saccules aplatis parallèles associés à des vésicules de sécrétion. Les saccules d’un dictyosome sont au nombre de 4 à 6 et il peut y avoir une connexion entre les lumières de deux saccules voisins. L’appareil de golgi est très développé chez les cellules spécialisées dans la sécrétion comme c’est le cas chez les cellules de l’épithélium intestinales. </a:t>
            </a:r>
            <a:endParaRPr/>
          </a:p>
        </p:txBody>
      </p:sp>
      <p:sp>
        <p:nvSpPr>
          <p:cNvPr id="194" name="Google Shape;194;p16"/>
          <p:cNvSpPr/>
          <p:nvPr/>
        </p:nvSpPr>
        <p:spPr>
          <a:xfrm>
            <a:off x="611560" y="121278"/>
            <a:ext cx="246298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400">
                <a:solidFill>
                  <a:schemeClr val="dk1"/>
                </a:solidFill>
                <a:latin typeface="Calibri"/>
                <a:ea typeface="Calibri"/>
                <a:cs typeface="Calibri"/>
                <a:sym typeface="Calibri"/>
              </a:rPr>
              <a:t>L’appareil de golgi</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7"/>
          <p:cNvSpPr/>
          <p:nvPr/>
        </p:nvSpPr>
        <p:spPr>
          <a:xfrm>
            <a:off x="467544" y="4797152"/>
            <a:ext cx="8136904"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800">
                <a:solidFill>
                  <a:schemeClr val="dk1"/>
                </a:solidFill>
                <a:latin typeface="Calibri"/>
                <a:ea typeface="Calibri"/>
                <a:cs typeface="Calibri"/>
                <a:sym typeface="Calibri"/>
              </a:rPr>
              <a:t>Une face externe ou face cis au voisinage du RE. A ce niveau il y a bourgeonnement d’une région spécialisée du RE pour donner des vésicules de transition. Ces derniers vont passer à travers le réseau cis golgien et fusionner avec un type membranaire selon leur contenu.  Une face interne ou face trans formée de saccules plus dilatés. A sa périphérie se trouve un réseau trans golgien par le quel sortent les molécules soit vers les lysosomes ou les vésicules de sécrétion ou la surface cellulaire</a:t>
            </a:r>
            <a:endParaRPr sz="1800">
              <a:solidFill>
                <a:schemeClr val="dk1"/>
              </a:solidFill>
              <a:latin typeface="Calibri"/>
              <a:ea typeface="Calibri"/>
              <a:cs typeface="Calibri"/>
              <a:sym typeface="Calibri"/>
            </a:endParaRPr>
          </a:p>
        </p:txBody>
      </p:sp>
      <p:pic>
        <p:nvPicPr>
          <p:cNvPr id="200" name="Google Shape;200;p17"/>
          <p:cNvPicPr preferRelativeResize="0"/>
          <p:nvPr/>
        </p:nvPicPr>
        <p:blipFill rotWithShape="1">
          <a:blip r:embed="rId3">
            <a:alphaModFix/>
          </a:blip>
          <a:srcRect b="28344" l="32290" r="32290" t="31297"/>
          <a:stretch/>
        </p:blipFill>
        <p:spPr>
          <a:xfrm>
            <a:off x="467544" y="620688"/>
            <a:ext cx="8136904" cy="38164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8"/>
          <p:cNvSpPr/>
          <p:nvPr/>
        </p:nvSpPr>
        <p:spPr>
          <a:xfrm>
            <a:off x="1500166" y="214290"/>
            <a:ext cx="28091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2800" u="sng">
                <a:solidFill>
                  <a:schemeClr val="dk1"/>
                </a:solidFill>
                <a:latin typeface="Calibri"/>
                <a:ea typeface="Calibri"/>
                <a:cs typeface="Calibri"/>
                <a:sym typeface="Calibri"/>
              </a:rPr>
              <a:t>La O-glycosylation</a:t>
            </a:r>
            <a:endParaRPr sz="2800" u="sng">
              <a:solidFill>
                <a:schemeClr val="dk1"/>
              </a:solidFill>
              <a:latin typeface="Calibri"/>
              <a:ea typeface="Calibri"/>
              <a:cs typeface="Calibri"/>
              <a:sym typeface="Calibri"/>
            </a:endParaRPr>
          </a:p>
        </p:txBody>
      </p:sp>
      <p:pic>
        <p:nvPicPr>
          <p:cNvPr descr="Résultat de recherche d'images pour &quot;appareil de golgi&quot;" id="206" name="Google Shape;206;p18"/>
          <p:cNvPicPr preferRelativeResize="0"/>
          <p:nvPr/>
        </p:nvPicPr>
        <p:blipFill rotWithShape="1">
          <a:blip r:embed="rId3">
            <a:alphaModFix/>
          </a:blip>
          <a:srcRect b="0" l="6977" r="0" t="0"/>
          <a:stretch/>
        </p:blipFill>
        <p:spPr>
          <a:xfrm>
            <a:off x="1187624" y="3645024"/>
            <a:ext cx="6527648" cy="2712934"/>
          </a:xfrm>
          <a:prstGeom prst="rect">
            <a:avLst/>
          </a:prstGeom>
          <a:noFill/>
          <a:ln>
            <a:noFill/>
          </a:ln>
        </p:spPr>
      </p:pic>
      <p:sp>
        <p:nvSpPr>
          <p:cNvPr id="207" name="Google Shape;207;p18"/>
          <p:cNvSpPr/>
          <p:nvPr/>
        </p:nvSpPr>
        <p:spPr>
          <a:xfrm>
            <a:off x="467544" y="1124744"/>
            <a:ext cx="8031836" cy="224676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fr-FR" sz="2000">
                <a:solidFill>
                  <a:schemeClr val="dk1"/>
                </a:solidFill>
                <a:latin typeface="Calibri"/>
                <a:ea typeface="Calibri"/>
                <a:cs typeface="Calibri"/>
                <a:sym typeface="Calibri"/>
              </a:rPr>
              <a:t>Se déroule dans l’appareil de golgi, plus exactement dans les saccules médians et trans. Dans cette glycosylation, la chaîne glycosylée est transférée sur l’oxygène porté par l’acide aminé sérine ou thréonine de la protéine par une O-glycosyltransférase.  </a:t>
            </a:r>
            <a:endParaRPr/>
          </a:p>
          <a:p>
            <a:pPr indent="0" lvl="0" marL="0" marR="0" rtl="0" algn="just">
              <a:spcBef>
                <a:spcPts val="0"/>
              </a:spcBef>
              <a:spcAft>
                <a:spcPts val="0"/>
              </a:spcAft>
              <a:buNone/>
            </a:pPr>
            <a:r>
              <a:rPr lang="fr-FR" sz="2000">
                <a:solidFill>
                  <a:schemeClr val="dk1"/>
                </a:solidFill>
                <a:latin typeface="Calibri"/>
                <a:ea typeface="Calibri"/>
                <a:cs typeface="Calibri"/>
                <a:sym typeface="Calibri"/>
              </a:rPr>
              <a:t>Contrairement à la N-glycosylation, la chaîne oligosaccharidique est très variable et n'est pas obligatoirement liée par un groupement N-acétyl glucosamine.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id="212" name="Google Shape;212;p19"/>
          <p:cNvPicPr preferRelativeResize="0"/>
          <p:nvPr/>
        </p:nvPicPr>
        <p:blipFill rotWithShape="1">
          <a:blip r:embed="rId3">
            <a:alphaModFix/>
          </a:blip>
          <a:srcRect b="0" l="0" r="0" t="0"/>
          <a:stretch/>
        </p:blipFill>
        <p:spPr>
          <a:xfrm>
            <a:off x="0" y="332656"/>
            <a:ext cx="8928991" cy="3885778"/>
          </a:xfrm>
          <a:prstGeom prst="rect">
            <a:avLst/>
          </a:prstGeom>
          <a:noFill/>
          <a:ln>
            <a:noFill/>
          </a:ln>
        </p:spPr>
      </p:pic>
      <p:sp>
        <p:nvSpPr>
          <p:cNvPr id="213" name="Google Shape;213;p19"/>
          <p:cNvSpPr/>
          <p:nvPr/>
        </p:nvSpPr>
        <p:spPr>
          <a:xfrm>
            <a:off x="0" y="4509120"/>
            <a:ext cx="8928991" cy="1676741"/>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lang="fr-FR" sz="1800">
                <a:solidFill>
                  <a:schemeClr val="dk1"/>
                </a:solidFill>
                <a:latin typeface="Times New Roman"/>
                <a:ea typeface="Times New Roman"/>
                <a:cs typeface="Times New Roman"/>
                <a:sym typeface="Times New Roman"/>
              </a:rPr>
              <a:t> </a:t>
            </a:r>
            <a:r>
              <a:rPr b="1" lang="fr-FR" sz="1800">
                <a:solidFill>
                  <a:schemeClr val="dk1"/>
                </a:solidFill>
                <a:latin typeface="Times New Roman"/>
                <a:ea typeface="Times New Roman"/>
                <a:cs typeface="Times New Roman"/>
                <a:sym typeface="Times New Roman"/>
              </a:rPr>
              <a:t>Étiquetage des hydrolases dans l’appareil de Golgi et adressage vers les lysosomes</a:t>
            </a:r>
            <a:endParaRPr b="1" sz="16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fr-FR" sz="1800">
                <a:solidFill>
                  <a:schemeClr val="dk1"/>
                </a:solidFill>
                <a:latin typeface="Times New Roman"/>
                <a:ea typeface="Times New Roman"/>
                <a:cs typeface="Times New Roman"/>
                <a:sym typeface="Times New Roman"/>
              </a:rPr>
              <a:t>Les étapes principales sont : (1) le marquage du mannose avec un groupement phosphate ; (2) la liaison de la protéine au récepteur du mannose 6-P ; (3) le transport vers un endosome ; (4) la dissociation de la protéine de son récepteur ; (5) le recyclage des récepteurs libérés vers les saccules transgolgiens.</a:t>
            </a:r>
            <a:endParaRPr sz="16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0"/>
          <p:cNvSpPr/>
          <p:nvPr/>
        </p:nvSpPr>
        <p:spPr>
          <a:xfrm>
            <a:off x="395536" y="1196752"/>
            <a:ext cx="8424936" cy="480131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800">
                <a:solidFill>
                  <a:schemeClr val="dk1"/>
                </a:solidFill>
                <a:latin typeface="Calibri"/>
                <a:ea typeface="Calibri"/>
                <a:cs typeface="Calibri"/>
                <a:sym typeface="Calibri"/>
              </a:rPr>
              <a:t>Elle se produit dans les saccules Cis de l’appareil de Golgi et se déroule en plusieurs étapes :</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	Le marquage des mannoses par des phospho-transférases (par l’ajout d’un groupement phosphate sur le 6ème Carbonne d’un ou de plusieurs mannoses).</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Une fois marqué, les enzymes ne pourront plus subir de modifications enzymatiques dans le reste du golgi. </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 Les enzymes porteuses du mannose 6P sont reconnues par leurs récepteurs spécifiques au niveau de TGN.</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 Formation de vésicules recouvertes de clathrine qui bourgeonnent à partir de TGN.</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 Elimination de revêtement de clathrine de la vésicule après son bourgeonnement.</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 Fusion des vésicules avec l’endolysosome.</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Sous l’effet du PH acide de l’endolysosome, la protéine se détache de son récepteur :</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 Les enzymes deviennent matures après élimination du groupement phosphate par des phosphatases.</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 Les récepteurs du mannose 6P libres sont recycles vers l’appareil de Goli (vésicule à clathrine).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1"/>
          <p:cNvSpPr/>
          <p:nvPr/>
        </p:nvSpPr>
        <p:spPr>
          <a:xfrm>
            <a:off x="142844" y="373684"/>
            <a:ext cx="9001156" cy="5724644"/>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Arial"/>
              <a:buNone/>
            </a:pPr>
            <a:r>
              <a:rPr b="1" i="0" lang="fr-FR" sz="2800" u="none" cap="none" strike="noStrike">
                <a:solidFill>
                  <a:schemeClr val="dk1"/>
                </a:solidFill>
                <a:latin typeface="Arial"/>
                <a:ea typeface="Arial"/>
                <a:cs typeface="Arial"/>
                <a:sym typeface="Arial"/>
              </a:rPr>
              <a:t>Rôle du Réticulum Endoplasmique Lisse</a:t>
            </a:r>
            <a:endParaRPr b="0" i="0" sz="2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Arial"/>
              <a:buNone/>
            </a:pPr>
            <a:r>
              <a:rPr b="1" i="0" lang="fr-FR" sz="2800" u="none" cap="none" strike="noStrike">
                <a:solidFill>
                  <a:schemeClr val="dk1"/>
                </a:solidFill>
                <a:latin typeface="Arial"/>
                <a:ea typeface="Arial"/>
                <a:cs typeface="Arial"/>
                <a:sym typeface="Arial"/>
              </a:rPr>
              <a:t>dans la synthèse lipidique</a:t>
            </a:r>
            <a:endParaRPr/>
          </a:p>
          <a:p>
            <a:pPr indent="0" lvl="0" marL="0" marR="0" rtl="0" algn="ctr">
              <a:lnSpc>
                <a:spcPct val="100000"/>
              </a:lnSpc>
              <a:spcBef>
                <a:spcPts val="0"/>
              </a:spcBef>
              <a:spcAft>
                <a:spcPts val="0"/>
              </a:spcAft>
              <a:buClr>
                <a:schemeClr val="dk1"/>
              </a:buClr>
              <a:buSzPts val="2800"/>
              <a:buFont typeface="Calibri"/>
              <a:buNone/>
            </a:pPr>
            <a:r>
              <a:t/>
            </a:r>
            <a:endParaRPr b="1" sz="2800">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Calibri"/>
              <a:buNone/>
            </a:pPr>
            <a:r>
              <a:t/>
            </a:r>
            <a:endParaRPr b="1" i="0" sz="2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Calibri"/>
              <a:buNone/>
            </a:pPr>
            <a:r>
              <a:t/>
            </a:r>
            <a:endParaRPr b="1" sz="2800">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Calibri"/>
              <a:buNone/>
            </a:pPr>
            <a:r>
              <a:t/>
            </a:r>
            <a:endParaRPr b="1" i="0" sz="2800" u="none" cap="none" strike="noStrike">
              <a:solidFill>
                <a:schemeClr val="dk1"/>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2800"/>
              <a:buFont typeface="Calibri"/>
              <a:buNone/>
            </a:pPr>
            <a:r>
              <a:t/>
            </a:r>
            <a:endParaRPr b="0" i="0" sz="2800" u="none" cap="none" strike="noStrike">
              <a:solidFill>
                <a:schemeClr val="dk1"/>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2400"/>
              <a:buFont typeface="Arial"/>
              <a:buNone/>
            </a:pPr>
            <a:r>
              <a:rPr b="1" lang="fr-FR" sz="2400">
                <a:solidFill>
                  <a:schemeClr val="dk1"/>
                </a:solidFill>
                <a:latin typeface="Arial"/>
                <a:ea typeface="Arial"/>
                <a:cs typeface="Arial"/>
                <a:sym typeface="Arial"/>
              </a:rPr>
              <a:t>« M</a:t>
            </a:r>
            <a:r>
              <a:rPr b="1" i="0" lang="fr-FR" sz="2400" u="none" cap="none" strike="noStrike">
                <a:solidFill>
                  <a:schemeClr val="dk1"/>
                </a:solidFill>
                <a:latin typeface="Arial"/>
                <a:ea typeface="Arial"/>
                <a:cs typeface="Arial"/>
                <a:sym typeface="Arial"/>
              </a:rPr>
              <a:t>embrane autofabriquante ou biogénique »</a:t>
            </a:r>
            <a:endParaRPr/>
          </a:p>
          <a:p>
            <a:pPr indent="-127000" lvl="0" marL="0" marR="0" rtl="0" algn="l">
              <a:lnSpc>
                <a:spcPct val="150000"/>
              </a:lnSpc>
              <a:spcBef>
                <a:spcPts val="0"/>
              </a:spcBef>
              <a:spcAft>
                <a:spcPts val="0"/>
              </a:spcAft>
              <a:buClr>
                <a:schemeClr val="dk1"/>
              </a:buClr>
              <a:buSzPts val="2000"/>
              <a:buFont typeface="Arial"/>
              <a:buChar char="•"/>
            </a:pPr>
            <a:r>
              <a:rPr b="1" i="0" lang="fr-FR" sz="2000" u="none" cap="none" strike="noStrike">
                <a:solidFill>
                  <a:schemeClr val="dk1"/>
                </a:solidFill>
                <a:latin typeface="Arial"/>
                <a:ea typeface="Arial"/>
                <a:cs typeface="Arial"/>
                <a:sym typeface="Arial"/>
              </a:rPr>
              <a:t> Assemblage des bicouches lipidiques dans le RE avec</a:t>
            </a:r>
            <a:r>
              <a:rPr lang="fr-FR" sz="2000">
                <a:solidFill>
                  <a:schemeClr val="dk1"/>
                </a:solidFill>
                <a:latin typeface="Arial"/>
                <a:ea typeface="Arial"/>
                <a:cs typeface="Arial"/>
                <a:sym typeface="Arial"/>
              </a:rPr>
              <a:t> </a:t>
            </a:r>
            <a:r>
              <a:rPr b="1" i="0" lang="fr-FR" sz="2000" u="none" cap="none" strike="noStrike">
                <a:solidFill>
                  <a:schemeClr val="dk1"/>
                </a:solidFill>
                <a:latin typeface="Arial"/>
                <a:ea typeface="Arial"/>
                <a:cs typeface="Arial"/>
                <a:sym typeface="Arial"/>
              </a:rPr>
              <a:t>synthèse de toutes les classes majeures de lipides, phospholipides et cholestérol </a:t>
            </a:r>
            <a:endParaRPr/>
          </a:p>
          <a:p>
            <a:pPr indent="0" lvl="0" marL="0" marR="0" rtl="0" algn="l">
              <a:lnSpc>
                <a:spcPct val="150000"/>
              </a:lnSpc>
              <a:spcBef>
                <a:spcPts val="0"/>
              </a:spcBef>
              <a:spcAft>
                <a:spcPts val="0"/>
              </a:spcAft>
              <a:buNone/>
            </a:pPr>
            <a:r>
              <a:rPr b="1" i="0" lang="fr-FR" sz="2000" u="none" cap="none" strike="noStrike">
                <a:solidFill>
                  <a:schemeClr val="dk1"/>
                </a:solidFill>
                <a:latin typeface="Arial"/>
                <a:ea typeface="Arial"/>
                <a:cs typeface="Arial"/>
                <a:sym typeface="Arial"/>
              </a:rPr>
              <a:t>du coté cytosolique.</a:t>
            </a:r>
            <a:endParaRPr b="0" i="0" sz="2000" u="none" cap="none" strike="noStrike">
              <a:solidFill>
                <a:schemeClr val="dk1"/>
              </a:solidFill>
              <a:latin typeface="Arial"/>
              <a:ea typeface="Arial"/>
              <a:cs typeface="Arial"/>
              <a:sym typeface="Arial"/>
            </a:endParaRPr>
          </a:p>
          <a:p>
            <a:pPr indent="-127000" lvl="0" marL="0" marR="0" rtl="0" algn="l">
              <a:lnSpc>
                <a:spcPct val="150000"/>
              </a:lnSpc>
              <a:spcBef>
                <a:spcPts val="0"/>
              </a:spcBef>
              <a:spcAft>
                <a:spcPts val="0"/>
              </a:spcAft>
              <a:buClr>
                <a:schemeClr val="dk1"/>
              </a:buClr>
              <a:buSzPts val="2000"/>
              <a:buFont typeface="Arial"/>
              <a:buChar char="•"/>
            </a:pPr>
            <a:r>
              <a:rPr b="1" i="0" lang="fr-FR" sz="2000" u="none" cap="none" strike="noStrike">
                <a:solidFill>
                  <a:schemeClr val="dk1"/>
                </a:solidFill>
                <a:latin typeface="Arial"/>
                <a:ea typeface="Arial"/>
                <a:cs typeface="Arial"/>
                <a:sym typeface="Arial"/>
              </a:rPr>
              <a:t>Source de lipides pour la membrane externe de la mitochondrie.</a:t>
            </a:r>
            <a:endParaRPr b="0" i="0" sz="2000" u="none" cap="none" strike="noStrike">
              <a:solidFill>
                <a:schemeClr val="dk1"/>
              </a:solidFill>
              <a:latin typeface="Arial"/>
              <a:ea typeface="Arial"/>
              <a:cs typeface="Arial"/>
              <a:sym typeface="Arial"/>
            </a:endParaRPr>
          </a:p>
        </p:txBody>
      </p:sp>
      <p:pic>
        <p:nvPicPr>
          <p:cNvPr id="224" name="Google Shape;224;p21"/>
          <p:cNvPicPr preferRelativeResize="0"/>
          <p:nvPr/>
        </p:nvPicPr>
        <p:blipFill rotWithShape="1">
          <a:blip r:embed="rId3">
            <a:alphaModFix/>
          </a:blip>
          <a:srcRect b="58070" l="57727" r="0" t="0"/>
          <a:stretch/>
        </p:blipFill>
        <p:spPr>
          <a:xfrm>
            <a:off x="2143108" y="1357298"/>
            <a:ext cx="5441108" cy="207170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id="229" name="Google Shape;229;p22"/>
          <p:cNvPicPr preferRelativeResize="0"/>
          <p:nvPr/>
        </p:nvPicPr>
        <p:blipFill rotWithShape="1">
          <a:blip r:embed="rId3">
            <a:alphaModFix/>
          </a:blip>
          <a:srcRect b="11608" l="21775" r="23435" t="22439"/>
          <a:stretch/>
        </p:blipFill>
        <p:spPr>
          <a:xfrm>
            <a:off x="395536" y="692696"/>
            <a:ext cx="8136904" cy="554461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3"/>
          <p:cNvSpPr/>
          <p:nvPr/>
        </p:nvSpPr>
        <p:spPr>
          <a:xfrm>
            <a:off x="642910" y="71414"/>
            <a:ext cx="8143932" cy="692497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400">
                <a:solidFill>
                  <a:schemeClr val="dk1"/>
                </a:solidFill>
                <a:latin typeface="Arial"/>
                <a:ea typeface="Arial"/>
                <a:cs typeface="Arial"/>
                <a:sym typeface="Arial"/>
              </a:rPr>
              <a:t>Exemple : Biosynthèse de la phosphatidylcholine </a:t>
            </a:r>
            <a:endParaRPr/>
          </a:p>
          <a:p>
            <a:pPr indent="0" lvl="0" marL="0" marR="0" rtl="0" algn="l">
              <a:lnSpc>
                <a:spcPct val="150000"/>
              </a:lnSpc>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t/>
            </a:r>
            <a:endParaRPr sz="2400">
              <a:solidFill>
                <a:schemeClr val="dk1"/>
              </a:solidFill>
              <a:latin typeface="Arial"/>
              <a:ea typeface="Arial"/>
              <a:cs typeface="Arial"/>
              <a:sym typeface="Arial"/>
            </a:endParaRPr>
          </a:p>
        </p:txBody>
      </p:sp>
      <p:pic>
        <p:nvPicPr>
          <p:cNvPr id="235" name="Google Shape;235;p23"/>
          <p:cNvPicPr preferRelativeResize="0"/>
          <p:nvPr/>
        </p:nvPicPr>
        <p:blipFill rotWithShape="1">
          <a:blip r:embed="rId3">
            <a:alphaModFix/>
          </a:blip>
          <a:srcRect b="0" l="0" r="0" t="1282"/>
          <a:stretch/>
        </p:blipFill>
        <p:spPr>
          <a:xfrm>
            <a:off x="0" y="616978"/>
            <a:ext cx="9143999" cy="4071310"/>
          </a:xfrm>
          <a:prstGeom prst="rect">
            <a:avLst/>
          </a:prstGeom>
          <a:noFill/>
          <a:ln>
            <a:noFill/>
          </a:ln>
        </p:spPr>
      </p:pic>
      <p:sp>
        <p:nvSpPr>
          <p:cNvPr id="236" name="Google Shape;236;p23"/>
          <p:cNvSpPr/>
          <p:nvPr/>
        </p:nvSpPr>
        <p:spPr>
          <a:xfrm>
            <a:off x="285753" y="4826675"/>
            <a:ext cx="8678735"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800">
                <a:solidFill>
                  <a:schemeClr val="dk1"/>
                </a:solidFill>
                <a:latin typeface="Calibri"/>
                <a:ea typeface="Calibri"/>
                <a:cs typeface="Calibri"/>
                <a:sym typeface="Calibri"/>
              </a:rPr>
              <a:t>1. Deux acyl-CoA sont tout d’abord fixés successivement à un glycérol-phosphate par</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l’acyl-transférase tout en libérant les CoA (acylation): obtention d’un acide</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phosphatidique.</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2. Une phosphatase déphosphoryle l’acide phosphatidique: obtention d’un</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diacylglycérol (DAG).</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3. Ajout de la phosphocholine au DAG par la choline-phosphotransférase</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....obtention de la phosphatidylcholine.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24"/>
          <p:cNvPicPr preferRelativeResize="0"/>
          <p:nvPr/>
        </p:nvPicPr>
        <p:blipFill rotWithShape="1">
          <a:blip r:embed="rId3">
            <a:alphaModFix/>
          </a:blip>
          <a:srcRect b="38188" l="21774" r="22881" t="37202"/>
          <a:stretch/>
        </p:blipFill>
        <p:spPr>
          <a:xfrm>
            <a:off x="323528" y="332656"/>
            <a:ext cx="8424936" cy="1800200"/>
          </a:xfrm>
          <a:prstGeom prst="rect">
            <a:avLst/>
          </a:prstGeom>
          <a:noFill/>
          <a:ln>
            <a:noFill/>
          </a:ln>
        </p:spPr>
      </p:pic>
      <p:pic>
        <p:nvPicPr>
          <p:cNvPr id="242" name="Google Shape;242;p24"/>
          <p:cNvPicPr preferRelativeResize="0"/>
          <p:nvPr/>
        </p:nvPicPr>
        <p:blipFill rotWithShape="1">
          <a:blip r:embed="rId4">
            <a:alphaModFix/>
          </a:blip>
          <a:srcRect b="0" l="0" r="0" t="16291"/>
          <a:stretch/>
        </p:blipFill>
        <p:spPr>
          <a:xfrm>
            <a:off x="1649290" y="3356992"/>
            <a:ext cx="5773412" cy="221994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25"/>
          <p:cNvPicPr preferRelativeResize="0"/>
          <p:nvPr/>
        </p:nvPicPr>
        <p:blipFill rotWithShape="1">
          <a:blip r:embed="rId3">
            <a:alphaModFix/>
          </a:blip>
          <a:srcRect b="31525" l="0" r="0" t="0"/>
          <a:stretch/>
        </p:blipFill>
        <p:spPr>
          <a:xfrm>
            <a:off x="971600" y="3429000"/>
            <a:ext cx="7215238" cy="3360436"/>
          </a:xfrm>
          <a:prstGeom prst="rect">
            <a:avLst/>
          </a:prstGeom>
          <a:noFill/>
          <a:ln>
            <a:noFill/>
          </a:ln>
        </p:spPr>
      </p:pic>
      <p:pic>
        <p:nvPicPr>
          <p:cNvPr id="248" name="Google Shape;248;p25"/>
          <p:cNvPicPr preferRelativeResize="0"/>
          <p:nvPr/>
        </p:nvPicPr>
        <p:blipFill rotWithShape="1">
          <a:blip r:embed="rId4">
            <a:alphaModFix/>
          </a:blip>
          <a:srcRect b="11610" l="21775" r="23435" t="39172"/>
          <a:stretch/>
        </p:blipFill>
        <p:spPr>
          <a:xfrm>
            <a:off x="222735" y="0"/>
            <a:ext cx="8712968" cy="323691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26"/>
          <p:cNvPicPr preferRelativeResize="0"/>
          <p:nvPr/>
        </p:nvPicPr>
        <p:blipFill rotWithShape="1">
          <a:blip r:embed="rId3">
            <a:alphaModFix/>
          </a:blip>
          <a:srcRect b="11608" l="22329" r="23434" t="22439"/>
          <a:stretch/>
        </p:blipFill>
        <p:spPr>
          <a:xfrm>
            <a:off x="179512" y="260648"/>
            <a:ext cx="8712968" cy="597666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7"/>
          <p:cNvSpPr/>
          <p:nvPr/>
        </p:nvSpPr>
        <p:spPr>
          <a:xfrm>
            <a:off x="179512" y="332656"/>
            <a:ext cx="8568952"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800">
                <a:solidFill>
                  <a:schemeClr val="dk1"/>
                </a:solidFill>
                <a:latin typeface="Calibri"/>
                <a:ea typeface="Calibri"/>
                <a:cs typeface="Calibri"/>
                <a:sym typeface="Calibri"/>
              </a:rPr>
              <a:t>la sécrétion contrôlée : s’appelle aussi sécrétion discontinue, et c’est une sécrétion sélective, qui est régulée par des signaux intra ou extracellulaires, elle concerne seulement les cellules sécrétrices. Exemple : sécrétion des hormones, enzymes de digestion etc…</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Il faut noter également que le produit destiné : aux lysosomes, et à la sécrétion contrôlée, est emballé souvent dans des vésicules de transport recouvertes de clathrine.</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La sécrétion constitutive : est une sécrétion qui se réalise d’une manière permanente et sans intervention de signaux. Elle concerne presque tous les types cellulaires. Exemple : renouvellement des constituants membranaires, renouvellement des constituants de la matrice extracellulaire. </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Le produit destiné à la sécrétion constitutive est emballé dans des vésicules recouvertes de coatoméres (COPI).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Transport antérograde: RE vers AG c’est les COP2</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Transport rétrograde: AG vers RE c’est les COP1</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8"/>
          <p:cNvSpPr/>
          <p:nvPr/>
        </p:nvSpPr>
        <p:spPr>
          <a:xfrm rot="125">
            <a:off x="241515" y="1548776"/>
            <a:ext cx="8280000" cy="51411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fr-FR" sz="1800">
                <a:solidFill>
                  <a:schemeClr val="dk1"/>
                </a:solidFill>
                <a:latin typeface="Calibri"/>
                <a:ea typeface="Calibri"/>
                <a:cs typeface="Calibri"/>
                <a:sym typeface="Calibri"/>
              </a:rPr>
              <a:t>Les </a:t>
            </a:r>
            <a:r>
              <a:rPr b="1" lang="fr-FR" sz="1800">
                <a:solidFill>
                  <a:schemeClr val="dk1"/>
                </a:solidFill>
                <a:latin typeface="Calibri"/>
                <a:ea typeface="Calibri"/>
                <a:cs typeface="Calibri"/>
                <a:sym typeface="Calibri"/>
              </a:rPr>
              <a:t>endosomes</a:t>
            </a:r>
            <a:r>
              <a:rPr lang="fr-FR" sz="1800">
                <a:solidFill>
                  <a:schemeClr val="dk1"/>
                </a:solidFill>
                <a:latin typeface="Calibri"/>
                <a:ea typeface="Calibri"/>
                <a:cs typeface="Calibri"/>
                <a:sym typeface="Calibri"/>
              </a:rPr>
              <a:t> sont des compartiments membranaires que l'on retrouve à l'intérieur des cellules eucaryotes. C'est un organite de la voie de transport membranaire endocytaire provenant du réseau trans golgien :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just">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les vésicules d‘endocytose s'y accrochent et fusionnent pour relarguer leur contenu. Les molécules ou ligands internalisés de la membrane plasmique(contenus dans ces vésicules) peuvent suivre cette voie jusqu'aux lysosomes pour être dégradés. </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just">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Les molécules sont également transportées vers les endosomes à partir du réseau trans-Golgi et soit continuent vers les lysosomes, soit sont recyclées vers l'appareil de Golgi. </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fr-FR" sz="1800">
                <a:solidFill>
                  <a:schemeClr val="dk1"/>
                </a:solidFill>
                <a:latin typeface="Calibri"/>
                <a:ea typeface="Calibri"/>
                <a:cs typeface="Calibri"/>
                <a:sym typeface="Calibri"/>
              </a:rPr>
              <a:t>Les endosomes peuvent être classés en 2 catégories : précoces ou tardifs, en fonction de leur stade de post-internalisation.</a:t>
            </a:r>
            <a:endParaRPr sz="1800">
              <a:solidFill>
                <a:schemeClr val="dk1"/>
              </a:solidFill>
              <a:latin typeface="Calibri"/>
              <a:ea typeface="Calibri"/>
              <a:cs typeface="Calibri"/>
              <a:sym typeface="Calibri"/>
            </a:endParaRPr>
          </a:p>
        </p:txBody>
      </p:sp>
      <p:sp>
        <p:nvSpPr>
          <p:cNvPr id="264" name="Google Shape;264;p28"/>
          <p:cNvSpPr/>
          <p:nvPr/>
        </p:nvSpPr>
        <p:spPr>
          <a:xfrm>
            <a:off x="3275856" y="620688"/>
            <a:ext cx="2826415" cy="584775"/>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fr-FR" sz="3200">
                <a:solidFill>
                  <a:schemeClr val="dk1"/>
                </a:solidFill>
                <a:latin typeface="Calibri"/>
                <a:ea typeface="Calibri"/>
                <a:cs typeface="Calibri"/>
                <a:sym typeface="Calibri"/>
              </a:rPr>
              <a:t>Les Endosomes </a:t>
            </a:r>
            <a:endParaRPr sz="32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9"/>
          <p:cNvSpPr/>
          <p:nvPr/>
        </p:nvSpPr>
        <p:spPr>
          <a:xfrm>
            <a:off x="179512" y="0"/>
            <a:ext cx="8856984" cy="6832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Endosome précoce</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fr-FR" sz="2000">
                <a:solidFill>
                  <a:schemeClr val="dk1"/>
                </a:solidFill>
                <a:latin typeface="Calibri"/>
                <a:ea typeface="Calibri"/>
                <a:cs typeface="Calibri"/>
                <a:sym typeface="Calibri"/>
              </a:rPr>
              <a:t>Les endosomes précoces sont des organites situé à la périphérie de la cellule, ils reçoivent des macromolécules et des solutés de l'environnement extracellulaire. La fonction principale des endosomes précoces est de trier ces cargaisons dans les compartiments de recyclage et de dégradation de la cellule.</a:t>
            </a:r>
            <a:endParaRPr/>
          </a:p>
          <a:p>
            <a:pPr indent="0" lvl="0" marL="0" marR="0" rtl="0" algn="just">
              <a:spcBef>
                <a:spcPts val="0"/>
              </a:spcBef>
              <a:spcAft>
                <a:spcPts val="0"/>
              </a:spcAft>
              <a:buNone/>
            </a:pPr>
            <a:r>
              <a:rPr lang="fr-FR" sz="2000">
                <a:solidFill>
                  <a:schemeClr val="dk1"/>
                </a:solidFill>
                <a:latin typeface="Calibri"/>
                <a:ea typeface="Calibri"/>
                <a:cs typeface="Calibri"/>
                <a:sym typeface="Calibri"/>
              </a:rPr>
              <a:t>Ils ont un pH égal à 6, car dans leurs membrane, ils possèdent une pompe à protons ATPase qui transporte des ions hydrogènes H+ du cytosol vers l'intérieur des endosomes, ce qui provoque la dissociation de la plupart des ligands endocytés encore fixés à leurs récepteurs. . </a:t>
            </a:r>
            <a:endParaRPr/>
          </a:p>
          <a:p>
            <a:pPr indent="0" lvl="0" marL="0" marR="0" rtl="0" algn="just">
              <a:spcBef>
                <a:spcPts val="0"/>
              </a:spcBef>
              <a:spcAft>
                <a:spcPts val="0"/>
              </a:spcAft>
              <a:buNone/>
            </a:pPr>
            <a:r>
              <a:rPr lang="fr-FR" sz="2000">
                <a:solidFill>
                  <a:schemeClr val="dk1"/>
                </a:solidFill>
                <a:latin typeface="Calibri"/>
                <a:ea typeface="Calibri"/>
                <a:cs typeface="Calibri"/>
                <a:sym typeface="Calibri"/>
              </a:rPr>
              <a:t>Une fois dans l'endosome précoce, le matériau endocité peut suivre deux voies :</a:t>
            </a:r>
            <a:endParaRPr/>
          </a:p>
          <a:p>
            <a:pPr indent="0" lvl="0" marL="0" marR="0" rtl="0" algn="just">
              <a:spcBef>
                <a:spcPts val="0"/>
              </a:spcBef>
              <a:spcAft>
                <a:spcPts val="0"/>
              </a:spcAft>
              <a:buNone/>
            </a:pPr>
            <a:r>
              <a:t/>
            </a:r>
            <a:endParaRPr sz="2000">
              <a:solidFill>
                <a:schemeClr val="dk1"/>
              </a:solidFill>
              <a:latin typeface="Calibri"/>
              <a:ea typeface="Calibri"/>
              <a:cs typeface="Calibri"/>
              <a:sym typeface="Calibri"/>
            </a:endParaRPr>
          </a:p>
          <a:p>
            <a:pPr indent="-342900" lvl="0" marL="342900" marR="0" rtl="0" algn="just">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Etre recyclé au moyen du recyclage des vésicules et retourner au domaine membranaire.</a:t>
            </a:r>
            <a:endParaRPr/>
          </a:p>
          <a:p>
            <a:pPr indent="-342900" lvl="0" marL="342900" marR="0" rtl="0" algn="just">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Suivre le chemin de l'endosome tardif pour être dégradé.</a:t>
            </a:r>
            <a:endParaRPr/>
          </a:p>
          <a:p>
            <a:pPr indent="-215900" lvl="0" marL="342900" marR="0" rtl="0" algn="just">
              <a:spcBef>
                <a:spcPts val="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0" lvl="0" marL="0" marR="0" rtl="0" algn="just">
              <a:spcBef>
                <a:spcPts val="0"/>
              </a:spcBef>
              <a:spcAft>
                <a:spcPts val="0"/>
              </a:spcAft>
              <a:buNone/>
            </a:pPr>
            <a:r>
              <a:rPr b="1" lang="fr-FR" sz="2000">
                <a:solidFill>
                  <a:schemeClr val="dk1"/>
                </a:solidFill>
                <a:latin typeface="Calibri"/>
                <a:ea typeface="Calibri"/>
                <a:cs typeface="Calibri"/>
                <a:sym typeface="Calibri"/>
              </a:rPr>
              <a:t>Endosome tardif</a:t>
            </a:r>
            <a:r>
              <a:rPr lang="fr-FR" sz="2000">
                <a:solidFill>
                  <a:schemeClr val="dk1"/>
                </a:solidFill>
                <a:latin typeface="Calibri"/>
                <a:ea typeface="Calibri"/>
                <a:cs typeface="Calibri"/>
                <a:sym typeface="Calibri"/>
              </a:rPr>
              <a:t> </a:t>
            </a:r>
            <a:endParaRPr/>
          </a:p>
          <a:p>
            <a:pPr indent="0" lvl="0" marL="0" marR="0" rtl="0" algn="just">
              <a:spcBef>
                <a:spcPts val="0"/>
              </a:spcBef>
              <a:spcAft>
                <a:spcPts val="0"/>
              </a:spcAft>
              <a:buNone/>
            </a:pPr>
            <a:r>
              <a:rPr lang="fr-FR" sz="2000">
                <a:solidFill>
                  <a:schemeClr val="dk1"/>
                </a:solidFill>
                <a:latin typeface="Calibri"/>
                <a:ea typeface="Calibri"/>
                <a:cs typeface="Calibri"/>
                <a:sym typeface="Calibri"/>
              </a:rPr>
              <a:t>Le pH est maintenant tombé à 5,0 et la teneur en hydrolases est très haute.</a:t>
            </a:r>
            <a:endParaRPr sz="2000">
              <a:solidFill>
                <a:schemeClr val="dk1"/>
              </a:solidFill>
              <a:latin typeface="Calibri"/>
              <a:ea typeface="Calibri"/>
              <a:cs typeface="Calibri"/>
              <a:sym typeface="Calibri"/>
            </a:endParaRPr>
          </a:p>
          <a:p>
            <a:pPr indent="0" lvl="0" marL="0" marR="0" rtl="0" algn="just">
              <a:spcBef>
                <a:spcPts val="0"/>
              </a:spcBef>
              <a:spcAft>
                <a:spcPts val="0"/>
              </a:spcAft>
              <a:buNone/>
            </a:pPr>
            <a:r>
              <a:rPr lang="fr-FR" sz="2000">
                <a:solidFill>
                  <a:schemeClr val="dk1"/>
                </a:solidFill>
                <a:latin typeface="Calibri"/>
                <a:ea typeface="Calibri"/>
                <a:cs typeface="Calibri"/>
                <a:sym typeface="Calibri"/>
              </a:rPr>
              <a:t>Les endosomes tardifs se trouvent dans les régions juxtanucléaires et concentrés au centre organisateur des microtubules. Ils constituent un poste de tri important dans la voie endocytaire. </a:t>
            </a:r>
            <a:endParaRPr sz="2000">
              <a:solidFill>
                <a:schemeClr val="dk1"/>
              </a:solidFill>
              <a:latin typeface="Calibri"/>
              <a:ea typeface="Calibri"/>
              <a:cs typeface="Calibri"/>
              <a:sym typeface="Calibri"/>
            </a:endParaRPr>
          </a:p>
          <a:p>
            <a:pPr indent="0" lvl="0" marL="0" marR="0" rtl="0" algn="just">
              <a:spcBef>
                <a:spcPts val="0"/>
              </a:spcBef>
              <a:spcAft>
                <a:spcPts val="0"/>
              </a:spcAft>
              <a:buNone/>
            </a:pPr>
            <a:r>
              <a:rPr lang="fr-FR" sz="2000">
                <a:solidFill>
                  <a:schemeClr val="dk1"/>
                </a:solidFill>
                <a:latin typeface="Calibri"/>
                <a:ea typeface="Calibri"/>
                <a:cs typeface="Calibri"/>
                <a:sym typeface="Calibri"/>
              </a:rPr>
              <a:t>Le recyclage vers la membrane plasmique et vers l'appareil de Golgi intervient dans les endosomes tardifs.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30"/>
          <p:cNvPicPr preferRelativeResize="0"/>
          <p:nvPr/>
        </p:nvPicPr>
        <p:blipFill rotWithShape="1">
          <a:blip r:embed="rId3">
            <a:alphaModFix/>
          </a:blip>
          <a:srcRect b="34249" l="50000" r="17901" t="30312"/>
          <a:stretch/>
        </p:blipFill>
        <p:spPr>
          <a:xfrm>
            <a:off x="3779912" y="764704"/>
            <a:ext cx="4176464" cy="4608512"/>
          </a:xfrm>
          <a:prstGeom prst="rect">
            <a:avLst/>
          </a:prstGeom>
          <a:noFill/>
          <a:ln>
            <a:noFill/>
          </a:ln>
        </p:spPr>
      </p:pic>
      <p:sp>
        <p:nvSpPr>
          <p:cNvPr id="275" name="Google Shape;275;p30"/>
          <p:cNvSpPr/>
          <p:nvPr/>
        </p:nvSpPr>
        <p:spPr>
          <a:xfrm>
            <a:off x="323528" y="796323"/>
            <a:ext cx="2592288" cy="40934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fr-FR" sz="2000">
                <a:solidFill>
                  <a:schemeClr val="dk1"/>
                </a:solidFill>
                <a:latin typeface="Calibri"/>
                <a:ea typeface="Calibri"/>
                <a:cs typeface="Calibri"/>
                <a:sym typeface="Calibri"/>
              </a:rPr>
              <a:t>Les endosomes tardifs fusionnent aussi avec d'autres endosomes et le surplus membranaire qui en résulte est utilisé pour la formation de vésicules intra-endosomales (voir figure). </a:t>
            </a:r>
            <a:endParaRPr/>
          </a:p>
          <a:p>
            <a:pPr indent="0" lvl="0" marL="0" marR="0" rtl="0" algn="just">
              <a:spcBef>
                <a:spcPts val="0"/>
              </a:spcBef>
              <a:spcAft>
                <a:spcPts val="0"/>
              </a:spcAft>
              <a:buNone/>
            </a:pPr>
            <a:r>
              <a:rPr lang="fr-FR" sz="2000">
                <a:solidFill>
                  <a:schemeClr val="dk1"/>
                </a:solidFill>
                <a:latin typeface="Calibri"/>
                <a:ea typeface="Calibri"/>
                <a:cs typeface="Calibri"/>
                <a:sym typeface="Calibri"/>
              </a:rPr>
              <a:t>après quoi l'endosome tardif « régresse » vers l'état d'un lysosome.</a:t>
            </a:r>
            <a:endParaRPr sz="20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2014-04-14T17:02:35Z</dcterms:created>
  <dc:creator>user</dc:creator>
</cp:coreProperties>
</file>