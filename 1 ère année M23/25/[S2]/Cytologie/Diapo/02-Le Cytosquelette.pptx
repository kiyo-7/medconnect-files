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hQAoQbCBDwf/fTQa07tSvPVN/R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1" name="Shape 11"/>
        <p:cNvGrpSpPr/>
        <p:nvPr/>
      </p:nvGrpSpPr>
      <p:grpSpPr>
        <a:xfrm>
          <a:off x="0" y="0"/>
          <a:ext cx="0" cy="0"/>
          <a:chOff x="0" y="0"/>
          <a:chExt cx="0" cy="0"/>
        </a:xfrm>
      </p:grpSpPr>
      <p:sp>
        <p:nvSpPr>
          <p:cNvPr id="12" name="Google Shape;12;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7" name="Shape 17"/>
        <p:cNvGrpSpPr/>
        <p:nvPr/>
      </p:nvGrpSpPr>
      <p:grpSpPr>
        <a:xfrm>
          <a:off x="0" y="0"/>
          <a:ext cx="0" cy="0"/>
          <a:chOff x="0" y="0"/>
          <a:chExt cx="0" cy="0"/>
        </a:xfrm>
      </p:grpSpPr>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3.png"/><Relationship Id="rId5"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1474992" y="618322"/>
            <a:ext cx="628654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5400" u="none" cap="none" strike="noStrike">
                <a:solidFill>
                  <a:schemeClr val="dk1"/>
                </a:solidFill>
                <a:latin typeface="Arial"/>
                <a:ea typeface="Arial"/>
                <a:cs typeface="Arial"/>
                <a:sym typeface="Arial"/>
              </a:rPr>
              <a:t>Le Cytosquelette</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pic>
        <p:nvPicPr>
          <p:cNvPr descr="http://johann.gerard.chez-alice.fr/cellule2/images/microtrab.jpg" id="85" name="Google Shape;85;p1"/>
          <p:cNvPicPr preferRelativeResize="0"/>
          <p:nvPr/>
        </p:nvPicPr>
        <p:blipFill rotWithShape="1">
          <a:blip r:embed="rId3">
            <a:alphaModFix/>
          </a:blip>
          <a:srcRect b="0" l="0" r="0" t="0"/>
          <a:stretch/>
        </p:blipFill>
        <p:spPr>
          <a:xfrm>
            <a:off x="1500166" y="1844824"/>
            <a:ext cx="6236196" cy="3866442"/>
          </a:xfrm>
          <a:prstGeom prst="rect">
            <a:avLst/>
          </a:prstGeom>
          <a:noFill/>
          <a:ln>
            <a:noFill/>
          </a:ln>
        </p:spPr>
      </p:pic>
      <p:sp>
        <p:nvSpPr>
          <p:cNvPr id="86" name="Google Shape;86;p1"/>
          <p:cNvSpPr/>
          <p:nvPr/>
        </p:nvSpPr>
        <p:spPr>
          <a:xfrm>
            <a:off x="6588224" y="5711266"/>
            <a:ext cx="203517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1" lang="fr-FR" sz="1800" u="none">
                <a:solidFill>
                  <a:schemeClr val="dk1"/>
                </a:solidFill>
                <a:latin typeface="Arial"/>
                <a:ea typeface="Arial"/>
                <a:cs typeface="Arial"/>
                <a:sym typeface="Arial"/>
              </a:rPr>
              <a:t>Dr. AOUATI Amel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p:nvPr/>
        </p:nvSpPr>
        <p:spPr>
          <a:xfrm>
            <a:off x="531007" y="377733"/>
            <a:ext cx="8787000" cy="6878700"/>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 </a:t>
            </a:r>
            <a:r>
              <a:rPr b="1" i="0" lang="fr-FR" sz="2400" u="none" cap="none" strike="noStrike">
                <a:solidFill>
                  <a:schemeClr val="dk1"/>
                </a:solidFill>
                <a:latin typeface="Arial"/>
                <a:ea typeface="Arial"/>
                <a:cs typeface="Arial"/>
                <a:sym typeface="Arial"/>
              </a:rPr>
              <a:t>Le</a:t>
            </a:r>
            <a:r>
              <a:rPr b="1" lang="fr-FR" sz="2400">
                <a:solidFill>
                  <a:schemeClr val="dk1"/>
                </a:solidFill>
                <a:latin typeface="Arial"/>
                <a:ea typeface="Arial"/>
                <a:cs typeface="Arial"/>
                <a:sym typeface="Arial"/>
              </a:rPr>
              <a:t> </a:t>
            </a:r>
            <a:r>
              <a:rPr b="1" i="0" lang="fr-FR" sz="2400" u="none" cap="none" strike="noStrike">
                <a:solidFill>
                  <a:schemeClr val="dk1"/>
                </a:solidFill>
                <a:latin typeface="Arial"/>
                <a:ea typeface="Arial"/>
                <a:cs typeface="Arial"/>
                <a:sym typeface="Arial"/>
              </a:rPr>
              <a:t>cytosquelette</a:t>
            </a:r>
            <a:r>
              <a:rPr b="1" i="0" lang="fr-FR" sz="1800" u="none" cap="none" strike="noStrike">
                <a:solidFill>
                  <a:schemeClr val="dk1"/>
                </a:solidFill>
                <a:latin typeface="Arial"/>
                <a:ea typeface="Arial"/>
                <a:cs typeface="Arial"/>
                <a:sym typeface="Arial"/>
              </a:rPr>
              <a:t>, est un système dynamique, s’assemblant et se désassemblant constamment. Chacune des fibres du cytosquelette se construit par polymérisation, des sous-unités protéiques identiques s’attirant mutuellement et s’assemblant spontanément en longues chaînes. C’est de la même manière que ces fibres se dissocient, leurs sous-unités se libèrent les unes après les autres d’une des extrémités de la chaîne.</a:t>
            </a:r>
            <a:endParaRPr/>
          </a:p>
          <a:p>
            <a:pPr indent="0" lvl="0" marL="0" marR="0" rtl="0" algn="just">
              <a:lnSpc>
                <a:spcPct val="150000"/>
              </a:lnSpc>
              <a:spcBef>
                <a:spcPts val="0"/>
              </a:spcBef>
              <a:spcAft>
                <a:spcPts val="0"/>
              </a:spcAft>
              <a:buClr>
                <a:schemeClr val="dk1"/>
              </a:buClr>
              <a:buSzPts val="1800"/>
              <a:buFont typeface="Calibri"/>
              <a:buNone/>
            </a:pPr>
            <a:r>
              <a:t/>
            </a:r>
            <a:endParaRPr b="1"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rPr b="1" lang="fr-FR" sz="1800">
                <a:solidFill>
                  <a:schemeClr val="dk1"/>
                </a:solidFill>
                <a:latin typeface="Arial"/>
                <a:ea typeface="Arial"/>
                <a:cs typeface="Arial"/>
                <a:sym typeface="Arial"/>
              </a:rPr>
              <a:t>Le cytosquelette peut comporter trois types de fibres différentes entre elles par leurs sous-unités constitutives :</a:t>
            </a:r>
            <a:endParaRPr/>
          </a:p>
          <a:p>
            <a:pPr indent="0" lvl="0" marL="0" marR="0" rtl="0" algn="ctr">
              <a:lnSpc>
                <a:spcPct val="150000"/>
              </a:lnSpc>
              <a:spcBef>
                <a:spcPts val="0"/>
              </a:spcBef>
              <a:spcAft>
                <a:spcPts val="0"/>
              </a:spcAft>
              <a:buNone/>
            </a:pPr>
            <a:r>
              <a:t/>
            </a:r>
            <a:endParaRPr b="1" sz="1800">
              <a:solidFill>
                <a:schemeClr val="dk1"/>
              </a:solidFill>
              <a:latin typeface="Arial"/>
              <a:ea typeface="Arial"/>
              <a:cs typeface="Arial"/>
              <a:sym typeface="Arial"/>
            </a:endParaRPr>
          </a:p>
          <a:p>
            <a:pPr indent="0" lvl="0" marL="0" marR="0" rtl="0" algn="ctr">
              <a:lnSpc>
                <a:spcPct val="150000"/>
              </a:lnSpc>
              <a:spcBef>
                <a:spcPts val="0"/>
              </a:spcBef>
              <a:spcAft>
                <a:spcPts val="0"/>
              </a:spcAft>
              <a:buNone/>
            </a:pPr>
            <a:r>
              <a:rPr b="1" lang="fr-FR" sz="1800">
                <a:solidFill>
                  <a:schemeClr val="dk1"/>
                </a:solidFill>
                <a:latin typeface="Arial"/>
                <a:ea typeface="Arial"/>
                <a:cs typeface="Arial"/>
                <a:sym typeface="Arial"/>
              </a:rPr>
              <a:t>  Microfilaments </a:t>
            </a:r>
            <a:endParaRPr sz="1800">
              <a:solidFill>
                <a:schemeClr val="dk1"/>
              </a:solidFill>
              <a:latin typeface="Arial"/>
              <a:ea typeface="Arial"/>
              <a:cs typeface="Arial"/>
              <a:sym typeface="Arial"/>
            </a:endParaRPr>
          </a:p>
          <a:p>
            <a:pPr indent="0" lvl="0" marL="0" marR="0" rtl="0" algn="ctr">
              <a:lnSpc>
                <a:spcPct val="150000"/>
              </a:lnSpc>
              <a:spcBef>
                <a:spcPts val="0"/>
              </a:spcBef>
              <a:spcAft>
                <a:spcPts val="0"/>
              </a:spcAft>
              <a:buNone/>
            </a:pPr>
            <a:r>
              <a:rPr b="1" lang="fr-FR" sz="1800">
                <a:solidFill>
                  <a:schemeClr val="dk1"/>
                </a:solidFill>
                <a:latin typeface="Arial"/>
                <a:ea typeface="Arial"/>
                <a:cs typeface="Arial"/>
                <a:sym typeface="Arial"/>
              </a:rPr>
              <a:t>  Microtubules </a:t>
            </a:r>
            <a:endParaRPr sz="1800">
              <a:solidFill>
                <a:schemeClr val="dk1"/>
              </a:solidFill>
              <a:latin typeface="Arial"/>
              <a:ea typeface="Arial"/>
              <a:cs typeface="Arial"/>
              <a:sym typeface="Arial"/>
            </a:endParaRPr>
          </a:p>
          <a:p>
            <a:pPr indent="0" lvl="0" marL="0" marR="0" rtl="0" algn="ctr">
              <a:lnSpc>
                <a:spcPct val="150000"/>
              </a:lnSpc>
              <a:spcBef>
                <a:spcPts val="0"/>
              </a:spcBef>
              <a:spcAft>
                <a:spcPts val="0"/>
              </a:spcAft>
              <a:buNone/>
            </a:pPr>
            <a:r>
              <a:rPr b="1" lang="fr-FR" sz="1800">
                <a:solidFill>
                  <a:schemeClr val="dk1"/>
                </a:solidFill>
                <a:latin typeface="Arial"/>
                <a:ea typeface="Arial"/>
                <a:cs typeface="Arial"/>
                <a:sym typeface="Arial"/>
              </a:rPr>
              <a:t>   Filaments intermédiaires</a:t>
            </a:r>
            <a:endParaRPr sz="1800">
              <a:solidFill>
                <a:schemeClr val="dk1"/>
              </a:solidFill>
              <a:latin typeface="Arial"/>
              <a:ea typeface="Arial"/>
              <a:cs typeface="Arial"/>
              <a:sym typeface="Arial"/>
            </a:endParaRPr>
          </a:p>
          <a:p>
            <a:pPr indent="0" lvl="0" marL="0" marR="0" rtl="0" algn="just">
              <a:lnSpc>
                <a:spcPct val="150000"/>
              </a:lnSpc>
              <a:spcBef>
                <a:spcPts val="0"/>
              </a:spcBef>
              <a:spcAft>
                <a:spcPts val="0"/>
              </a:spcAft>
              <a:buNone/>
            </a:pPr>
            <a:r>
              <a:t/>
            </a:r>
            <a:endParaRPr b="1" sz="18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lang="fr-FR" sz="1800">
                <a:solidFill>
                  <a:schemeClr val="dk1"/>
                </a:solidFill>
                <a:latin typeface="Calibri"/>
                <a:ea typeface="Calibri"/>
                <a:cs typeface="Calibri"/>
                <a:sym typeface="Calibri"/>
              </a:rPr>
              <a:t> </a:t>
            </a:r>
            <a:endParaRPr/>
          </a:p>
          <a:p>
            <a:pPr indent="0" lvl="0" marL="0" marR="0" rtl="0" algn="just">
              <a:lnSpc>
                <a:spcPct val="150000"/>
              </a:lnSpc>
              <a:spcBef>
                <a:spcPts val="0"/>
              </a:spcBef>
              <a:spcAft>
                <a:spcPts val="0"/>
              </a:spcAft>
              <a:buClr>
                <a:schemeClr val="dk1"/>
              </a:buClr>
              <a:buSzPts val="1800"/>
              <a:buFont typeface="Calibri"/>
              <a:buNone/>
            </a:pPr>
            <a:r>
              <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3"/>
          <p:cNvPicPr preferRelativeResize="0"/>
          <p:nvPr/>
        </p:nvPicPr>
        <p:blipFill rotWithShape="1">
          <a:blip r:embed="rId3">
            <a:alphaModFix/>
          </a:blip>
          <a:srcRect b="0" l="0" r="0" t="0"/>
          <a:stretch/>
        </p:blipFill>
        <p:spPr>
          <a:xfrm>
            <a:off x="107504" y="260648"/>
            <a:ext cx="8712968" cy="626469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4"/>
          <p:cNvPicPr preferRelativeResize="0"/>
          <p:nvPr/>
        </p:nvPicPr>
        <p:blipFill rotWithShape="1">
          <a:blip r:embed="rId3">
            <a:alphaModFix/>
          </a:blip>
          <a:srcRect b="0" l="0" r="0" t="0"/>
          <a:stretch/>
        </p:blipFill>
        <p:spPr>
          <a:xfrm>
            <a:off x="179512" y="332656"/>
            <a:ext cx="8712968" cy="626469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p:nvPr/>
        </p:nvSpPr>
        <p:spPr>
          <a:xfrm>
            <a:off x="2714612" y="642918"/>
            <a:ext cx="31902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3200">
                <a:solidFill>
                  <a:schemeClr val="dk1"/>
                </a:solidFill>
                <a:latin typeface="Arial"/>
                <a:ea typeface="Arial"/>
                <a:cs typeface="Arial"/>
                <a:sym typeface="Arial"/>
              </a:rPr>
              <a:t>Microfilaments </a:t>
            </a:r>
            <a:endParaRPr sz="3200">
              <a:solidFill>
                <a:schemeClr val="dk1"/>
              </a:solidFill>
              <a:latin typeface="Arial"/>
              <a:ea typeface="Arial"/>
              <a:cs typeface="Arial"/>
              <a:sym typeface="Arial"/>
            </a:endParaRPr>
          </a:p>
        </p:txBody>
      </p:sp>
      <p:pic>
        <p:nvPicPr>
          <p:cNvPr id="107" name="Google Shape;107;p5"/>
          <p:cNvPicPr preferRelativeResize="0"/>
          <p:nvPr/>
        </p:nvPicPr>
        <p:blipFill rotWithShape="1">
          <a:blip r:embed="rId3">
            <a:alphaModFix/>
          </a:blip>
          <a:srcRect b="0" l="1889" r="64934" t="0"/>
          <a:stretch/>
        </p:blipFill>
        <p:spPr>
          <a:xfrm>
            <a:off x="571472" y="1428736"/>
            <a:ext cx="3143272" cy="4857784"/>
          </a:xfrm>
          <a:prstGeom prst="rect">
            <a:avLst/>
          </a:prstGeom>
          <a:noFill/>
          <a:ln>
            <a:noFill/>
          </a:ln>
        </p:spPr>
      </p:pic>
      <p:pic>
        <p:nvPicPr>
          <p:cNvPr id="108" name="Google Shape;108;p5"/>
          <p:cNvPicPr preferRelativeResize="0"/>
          <p:nvPr/>
        </p:nvPicPr>
        <p:blipFill rotWithShape="1">
          <a:blip r:embed="rId4">
            <a:alphaModFix/>
          </a:blip>
          <a:srcRect b="0" l="0" r="57712" t="0"/>
          <a:stretch/>
        </p:blipFill>
        <p:spPr>
          <a:xfrm>
            <a:off x="4000496" y="1428736"/>
            <a:ext cx="1566860" cy="4814903"/>
          </a:xfrm>
          <a:prstGeom prst="rect">
            <a:avLst/>
          </a:prstGeom>
          <a:noFill/>
          <a:ln>
            <a:noFill/>
          </a:ln>
        </p:spPr>
      </p:pic>
      <p:pic>
        <p:nvPicPr>
          <p:cNvPr id="109" name="Google Shape;109;p5"/>
          <p:cNvPicPr preferRelativeResize="0"/>
          <p:nvPr/>
        </p:nvPicPr>
        <p:blipFill rotWithShape="1">
          <a:blip r:embed="rId5">
            <a:alphaModFix/>
          </a:blip>
          <a:srcRect b="0" l="67330" r="0" t="1417"/>
          <a:stretch/>
        </p:blipFill>
        <p:spPr>
          <a:xfrm>
            <a:off x="6072198" y="1357298"/>
            <a:ext cx="2424104" cy="46386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6"/>
          <p:cNvPicPr preferRelativeResize="0"/>
          <p:nvPr/>
        </p:nvPicPr>
        <p:blipFill rotWithShape="1">
          <a:blip r:embed="rId3">
            <a:alphaModFix/>
          </a:blip>
          <a:srcRect b="31161" l="0" r="0" t="0"/>
          <a:stretch/>
        </p:blipFill>
        <p:spPr>
          <a:xfrm>
            <a:off x="838200" y="957263"/>
            <a:ext cx="7467600" cy="3471869"/>
          </a:xfrm>
          <a:prstGeom prst="rect">
            <a:avLst/>
          </a:prstGeom>
          <a:noFill/>
          <a:ln>
            <a:noFill/>
          </a:ln>
        </p:spPr>
      </p:pic>
      <p:pic>
        <p:nvPicPr>
          <p:cNvPr id="115" name="Google Shape;115;p6"/>
          <p:cNvPicPr preferRelativeResize="0"/>
          <p:nvPr/>
        </p:nvPicPr>
        <p:blipFill rotWithShape="1">
          <a:blip r:embed="rId3">
            <a:alphaModFix/>
          </a:blip>
          <a:srcRect b="24079" l="78699" r="0" t="67422"/>
          <a:stretch/>
        </p:blipFill>
        <p:spPr>
          <a:xfrm>
            <a:off x="6715140" y="4357694"/>
            <a:ext cx="1590660" cy="428628"/>
          </a:xfrm>
          <a:prstGeom prst="rect">
            <a:avLst/>
          </a:prstGeom>
          <a:noFill/>
          <a:ln>
            <a:noFill/>
          </a:ln>
        </p:spPr>
      </p:pic>
      <p:sp>
        <p:nvSpPr>
          <p:cNvPr id="116" name="Google Shape;116;p6"/>
          <p:cNvSpPr txBox="1"/>
          <p:nvPr/>
        </p:nvSpPr>
        <p:spPr>
          <a:xfrm>
            <a:off x="571472" y="4782933"/>
            <a:ext cx="7786742"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000">
                <a:solidFill>
                  <a:schemeClr val="dk1"/>
                </a:solidFill>
                <a:latin typeface="Arial"/>
                <a:ea typeface="Arial"/>
                <a:cs typeface="Arial"/>
                <a:sym typeface="Arial"/>
              </a:rPr>
              <a:t>Microfilaments de 7 nm composés d’actine.</a:t>
            </a:r>
            <a:endParaRPr/>
          </a:p>
          <a:p>
            <a:pPr indent="0" lvl="0" marL="0" marR="0" rtl="0" algn="l">
              <a:spcBef>
                <a:spcPts val="0"/>
              </a:spcBef>
              <a:spcAft>
                <a:spcPts val="0"/>
              </a:spcAft>
              <a:buNone/>
            </a:pPr>
            <a:r>
              <a:rPr b="1" lang="fr-FR" sz="2000">
                <a:solidFill>
                  <a:schemeClr val="dk1"/>
                </a:solidFill>
                <a:latin typeface="Arial"/>
                <a:ea typeface="Arial"/>
                <a:cs typeface="Arial"/>
                <a:sym typeface="Arial"/>
              </a:rPr>
              <a:t>C’est une protéine très répondue dans les cellules animales.</a:t>
            </a:r>
            <a:endParaRPr/>
          </a:p>
          <a:p>
            <a:pPr indent="0" lvl="0" marL="0" marR="0" rtl="0" algn="l">
              <a:spcBef>
                <a:spcPts val="0"/>
              </a:spcBef>
              <a:spcAft>
                <a:spcPts val="0"/>
              </a:spcAft>
              <a:buNone/>
            </a:pPr>
            <a:r>
              <a:rPr b="1" lang="fr-FR" sz="2000">
                <a:solidFill>
                  <a:schemeClr val="dk1"/>
                </a:solidFill>
                <a:latin typeface="Arial"/>
                <a:ea typeface="Arial"/>
                <a:cs typeface="Arial"/>
                <a:sym typeface="Arial"/>
              </a:rPr>
              <a:t>Protéines globulaire: actine-G qui se polymérise en actine-F(filament d’actine).</a:t>
            </a:r>
            <a:endParaRPr b="1" sz="2000">
              <a:solidFill>
                <a:schemeClr val="dk1"/>
              </a:solidFill>
              <a:latin typeface="Arial"/>
              <a:ea typeface="Arial"/>
              <a:cs typeface="Arial"/>
              <a:sym typeface="Arial"/>
            </a:endParaRPr>
          </a:p>
        </p:txBody>
      </p:sp>
      <p:sp>
        <p:nvSpPr>
          <p:cNvPr id="117" name="Google Shape;117;p6"/>
          <p:cNvSpPr txBox="1"/>
          <p:nvPr/>
        </p:nvSpPr>
        <p:spPr>
          <a:xfrm>
            <a:off x="642910" y="714356"/>
            <a:ext cx="23574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Structure 3D de l’actine-G</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7"/>
          <p:cNvPicPr preferRelativeResize="0"/>
          <p:nvPr/>
        </p:nvPicPr>
        <p:blipFill rotWithShape="1">
          <a:blip r:embed="rId3">
            <a:alphaModFix/>
          </a:blip>
          <a:srcRect b="0" l="0" r="0" t="0"/>
          <a:stretch/>
        </p:blipFill>
        <p:spPr>
          <a:xfrm>
            <a:off x="971600" y="692697"/>
            <a:ext cx="7073771" cy="4536504"/>
          </a:xfrm>
          <a:prstGeom prst="rect">
            <a:avLst/>
          </a:prstGeom>
          <a:noFill/>
          <a:ln>
            <a:noFill/>
          </a:ln>
        </p:spPr>
      </p:pic>
      <p:sp>
        <p:nvSpPr>
          <p:cNvPr id="123" name="Google Shape;123;p7"/>
          <p:cNvSpPr/>
          <p:nvPr/>
        </p:nvSpPr>
        <p:spPr>
          <a:xfrm>
            <a:off x="539552" y="5264012"/>
            <a:ext cx="842493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L’incorporation d’une molécule d’actine G dans un microfilament se fait avec l’hydrolyse d’un ATP.</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p:nvPr/>
        </p:nvSpPr>
        <p:spPr>
          <a:xfrm>
            <a:off x="2825379" y="500042"/>
            <a:ext cx="296106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3200">
                <a:solidFill>
                  <a:schemeClr val="dk1"/>
                </a:solidFill>
                <a:latin typeface="Arial"/>
                <a:ea typeface="Arial"/>
                <a:cs typeface="Arial"/>
                <a:sym typeface="Arial"/>
              </a:rPr>
              <a:t> Microtubules </a:t>
            </a:r>
            <a:endParaRPr sz="3200">
              <a:solidFill>
                <a:schemeClr val="dk1"/>
              </a:solidFill>
              <a:latin typeface="Calibri"/>
              <a:ea typeface="Calibri"/>
              <a:cs typeface="Calibri"/>
              <a:sym typeface="Calibri"/>
            </a:endParaRPr>
          </a:p>
        </p:txBody>
      </p:sp>
      <p:pic>
        <p:nvPicPr>
          <p:cNvPr id="129" name="Google Shape;129;p8"/>
          <p:cNvPicPr preferRelativeResize="0"/>
          <p:nvPr/>
        </p:nvPicPr>
        <p:blipFill rotWithShape="1">
          <a:blip r:embed="rId3">
            <a:alphaModFix/>
          </a:blip>
          <a:srcRect b="0" l="0" r="0" t="0"/>
          <a:stretch/>
        </p:blipFill>
        <p:spPr>
          <a:xfrm>
            <a:off x="4714876" y="1571612"/>
            <a:ext cx="3000396" cy="4714908"/>
          </a:xfrm>
          <a:prstGeom prst="rect">
            <a:avLst/>
          </a:prstGeom>
          <a:noFill/>
          <a:ln>
            <a:noFill/>
          </a:ln>
        </p:spPr>
      </p:pic>
      <p:sp>
        <p:nvSpPr>
          <p:cNvPr id="130" name="Google Shape;130;p8"/>
          <p:cNvSpPr/>
          <p:nvPr/>
        </p:nvSpPr>
        <p:spPr>
          <a:xfrm>
            <a:off x="-285784" y="1643050"/>
            <a:ext cx="5000660" cy="5546839"/>
          </a:xfrm>
          <a:prstGeom prst="rect">
            <a:avLst/>
          </a:prstGeom>
          <a:noFill/>
          <a:ln>
            <a:noFill/>
          </a:ln>
        </p:spPr>
        <p:txBody>
          <a:bodyPr anchorCtr="0" anchor="t" bIns="45700" lIns="91425" spcFirstLastPara="1" rIns="91425" wrap="square" tIns="45700">
            <a:spAutoFit/>
          </a:bodyPr>
          <a:lstStyle/>
          <a:p>
            <a:pPr indent="0" lvl="0" marL="411480" marR="0" rtl="0" algn="l">
              <a:lnSpc>
                <a:spcPct val="150000"/>
              </a:lnSpc>
              <a:spcBef>
                <a:spcPts val="0"/>
              </a:spcBef>
              <a:spcAft>
                <a:spcPts val="0"/>
              </a:spcAft>
              <a:buNone/>
            </a:pPr>
            <a:r>
              <a:rPr b="1" lang="fr-FR" sz="1800">
                <a:solidFill>
                  <a:srgbClr val="000000"/>
                </a:solidFill>
                <a:latin typeface="Arial"/>
                <a:ea typeface="Arial"/>
                <a:cs typeface="Arial"/>
                <a:sym typeface="Arial"/>
              </a:rPr>
              <a:t>Microtubules 25nm </a:t>
            </a:r>
            <a:endParaRPr/>
          </a:p>
          <a:p>
            <a:pPr indent="0" lvl="0" marL="411480" marR="0" rtl="0" algn="l">
              <a:lnSpc>
                <a:spcPct val="150000"/>
              </a:lnSpc>
              <a:spcBef>
                <a:spcPts val="0"/>
              </a:spcBef>
              <a:spcAft>
                <a:spcPts val="0"/>
              </a:spcAft>
              <a:buNone/>
            </a:pPr>
            <a:r>
              <a:rPr b="1" lang="fr-FR" sz="1800">
                <a:solidFill>
                  <a:srgbClr val="000000"/>
                </a:solidFill>
                <a:latin typeface="Arial"/>
                <a:ea typeface="Arial"/>
                <a:cs typeface="Arial"/>
                <a:sym typeface="Arial"/>
              </a:rPr>
              <a:t>Fibres creuses composées de tubuline</a:t>
            </a:r>
            <a:endParaRPr/>
          </a:p>
          <a:p>
            <a:pPr indent="0" lvl="0" marL="411480" marR="0" rtl="0" algn="l">
              <a:lnSpc>
                <a:spcPct val="150000"/>
              </a:lnSpc>
              <a:spcBef>
                <a:spcPts val="0"/>
              </a:spcBef>
              <a:spcAft>
                <a:spcPts val="0"/>
              </a:spcAft>
              <a:buNone/>
            </a:pPr>
            <a:r>
              <a:rPr b="1" lang="fr-FR" sz="1800">
                <a:solidFill>
                  <a:srgbClr val="000000"/>
                </a:solidFill>
                <a:latin typeface="Arial"/>
                <a:ea typeface="Arial"/>
                <a:cs typeface="Arial"/>
                <a:sym typeface="Arial"/>
              </a:rPr>
              <a:t>C’est une protéine globulaire </a:t>
            </a:r>
            <a:endParaRPr/>
          </a:p>
          <a:p>
            <a:pPr indent="0" lvl="0" marL="411480" marR="0" rtl="0" algn="l">
              <a:lnSpc>
                <a:spcPct val="150000"/>
              </a:lnSpc>
              <a:spcBef>
                <a:spcPts val="0"/>
              </a:spcBef>
              <a:spcAft>
                <a:spcPts val="0"/>
              </a:spcAft>
              <a:buNone/>
            </a:pPr>
            <a:r>
              <a:rPr b="1" lang="fr-FR" sz="1800">
                <a:solidFill>
                  <a:srgbClr val="000000"/>
                </a:solidFill>
                <a:latin typeface="Arial"/>
                <a:ea typeface="Arial"/>
                <a:cs typeface="Arial"/>
                <a:sym typeface="Arial"/>
              </a:rPr>
              <a:t> Il existe deux types de tubuline très</a:t>
            </a:r>
            <a:endParaRPr/>
          </a:p>
          <a:p>
            <a:pPr indent="0" lvl="0" marL="0" marR="0" rtl="0" algn="l">
              <a:lnSpc>
                <a:spcPct val="150000"/>
              </a:lnSpc>
              <a:spcBef>
                <a:spcPts val="0"/>
              </a:spcBef>
              <a:spcAft>
                <a:spcPts val="0"/>
              </a:spcAft>
              <a:buNone/>
            </a:pPr>
            <a:r>
              <a:rPr b="1" lang="fr-FR" sz="1800">
                <a:solidFill>
                  <a:srgbClr val="000000"/>
                </a:solidFill>
                <a:latin typeface="Arial"/>
                <a:ea typeface="Arial"/>
                <a:cs typeface="Arial"/>
                <a:sym typeface="Arial"/>
              </a:rPr>
              <a:t>       similaires:</a:t>
            </a:r>
            <a:endParaRPr/>
          </a:p>
          <a:p>
            <a:pPr indent="0" lvl="0" marL="0" marR="0" rtl="0" algn="l">
              <a:lnSpc>
                <a:spcPct val="150000"/>
              </a:lnSpc>
              <a:spcBef>
                <a:spcPts val="0"/>
              </a:spcBef>
              <a:spcAft>
                <a:spcPts val="0"/>
              </a:spcAft>
              <a:buNone/>
            </a:pPr>
            <a:r>
              <a:rPr b="1" lang="fr-FR" sz="1800">
                <a:solidFill>
                  <a:srgbClr val="000000"/>
                </a:solidFill>
                <a:latin typeface="Arial"/>
                <a:ea typeface="Arial"/>
                <a:cs typeface="Arial"/>
                <a:sym typeface="Arial"/>
              </a:rPr>
              <a:t>         α-tubuline lie le GTP</a:t>
            </a:r>
            <a:endParaRPr/>
          </a:p>
          <a:p>
            <a:pPr indent="228600" lvl="0" marL="0" marR="0" rtl="0" algn="l">
              <a:lnSpc>
                <a:spcPct val="150000"/>
              </a:lnSpc>
              <a:spcBef>
                <a:spcPts val="0"/>
              </a:spcBef>
              <a:spcAft>
                <a:spcPts val="0"/>
              </a:spcAft>
              <a:buNone/>
            </a:pPr>
            <a:r>
              <a:rPr b="1" lang="fr-FR" sz="1800">
                <a:solidFill>
                  <a:srgbClr val="000000"/>
                </a:solidFill>
                <a:latin typeface="Arial"/>
                <a:ea typeface="Arial"/>
                <a:cs typeface="Arial"/>
                <a:sym typeface="Arial"/>
              </a:rPr>
              <a:t>       β -tubuline lie le GTP et l'hydrolyse</a:t>
            </a:r>
            <a:endParaRPr/>
          </a:p>
          <a:p>
            <a:pPr indent="0" lvl="0" marL="0" marR="0" rtl="0" algn="l">
              <a:lnSpc>
                <a:spcPct val="150000"/>
              </a:lnSpc>
              <a:spcBef>
                <a:spcPts val="0"/>
              </a:spcBef>
              <a:spcAft>
                <a:spcPts val="0"/>
              </a:spcAft>
              <a:buNone/>
            </a:pPr>
            <a:r>
              <a:rPr b="1" lang="fr-FR" sz="1800">
                <a:solidFill>
                  <a:srgbClr val="000000"/>
                </a:solidFill>
                <a:latin typeface="Arial"/>
                <a:ea typeface="Arial"/>
                <a:cs typeface="Arial"/>
                <a:sym typeface="Arial"/>
              </a:rPr>
              <a:t>               en GDP+ Pi</a:t>
            </a:r>
            <a:endParaRPr/>
          </a:p>
          <a:p>
            <a:pPr indent="0" lvl="0" marL="0" marR="0" rtl="0" algn="l">
              <a:lnSpc>
                <a:spcPct val="150000"/>
              </a:lnSpc>
              <a:spcBef>
                <a:spcPts val="0"/>
              </a:spcBef>
              <a:spcAft>
                <a:spcPts val="0"/>
              </a:spcAft>
              <a:buNone/>
            </a:pPr>
            <a:r>
              <a:rPr b="1" lang="fr-FR" sz="1800">
                <a:solidFill>
                  <a:srgbClr val="000000"/>
                </a:solidFill>
                <a:latin typeface="Arial"/>
                <a:ea typeface="Arial"/>
                <a:cs typeface="Arial"/>
                <a:sym typeface="Arial"/>
              </a:rPr>
              <a:t>        L' α, et la </a:t>
            </a:r>
            <a:r>
              <a:rPr lang="fr-FR" sz="2400">
                <a:solidFill>
                  <a:srgbClr val="000000"/>
                </a:solidFill>
                <a:latin typeface="Arial"/>
                <a:ea typeface="Arial"/>
                <a:cs typeface="Arial"/>
                <a:sym typeface="Arial"/>
              </a:rPr>
              <a:t> β </a:t>
            </a:r>
            <a:r>
              <a:rPr b="1" lang="fr-FR" sz="1800">
                <a:solidFill>
                  <a:srgbClr val="000000"/>
                </a:solidFill>
                <a:latin typeface="Arial"/>
                <a:ea typeface="Arial"/>
                <a:cs typeface="Arial"/>
                <a:sym typeface="Arial"/>
              </a:rPr>
              <a:t>tubuline s'associent en</a:t>
            </a:r>
            <a:endParaRPr/>
          </a:p>
          <a:p>
            <a:pPr indent="0" lvl="0" marL="0" marR="0" rtl="0" algn="l">
              <a:lnSpc>
                <a:spcPct val="150000"/>
              </a:lnSpc>
              <a:spcBef>
                <a:spcPts val="0"/>
              </a:spcBef>
              <a:spcAft>
                <a:spcPts val="0"/>
              </a:spcAft>
              <a:buNone/>
            </a:pPr>
            <a:r>
              <a:rPr b="1" lang="fr-FR" sz="1800">
                <a:solidFill>
                  <a:srgbClr val="000000"/>
                </a:solidFill>
                <a:latin typeface="Arial"/>
                <a:ea typeface="Arial"/>
                <a:cs typeface="Arial"/>
                <a:sym typeface="Arial"/>
              </a:rPr>
              <a:t>        dimères qui  Induit une polarité des</a:t>
            </a:r>
            <a:endParaRPr/>
          </a:p>
          <a:p>
            <a:pPr indent="0" lvl="0" marL="0" marR="0" rtl="0" algn="l">
              <a:lnSpc>
                <a:spcPct val="150000"/>
              </a:lnSpc>
              <a:spcBef>
                <a:spcPts val="0"/>
              </a:spcBef>
              <a:spcAft>
                <a:spcPts val="0"/>
              </a:spcAft>
              <a:buNone/>
            </a:pPr>
            <a:r>
              <a:rPr b="1" lang="fr-FR" sz="1800">
                <a:solidFill>
                  <a:srgbClr val="000000"/>
                </a:solidFill>
                <a:latin typeface="Arial"/>
                <a:ea typeface="Arial"/>
                <a:cs typeface="Arial"/>
                <a:sym typeface="Arial"/>
              </a:rPr>
              <a:t>        microtubules.</a:t>
            </a:r>
            <a:endParaRPr/>
          </a:p>
          <a:p>
            <a:pPr indent="0" lvl="0" marL="0" marR="0" rtl="0" algn="l">
              <a:lnSpc>
                <a:spcPct val="95999"/>
              </a:lnSpc>
              <a:spcBef>
                <a:spcPts val="540"/>
              </a:spcBef>
              <a:spcAft>
                <a:spcPts val="0"/>
              </a:spcAft>
              <a:buNone/>
            </a:pPr>
            <a:r>
              <a:rPr b="1" lang="fr-FR" sz="1800">
                <a:solidFill>
                  <a:srgbClr val="000000"/>
                </a:solidFill>
                <a:latin typeface="Arial"/>
                <a:ea typeface="Arial"/>
                <a:cs typeface="Arial"/>
                <a:sym typeface="Arial"/>
              </a:rPr>
              <a:t> </a:t>
            </a:r>
            <a:endParaRPr/>
          </a:p>
          <a:p>
            <a:pPr indent="0" lvl="0" marL="411480" marR="0" rtl="0" algn="l">
              <a:lnSpc>
                <a:spcPct val="150000"/>
              </a:lnSpc>
              <a:spcBef>
                <a:spcPts val="0"/>
              </a:spcBef>
              <a:spcAft>
                <a:spcPts val="0"/>
              </a:spcAft>
              <a:buNone/>
            </a:pPr>
            <a:r>
              <a:t/>
            </a:r>
            <a:endParaRPr b="1" sz="1800">
              <a:solidFill>
                <a:srgbClr val="000000"/>
              </a:solidFill>
              <a:latin typeface="Arial"/>
              <a:ea typeface="Arial"/>
              <a:cs typeface="Arial"/>
              <a:sym typeface="Arial"/>
            </a:endParaRPr>
          </a:p>
        </p:txBody>
      </p:sp>
      <p:pic>
        <p:nvPicPr>
          <p:cNvPr id="131" name="Google Shape;131;p8"/>
          <p:cNvPicPr preferRelativeResize="0"/>
          <p:nvPr/>
        </p:nvPicPr>
        <p:blipFill rotWithShape="1">
          <a:blip r:embed="rId4">
            <a:alphaModFix/>
          </a:blip>
          <a:srcRect b="0" l="42288" r="0" t="0"/>
          <a:stretch/>
        </p:blipFill>
        <p:spPr>
          <a:xfrm>
            <a:off x="7715272" y="1536750"/>
            <a:ext cx="1209671" cy="5343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b="0" l="0" r="0" t="0"/>
          <a:stretch/>
        </p:blipFill>
        <p:spPr>
          <a:xfrm>
            <a:off x="5429256" y="1214422"/>
            <a:ext cx="3360104" cy="3214710"/>
          </a:xfrm>
          <a:prstGeom prst="rect">
            <a:avLst/>
          </a:prstGeom>
          <a:noFill/>
          <a:ln>
            <a:noFill/>
          </a:ln>
        </p:spPr>
      </p:pic>
      <p:sp>
        <p:nvSpPr>
          <p:cNvPr id="137" name="Google Shape;137;p9"/>
          <p:cNvSpPr txBox="1"/>
          <p:nvPr/>
        </p:nvSpPr>
        <p:spPr>
          <a:xfrm>
            <a:off x="5641052" y="4429132"/>
            <a:ext cx="3145790" cy="409575"/>
          </a:xfrm>
          <a:prstGeom prst="rect">
            <a:avLst/>
          </a:prstGeom>
          <a:noFill/>
          <a:ln>
            <a:noFill/>
          </a:ln>
        </p:spPr>
        <p:txBody>
          <a:bodyPr anchorCtr="0" anchor="t" bIns="0" lIns="0" spcFirstLastPara="1" rIns="0" wrap="square" tIns="0">
            <a:noAutofit/>
          </a:bodyPr>
          <a:lstStyle/>
          <a:p>
            <a:pPr indent="0" lvl="0" marL="685800" marR="0" rtl="0" algn="l">
              <a:lnSpc>
                <a:spcPct val="95999"/>
              </a:lnSpc>
              <a:spcBef>
                <a:spcPts val="0"/>
              </a:spcBef>
              <a:spcAft>
                <a:spcPts val="0"/>
              </a:spcAft>
              <a:buClr>
                <a:srgbClr val="FF6600"/>
              </a:buClr>
              <a:buSzPts val="800"/>
              <a:buFont typeface="Bookman Old Style"/>
              <a:buNone/>
            </a:pPr>
            <a:r>
              <a:rPr b="1" i="1" lang="fr-FR" sz="800" u="none" cap="none" strike="noStrike">
                <a:solidFill>
                  <a:srgbClr val="FF6600"/>
                </a:solidFill>
                <a:latin typeface="Bookman Old Style"/>
                <a:ea typeface="Bookman Old Style"/>
                <a:cs typeface="Bookman Old Style"/>
                <a:sym typeface="Bookman Old Style"/>
              </a:rPr>
              <a:t>/</a:t>
            </a:r>
            <a:endParaRPr/>
          </a:p>
          <a:p>
            <a:pPr indent="0" lvl="0" marL="0" marR="0" rtl="0" algn="l">
              <a:lnSpc>
                <a:spcPct val="83519"/>
              </a:lnSpc>
              <a:spcBef>
                <a:spcPts val="360"/>
              </a:spcBef>
              <a:spcAft>
                <a:spcPts val="0"/>
              </a:spcAft>
              <a:buClr>
                <a:srgbClr val="FF6500"/>
              </a:buClr>
              <a:buSzPts val="1750"/>
              <a:buFont typeface="Arial"/>
              <a:buNone/>
            </a:pPr>
            <a:r>
              <a:rPr b="1" i="0" lang="fr-FR" sz="1750" u="none" cap="none" strike="noStrike">
                <a:solidFill>
                  <a:srgbClr val="FF6500"/>
                </a:solidFill>
                <a:latin typeface="Arial"/>
                <a:ea typeface="Arial"/>
                <a:cs typeface="Arial"/>
                <a:sym typeface="Arial"/>
              </a:rPr>
              <a:t>Protofilament</a:t>
            </a:r>
            <a:endParaRPr b="1" i="0" sz="1750" u="none" cap="none" strike="noStrike">
              <a:solidFill>
                <a:srgbClr val="FF6500"/>
              </a:solidFill>
              <a:latin typeface="Arial"/>
              <a:ea typeface="Arial"/>
              <a:cs typeface="Arial"/>
              <a:sym typeface="Arial"/>
            </a:endParaRPr>
          </a:p>
        </p:txBody>
      </p:sp>
      <p:sp>
        <p:nvSpPr>
          <p:cNvPr id="138" name="Google Shape;138;p9"/>
          <p:cNvSpPr/>
          <p:nvPr/>
        </p:nvSpPr>
        <p:spPr>
          <a:xfrm>
            <a:off x="500034" y="1785926"/>
            <a:ext cx="5072066"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fr-FR" sz="1800">
                <a:solidFill>
                  <a:srgbClr val="000000"/>
                </a:solidFill>
                <a:latin typeface="Arial"/>
                <a:ea typeface="Arial"/>
                <a:cs typeface="Arial"/>
                <a:sym typeface="Arial"/>
              </a:rPr>
              <a:t>Ce sont des fibres cylindriques </a:t>
            </a:r>
            <a:endParaRPr/>
          </a:p>
          <a:p>
            <a:pPr indent="0" lvl="0" marL="0" marR="0" rtl="0" algn="just">
              <a:lnSpc>
                <a:spcPct val="150000"/>
              </a:lnSpc>
              <a:spcBef>
                <a:spcPts val="0"/>
              </a:spcBef>
              <a:spcAft>
                <a:spcPts val="0"/>
              </a:spcAft>
              <a:buNone/>
            </a:pPr>
            <a:r>
              <a:rPr b="1" lang="fr-FR" sz="1800">
                <a:solidFill>
                  <a:srgbClr val="000000"/>
                </a:solidFill>
                <a:latin typeface="Arial"/>
                <a:ea typeface="Arial"/>
                <a:cs typeface="Arial"/>
                <a:sym typeface="Arial"/>
              </a:rPr>
              <a:t>creuses obtenues par assemblage</a:t>
            </a:r>
            <a:endParaRPr/>
          </a:p>
          <a:p>
            <a:pPr indent="0" lvl="0" marL="0" marR="0" rtl="0" algn="just">
              <a:lnSpc>
                <a:spcPct val="150000"/>
              </a:lnSpc>
              <a:spcBef>
                <a:spcPts val="180"/>
              </a:spcBef>
              <a:spcAft>
                <a:spcPts val="0"/>
              </a:spcAft>
              <a:buNone/>
            </a:pPr>
            <a:r>
              <a:rPr b="1" lang="fr-FR" sz="1800">
                <a:solidFill>
                  <a:srgbClr val="000000"/>
                </a:solidFill>
                <a:latin typeface="Arial"/>
                <a:ea typeface="Arial"/>
                <a:cs typeface="Arial"/>
                <a:sym typeface="Arial"/>
              </a:rPr>
              <a:t>de 13 protofilaments eux même</a:t>
            </a:r>
            <a:endParaRPr/>
          </a:p>
          <a:p>
            <a:pPr indent="0" lvl="0" marL="0" marR="0" rtl="0" algn="just">
              <a:lnSpc>
                <a:spcPct val="150000"/>
              </a:lnSpc>
              <a:spcBef>
                <a:spcPts val="180"/>
              </a:spcBef>
              <a:spcAft>
                <a:spcPts val="0"/>
              </a:spcAft>
              <a:buNone/>
            </a:pPr>
            <a:r>
              <a:rPr b="1" lang="fr-FR" sz="1800">
                <a:solidFill>
                  <a:srgbClr val="000000"/>
                </a:solidFill>
                <a:latin typeface="Arial"/>
                <a:ea typeface="Arial"/>
                <a:cs typeface="Arial"/>
                <a:sym typeface="Arial"/>
              </a:rPr>
              <a:t>composés d'un empilement de</a:t>
            </a:r>
            <a:endParaRPr/>
          </a:p>
          <a:p>
            <a:pPr indent="0" lvl="0" marL="0" marR="0" rtl="0" algn="just">
              <a:lnSpc>
                <a:spcPct val="150000"/>
              </a:lnSpc>
              <a:spcBef>
                <a:spcPts val="180"/>
              </a:spcBef>
              <a:spcAft>
                <a:spcPts val="0"/>
              </a:spcAft>
              <a:buNone/>
            </a:pPr>
            <a:r>
              <a:rPr b="1" lang="fr-FR" sz="1800">
                <a:solidFill>
                  <a:srgbClr val="000000"/>
                </a:solidFill>
                <a:latin typeface="Arial"/>
                <a:ea typeface="Arial"/>
                <a:cs typeface="Arial"/>
                <a:sym typeface="Arial"/>
              </a:rPr>
              <a:t>dimères de tubuline</a:t>
            </a:r>
            <a:endParaRPr b="1" sz="18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http://s1.e-monsite.com/2009/01/07/08/34996031fbc-dynam-polymer-microtubules-jpg.jpg" id="143" name="Google Shape;143;p10"/>
          <p:cNvPicPr preferRelativeResize="0"/>
          <p:nvPr/>
        </p:nvPicPr>
        <p:blipFill rotWithShape="1">
          <a:blip r:embed="rId3">
            <a:alphaModFix/>
          </a:blip>
          <a:srcRect b="0" l="0" r="0" t="0"/>
          <a:stretch/>
        </p:blipFill>
        <p:spPr>
          <a:xfrm>
            <a:off x="857224" y="1214422"/>
            <a:ext cx="7500990" cy="4643470"/>
          </a:xfrm>
          <a:prstGeom prst="rect">
            <a:avLst/>
          </a:prstGeom>
          <a:noFill/>
          <a:ln>
            <a:noFill/>
          </a:ln>
        </p:spPr>
      </p:pic>
      <p:sp>
        <p:nvSpPr>
          <p:cNvPr id="144" name="Google Shape;144;p10"/>
          <p:cNvSpPr/>
          <p:nvPr/>
        </p:nvSpPr>
        <p:spPr>
          <a:xfrm>
            <a:off x="1571604" y="428604"/>
            <a:ext cx="633699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800">
                <a:solidFill>
                  <a:schemeClr val="dk1"/>
                </a:solidFill>
                <a:latin typeface="Arial"/>
                <a:ea typeface="Arial"/>
                <a:cs typeface="Arial"/>
                <a:sym typeface="Arial"/>
              </a:rPr>
              <a:t>La polymérisation des microtubules</a:t>
            </a:r>
            <a:endParaRPr b="1" sz="28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p:nvPr/>
        </p:nvSpPr>
        <p:spPr>
          <a:xfrm>
            <a:off x="357158" y="214290"/>
            <a:ext cx="8572560" cy="31854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fr-FR" sz="2400" u="none" cap="none" strike="noStrike">
                <a:solidFill>
                  <a:schemeClr val="dk1"/>
                </a:solidFill>
                <a:latin typeface="Arial"/>
                <a:ea typeface="Arial"/>
                <a:cs typeface="Arial"/>
                <a:sym typeface="Arial"/>
              </a:rPr>
              <a:t>Les centrioles, centres d’assemblage des microtubules</a:t>
            </a:r>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fr-FR" sz="1800" u="none" cap="none" strike="noStrike">
                <a:solidFill>
                  <a:schemeClr val="dk1"/>
                </a:solidFill>
                <a:latin typeface="Arial"/>
                <a:ea typeface="Arial"/>
                <a:cs typeface="Arial"/>
                <a:sym typeface="Arial"/>
              </a:rPr>
              <a:t>Les </a:t>
            </a:r>
            <a:r>
              <a:rPr b="1" i="0" lang="fr-FR" sz="1800" u="none" cap="none" strike="noStrike">
                <a:solidFill>
                  <a:schemeClr val="dk1"/>
                </a:solidFill>
                <a:latin typeface="Arial"/>
                <a:ea typeface="Arial"/>
                <a:cs typeface="Arial"/>
                <a:sym typeface="Arial"/>
              </a:rPr>
              <a:t>centrioles </a:t>
            </a:r>
            <a:r>
              <a:rPr b="0" i="0" lang="fr-FR" sz="1800" u="none" cap="none" strike="noStrike">
                <a:solidFill>
                  <a:schemeClr val="dk1"/>
                </a:solidFill>
                <a:latin typeface="Arial"/>
                <a:ea typeface="Arial"/>
                <a:cs typeface="Arial"/>
                <a:sym typeface="Arial"/>
              </a:rPr>
              <a:t>sont des organites cylindriques présents dans les cellules des animaux. Ils se présentent en paires, généralement disposés à angle droit l’un vis-à-vis de l’autre, à proximité du noyau, dans les cellules animales, sont le plus souvent entourés d’un halo appelé </a:t>
            </a:r>
            <a:r>
              <a:rPr b="1" i="0" lang="fr-FR" sz="1800" u="none" cap="none" strike="noStrike">
                <a:solidFill>
                  <a:schemeClr val="dk1"/>
                </a:solidFill>
                <a:latin typeface="Arial"/>
                <a:ea typeface="Arial"/>
                <a:cs typeface="Arial"/>
                <a:sym typeface="Arial"/>
              </a:rPr>
              <a:t>centrosome</a:t>
            </a:r>
            <a:r>
              <a:rPr b="0" i="0" lang="fr-FR" sz="1800" u="none" cap="none" strike="noStrike">
                <a:solidFill>
                  <a:schemeClr val="dk1"/>
                </a:solidFill>
                <a:latin typeface="Arial"/>
                <a:ea typeface="Arial"/>
                <a:cs typeface="Arial"/>
                <a:sym typeface="Arial"/>
              </a:rPr>
              <a:t>. Les centrioles participent à l’assemblage des microtubules.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pic>
        <p:nvPicPr>
          <p:cNvPr id="150" name="Google Shape;150;p11"/>
          <p:cNvPicPr preferRelativeResize="0"/>
          <p:nvPr/>
        </p:nvPicPr>
        <p:blipFill rotWithShape="1">
          <a:blip r:embed="rId3">
            <a:alphaModFix/>
          </a:blip>
          <a:srcRect b="0" l="0" r="0" t="0"/>
          <a:stretch/>
        </p:blipFill>
        <p:spPr>
          <a:xfrm>
            <a:off x="1835696" y="3884312"/>
            <a:ext cx="5879576" cy="2330770"/>
          </a:xfrm>
          <a:prstGeom prst="rect">
            <a:avLst/>
          </a:prstGeom>
          <a:noFill/>
          <a:ln>
            <a:noFill/>
          </a:ln>
        </p:spPr>
      </p:pic>
      <p:sp>
        <p:nvSpPr>
          <p:cNvPr id="151" name="Google Shape;151;p11"/>
          <p:cNvSpPr/>
          <p:nvPr/>
        </p:nvSpPr>
        <p:spPr>
          <a:xfrm>
            <a:off x="5429256" y="5429264"/>
            <a:ext cx="22685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Triplet de microtubule</a:t>
            </a:r>
            <a:endParaRPr sz="1800">
              <a:solidFill>
                <a:schemeClr val="dk1"/>
              </a:solidFill>
              <a:latin typeface="Calibri"/>
              <a:ea typeface="Calibri"/>
              <a:cs typeface="Calibri"/>
              <a:sym typeface="Calibri"/>
            </a:endParaRPr>
          </a:p>
        </p:txBody>
      </p:sp>
      <p:sp>
        <p:nvSpPr>
          <p:cNvPr id="152" name="Google Shape;152;p11"/>
          <p:cNvSpPr/>
          <p:nvPr/>
        </p:nvSpPr>
        <p:spPr>
          <a:xfrm>
            <a:off x="1643042" y="6283131"/>
            <a:ext cx="64294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800">
                <a:solidFill>
                  <a:schemeClr val="dk1"/>
                </a:solidFill>
                <a:latin typeface="Calibri"/>
                <a:ea typeface="Calibri"/>
                <a:cs typeface="Calibri"/>
                <a:sym typeface="Calibri"/>
              </a:rPr>
              <a:t>Chaque centriole est composé de neuf triplets de microtubules</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descr="data:image/jpeg;base64,/9j/4AAQSkZJRgABAQAAAQABAAD/2wCEAAkGBhMSERQTEhIWFRUUFxgXFxYXFhoVFxoUFRUVFxUVFhUYHSYeFxojGRgXIjAhIygpLCwsFSAxNTAqNSYrLCkBCQoKDgwOGg8PGi8lHiQsLCwpKi4sKS0pLCwpLCwsKSwpLCosKSksKSkpLCwsLCkpLSwsLCwsLCksKSksKSwpLP/AABEIAL4BCQMBIgACEQEDEQH/xAAbAAACAwEBAQAAAAAAAAAAAAAABAIDBQYBB//EAEUQAAIBAgMEBgULAwMDBAMAAAECEQADBBIhBSIxQRMyUWFxkQYUUoGxFSMzNFOCkpOhstFC0uFiY8FyovAHQ+PxJIPC/8QAGQEBAAMBAQAAAAAAAAAAAAAAAAECAwQF/8QAKxEAAgIBAwMDAwQDAAAAAAAAAAECEQMSITEEE1FBYXGBkfAyobHhFCIj/9oADAMBAAIRAxEAPwD7ZatDKNBwHLuqXQr2DyFFnqjwHwqdAQ6FeweQo6FeweQqdFAJbSSEEaS9sSNDDXEBE8tCaRv43DIzI14hl6wLtu7ufePAHJvRxIFPbWuAIpJgdJa1Og+lSsjE7LtXWvZ8V83eYMbasgEratoDJBaQUzaGNF04yBPEbWwqKzG65ygEhWcnUqNBzIzrIGokTXr7UwwLZrjBVOrG4QMoVmZwSdVGRhInUGi5szDsTOI3czOqZ0hbjsWdgYzGSz6EkDpG7oWHo7hBp0wgaKA1oZVIYZcwXM2jcWJO6vfIDwxuG0+ebUx1n0ObLvexvab0a1763huj6TpjkLBQc7GWMZQBxJMiI4yImaVxOxcK9xrhvCXILDNbYECIXeUlRx1EHeOvCL8JgcPbUL085bvSiXQbwERCgKF5kACSSeJNAFvaOFYEreJAjg7GS0gZQNW1DdWeqew1Wu18KWyC6xOZFG+YbpBbIKkmCPnFk98cSAZNs+x82VxGVrQORg6EjMWkkMCDozDUcD2waq+RMLwN6e2bi671hjOnM2Vnh1miNIAvXaGFIkXmI04M5JkFgQo1ZSAxzARCkzoattvZuC50V0sUWTDkjUEqZ4HhynhSd3ZNlgobFFjb0QsbLZVy5SuUplM6akEyo8KswmDsWBdKXgc6BcuZIARWCwFAkwYkyYVRwAoDZw6AopIElQeA7Ks6FeweQqOF6i/9I+Aq2gIdCvYPIUdCvYPIVOigIdCvYPIUdCvYPIVOigIdCvYPIUvjU0WN2WUSAJgnXiDTdK7QcAKSYAdNToONAU27CsWAuscphupocoaDuccpB99T9R/3G8k/srAxfo/aa7cuq9iXYtlIENPqsq5B1DdA0nXr8DqDVh/Rm2Fcm5hw5YFCo0tr0924yKcwYArcynKVnXgDAA6T1H/cbyT+yoXsOqKWa6wVQSSckADiTuVyuB9G8rMC+HUfN5bqlRcQIzMRaIgc8sws6khpirbnotbdSHfDAdGUCqAUL9G6C8Qx6+9rxMKNTQHUepf7j+Sf2VD1cZivSPIAJ3ViDMa5I5HSl9q2UuWwtq8lp0IKNIIXQqYAI/oZh3T3Vg3fRZN8Lds5d7LLAEqXRltuQNVUKAM2cbqysAggdOmGB4XG4kcE4qYP9HbXhw6hgputJBIG5MKVDHqcBmX8QrBsbCCneu4d54uRDW952PQgGFnNwkQZ6w0EG2IzEM97DtlVVyScjqnR6PJ4HITEGDl60GQOiXCgkjpGkRIhOfD+iq8Vhyq5g7GCvEJEFgPZ7DXNp6KLDTesCQ+VVAyrnvrdyAMTuFQbZ01DHSNK1sLYWzhynSISbgaFYQM1xTlUCP0AEkmBNAMek+LNix0luAwdRMcmMGj5Sft/SqPTj6r9+3+6oUB0FnqjwHwqdQs9UeA+FToAqq/iVTrHjoNCST3Aamraydt2SzLDhIV2JJKjKDbkMykEDnIPLsmgJY/aKFNMxIKsPm3/AKWDez3Usu3mIkKSO3o7nxil22HcIITEEZi863IDs7sWEPMgMBEwYM614mw7hCZMUwE6wWgnOxBAJMQpChRA0qANLtxjyEjkVZT5GD/9VL5ZfsX9f5rNxCdD0a3LoZhbbeZon5wkauZMAgfxUPXLf2ifjX+aqyDV+WX7F/X+aPll+xf1/msr1y39on41/mj1y39on41/motkWavyy/Yv6/zR8sv2L+v81kXNo2lEtdtgdpdQPMmq7O17LtlS8jMSRAYEyOQjjSydzb+WX7F/X+aPll+xf1/mkKKWyLH/AJZfsX9f5o+Wn7F8j/NIUUsWP/LL9i/r/NSXatw8FX9f5rOq63cIAgqBDsWdsoCplkkwfa/Sok36C2P2tpPmGYACdT3edO+up2/GsB8eAobpLMFlQQ7E53MKsZJn4QeygbRXT57D6zA6QyYjgMvev4l7RUXPwNzf9dTt+NeHFoef6GsBNpKY+dsCY0Nwg68JBX/6g9lFvaKMN29hzAnS4TppH9PPMvjmXtFNU/A3N71i33eX+KPWLfd5f4rJsXs09UiFIKNmUhhIIMCrao8slsRbNH1i33eX+KPWLfd5f4rOop3mLNH1i33eX+KPWLfd5f4rOoqO8xZo+sW+7y/xR6xb7vL/ABWdRTvMWaPrFvu8v8VTinVgAsTntnh2XEJ/QGlKsw43l8alZW2LFfTj6r9+3+6oVP04+q/ft/uqFdJc6Cz1R4D4VOoWeqPAfCp0AVmbZSY0LZle3lXrQ4XVZ00y8+2tOsza9sMQC2UFXE8R1rWhHME6EcwTQHNXthHgtq8RIDz0bPlUoyhGL7j7uraEyDyFStbIUgEWcSdYJBswcpaR9LoQSe2DPaacGzLJO7ftZiQSAAUbOAiKUD6qDabKM2hHdrBdiWioRcUC2sksrZhlWAwz7wAUsNdJnxgkLGCdQqizdARSozBJOZ2c6K0ACYHPTzu9XufY3PIf3U5sm5asqF6cN0rFkk7xDeJLNqpJY854RAeG07PHpUiJnMIiYmZjjHmO2lEUc5igQUDKynONGEaEMJHI8eXbV1T9Iris9oqxOXODkMkfOYcGQsmQDPdSOZfbu+T/ANtVZDInYvrF87+Xo0VhpOtw3EKx2Qrdmr91Up6LNkzpckHKArgQbdpwbYJUaHSZg8dAK8a+wYtZZzlyq+ZmQbzDLByHUF5+8fcw+Ku2UNrechc2cEMqpMAlSc2k8BM5eI4Dzc8pKTo7cSlSLsE020PaoPmAY93Cr6XwNwFIAG5uaajdAgg8xlI/8FMV6EeDjkqbF8Opz3ZYkErAMQu4shYE6nXWdTTFU2uu/iv7Fq6rMqFWLbBEMpZSrqQpAO8UIIJI9nl3VXTWG6tZzdKwUNhEZ87pec5Qu86axc6STDjnAgAQJHOqvky3mLFb5BUIwL295QRAY5uAAA0jnqZM6NFU7shqM9tlWiAuS/lXRV6RIUFgzAb2kkTPHsirr+EtOADZuaEMN63oyoiAwWIOiLxEedNUU7shqF8NZCyFUqoChQSCd0GScpI4mmKKpxmLW2pZvcOZPICs7cmV5J3ryqMzEADmdKxMZ6UgaWkzf6m0HuHE/pWdi8S95pbhyXkPD+arGFreOJepZI8v+keJPBlXwUf/ANTSx9I8SP8A3J8VU/8AFXPhqVvYetNK8FqHcP6c3F+ltqw7VlD5GQf0rpNlbes4gfNtvDih0Yd8cx3ia+f3rNIvKkMpKkGQQYIPaCOFUliT4IcT69VmH6y+Ncp6J+lfT/NXSBdA0PAOBx05MOJHPj211eH6y+NYJNSplK3FfTj6r9+3+6oVP04+q/ft/uqFdpodBZ6o8B8KnWJidsi0pa5et2wMwVWG8QmhyjOCx4aAcSBVl3ayrlzYqwuYArMDMG4FZu6g9ooDXpDauA6UREiCCJyyCVOjQYMqOXbSbbbAZ1N+1uEBjlG6TM5vnZUCNSYHkYmNrrCn1qxDkqp0gsCAQD0upkjTvHbQCWO2KsZmtHSAYuDUcMsFIg6f4pZrFopk6FoIj6QTGYNxjtFbd+6zWGzcQxXQQN26VmJPZWSKq2RYqcBbIg23IzZiOkUS5BBYwgMwxGkDunWvWwVslmKOWYyW6RJnTUAJl4COH660zRUWLKLOGCndUqozQpYN1+jmIAAA6MdskkkzV9FVYljEDQsQoPZPE+4SfdVW63CVujO2simQpbMSA4U7uURIfSJy6cjqOykLTXAbiKxAcCVOuYAQRmOoHLjpMiJk9CNmQOFZuNs5d72Tm8uI96yPfXj5pTc9XB7WGMYw08juDupGVVKQOqRBjt4kHxBPHWmajjdnlVJHFZKnvE/oeHgTSuI6RoNvQFG9nrFTk46yGy8og8o19PDNyVS2Z5eaCi9uC+2pzOe0iPcqj41bSt/pc25ly7oMiSBJzniJgZYHfVmFz5fnIzacOHVUnmeDZh4AVu0YF1NYbq0rTWG6tZZOAy2iiiucqFFFFAFcztPFdLcMdVdB/wAn3/AVv469ktu3YpjxjT9a5nBrW+FepaI1Yw1NrhO6rsHamti3g9K6SxzV7C1m4mzXTY2zFYmLWoBgYm3WZiEraxQrKxAoSZTXGRgykqykEEcQRqDX1z0Z2qMTatXRoW0YdjjRh4TqO4ivkmIFdl/6VYs5rtrkGRx75VvgtZzV0yGjr/Tj6r9+3+6oVP04+q/ft/uqFaghjtktczgZ16RWtuQiODbLMylczbrb7axz4SARXh9gx0pZLs3BfQQEOW1eK5EEtwULoOEuePGuns9UeA+FToDjrvooGDKRey74XRSVFxiziWuEHWOAXhrJ1pjaGwBduPcy3h0u64hYKFLalYFwCYT+oMN7UGBHU0UBh39nJ0LM9pQzOx3lUtDXSRJ15Ec6zrGHVBlRQokmAIEkyT5muh2r9Efd+4VhVRkMKKKQTbuHZmUXkJXjvCPDMdCe4TUVZaMJSulwP1XeHAgTlYNHbGhA78pNVfKVn7a3+Yv80HaVn7a3+Yn80atEqMk7o2vXEKaazzrCx+8QvtED3E7x9yyaRxG1YdhbKsCRqDmGcoOEaamPwmtC7gVAJUb4Bh53pjST2SBpw7q4ZY5TfwdiyLGt/U09pY/MuUdZgQPLUnuEj9BzpRFgAcgI8qytlY4vcM81JHgrnT9T+EVr10Yt1bObNs6RTa67+K/sWrqptde54r+xaurZmAU1hurStNYbq1nk4DLaKKK5yoUUUUAntgfMXPD/AJFc7hHrq79rMrKf6gR5iK4u2xUkHiDB8QYNdGF7UWidHhL0VqpjtK5exiqaGLrcsaGMxE1i4u5Vl3FVnYi/QCmJasrEGncRcrNxD0JEMQa6n/0qU+s3DyyL+riPga5LEPX0H/0u2eVttdP/ALrgD/otyJ/EW8qrJ7EM6X04+q/ft/uqFT9OPqv37f7qhVwdBZ6o8B8KnULPVHgPhU6AKKKKAU2r9Efd+4Vg1vbV+iPu/cKwaqyGStWmdsqCTE6mABPEkA8//OyhtmC1cJNtVdxqy8HAPgJIJ5idedFzDW2M3LQurHVJgyJgjgJ1OhI48o1qvoltWezaFoKrELIktAMsQSB1QAAe33ESpNLZlOJ2siNlKkxxIAMfrSWI9K7KOVKOVH9YAI8pmlcFLAgMO0kjXtjUaUo1gszhbg3dTujU8Ygjl2VbqV24po5uqyZIxTg9xq5iVN7NO6biNIU5SqtCtmAjLkM1o2PSmwXynMpnQssAkcgQTr3GPOs3Z1sm3EpuzqF0I5bpGmnIUlfsFrchkgGBKzP+rhm49nCsJQWGmn+ojqepyOMJRXyhrB4oW3DZWAGbsjKA8KIM6yOOk607g/S5GbK9tknqmcwJ5LwBBPKl+Nosz5RGoHIRJ8az3skoHF3U8FjMNNQMvZoNffU5IRwNKPDI6zPk1xa+qNpduKnSu2c5ipVIUQAqqQGHHUTr7ppzZW3Ev5goZWXUq2hg8x2isjGH5sOXHKFjSZAA/Wp7ItOt9SHDgqc26NFIGoYARvBRB41bO9GRJcMplyTjlilx4OlFNYbq0qKaw3VrPJwdjLaKKyMdtxrV9bbWCUcT0oaVAHXLKFkRI8we2MYxb4JhjlkdRNeio27gYAggg6ggyCO0EcalVSgVzXpLs4q3TLwMB+48A3gfj410teMoIgiQdCO6rRlpdkp0cquCDKDbaT2GNfA/zSjXyCQdCOINN47YlxHc4ZwAoXcbWXaSEXQ5tIPLRuPMY+PxzsMzrluK2Rl4aAce4jgQSR2NBBPVHLGTpHXKEZR1R29hh8TSt7EUn63P/mo7iOVVXMRVzAnevVn37tSu3qY2T6P3sUdxYTncaQg8PaPcP0qG0uQK7J2U+KvLaTTmzclQcWP/AB2kivsWzMKtsW0QQqAKB3DQVn7E2FbwtvJbEk6s56zN2nsHYOA8ydXD9ZfGudz1SRm3uK+nH1X79v8AdUKn6cfVfv2/3VCuoudBZ6o8B8KnULPVHgPhU6AKKKKAU2r9Efd+4Vg1vbV+iPu/cKwaqyGFZO18WrpkRgWLDgdIXU5j2U/jlY22C8Y7Y056+E1zuPeUlLRgRJj+kcSKvCOzl4KyemLZVZxaXLmrKNOCkRHaec/zVOMs2ekAJIUzLcjHD3+NeXLql1boSAOeUyOX4TOvuprH3NVbojkne7f9OnMSKo5vLgbOGU+9hldbexVgcMkk526M6AkysrpoeWkaHsqhrVnOwzFcuo1I3jrIjv51fhLgFwnoiubXKRAMcOcZgDw007dasxZYXAzWpWICiJzceHbrVZf7dMmilKXTr2f58FWzOjKNmYtBMTqePA0rcWxDlhBk5QeyeRj9ac2exW402ePCANY5EjmJ50XiwZwbUlurEQB2kcuFRmerBGQyLV08X49r/sngbFs2wIZieqpMkjiBmjXTn3VVgsGGYBM6XpkxKFR2sI4Ds4Hhzq/0aLG7B0yK0oRGXNqGWNIMwO48q6cXROXMJ7JE+XGonLupPijZY1mjFk6aw3VpUUwjxbJiYBMeAJiq5ODrZfRWa+NuCIt3AXkKbotKhbKxGQo5Maf1TpzHPIsYm9nVhcJLoS2vSAR22wNwj4T3VVYmTRuvs4AlrTdGx1MCUY/67fAnvGVu+vBtAppeXJ/rBm0fv/0HuaO4mlcH6QK0dIpTTrcUJBgxzHGdeVaqsDwIPbz4jn7qo01yW1ektyVKYnaSoYhmI45QNPEsQJ7qnhsAqHclV9gdSZ4qv9PgsDXhVFh06AT1tZPa0nMfe0n31nN0tjTFjjKVehzeFxDJdJQHpOIMO+aFIh7a6dIRLl50mNRFby7ES7bHrCBrjbzHgQzASAQdIAAjhp3UouAYK18aElej78vA+DMxHeD310BrPDqW75Nuqkk6jwcxifQKyxlblxD91vdqNR40qnoKgMXLz68CAoU9gkzlPcfcTXY14ygiCONdHckcVsxcF6G4W2Z6Mue24c3/AG6L+lbSiNBwHD/FIYmLViUsoxLXt5rZuQVZ8qwoLEmAB4c9AabONcgxgrZybrjJvNcVlVgkLAG9IJ9kjvGvbb5ZNGtVmHO8PGsixjMzZfV7IGYAN0FzK0rbJCjJIKlmknTd5b2SixibnRAvg7bHRW+ZgyVZmcrljIuXhx149pYqd2NJqem5/wDxfv2/3VCsrbTThmboxbLdCSqjKNL14Bo5SADz48TxrVroLHQWeqPAfCp1nrtRRC5WMT7InJAYiWBgSJPfVnyjpm6N8sTO5ERMzm4RQDlFJfKegPRuA0ROUSTwGrce6p+un7K5/wBv91AebV+iPu/cKwa2MZic9p9CCrAEGJndPInkRWPVWQyN22GUqeBBBjsOlc3cUvaMvCiYAG//ABXTVX6subNlGbtjXzq0J6U0yHuqOOh3VG6QHhlCqSfeJ1B7qbxwLWgxudWCAB2R1u7WujXAoGLhFDERmCidaVGzdIypmmTczNmPbIAnX/qrlU5YoOKjqv4MMPT1GUZPn5OfKXM6t0mYgScq6BZiSZkRp41btKAFfpGLAgZgN0Zva7OGmtPWFUF0PRoqk5iRukjKDm1XP1kAn2jMkU0MTZzg9Jh0AEEIyjNoRDCeHdrwFVw5ZSx6FHb8v7GkejaxuF7v5ZiWkIfOLhbgHcDdBMxz0Mz5GpYuA4YXSM0gvErpGg79TpNdBax2HUQtyyo7AyAa8dAaDtCxGXpLUdmdI8pit1H/AJdsp/iz7ej1+pmbBwOVblwEkGQhgT2uVI1MwsTzBitQPf6W6GSx0IsWCMt24QJuYmGtfNwbp07CYXUzpHZ217N6RadSV0K8CIMdXs7xpTYsrM5RPGY5nifHvpBaFRrHE8K0SW6JJMCeMa+POjF3IskcCxCDjMseQGpgSYHGDXtXLYDpDCdZ7CCOBBGoNVm6JZzd9d280GMyopTdQEf7Z1XXXTmO0VaEg3HB6ii2HtHIMxEjMDx7DWpiNjDTLyfPHBu/5zU6HUTWffwjboZSWe6SzcGgSQA5hG0EjwrRTUuCbKMKuWSArBLO8yHIZYzFydWMxVWDtFTmtsZFqXybjDUQGzaNEcvDhU8RDqTGd7t0Dj85lGkQu6eB4UX95bjEhiT0aF926uUbu6vfI99X5JL8Vtm81rKFElQSyTIQ6NmB6pOmvAAnmKnisNZs4UwEdwQM0BvnM0nwA1Mdg79VmclLhDZ1yqilt117VCz1QdNaXxOHVlusp0QJp9E2aG4pxbjHeDXPPCnui0XVI6nBKzoj3CZIDZf6VJEjTmQOZJ14RTdY+F24ZYXEgIRLLIChhpKtDafDWtDCbQt3RKMDBg8jPgdaxcHHkzk23bGKKKKqVKhhxyZxJJgXHAkmToGga170H+q5+bc/uqyiran5FlfQ/wCu5+bc/uqdnDywBe5qftbn91e1Zh+svjUxk7W4szvTDBqmGYiZL2gSzM2gYx1iY4nzqyp+nH1X79v91QrtNBbamBa4UKsVNs3ZBW5DdI1srvKp0GXNpzVeImlDsMi2oVzm3+l3bnzoN5Xtq2a2wIC5hqp7Igmu0tdUeA+FToDgb2wbpBAuRNspJ6YkSSVVSLSwqyRppAWFUglmMdsQl26JytuTkQLcXoyVtTcSbTQ+ZWO7lOvW3mrtqKAw8QhZLrBnUFxAygTu2xMOk8QR7qz7FsqoBYsR/UYk+MACug2r9E3u+IrCqjIYUUUVBAV4a9oNAZWCjp3++B3/ADhYnzkf/qNaorKwdsnE3CeADR72yR3ncdp/3a1a5umTUX8v+TXI9/sE0UUV0mdsqsYVEEIoUTOgiSeJPae+raKKBtvdhTWG6tK01hurWeTghltRe2CIIBHYRI8jUqK5yojitkq2SDojZgpnLrMiAQR26HlWZcwzWzaU5oTO/WVdRzRj48G14+/oa8ZQeInxE1rHK0SmcpkJ6ERmLFrjZRlux1tS2h5GvBbF1V0z3LjZiYi5A5EkgaoD7x31vYnZKtEf0qygMM4g8IBO7B4R2ms3G4RlgkFlS0QqtLbw4wyDdjiJ5VvHImWTsSDF1aGD9JdAAb6aFIHW86LgE3XBhw6qitJcEREONDqf1q3Jl6G2+qqhcq5CiSOAdZJ7dTXrKQq24MBemZHhAYPBW4mRVyRy1tZ7RIu70Pl4Q+oBgKJDR46z3Vp4PaNu6N1tdd06MIMGV4iuf49GqBjLm50bHIpEEiHOswY91ULbnomXMrPcPEZSBqNLp46adlZSxJ8ENHYUVgWNr3LajPvyWVZ3WOUmCXO63ZI8a0cDtm3dgCVfXdPHSZE8Dwnw1rBwkitD1WYfrL41XVmH6y+NRHlECvpx9V+/b/dUKn6cfVfv2/3VCu40Ogs9UeA+FTqFnqjwHwqdAFV3sQqasQPHtqyszaxfMnR9bK3CJjNazFc2mbLMTpNAG0sfbNsgOCdPiKxenHb+h/imrjY0KSpknMQItypg5F1aMpMTqY5HnUR68qgLlJ5yQxA1y6lt4ExMmY4RUNCihboOgNTqePuXujtG6sv0zjio3ejvRwJA0jSSdKV6V/s/+4VRkF9eVT0r/Z/9wrB9JNoOWW1lgRmYZgZkkAHuEEx3issuRY4OTLQhrdD+Gc+suBOpeeyAF/8AiHird9a1cPhcQyBbi5gbcmDpNq42dTHNdSO7OviO4Brn6SepSXu/3NM0aaYUUUV2mAUUUUAU1hurStNYbq1nk4DLaKKK5yoUUUUAUUUUAnf2YjAgbkqVOWACCZgjnB1rK2hs5h0hIUgqijdJAHBiGJ3DPxroaIrSORolM5fGNvuNCLdsIoc5xmb2GXQEcRNGKuZGKmALKyLdw5gWYQQMunEyPfW/fwCtJ4Ex4HL1cy8G7NeVZeK2S4FwDVXdGMcMo0INsCdO48DwreORMtYi/wA2bak5cqF8t4ZkzMDAUA8xVK2oWwrLkzZmOck2iDMQqmQJJFMYi2ZvNGUMVtaCUy6EyG3l0M6dtTxBy53tpOUMvzcNIyEkL0hA1gmeIg6HQHSyR3Yj3NyScjISAdQACAuU8Y5axW7h+svjWNsATbzZSkqm6YmSoaTlJE68o0jQHQbOG6y+Ncsv17FHyK+nH1X79v8AdUKn6cfVfv2/3VCusudBZ6o8B8KnULPVHgPhU6AKz9poZBAPUuLIBJBcLBhdY04itCiKA4u6mJtr9JcaTxCOoBlQLjTbkjKCuTUcNZ4xTpgsDFONeAS5zzZmnovaIaII4jhpXVbVHzTe74isGKq2LPOmZkRWYuy3HcsQ43WW4FEuqyd4aAQAKlRRVSApbF7Ot3YzqDBB4CTEwCYmNTTNFQ0mqYuha/s+28lkUkjLMQcuu7I5akR2GKZoookkLCiiipICiiigCmcOwy8aWoqslYH1MmBqe6p9A3snypXZ/wBKnj/wa6GqrChRkdA3snyo6BvZPlWvRFT2V5GkyOgb2T5UdA3snyrWivYp2V5GkyOgb2T5UdA3snyrWivadleRpMjoG9k+VHQN7J8q14oinZXkaTDu7OzEEocwIIYCGBHCD5+dejA6Zcmh4giZJMkmeJmtuvDU9r3FGQmFIEBIA5AQPIVbYstmGh49laU17RYknYo5/wBOPqv37f7qhU/Tj6r9+3+6oVsWOgs9UeA+FTrn9p3MWtyLNy2EAEBlk+YpT1nH/a2fwGgOrorlPWcf9rZ/AaPWcf8Aa2fwGgOg2r9Efd8RWDVb3scRBuWCOw2zVeXGe1h/yqhqyBiil8uM9rD/AJVGXGe1h/yqjSKGKKXy4z2sP+VRlxntYf8AKppFDFFL5cZ7WH/Koy4z2sP+VTSKGKKXy4z2sP8AlUZcZ7WH/KppFDFFL5cZ7WH/ACqMuM9rD/lU0ihiil8uM9rD/lUZcZ7WH/KppFGhs/6VPH/g10NcgvrgMh8OD29HVnrOP+1s/gNSiTq6K5T1nH/a2fwGj1nH/a2fwGpB1dFcp6zj/tbP4DR6zj/tbP4DQHV0VynrOP8AtbP4DR6zj/tbP4DQHV0VynrOP+1s/gNHrOP+1s/gNAdXUXrlvWcf9rZ/AaPWMf8Aa2fwGgE1uDeGVCAkcFmSiwQDxaQeGok89D2y1yvrOP8AtbP4DR6xj/tbP4DUkDfpx9V+/b/dUKzsfhsZfXJcu2isg6KQdDI1rc+Tz2ioJP/Z" id="157" name="Google Shape;157;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image/jpeg;base64,/9j/4AAQSkZJRgABAQAAAQABAAD/2wCEAAkGBhMSERQTEhIWFRUUFxgXFxYXFhoVFxoUFRUVFxUVFhUYHSYeFxojGRgXIjAhIygpLCwsFSAxNTAqNSYrLCkBCQoKDgwOGg8PGi8lHiQsLCwpKi4sKS0pLCwpLCwsKSwpLCosKSksKSkpLCwsLCkpLSwsLCwsLCksKSksKSwpLP/AABEIAL4BCQMBIgACEQEDEQH/xAAbAAACAwEBAQAAAAAAAAAAAAAABAIDBQYBB//EAEUQAAIBAgMEBgULAwMDBAMAAAECEQADBBIhBSIxQRMyUWFxkQYUUoGxFSMzNFOCkpOhstFC0uFiY8FyovAHQ+PxJIPC/8QAGQEBAAMBAQAAAAAAAAAAAAAAAAECAwQF/8QAKxEAAgIBAwMDAwQDAAAAAAAAAAECEQMSITEEE1FBYXGBkfAyobHhFCIj/9oADAMBAAIRAxEAPwD7ZatDKNBwHLuqXQr2DyFFnqjwHwqdAQ6FeweQo6FeweQqdFAJbSSEEaS9sSNDDXEBE8tCaRv43DIzI14hl6wLtu7ufePAHJvRxIFPbWuAIpJgdJa1Og+lSsjE7LtXWvZ8V83eYMbasgEratoDJBaQUzaGNF04yBPEbWwqKzG65ygEhWcnUqNBzIzrIGokTXr7UwwLZrjBVOrG4QMoVmZwSdVGRhInUGi5szDsTOI3czOqZ0hbjsWdgYzGSz6EkDpG7oWHo7hBp0wgaKA1oZVIYZcwXM2jcWJO6vfIDwxuG0+ebUx1n0ObLvexvab0a1763huj6TpjkLBQc7GWMZQBxJMiI4yImaVxOxcK9xrhvCXILDNbYECIXeUlRx1EHeOvCL8JgcPbUL085bvSiXQbwERCgKF5kACSSeJNAFvaOFYEreJAjg7GS0gZQNW1DdWeqew1Wu18KWyC6xOZFG+YbpBbIKkmCPnFk98cSAZNs+x82VxGVrQORg6EjMWkkMCDozDUcD2waq+RMLwN6e2bi671hjOnM2Vnh1miNIAvXaGFIkXmI04M5JkFgQo1ZSAxzARCkzoattvZuC50V0sUWTDkjUEqZ4HhynhSd3ZNlgobFFjb0QsbLZVy5SuUplM6akEyo8KswmDsWBdKXgc6BcuZIARWCwFAkwYkyYVRwAoDZw6AopIElQeA7Ks6FeweQqOF6i/9I+Aq2gIdCvYPIUdCvYPIVOigIdCvYPIUdCvYPIVOigIdCvYPIUvjU0WN2WUSAJgnXiDTdK7QcAKSYAdNToONAU27CsWAuscphupocoaDuccpB99T9R/3G8k/srAxfo/aa7cuq9iXYtlIENPqsq5B1DdA0nXr8DqDVh/Rm2Fcm5hw5YFCo0tr0924yKcwYArcynKVnXgDAA6T1H/cbyT+yoXsOqKWa6wVQSSckADiTuVyuB9G8rMC+HUfN5bqlRcQIzMRaIgc8sws6khpirbnotbdSHfDAdGUCqAUL9G6C8Qx6+9rxMKNTQHUepf7j+Sf2VD1cZivSPIAJ3ViDMa5I5HSl9q2UuWwtq8lp0IKNIIXQqYAI/oZh3T3Vg3fRZN8Lds5d7LLAEqXRltuQNVUKAM2cbqysAggdOmGB4XG4kcE4qYP9HbXhw6hgputJBIG5MKVDHqcBmX8QrBsbCCneu4d54uRDW952PQgGFnNwkQZ6w0EG2IzEM97DtlVVyScjqnR6PJ4HITEGDl60GQOiXCgkjpGkRIhOfD+iq8Vhyq5g7GCvEJEFgPZ7DXNp6KLDTesCQ+VVAyrnvrdyAMTuFQbZ01DHSNK1sLYWzhynSISbgaFYQM1xTlUCP0AEkmBNAMek+LNix0luAwdRMcmMGj5Sft/SqPTj6r9+3+6oUB0FnqjwHwqdQs9UeA+FToAqq/iVTrHjoNCST3Aamraydt2SzLDhIV2JJKjKDbkMykEDnIPLsmgJY/aKFNMxIKsPm3/AKWDez3Usu3mIkKSO3o7nxil22HcIITEEZi863IDs7sWEPMgMBEwYM614mw7hCZMUwE6wWgnOxBAJMQpChRA0qANLtxjyEjkVZT5GD/9VL5ZfsX9f5rNxCdD0a3LoZhbbeZon5wkauZMAgfxUPXLf2ifjX+aqyDV+WX7F/X+aPll+xf1/msr1y39on41/mj1y39on41/motkWavyy/Yv6/zR8sv2L+v81kXNo2lEtdtgdpdQPMmq7O17LtlS8jMSRAYEyOQjjSydzb+WX7F/X+aPll+xf1/mkKKWyLH/AJZfsX9f5o+Wn7F8j/NIUUsWP/LL9i/r/NSXatw8FX9f5rOq63cIAgqBDsWdsoCplkkwfa/Sok36C2P2tpPmGYACdT3edO+up2/GsB8eAobpLMFlQQ7E53MKsZJn4QeygbRXT57D6zA6QyYjgMvev4l7RUXPwNzf9dTt+NeHFoef6GsBNpKY+dsCY0Nwg68JBX/6g9lFvaKMN29hzAnS4TppH9PPMvjmXtFNU/A3N71i33eX+KPWLfd5f4rJsXs09UiFIKNmUhhIIMCrao8slsRbNH1i33eX+KPWLfd5f4rOop3mLNH1i33eX+KPWLfd5f4rOoqO8xZo+sW+7y/xR6xb7vL/ABWdRTvMWaPrFvu8v8VTinVgAsTntnh2XEJ/QGlKsw43l8alZW2LFfTj6r9+3+6oVP04+q/ft/uqFdJc6Cz1R4D4VOoWeqPAfCp0AVmbZSY0LZle3lXrQ4XVZ00y8+2tOsza9sMQC2UFXE8R1rWhHME6EcwTQHNXthHgtq8RIDz0bPlUoyhGL7j7uraEyDyFStbIUgEWcSdYJBswcpaR9LoQSe2DPaacGzLJO7ftZiQSAAUbOAiKUD6qDabKM2hHdrBdiWioRcUC2sksrZhlWAwz7wAUsNdJnxgkLGCdQqizdARSozBJOZ2c6K0ACYHPTzu9XufY3PIf3U5sm5asqF6cN0rFkk7xDeJLNqpJY854RAeG07PHpUiJnMIiYmZjjHmO2lEUc5igQUDKynONGEaEMJHI8eXbV1T9Iris9oqxOXODkMkfOYcGQsmQDPdSOZfbu+T/ANtVZDInYvrF87+Xo0VhpOtw3EKx2Qrdmr91Up6LNkzpckHKArgQbdpwbYJUaHSZg8dAK8a+wYtZZzlyq+ZmQbzDLByHUF5+8fcw+Ku2UNrechc2cEMqpMAlSc2k8BM5eI4Dzc8pKTo7cSlSLsE020PaoPmAY93Cr6XwNwFIAG5uaajdAgg8xlI/8FMV6EeDjkqbF8Opz3ZYkErAMQu4shYE6nXWdTTFU2uu/iv7Fq6rMqFWLbBEMpZSrqQpAO8UIIJI9nl3VXTWG6tZzdKwUNhEZ87pec5Qu86axc6STDjnAgAQJHOqvky3mLFb5BUIwL295QRAY5uAAA0jnqZM6NFU7shqM9tlWiAuS/lXRV6RIUFgzAb2kkTPHsirr+EtOADZuaEMN63oyoiAwWIOiLxEedNUU7shqF8NZCyFUqoChQSCd0GScpI4mmKKpxmLW2pZvcOZPICs7cmV5J3ryqMzEADmdKxMZ6UgaWkzf6m0HuHE/pWdi8S95pbhyXkPD+arGFreOJepZI8v+keJPBlXwUf/ANTSx9I8SP8A3J8VU/8AFXPhqVvYetNK8FqHcP6c3F+ltqw7VlD5GQf0rpNlbes4gfNtvDih0Yd8cx3ia+f3rNIvKkMpKkGQQYIPaCOFUliT4IcT69VmH6y+Ncp6J+lfT/NXSBdA0PAOBx05MOJHPj211eH6y+NYJNSplK3FfTj6r9+3+6oVP04+q/ft/uqFdpodBZ6o8B8KnWJidsi0pa5et2wMwVWG8QmhyjOCx4aAcSBVl3ayrlzYqwuYArMDMG4FZu6g9ooDXpDauA6UREiCCJyyCVOjQYMqOXbSbbbAZ1N+1uEBjlG6TM5vnZUCNSYHkYmNrrCn1qxDkqp0gsCAQD0upkjTvHbQCWO2KsZmtHSAYuDUcMsFIg6f4pZrFopk6FoIj6QTGYNxjtFbd+6zWGzcQxXQQN26VmJPZWSKq2RYqcBbIg23IzZiOkUS5BBYwgMwxGkDunWvWwVslmKOWYyW6RJnTUAJl4COH660zRUWLKLOGCndUqozQpYN1+jmIAAA6MdskkkzV9FVYljEDQsQoPZPE+4SfdVW63CVujO2simQpbMSA4U7uURIfSJy6cjqOykLTXAbiKxAcCVOuYAQRmOoHLjpMiJk9CNmQOFZuNs5d72Tm8uI96yPfXj5pTc9XB7WGMYw08juDupGVVKQOqRBjt4kHxBPHWmajjdnlVJHFZKnvE/oeHgTSuI6RoNvQFG9nrFTk46yGy8og8o19PDNyVS2Z5eaCi9uC+2pzOe0iPcqj41bSt/pc25ly7oMiSBJzniJgZYHfVmFz5fnIzacOHVUnmeDZh4AVu0YF1NYbq0rTWG6tZZOAy2iiiucqFFFFAFcztPFdLcMdVdB/wAn3/AVv469ktu3YpjxjT9a5nBrW+FepaI1Yw1NrhO6rsHamti3g9K6SxzV7C1m4mzXTY2zFYmLWoBgYm3WZiEraxQrKxAoSZTXGRgykqykEEcQRqDX1z0Z2qMTatXRoW0YdjjRh4TqO4ivkmIFdl/6VYs5rtrkGRx75VvgtZzV0yGjr/Tj6r9+3+6oVP04+q/ft/uqFaghjtktczgZ16RWtuQiODbLMylczbrb7axz4SARXh9gx0pZLs3BfQQEOW1eK5EEtwULoOEuePGuns9UeA+FToDjrvooGDKRey74XRSVFxiziWuEHWOAXhrJ1pjaGwBduPcy3h0u64hYKFLalYFwCYT+oMN7UGBHU0UBh39nJ0LM9pQzOx3lUtDXSRJ15Ec6zrGHVBlRQokmAIEkyT5muh2r9Efd+4VhVRkMKKKQTbuHZmUXkJXjvCPDMdCe4TUVZaMJSulwP1XeHAgTlYNHbGhA78pNVfKVn7a3+Yv80HaVn7a3+Yn80atEqMk7o2vXEKaazzrCx+8QvtED3E7x9yyaRxG1YdhbKsCRqDmGcoOEaamPwmtC7gVAJUb4Bh53pjST2SBpw7q4ZY5TfwdiyLGt/U09pY/MuUdZgQPLUnuEj9BzpRFgAcgI8qytlY4vcM81JHgrnT9T+EVr10Yt1bObNs6RTa67+K/sWrqptde54r+xaurZmAU1hurStNYbq1nk4DLaKKK5yoUUUUAntgfMXPD/AJFc7hHrq79rMrKf6gR5iK4u2xUkHiDB8QYNdGF7UWidHhL0VqpjtK5exiqaGLrcsaGMxE1i4u5Vl3FVnYi/QCmJasrEGncRcrNxD0JEMQa6n/0qU+s3DyyL+riPga5LEPX0H/0u2eVttdP/ALrgD/otyJ/EW8qrJ7EM6X04+q/ft/uqFT9OPqv37f7qhVwdBZ6o8B8KnULPVHgPhU6AKKKKAU2r9Efd+4Vg1vbV+iPu/cKwaqyGStWmdsqCTE6mABPEkA8//OyhtmC1cJNtVdxqy8HAPgJIJ5idedFzDW2M3LQurHVJgyJgjgJ1OhI48o1qvoltWezaFoKrELIktAMsQSB1QAAe33ESpNLZlOJ2siNlKkxxIAMfrSWI9K7KOVKOVH9YAI8pmlcFLAgMO0kjXtjUaUo1gszhbg3dTujU8Ygjl2VbqV24po5uqyZIxTg9xq5iVN7NO6biNIU5SqtCtmAjLkM1o2PSmwXynMpnQssAkcgQTr3GPOs3Z1sm3EpuzqF0I5bpGmnIUlfsFrchkgGBKzP+rhm49nCsJQWGmn+ojqepyOMJRXyhrB4oW3DZWAGbsjKA8KIM6yOOk607g/S5GbK9tknqmcwJ5LwBBPKl+Nosz5RGoHIRJ8az3skoHF3U8FjMNNQMvZoNffU5IRwNKPDI6zPk1xa+qNpduKnSu2c5ipVIUQAqqQGHHUTr7ppzZW3Ev5goZWXUq2hg8x2isjGH5sOXHKFjSZAA/Wp7ItOt9SHDgqc26NFIGoYARvBRB41bO9GRJcMplyTjlilx4OlFNYbq0qKaw3VrPJwdjLaKKyMdtxrV9bbWCUcT0oaVAHXLKFkRI8we2MYxb4JhjlkdRNeio27gYAggg6ggyCO0EcalVSgVzXpLs4q3TLwMB+48A3gfj410teMoIgiQdCO6rRlpdkp0cquCDKDbaT2GNfA/zSjXyCQdCOINN47YlxHc4ZwAoXcbWXaSEXQ5tIPLRuPMY+PxzsMzrluK2Rl4aAce4jgQSR2NBBPVHLGTpHXKEZR1R29hh8TSt7EUn63P/mo7iOVVXMRVzAnevVn37tSu3qY2T6P3sUdxYTncaQg8PaPcP0qG0uQK7J2U+KvLaTTmzclQcWP/AB2kivsWzMKtsW0QQqAKB3DQVn7E2FbwtvJbEk6s56zN2nsHYOA8ydXD9ZfGudz1SRm3uK+nH1X79v8AdUKn6cfVfv2/3VCuoudBZ6o8B8KnULPVHgPhU6AKKKKAU2r9Efd+4Vg1vbV+iPu/cKwaqyGFZO18WrpkRgWLDgdIXU5j2U/jlY22C8Y7Y056+E1zuPeUlLRgRJj+kcSKvCOzl4KyemLZVZxaXLmrKNOCkRHaec/zVOMs2ekAJIUzLcjHD3+NeXLql1boSAOeUyOX4TOvuprH3NVbojkne7f9OnMSKo5vLgbOGU+9hldbexVgcMkk526M6AkysrpoeWkaHsqhrVnOwzFcuo1I3jrIjv51fhLgFwnoiubXKRAMcOcZgDw007dasxZYXAzWpWICiJzceHbrVZf7dMmilKXTr2f58FWzOjKNmYtBMTqePA0rcWxDlhBk5QeyeRj9ac2exW402ePCANY5EjmJ50XiwZwbUlurEQB2kcuFRmerBGQyLV08X49r/sngbFs2wIZieqpMkjiBmjXTn3VVgsGGYBM6XpkxKFR2sI4Ds4Hhzq/0aLG7B0yK0oRGXNqGWNIMwO48q6cXROXMJ7JE+XGonLupPijZY1mjFk6aw3VpUUwjxbJiYBMeAJiq5ODrZfRWa+NuCIt3AXkKbotKhbKxGQo5Maf1TpzHPIsYm9nVhcJLoS2vSAR22wNwj4T3VVYmTRuvs4AlrTdGx1MCUY/67fAnvGVu+vBtAppeXJ/rBm0fv/0HuaO4mlcH6QK0dIpTTrcUJBgxzHGdeVaqsDwIPbz4jn7qo01yW1ektyVKYnaSoYhmI45QNPEsQJ7qnhsAqHclV9gdSZ4qv9PgsDXhVFh06AT1tZPa0nMfe0n31nN0tjTFjjKVehzeFxDJdJQHpOIMO+aFIh7a6dIRLl50mNRFby7ES7bHrCBrjbzHgQzASAQdIAAjhp3UouAYK18aElej78vA+DMxHeD310BrPDqW75Nuqkk6jwcxifQKyxlblxD91vdqNR40qnoKgMXLz68CAoU9gkzlPcfcTXY14ygiCONdHckcVsxcF6G4W2Z6Mue24c3/AG6L+lbSiNBwHD/FIYmLViUsoxLXt5rZuQVZ8qwoLEmAB4c9AabONcgxgrZybrjJvNcVlVgkLAG9IJ9kjvGvbb5ZNGtVmHO8PGsixjMzZfV7IGYAN0FzK0rbJCjJIKlmknTd5b2SixibnRAvg7bHRW+ZgyVZmcrljIuXhx149pYqd2NJqem5/wDxfv2/3VCsrbTThmboxbLdCSqjKNL14Bo5SADz48TxrVroLHQWeqPAfCp1nrtRRC5WMT7InJAYiWBgSJPfVnyjpm6N8sTO5ERMzm4RQDlFJfKegPRuA0ROUSTwGrce6p+un7K5/wBv91AebV+iPu/cKwa2MZic9p9CCrAEGJndPInkRWPVWQyN22GUqeBBBjsOlc3cUvaMvCiYAG//ABXTVX6subNlGbtjXzq0J6U0yHuqOOh3VG6QHhlCqSfeJ1B7qbxwLWgxudWCAB2R1u7WujXAoGLhFDERmCidaVGzdIypmmTczNmPbIAnX/qrlU5YoOKjqv4MMPT1GUZPn5OfKXM6t0mYgScq6BZiSZkRp41btKAFfpGLAgZgN0Zva7OGmtPWFUF0PRoqk5iRukjKDm1XP1kAn2jMkU0MTZzg9Jh0AEEIyjNoRDCeHdrwFVw5ZSx6FHb8v7GkejaxuF7v5ZiWkIfOLhbgHcDdBMxz0Mz5GpYuA4YXSM0gvErpGg79TpNdBax2HUQtyyo7AyAa8dAaDtCxGXpLUdmdI8pit1H/AJdsp/iz7ej1+pmbBwOVblwEkGQhgT2uVI1MwsTzBitQPf6W6GSx0IsWCMt24QJuYmGtfNwbp07CYXUzpHZ217N6RadSV0K8CIMdXs7xpTYsrM5RPGY5nifHvpBaFRrHE8K0SW6JJMCeMa+POjF3IskcCxCDjMseQGpgSYHGDXtXLYDpDCdZ7CCOBBGoNVm6JZzd9d280GMyopTdQEf7Z1XXXTmO0VaEg3HB6ii2HtHIMxEjMDx7DWpiNjDTLyfPHBu/5zU6HUTWffwjboZSWe6SzcGgSQA5hG0EjwrRTUuCbKMKuWSArBLO8yHIZYzFydWMxVWDtFTmtsZFqXybjDUQGzaNEcvDhU8RDqTGd7t0Dj85lGkQu6eB4UX95bjEhiT0aF926uUbu6vfI99X5JL8Vtm81rKFElQSyTIQ6NmB6pOmvAAnmKnisNZs4UwEdwQM0BvnM0nwA1Mdg79VmclLhDZ1yqilt117VCz1QdNaXxOHVlusp0QJp9E2aG4pxbjHeDXPPCnui0XVI6nBKzoj3CZIDZf6VJEjTmQOZJ14RTdY+F24ZYXEgIRLLIChhpKtDafDWtDCbQt3RKMDBg8jPgdaxcHHkzk23bGKKKKqVKhhxyZxJJgXHAkmToGga170H+q5+bc/uqyiran5FlfQ/wCu5+bc/uqdnDywBe5qftbn91e1Zh+svjUxk7W4szvTDBqmGYiZL2gSzM2gYx1iY4nzqyp+nH1X79v91QrtNBbamBa4UKsVNs3ZBW5DdI1srvKp0GXNpzVeImlDsMi2oVzm3+l3bnzoN5Xtq2a2wIC5hqp7Igmu0tdUeA+FToDgb2wbpBAuRNspJ6YkSSVVSLSwqyRppAWFUglmMdsQl26JytuTkQLcXoyVtTcSbTQ+ZWO7lOvW3mrtqKAw8QhZLrBnUFxAygTu2xMOk8QR7qz7FsqoBYsR/UYk+MACug2r9E3u+IrCqjIYUUUVBAV4a9oNAZWCjp3++B3/ADhYnzkf/qNaorKwdsnE3CeADR72yR3ncdp/3a1a5umTUX8v+TXI9/sE0UUV0mdsqsYVEEIoUTOgiSeJPae+raKKBtvdhTWG6tK01hurWeTghltRe2CIIBHYRI8jUqK5yojitkq2SDojZgpnLrMiAQR26HlWZcwzWzaU5oTO/WVdRzRj48G14+/oa8ZQeInxE1rHK0SmcpkJ6ERmLFrjZRlux1tS2h5GvBbF1V0z3LjZiYi5A5EkgaoD7x31vYnZKtEf0qygMM4g8IBO7B4R2ms3G4RlgkFlS0QqtLbw4wyDdjiJ5VvHImWTsSDF1aGD9JdAAb6aFIHW86LgE3XBhw6qitJcEREONDqf1q3Jl6G2+qqhcq5CiSOAdZJ7dTXrKQq24MBemZHhAYPBW4mRVyRy1tZ7RIu70Pl4Q+oBgKJDR46z3Vp4PaNu6N1tdd06MIMGV4iuf49GqBjLm50bHIpEEiHOswY91ULbnomXMrPcPEZSBqNLp46adlZSxJ8ENHYUVgWNr3LajPvyWVZ3WOUmCXO63ZI8a0cDtm3dgCVfXdPHSZE8Dwnw1rBwkitD1WYfrL41XVmH6y+NRHlECvpx9V+/b/dUKn6cfVfv2/3VCu40Ogs9UeA+FTqFnqjwHwqdAFV3sQqasQPHtqyszaxfMnR9bK3CJjNazFc2mbLMTpNAG0sfbNsgOCdPiKxenHb+h/imrjY0KSpknMQItypg5F1aMpMTqY5HnUR68qgLlJ5yQxA1y6lt4ExMmY4RUNCihboOgNTqePuXujtG6sv0zjio3ejvRwJA0jSSdKV6V/s/+4VRkF9eVT0r/Z/9wrB9JNoOWW1lgRmYZgZkkAHuEEx3issuRY4OTLQhrdD+Gc+suBOpeeyAF/8AiHird9a1cPhcQyBbi5gbcmDpNq42dTHNdSO7OviO4Brn6SepSXu/3NM0aaYUUUV2mAUUUUAU1hurStNYbq1nk4DLaKKK5yoUUUUAUUUUAnf2YjAgbkqVOWACCZgjnB1rK2hs5h0hIUgqijdJAHBiGJ3DPxroaIrSORolM5fGNvuNCLdsIoc5xmb2GXQEcRNGKuZGKmALKyLdw5gWYQQMunEyPfW/fwCtJ4Ex4HL1cy8G7NeVZeK2S4FwDVXdGMcMo0INsCdO48DwreORMtYi/wA2bak5cqF8t4ZkzMDAUA8xVK2oWwrLkzZmOck2iDMQqmQJJFMYi2ZvNGUMVtaCUy6EyG3l0M6dtTxBy53tpOUMvzcNIyEkL0hA1gmeIg6HQHSyR3Yj3NyScjISAdQACAuU8Y5axW7h+svjWNsATbzZSkqm6YmSoaTlJE68o0jQHQbOG6y+Ncsv17FHyK+nH1X79v8AdUKn6cfVfv2/3VCusudBZ6o8B8KnULPVHgPhU6AKz9poZBAPUuLIBJBcLBhdY04itCiKA4u6mJtr9JcaTxCOoBlQLjTbkjKCuTUcNZ4xTpgsDFONeAS5zzZmnovaIaII4jhpXVbVHzTe74isGKq2LPOmZkRWYuy3HcsQ43WW4FEuqyd4aAQAKlRRVSApbF7Ot3YzqDBB4CTEwCYmNTTNFQ0mqYuha/s+28lkUkjLMQcuu7I5akR2GKZoookkLCiiipICiiigCmcOwy8aWoqslYH1MmBqe6p9A3snypXZ/wBKnj/wa6GqrChRkdA3snyo6BvZPlWvRFT2V5GkyOgb2T5UdA3snyrWivYp2V5GkyOgb2T5UdA3snyrWivadleRpMjoG9k+VHQN7J8q14oinZXkaTDu7OzEEocwIIYCGBHCD5+dejA6Zcmh4giZJMkmeJmtuvDU9r3FGQmFIEBIA5AQPIVbYstmGh49laU17RYknYo5/wBOPqv37f7qhU/Tj6r9+3+6oVsWOgs9UeA+FTrn9p3MWtyLNy2EAEBlk+YpT1nH/a2fwGgOrorlPWcf9rZ/AaPWcf8Aa2fwGgOg2r9Efd8RWDVb3scRBuWCOw2zVeXGe1h/yqhqyBiil8uM9rD/AJVGXGe1h/yqjSKGKKXy4z2sP+VRlxntYf8AKppFDFFL5cZ7WH/Koy4z2sP+VTSKGKKXy4z2sP8AlUZcZ7WH/KppFDFFL5cZ7WH/ACqMuM9rD/lU0ihiil8uM9rD/lUZcZ7WH/KppFGhs/6VPH/g10NcgvrgMh8OD29HVnrOP+1s/gNSiTq6K5T1nH/a2fwGj1nH/a2fwGpB1dFcp6zj/tbP4DR6zj/tbP4DQHV0VynrOP8AtbP4DR6zj/tbP4DQHV0VynrOP+1s/gNHrOP+1s/gNAdXUXrlvWcf9rZ/AaPWMf8Aa2fwGgE1uDeGVCAkcFmSiwQDxaQeGok89D2y1yvrOP8AtbP4DR6xj/tbP4DUkDfpx9V+/b/dUKzsfhsZfXJcu2isg6KQdDI1rc+Tz2ioJP/Z" id="158" name="Google Shape;158;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ttp://www.ulysse.u-bordeaux.fr/atelier/ikramer/biocell_diffusion/gbb.cel.fa.104.b3/content/images/fig24.jpg" id="159" name="Google Shape;159;p12"/>
          <p:cNvPicPr preferRelativeResize="0"/>
          <p:nvPr/>
        </p:nvPicPr>
        <p:blipFill rotWithShape="1">
          <a:blip r:embed="rId3">
            <a:alphaModFix/>
          </a:blip>
          <a:srcRect b="0" l="0" r="0" t="0"/>
          <a:stretch/>
        </p:blipFill>
        <p:spPr>
          <a:xfrm>
            <a:off x="251520" y="3645024"/>
            <a:ext cx="5014340" cy="3071834"/>
          </a:xfrm>
          <a:prstGeom prst="rect">
            <a:avLst/>
          </a:prstGeom>
          <a:noFill/>
          <a:ln>
            <a:noFill/>
          </a:ln>
        </p:spPr>
      </p:pic>
      <p:sp>
        <p:nvSpPr>
          <p:cNvPr id="160" name="Google Shape;160;p12"/>
          <p:cNvSpPr/>
          <p:nvPr/>
        </p:nvSpPr>
        <p:spPr>
          <a:xfrm>
            <a:off x="2643174" y="181253"/>
            <a:ext cx="421484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2400">
                <a:solidFill>
                  <a:schemeClr val="dk1"/>
                </a:solidFill>
                <a:latin typeface="Arial"/>
                <a:ea typeface="Arial"/>
                <a:cs typeface="Arial"/>
                <a:sym typeface="Arial"/>
              </a:rPr>
              <a:t>Les protéines motrices</a:t>
            </a:r>
            <a:endParaRPr b="1" sz="2400">
              <a:solidFill>
                <a:schemeClr val="dk1"/>
              </a:solidFill>
              <a:latin typeface="Arial"/>
              <a:ea typeface="Arial"/>
              <a:cs typeface="Arial"/>
              <a:sym typeface="Arial"/>
            </a:endParaRPr>
          </a:p>
        </p:txBody>
      </p:sp>
      <p:sp>
        <p:nvSpPr>
          <p:cNvPr id="161" name="Google Shape;161;p12"/>
          <p:cNvSpPr/>
          <p:nvPr/>
        </p:nvSpPr>
        <p:spPr>
          <a:xfrm>
            <a:off x="142844" y="642918"/>
            <a:ext cx="8715436" cy="120032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fr-FR" sz="1800" u="none" cap="none" strike="noStrike">
                <a:solidFill>
                  <a:schemeClr val="dk1"/>
                </a:solidFill>
                <a:latin typeface="Arial"/>
                <a:ea typeface="Arial"/>
                <a:cs typeface="Arial"/>
                <a:sym typeface="Arial"/>
              </a:rPr>
              <a:t>Des protéines motrices spéciales, déplacent des organites dans la cellule le long de microtubules. Des protéines, les </a:t>
            </a:r>
            <a:r>
              <a:rPr b="0" i="1" lang="fr-FR" sz="1800" u="none" cap="none" strike="noStrike">
                <a:solidFill>
                  <a:schemeClr val="dk1"/>
                </a:solidFill>
                <a:latin typeface="Arial"/>
                <a:ea typeface="Arial"/>
                <a:cs typeface="Arial"/>
                <a:sym typeface="Arial"/>
              </a:rPr>
              <a:t>kinésines</a:t>
            </a:r>
            <a:r>
              <a:rPr b="0" i="0" lang="fr-FR" sz="1800" u="none" cap="none" strike="noStrike">
                <a:solidFill>
                  <a:schemeClr val="dk1"/>
                </a:solidFill>
                <a:latin typeface="Arial"/>
                <a:ea typeface="Arial"/>
                <a:cs typeface="Arial"/>
                <a:sym typeface="Arial"/>
              </a:rPr>
              <a:t>, transportent les organites vers les extrémités « + » (vers la périphérie) tandis que les </a:t>
            </a:r>
            <a:r>
              <a:rPr b="0" i="1" lang="fr-FR" sz="1800" u="none" cap="none" strike="noStrike">
                <a:solidFill>
                  <a:schemeClr val="dk1"/>
                </a:solidFill>
                <a:latin typeface="Arial"/>
                <a:ea typeface="Arial"/>
                <a:cs typeface="Arial"/>
                <a:sym typeface="Arial"/>
              </a:rPr>
              <a:t>dynéines</a:t>
            </a:r>
            <a:r>
              <a:rPr b="0" i="0" lang="fr-FR" sz="1800" u="none" cap="none" strike="noStrike">
                <a:solidFill>
                  <a:schemeClr val="dk1"/>
                </a:solidFill>
                <a:latin typeface="Arial"/>
                <a:ea typeface="Arial"/>
                <a:cs typeface="Arial"/>
                <a:sym typeface="Arial"/>
              </a:rPr>
              <a:t> les transportent vers les extrémités « – ».</a:t>
            </a:r>
            <a:endParaRPr b="0" i="0" sz="1800" u="none" cap="none" strike="noStrike">
              <a:solidFill>
                <a:schemeClr val="dk1"/>
              </a:solidFill>
              <a:latin typeface="Arial"/>
              <a:ea typeface="Arial"/>
              <a:cs typeface="Arial"/>
              <a:sym typeface="Arial"/>
            </a:endParaRPr>
          </a:p>
        </p:txBody>
      </p:sp>
      <p:sp>
        <p:nvSpPr>
          <p:cNvPr id="162" name="Google Shape;162;p12"/>
          <p:cNvSpPr/>
          <p:nvPr/>
        </p:nvSpPr>
        <p:spPr>
          <a:xfrm>
            <a:off x="142844" y="1746112"/>
            <a:ext cx="8786874"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fr-FR" sz="1800">
                <a:solidFill>
                  <a:schemeClr val="dk1"/>
                </a:solidFill>
                <a:latin typeface="Arial"/>
                <a:ea typeface="Arial"/>
                <a:cs typeface="Arial"/>
                <a:sym typeface="Arial"/>
              </a:rPr>
              <a:t>Dans un axone de cellule nerveuse: le transport y est trop lent et il se fait le long de microtubules.</a:t>
            </a:r>
            <a:endParaRPr sz="1800">
              <a:solidFill>
                <a:schemeClr val="dk1"/>
              </a:solidFill>
              <a:latin typeface="Arial"/>
              <a:ea typeface="Arial"/>
              <a:cs typeface="Arial"/>
              <a:sym typeface="Arial"/>
            </a:endParaRPr>
          </a:p>
          <a:p>
            <a:pPr indent="0" lvl="0" marL="0" marR="0" rtl="0" algn="just">
              <a:spcBef>
                <a:spcPts val="0"/>
              </a:spcBef>
              <a:spcAft>
                <a:spcPts val="0"/>
              </a:spcAft>
              <a:buNone/>
            </a:pPr>
            <a:r>
              <a:rPr lang="fr-FR" sz="1800">
                <a:solidFill>
                  <a:schemeClr val="dk1"/>
                </a:solidFill>
                <a:latin typeface="Arial"/>
                <a:ea typeface="Arial"/>
                <a:cs typeface="Arial"/>
                <a:sym typeface="Arial"/>
              </a:rPr>
              <a:t>Quatre composants sont requis à ce effet : (1) une vésicule à transporter, (2) une molécule motrice qui assure l’apport en énergie nécessaire au déplacement, (3) une molécule « dynactine et kinéctine » connectant la vésicule à la molécule motrice et (4) des microtubules sur lesquels la vésicule glisse comme un train sur ses rails.</a:t>
            </a:r>
            <a:endParaRPr sz="1800">
              <a:solidFill>
                <a:schemeClr val="dk1"/>
              </a:solidFill>
              <a:latin typeface="Arial"/>
              <a:ea typeface="Arial"/>
              <a:cs typeface="Arial"/>
              <a:sym typeface="Arial"/>
            </a:endParaRPr>
          </a:p>
        </p:txBody>
      </p:sp>
      <p:pic>
        <p:nvPicPr>
          <p:cNvPr descr="http://images.lpcdn.ca/641x427/201209/11/586796-fondation-recompense-pour-leurs-travaux.jpg" id="163" name="Google Shape;163;p12"/>
          <p:cNvPicPr preferRelativeResize="0"/>
          <p:nvPr/>
        </p:nvPicPr>
        <p:blipFill rotWithShape="1">
          <a:blip r:embed="rId4">
            <a:alphaModFix/>
          </a:blip>
          <a:srcRect b="0" l="0" r="0" t="0"/>
          <a:stretch/>
        </p:blipFill>
        <p:spPr>
          <a:xfrm>
            <a:off x="5412856" y="3502152"/>
            <a:ext cx="3501032" cy="32861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13"/>
          <p:cNvPicPr preferRelativeResize="0"/>
          <p:nvPr/>
        </p:nvPicPr>
        <p:blipFill rotWithShape="1">
          <a:blip r:embed="rId3">
            <a:alphaModFix/>
          </a:blip>
          <a:srcRect b="0" l="0" r="0" t="16714"/>
          <a:stretch/>
        </p:blipFill>
        <p:spPr>
          <a:xfrm>
            <a:off x="179512" y="404664"/>
            <a:ext cx="8496944" cy="54726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4"/>
          <p:cNvPicPr preferRelativeResize="0"/>
          <p:nvPr/>
        </p:nvPicPr>
        <p:blipFill rotWithShape="1">
          <a:blip r:embed="rId3">
            <a:alphaModFix/>
          </a:blip>
          <a:srcRect b="0" l="0" r="0" t="0"/>
          <a:stretch/>
        </p:blipFill>
        <p:spPr>
          <a:xfrm>
            <a:off x="179512" y="134634"/>
            <a:ext cx="8712968" cy="66067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5"/>
          <p:cNvSpPr/>
          <p:nvPr/>
        </p:nvSpPr>
        <p:spPr>
          <a:xfrm>
            <a:off x="1785918" y="142852"/>
            <a:ext cx="583204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3200">
                <a:solidFill>
                  <a:schemeClr val="dk1"/>
                </a:solidFill>
                <a:latin typeface="Arial"/>
                <a:ea typeface="Arial"/>
                <a:cs typeface="Arial"/>
                <a:sym typeface="Arial"/>
              </a:rPr>
              <a:t>Les Filaments intermédiaires</a:t>
            </a:r>
            <a:endParaRPr sz="3200">
              <a:solidFill>
                <a:schemeClr val="dk1"/>
              </a:solidFill>
              <a:latin typeface="Arial"/>
              <a:ea typeface="Arial"/>
              <a:cs typeface="Arial"/>
              <a:sym typeface="Arial"/>
            </a:endParaRPr>
          </a:p>
        </p:txBody>
      </p:sp>
      <p:sp>
        <p:nvSpPr>
          <p:cNvPr id="179" name="Google Shape;179;p15"/>
          <p:cNvSpPr/>
          <p:nvPr/>
        </p:nvSpPr>
        <p:spPr>
          <a:xfrm>
            <a:off x="357158" y="4183757"/>
            <a:ext cx="8572528" cy="20313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fr-FR" sz="1800" u="none" cap="none" strike="noStrike">
                <a:solidFill>
                  <a:schemeClr val="dk1"/>
                </a:solidFill>
                <a:latin typeface="Arial"/>
                <a:ea typeface="Arial"/>
                <a:cs typeface="Arial"/>
                <a:sym typeface="Arial"/>
              </a:rPr>
              <a:t>Les composants les plus stables du cytosquelette des cellules animales sont constitués de protéines fibreuses résistantes, entrelacées selon un système d’imbrication particulier. Les structures qu’elles constituent ont un diamètre de 8 à 10 nanomètres, situé entre celui des microfilaments et celui des microtubules, d’où leur dénomination de filaments intermédiaires. </a:t>
            </a:r>
            <a:endParaRPr/>
          </a:p>
          <a:p>
            <a:pPr indent="0" lvl="0" marL="0" marR="0" rtl="0" algn="just">
              <a:lnSpc>
                <a:spcPct val="100000"/>
              </a:lnSpc>
              <a:spcBef>
                <a:spcPts val="0"/>
              </a:spcBef>
              <a:spcAft>
                <a:spcPts val="0"/>
              </a:spcAft>
              <a:buClr>
                <a:schemeClr val="dk1"/>
              </a:buClr>
              <a:buSzPts val="1800"/>
              <a:buFont typeface="Calibri"/>
              <a:buNone/>
            </a:pPr>
            <a:r>
              <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pic>
        <p:nvPicPr>
          <p:cNvPr id="180" name="Google Shape;180;p15"/>
          <p:cNvPicPr preferRelativeResize="0"/>
          <p:nvPr/>
        </p:nvPicPr>
        <p:blipFill rotWithShape="1">
          <a:blip r:embed="rId3">
            <a:alphaModFix/>
          </a:blip>
          <a:srcRect b="49890" l="10213" r="17497" t="21745"/>
          <a:stretch/>
        </p:blipFill>
        <p:spPr>
          <a:xfrm>
            <a:off x="428596" y="1577966"/>
            <a:ext cx="8429684" cy="1571636"/>
          </a:xfrm>
          <a:prstGeom prst="rect">
            <a:avLst/>
          </a:prstGeom>
          <a:noFill/>
          <a:ln>
            <a:noFill/>
          </a:ln>
        </p:spPr>
      </p:pic>
      <p:pic>
        <p:nvPicPr>
          <p:cNvPr id="181" name="Google Shape;181;p15"/>
          <p:cNvPicPr preferRelativeResize="0"/>
          <p:nvPr/>
        </p:nvPicPr>
        <p:blipFill rotWithShape="1">
          <a:blip r:embed="rId4">
            <a:alphaModFix/>
          </a:blip>
          <a:srcRect b="0" l="31452" r="0" t="88369"/>
          <a:stretch/>
        </p:blipFill>
        <p:spPr>
          <a:xfrm>
            <a:off x="500034" y="3149602"/>
            <a:ext cx="8215370" cy="7080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p:nvPr/>
        </p:nvSpPr>
        <p:spPr>
          <a:xfrm>
            <a:off x="285720" y="428604"/>
            <a:ext cx="8501122"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800">
              <a:solidFill>
                <a:schemeClr val="dk1"/>
              </a:solidFill>
              <a:latin typeface="Arial"/>
              <a:ea typeface="Arial"/>
              <a:cs typeface="Arial"/>
              <a:sym typeface="Arial"/>
            </a:endParaRPr>
          </a:p>
          <a:p>
            <a:pPr indent="0" lvl="0" marL="0" marR="0" rtl="0" algn="just">
              <a:spcBef>
                <a:spcPts val="0"/>
              </a:spcBef>
              <a:spcAft>
                <a:spcPts val="0"/>
              </a:spcAft>
              <a:buNone/>
            </a:pPr>
            <a:r>
              <a:rPr lang="fr-FR" sz="1800">
                <a:solidFill>
                  <a:schemeClr val="dk1"/>
                </a:solidFill>
                <a:latin typeface="Arial"/>
                <a:ea typeface="Arial"/>
                <a:cs typeface="Arial"/>
                <a:sym typeface="Arial"/>
              </a:rPr>
              <a:t>Le type le plus commun, composé de sous-unités protéiques appelées </a:t>
            </a:r>
            <a:r>
              <a:rPr i="1" lang="fr-FR" sz="1800">
                <a:solidFill>
                  <a:schemeClr val="dk1"/>
                </a:solidFill>
                <a:latin typeface="Arial"/>
                <a:ea typeface="Arial"/>
                <a:cs typeface="Arial"/>
                <a:sym typeface="Arial"/>
              </a:rPr>
              <a:t>vimentine</a:t>
            </a:r>
            <a:r>
              <a:rPr lang="fr-FR" sz="1800">
                <a:solidFill>
                  <a:schemeClr val="dk1"/>
                </a:solidFill>
                <a:latin typeface="Arial"/>
                <a:ea typeface="Arial"/>
                <a:cs typeface="Arial"/>
                <a:sym typeface="Arial"/>
              </a:rPr>
              <a:t>, procure la stabilité structurale à de nombreuses cellules. La </a:t>
            </a:r>
            <a:r>
              <a:rPr i="1" lang="fr-FR" sz="1800">
                <a:solidFill>
                  <a:schemeClr val="dk1"/>
                </a:solidFill>
                <a:latin typeface="Arial"/>
                <a:ea typeface="Arial"/>
                <a:cs typeface="Arial"/>
                <a:sym typeface="Arial"/>
              </a:rPr>
              <a:t>kératine</a:t>
            </a:r>
            <a:r>
              <a:rPr lang="fr-FR" sz="1800">
                <a:solidFill>
                  <a:schemeClr val="dk1"/>
                </a:solidFill>
                <a:latin typeface="Arial"/>
                <a:ea typeface="Arial"/>
                <a:cs typeface="Arial"/>
                <a:sym typeface="Arial"/>
              </a:rPr>
              <a:t>, une autre classe de filaments intermédiaires, se trouve dans les cellules épithéliales (cellules bordant les organes et les cavités de l’organisme) ainsi que dans des structures qui y sont associées, tels les cheveux et les ongles. Les filaments intermédiaires des cellules nerveuses sont appelés </a:t>
            </a:r>
            <a:r>
              <a:rPr i="1" lang="fr-FR" sz="1800">
                <a:solidFill>
                  <a:schemeClr val="dk1"/>
                </a:solidFill>
                <a:latin typeface="Arial"/>
                <a:ea typeface="Arial"/>
                <a:cs typeface="Arial"/>
                <a:sym typeface="Arial"/>
              </a:rPr>
              <a:t>neurofilaments</a:t>
            </a:r>
            <a:r>
              <a:rPr lang="fr-FR"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pic>
        <p:nvPicPr>
          <p:cNvPr id="187" name="Google Shape;187;p16"/>
          <p:cNvPicPr preferRelativeResize="0"/>
          <p:nvPr/>
        </p:nvPicPr>
        <p:blipFill rotWithShape="1">
          <a:blip r:embed="rId3">
            <a:alphaModFix/>
          </a:blip>
          <a:srcRect b="8785" l="2655" r="0" t="0"/>
          <a:stretch/>
        </p:blipFill>
        <p:spPr>
          <a:xfrm>
            <a:off x="4643438" y="2571744"/>
            <a:ext cx="4214842" cy="3098169"/>
          </a:xfrm>
          <a:prstGeom prst="rect">
            <a:avLst/>
          </a:prstGeom>
          <a:noFill/>
          <a:ln>
            <a:noFill/>
          </a:ln>
        </p:spPr>
      </p:pic>
      <p:sp>
        <p:nvSpPr>
          <p:cNvPr id="188" name="Google Shape;188;p16"/>
          <p:cNvSpPr/>
          <p:nvPr/>
        </p:nvSpPr>
        <p:spPr>
          <a:xfrm>
            <a:off x="4786314" y="5857892"/>
            <a:ext cx="3929090" cy="624145"/>
          </a:xfrm>
          <a:prstGeom prst="rect">
            <a:avLst/>
          </a:prstGeom>
          <a:noFill/>
          <a:ln>
            <a:noFill/>
          </a:ln>
        </p:spPr>
        <p:txBody>
          <a:bodyPr anchorCtr="0" anchor="t" bIns="45700" lIns="91425" spcFirstLastPara="1" rIns="91425" wrap="square" tIns="45700">
            <a:spAutoFit/>
          </a:bodyPr>
          <a:lstStyle/>
          <a:p>
            <a:pPr indent="0" lvl="0" marL="45720" marR="0" rtl="0" algn="ctr">
              <a:lnSpc>
                <a:spcPct val="95999"/>
              </a:lnSpc>
              <a:spcBef>
                <a:spcPts val="0"/>
              </a:spcBef>
              <a:spcAft>
                <a:spcPts val="0"/>
              </a:spcAft>
              <a:buNone/>
            </a:pPr>
            <a:r>
              <a:rPr b="1" lang="fr-FR" sz="1800">
                <a:solidFill>
                  <a:srgbClr val="040608"/>
                </a:solidFill>
                <a:latin typeface="Times New Roman"/>
                <a:ea typeface="Times New Roman"/>
                <a:cs typeface="Times New Roman"/>
                <a:sym typeface="Times New Roman"/>
              </a:rPr>
              <a:t>Marquage immunofluorescent de la</a:t>
            </a:r>
            <a:endParaRPr/>
          </a:p>
          <a:p>
            <a:pPr indent="0" lvl="0" marL="45720" marR="0" rtl="0" algn="ctr">
              <a:lnSpc>
                <a:spcPct val="95999"/>
              </a:lnSpc>
              <a:spcBef>
                <a:spcPts val="0"/>
              </a:spcBef>
              <a:spcAft>
                <a:spcPts val="0"/>
              </a:spcAft>
              <a:buNone/>
            </a:pPr>
            <a:r>
              <a:rPr b="1" lang="fr-FR" sz="1800">
                <a:solidFill>
                  <a:srgbClr val="040608"/>
                </a:solidFill>
                <a:latin typeface="Times New Roman"/>
                <a:ea typeface="Times New Roman"/>
                <a:cs typeface="Times New Roman"/>
                <a:sym typeface="Times New Roman"/>
              </a:rPr>
              <a:t>kératine dans des cellules épithéliales</a:t>
            </a:r>
            <a:endParaRPr b="1" sz="1800">
              <a:solidFill>
                <a:srgbClr val="040608"/>
              </a:solidFill>
              <a:latin typeface="Times New Roman"/>
              <a:ea typeface="Times New Roman"/>
              <a:cs typeface="Times New Roman"/>
              <a:sym typeface="Times New Roman"/>
            </a:endParaRPr>
          </a:p>
        </p:txBody>
      </p:sp>
      <p:pic>
        <p:nvPicPr>
          <p:cNvPr id="189" name="Google Shape;189;p16"/>
          <p:cNvPicPr preferRelativeResize="0"/>
          <p:nvPr/>
        </p:nvPicPr>
        <p:blipFill rotWithShape="1">
          <a:blip r:embed="rId4">
            <a:alphaModFix/>
          </a:blip>
          <a:srcRect b="78415" l="45980" r="34450" t="0"/>
          <a:stretch/>
        </p:blipFill>
        <p:spPr>
          <a:xfrm>
            <a:off x="500034" y="2571744"/>
            <a:ext cx="3643338" cy="3143272"/>
          </a:xfrm>
          <a:prstGeom prst="rect">
            <a:avLst/>
          </a:prstGeom>
          <a:noFill/>
          <a:ln>
            <a:noFill/>
          </a:ln>
        </p:spPr>
      </p:pic>
      <p:sp>
        <p:nvSpPr>
          <p:cNvPr id="190" name="Google Shape;190;p16"/>
          <p:cNvSpPr/>
          <p:nvPr/>
        </p:nvSpPr>
        <p:spPr>
          <a:xfrm>
            <a:off x="71406" y="5857892"/>
            <a:ext cx="4572000" cy="624145"/>
          </a:xfrm>
          <a:prstGeom prst="rect">
            <a:avLst/>
          </a:prstGeom>
          <a:noFill/>
          <a:ln>
            <a:noFill/>
          </a:ln>
        </p:spPr>
        <p:txBody>
          <a:bodyPr anchorCtr="0" anchor="t" bIns="45700" lIns="91425" spcFirstLastPara="1" rIns="91425" wrap="square" tIns="45700">
            <a:spAutoFit/>
          </a:bodyPr>
          <a:lstStyle/>
          <a:p>
            <a:pPr indent="0" lvl="0" marL="45720" marR="0" rtl="0" algn="ctr">
              <a:lnSpc>
                <a:spcPct val="95999"/>
              </a:lnSpc>
              <a:spcBef>
                <a:spcPts val="0"/>
              </a:spcBef>
              <a:spcAft>
                <a:spcPts val="0"/>
              </a:spcAft>
              <a:buNone/>
            </a:pPr>
            <a:r>
              <a:rPr b="1" lang="fr-FR" sz="1800">
                <a:solidFill>
                  <a:srgbClr val="040608"/>
                </a:solidFill>
                <a:latin typeface="Times New Roman"/>
                <a:ea typeface="Times New Roman"/>
                <a:cs typeface="Times New Roman"/>
                <a:sym typeface="Times New Roman"/>
              </a:rPr>
              <a:t>Marquage immunofluorescent de la</a:t>
            </a:r>
            <a:endParaRPr/>
          </a:p>
          <a:p>
            <a:pPr indent="0" lvl="0" marL="45720" marR="0" rtl="0" algn="ctr">
              <a:lnSpc>
                <a:spcPct val="95999"/>
              </a:lnSpc>
              <a:spcBef>
                <a:spcPts val="0"/>
              </a:spcBef>
              <a:spcAft>
                <a:spcPts val="0"/>
              </a:spcAft>
              <a:buNone/>
            </a:pPr>
            <a:r>
              <a:rPr b="1" lang="fr-FR" sz="1800">
                <a:solidFill>
                  <a:srgbClr val="040608"/>
                </a:solidFill>
                <a:latin typeface="Times New Roman"/>
                <a:ea typeface="Times New Roman"/>
                <a:cs typeface="Times New Roman"/>
                <a:sym typeface="Times New Roman"/>
              </a:rPr>
              <a:t>vimentine</a:t>
            </a:r>
            <a:endParaRPr b="1" sz="1800">
              <a:solidFill>
                <a:srgbClr val="040608"/>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p:nvPr/>
        </p:nvSpPr>
        <p:spPr>
          <a:xfrm>
            <a:off x="928630" y="285728"/>
            <a:ext cx="7572460" cy="46166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al"/>
              <a:buNone/>
            </a:pPr>
            <a:r>
              <a:rPr b="1" i="0" lang="fr-FR" sz="2400" u="none" cap="none" strike="noStrike">
                <a:solidFill>
                  <a:schemeClr val="dk1"/>
                </a:solidFill>
                <a:latin typeface="Arial"/>
                <a:ea typeface="Arial"/>
                <a:cs typeface="Arial"/>
                <a:sym typeface="Arial"/>
              </a:rPr>
              <a:t>Le déplacement de matériel au sein de la cellule</a:t>
            </a:r>
            <a:endParaRPr b="0" i="0" sz="2400" u="none" cap="none" strike="noStrike">
              <a:solidFill>
                <a:schemeClr val="dk1"/>
              </a:solidFill>
              <a:latin typeface="Arial"/>
              <a:ea typeface="Arial"/>
              <a:cs typeface="Arial"/>
              <a:sym typeface="Arial"/>
            </a:endParaRPr>
          </a:p>
        </p:txBody>
      </p:sp>
      <p:pic>
        <p:nvPicPr>
          <p:cNvPr id="196" name="Google Shape;196;p17"/>
          <p:cNvPicPr preferRelativeResize="0"/>
          <p:nvPr/>
        </p:nvPicPr>
        <p:blipFill rotWithShape="1">
          <a:blip r:embed="rId3">
            <a:alphaModFix/>
          </a:blip>
          <a:srcRect b="0" l="0" r="0" t="0"/>
          <a:stretch/>
        </p:blipFill>
        <p:spPr>
          <a:xfrm>
            <a:off x="285720" y="1214422"/>
            <a:ext cx="8858280" cy="2643206"/>
          </a:xfrm>
          <a:prstGeom prst="rect">
            <a:avLst/>
          </a:prstGeom>
          <a:noFill/>
          <a:ln>
            <a:noFill/>
          </a:ln>
        </p:spPr>
      </p:pic>
      <p:sp>
        <p:nvSpPr>
          <p:cNvPr id="197" name="Google Shape;197;p17"/>
          <p:cNvSpPr/>
          <p:nvPr/>
        </p:nvSpPr>
        <p:spPr>
          <a:xfrm>
            <a:off x="571472" y="3966807"/>
            <a:ext cx="8001056" cy="253402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fr-FR" sz="1800">
                <a:solidFill>
                  <a:schemeClr val="dk1"/>
                </a:solidFill>
                <a:latin typeface="Arial"/>
                <a:ea typeface="Arial"/>
                <a:cs typeface="Arial"/>
                <a:sym typeface="Arial"/>
              </a:rPr>
              <a:t>Au cours de la reproduction des cellules par exemple, c’est le raccourcissement, par dépolymérisation des microtubules fixés à chacun des chromosomes, qui assure la migration de ceux-ci vers les pôles de la cellule en voie de division. Dans les cellules animales, cette migration est suivie d’un étranglement de la cellule au niveau de son équateur par resserrement d’une ceinture de microfilaments.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2014-03-17T15:15:08Z</dcterms:created>
  <dc:creator>user</dc:creator>
</cp:coreProperties>
</file>