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61" r:id="rId5"/>
    <p:sldId id="262" r:id="rId6"/>
    <p:sldId id="263" r:id="rId7"/>
    <p:sldId id="264" r:id="rId8"/>
    <p:sldId id="265" r:id="rId9"/>
    <p:sldId id="266" r:id="rId10"/>
    <p:sldId id="267" r:id="rId11"/>
    <p:sldId id="268" r:id="rId12"/>
    <p:sldId id="269" r:id="rId13"/>
    <p:sldId id="270"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varScale="1">
        <p:scale>
          <a:sx n="74" d="100"/>
          <a:sy n="74" d="100"/>
        </p:scale>
        <p:origin x="4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057AA237-AB23-4DCA-BD8F-AA98304C771A}" type="datetimeFigureOut">
              <a:rPr lang="fr-FR" smtClean="0"/>
              <a:t>17/04/2024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1513558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57AA237-AB23-4DCA-BD8F-AA98304C771A}" type="datetimeFigureOut">
              <a:rPr lang="fr-FR" smtClean="0"/>
              <a:t>17/04/2024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1585401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057AA237-AB23-4DCA-BD8F-AA98304C771A}" type="datetimeFigureOut">
              <a:rPr lang="fr-FR" smtClean="0"/>
              <a:t>17/04/2024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1633331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057AA237-AB23-4DCA-BD8F-AA98304C771A}" type="datetimeFigureOut">
              <a:rPr lang="fr-FR" smtClean="0"/>
              <a:t>17/04/2024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1112975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057AA237-AB23-4DCA-BD8F-AA98304C771A}" type="datetimeFigureOut">
              <a:rPr lang="fr-FR" smtClean="0"/>
              <a:t>17/04/2024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302021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057AA237-AB23-4DCA-BD8F-AA98304C771A}" type="datetimeFigureOut">
              <a:rPr lang="fr-FR" smtClean="0"/>
              <a:t>17/04/2024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492352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57AA237-AB23-4DCA-BD8F-AA98304C771A}" type="datetimeFigureOut">
              <a:rPr lang="fr-FR" smtClean="0"/>
              <a:t>17/04/2024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910029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057AA237-AB23-4DCA-BD8F-AA98304C771A}" type="datetimeFigureOut">
              <a:rPr lang="fr-FR" smtClean="0"/>
              <a:t>17/04/2024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1624536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057AA237-AB23-4DCA-BD8F-AA98304C771A}" type="datetimeFigureOut">
              <a:rPr lang="fr-FR" smtClean="0"/>
              <a:t>17/04/2024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2140051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57AA237-AB23-4DCA-BD8F-AA98304C771A}" type="datetimeFigureOut">
              <a:rPr lang="fr-FR" smtClean="0"/>
              <a:t>17/04/2024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2242687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57AA237-AB23-4DCA-BD8F-AA98304C771A}" type="datetimeFigureOut">
              <a:rPr lang="fr-FR" smtClean="0"/>
              <a:t>17/04/2024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121099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7AA237-AB23-4DCA-BD8F-AA98304C771A}" type="datetimeFigureOut">
              <a:rPr lang="fr-FR" smtClean="0"/>
              <a:t>17/04/2024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8F5D0E-50E0-4852-B8AF-005A0C270EA4}" type="slidenum">
              <a:rPr lang="fr-FR" smtClean="0"/>
              <a:t>‹N°›</a:t>
            </a:fld>
            <a:endParaRPr lang="fr-FR"/>
          </a:p>
        </p:txBody>
      </p:sp>
    </p:spTree>
    <p:extLst>
      <p:ext uri="{BB962C8B-B14F-4D97-AF65-F5344CB8AC3E}">
        <p14:creationId xmlns:p14="http://schemas.microsoft.com/office/powerpoint/2010/main" val="3195555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WAV"/><Relationship Id="rId1" Type="http://schemas.microsoft.com/office/2007/relationships/media" Target="../media/media1.WAV"/><Relationship Id="rId5" Type="http://schemas.openxmlformats.org/officeDocument/2006/relationships/image" Target="../media/image12.png"/><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711624" y="404664"/>
            <a:ext cx="6192688" cy="523220"/>
          </a:xfrm>
          <a:prstGeom prst="rect">
            <a:avLst/>
          </a:prstGeom>
          <a:solidFill>
            <a:srgbClr val="00B0F0"/>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Low" fontAlgn="base">
              <a:spcBef>
                <a:spcPct val="0"/>
              </a:spcBef>
              <a:spcAft>
                <a:spcPct val="0"/>
              </a:spcAft>
            </a:pPr>
            <a:r>
              <a:rPr lang="fr-FR" sz="2800" b="1" dirty="0">
                <a:latin typeface="Times New Roman" pitchFamily="18" charset="0"/>
                <a:ea typeface="Calibri" pitchFamily="34" charset="0"/>
                <a:cs typeface="Times New Roman" pitchFamily="18" charset="0"/>
              </a:rPr>
              <a:t>Noyau: Structure et Fonction</a:t>
            </a:r>
            <a:endParaRPr lang="fr-FR" sz="2800" dirty="0">
              <a:latin typeface="Arial" pitchFamily="34" charset="0"/>
              <a:cs typeface="Arial" pitchFamily="34" charset="0"/>
            </a:endParaRPr>
          </a:p>
        </p:txBody>
      </p:sp>
      <p:pic>
        <p:nvPicPr>
          <p:cNvPr id="30724" name="Picture 4" descr="Image associée"/>
          <p:cNvPicPr>
            <a:picLocks noChangeAspect="1" noChangeArrowheads="1"/>
          </p:cNvPicPr>
          <p:nvPr/>
        </p:nvPicPr>
        <p:blipFill>
          <a:blip r:embed="rId2" cstate="print"/>
          <a:srcRect/>
          <a:stretch>
            <a:fillRect/>
          </a:stretch>
        </p:blipFill>
        <p:spPr bwMode="auto">
          <a:xfrm>
            <a:off x="1991544" y="1052736"/>
            <a:ext cx="8352928" cy="5472608"/>
          </a:xfrm>
          <a:prstGeom prst="rect">
            <a:avLst/>
          </a:prstGeom>
          <a:noFill/>
        </p:spPr>
      </p:pic>
    </p:spTree>
    <p:extLst>
      <p:ext uri="{BB962C8B-B14F-4D97-AF65-F5344CB8AC3E}">
        <p14:creationId xmlns:p14="http://schemas.microsoft.com/office/powerpoint/2010/main" val="35103920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Résultat de recherche d'images pour &quot;nombre de noyau cellulaire hepatocyte&quot;"/>
          <p:cNvPicPr>
            <a:picLocks noChangeAspect="1" noChangeArrowheads="1"/>
          </p:cNvPicPr>
          <p:nvPr/>
        </p:nvPicPr>
        <p:blipFill>
          <a:blip r:embed="rId2" cstate="print"/>
          <a:srcRect/>
          <a:stretch>
            <a:fillRect/>
          </a:stretch>
        </p:blipFill>
        <p:spPr bwMode="auto">
          <a:xfrm>
            <a:off x="1524000" y="1"/>
            <a:ext cx="9144000" cy="6858001"/>
          </a:xfrm>
          <a:prstGeom prst="rect">
            <a:avLst/>
          </a:prstGeom>
          <a:noFill/>
        </p:spPr>
      </p:pic>
      <p:sp>
        <p:nvSpPr>
          <p:cNvPr id="5" name="ZoneTexte 4"/>
          <p:cNvSpPr txBox="1"/>
          <p:nvPr/>
        </p:nvSpPr>
        <p:spPr>
          <a:xfrm>
            <a:off x="2135560" y="908720"/>
            <a:ext cx="5112568" cy="523220"/>
          </a:xfrm>
          <a:prstGeom prst="rect">
            <a:avLst/>
          </a:prstGeom>
          <a:solidFill>
            <a:srgbClr val="00B0F0"/>
          </a:solidFill>
        </p:spPr>
        <p:txBody>
          <a:bodyPr wrap="square" rtlCol="0">
            <a:spAutoFit/>
          </a:bodyPr>
          <a:lstStyle/>
          <a:p>
            <a:r>
              <a:rPr lang="fr-FR" sz="2800" b="1" dirty="0"/>
              <a:t>Variation de nombre de noyaux</a:t>
            </a:r>
          </a:p>
        </p:txBody>
      </p:sp>
    </p:spTree>
    <p:extLst>
      <p:ext uri="{BB962C8B-B14F-4D97-AF65-F5344CB8AC3E}">
        <p14:creationId xmlns:p14="http://schemas.microsoft.com/office/powerpoint/2010/main" val="22947410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Image associée"/>
          <p:cNvPicPr>
            <a:picLocks noChangeAspect="1" noChangeArrowheads="1"/>
          </p:cNvPicPr>
          <p:nvPr/>
        </p:nvPicPr>
        <p:blipFill rotWithShape="1">
          <a:blip r:embed="rId2" cstate="print"/>
          <a:srcRect t="5834"/>
          <a:stretch/>
        </p:blipFill>
        <p:spPr bwMode="auto">
          <a:xfrm>
            <a:off x="1524000" y="1313645"/>
            <a:ext cx="9144000" cy="5372957"/>
          </a:xfrm>
          <a:prstGeom prst="rect">
            <a:avLst/>
          </a:prstGeom>
          <a:noFill/>
        </p:spPr>
      </p:pic>
      <p:sp>
        <p:nvSpPr>
          <p:cNvPr id="3" name="Rectangle 1"/>
          <p:cNvSpPr>
            <a:spLocks noChangeArrowheads="1"/>
          </p:cNvSpPr>
          <p:nvPr/>
        </p:nvSpPr>
        <p:spPr bwMode="auto">
          <a:xfrm>
            <a:off x="2711624" y="373888"/>
            <a:ext cx="6192688" cy="584775"/>
          </a:xfrm>
          <a:prstGeom prst="rect">
            <a:avLst/>
          </a:prstGeom>
          <a:solidFill>
            <a:srgbClr val="00B0F0"/>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Low" fontAlgn="base">
              <a:spcBef>
                <a:spcPct val="0"/>
              </a:spcBef>
              <a:spcAft>
                <a:spcPct val="0"/>
              </a:spcAft>
            </a:pPr>
            <a:r>
              <a:rPr lang="fr-FR" sz="3200" b="1" dirty="0">
                <a:latin typeface="Times New Roman" pitchFamily="18" charset="0"/>
                <a:ea typeface="Calibri" pitchFamily="34" charset="0"/>
                <a:cs typeface="Times New Roman" pitchFamily="18" charset="0"/>
              </a:rPr>
              <a:t>Organisation générale du noyau</a:t>
            </a:r>
            <a:endParaRPr lang="fr-FR" sz="3200" dirty="0">
              <a:latin typeface="Arial" pitchFamily="34" charset="0"/>
              <a:cs typeface="Arial" pitchFamily="34" charset="0"/>
            </a:endParaRPr>
          </a:p>
        </p:txBody>
      </p:sp>
    </p:spTree>
    <p:extLst>
      <p:ext uri="{BB962C8B-B14F-4D97-AF65-F5344CB8AC3E}">
        <p14:creationId xmlns:p14="http://schemas.microsoft.com/office/powerpoint/2010/main" val="40165781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2855640" y="260649"/>
            <a:ext cx="5976664" cy="584775"/>
          </a:xfrm>
          <a:prstGeom prst="rect">
            <a:avLst/>
          </a:prstGeom>
          <a:solidFill>
            <a:srgbClr val="00B0F0"/>
          </a:solidFill>
        </p:spPr>
        <p:txBody>
          <a:bodyPr wrap="square" rtlCol="0">
            <a:spAutoFit/>
          </a:bodyPr>
          <a:lstStyle/>
          <a:p>
            <a:r>
              <a:rPr lang="fr-FR" sz="3200" b="1" dirty="0"/>
              <a:t>Organisation générale du noyau</a:t>
            </a:r>
          </a:p>
        </p:txBody>
      </p:sp>
      <p:pic>
        <p:nvPicPr>
          <p:cNvPr id="7" name="Image 6" descr="Image associée"/>
          <p:cNvPicPr/>
          <p:nvPr/>
        </p:nvPicPr>
        <p:blipFill rotWithShape="1">
          <a:blip r:embed="rId2" cstate="print"/>
          <a:srcRect t="6493" r="5217" b="7792"/>
          <a:stretch/>
        </p:blipFill>
        <p:spPr bwMode="auto">
          <a:xfrm>
            <a:off x="6465568" y="1168078"/>
            <a:ext cx="5151549" cy="4215292"/>
          </a:xfrm>
          <a:prstGeom prst="rect">
            <a:avLst/>
          </a:prstGeom>
          <a:noFill/>
          <a:ln w="9525">
            <a:noFill/>
            <a:miter lim="800000"/>
            <a:headEnd/>
            <a:tailEnd/>
          </a:ln>
        </p:spPr>
      </p:pic>
      <p:sp>
        <p:nvSpPr>
          <p:cNvPr id="2" name="Rectangle 1"/>
          <p:cNvSpPr/>
          <p:nvPr/>
        </p:nvSpPr>
        <p:spPr>
          <a:xfrm>
            <a:off x="257578" y="962016"/>
            <a:ext cx="6194738" cy="4657685"/>
          </a:xfrm>
          <a:prstGeom prst="rect">
            <a:avLst/>
          </a:prstGeom>
        </p:spPr>
        <p:txBody>
          <a:bodyPr wrap="square">
            <a:spAutoFit/>
          </a:bodyPr>
          <a:lstStyle/>
          <a:p>
            <a:pPr algn="just">
              <a:lnSpc>
                <a:spcPct val="150000"/>
              </a:lnSpc>
              <a:spcAft>
                <a:spcPts val="1000"/>
              </a:spcAft>
            </a:pPr>
            <a:r>
              <a:rPr lang="fr-FR" sz="1400" b="1" dirty="0" smtClean="0">
                <a:latin typeface="Times New Roman" panose="02020603050405020304" pitchFamily="18" charset="0"/>
                <a:ea typeface="Calibri" panose="020F0502020204030204" pitchFamily="34" charset="0"/>
                <a:cs typeface="Arial" panose="020B0604020202020204" pitchFamily="34" charset="0"/>
              </a:rPr>
              <a:t>Enveloppe nucléaire : </a:t>
            </a:r>
            <a:r>
              <a:rPr lang="fr-FR" sz="1400" dirty="0" smtClean="0">
                <a:latin typeface="Times New Roman" panose="02020603050405020304" pitchFamily="18" charset="0"/>
                <a:ea typeface="Calibri" panose="020F0502020204030204" pitchFamily="34" charset="0"/>
                <a:cs typeface="Arial" panose="020B0604020202020204" pitchFamily="34" charset="0"/>
              </a:rPr>
              <a:t>Formée par les deux membranes d’une citerne spécialisée du réticulum endoplasmique. Elle est interrompue par de nombreux pores nucléaires. </a:t>
            </a:r>
            <a:endParaRPr lang="fr-FR" sz="1400" dirty="0" smtClean="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1000"/>
              </a:spcAft>
            </a:pPr>
            <a:r>
              <a:rPr lang="fr-FR" sz="1400" u="sng" dirty="0" smtClean="0">
                <a:latin typeface="Times New Roman" panose="02020603050405020304" pitchFamily="18" charset="0"/>
                <a:ea typeface="Calibri" panose="020F0502020204030204" pitchFamily="34" charset="0"/>
                <a:cs typeface="Arial" panose="020B0604020202020204" pitchFamily="34" charset="0"/>
              </a:rPr>
              <a:t>A. Une membrane externe :</a:t>
            </a:r>
            <a:r>
              <a:rPr lang="fr-FR" sz="1400" dirty="0" smtClean="0">
                <a:latin typeface="Times New Roman" panose="02020603050405020304" pitchFamily="18" charset="0"/>
                <a:ea typeface="Calibri" panose="020F0502020204030204" pitchFamily="34" charset="0"/>
                <a:cs typeface="Arial" panose="020B0604020202020204" pitchFamily="34" charset="0"/>
              </a:rPr>
              <a:t> En contact avec le cytoplasme, est une bicouche phospholipidique dont le feuillet externe est recouvert de ribosomes.</a:t>
            </a:r>
            <a:endParaRPr lang="fr-FR" sz="1400" dirty="0" smtClean="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1000"/>
              </a:spcAft>
            </a:pPr>
            <a:r>
              <a:rPr lang="fr-FR" sz="1400" u="sng" dirty="0" smtClean="0">
                <a:latin typeface="Times New Roman" panose="02020603050405020304" pitchFamily="18" charset="0"/>
                <a:ea typeface="Calibri" panose="020F0502020204030204" pitchFamily="34" charset="0"/>
                <a:cs typeface="Arial" panose="020B0604020202020204" pitchFamily="34" charset="0"/>
              </a:rPr>
              <a:t>B. Une membrane interne :</a:t>
            </a:r>
            <a:r>
              <a:rPr lang="fr-FR" sz="1400" dirty="0" smtClean="0">
                <a:latin typeface="Times New Roman" panose="02020603050405020304" pitchFamily="18" charset="0"/>
                <a:ea typeface="Calibri" panose="020F0502020204030204" pitchFamily="34" charset="0"/>
                <a:cs typeface="Arial" panose="020B0604020202020204" pitchFamily="34" charset="0"/>
              </a:rPr>
              <a:t> En contact avec le nucléoplasme, est une bicouche phospholipidique tapissée sur sa face interne par la </a:t>
            </a:r>
            <a:r>
              <a:rPr lang="fr-FR" sz="1400" i="1" dirty="0" smtClean="0">
                <a:latin typeface="Times New Roman" panose="02020603050405020304" pitchFamily="18" charset="0"/>
                <a:ea typeface="Calibri" panose="020F0502020204030204" pitchFamily="34" charset="0"/>
                <a:cs typeface="Arial" panose="020B0604020202020204" pitchFamily="34" charset="0"/>
              </a:rPr>
              <a:t>lamina</a:t>
            </a:r>
            <a:r>
              <a:rPr lang="fr-FR" sz="1400" dirty="0" smtClean="0">
                <a:latin typeface="Times New Roman" panose="02020603050405020304" pitchFamily="18" charset="0"/>
                <a:ea typeface="Calibri" panose="020F0502020204030204" pitchFamily="34" charset="0"/>
                <a:cs typeface="Arial" panose="020B0604020202020204" pitchFamily="34" charset="0"/>
              </a:rPr>
              <a:t> (réseau protéique fibreux).</a:t>
            </a:r>
            <a:r>
              <a:rPr lang="fr-FR" sz="1400" dirty="0" smtClean="0">
                <a:solidFill>
                  <a:srgbClr val="222222"/>
                </a:solidFill>
                <a:latin typeface="Arial" panose="020B0604020202020204" pitchFamily="34" charset="0"/>
                <a:ea typeface="Calibri" panose="020F0502020204030204" pitchFamily="34" charset="0"/>
                <a:cs typeface="Arial" panose="020B0604020202020204" pitchFamily="34" charset="0"/>
              </a:rPr>
              <a:t> </a:t>
            </a:r>
          </a:p>
          <a:p>
            <a:pPr algn="just">
              <a:lnSpc>
                <a:spcPct val="150000"/>
              </a:lnSpc>
              <a:spcAft>
                <a:spcPts val="1000"/>
              </a:spcAft>
            </a:pPr>
            <a:r>
              <a:rPr lang="fr-FR" sz="1400" dirty="0" smtClean="0"/>
              <a:t>Les deux membranes (interne et externe) délimitent un espace appelé espace péri-nucléaire qui est en continuité avec la lumière du réticulum endoplasmique.</a:t>
            </a:r>
          </a:p>
          <a:p>
            <a:pPr algn="just">
              <a:lnSpc>
                <a:spcPct val="150000"/>
              </a:lnSpc>
              <a:spcAft>
                <a:spcPts val="1000"/>
              </a:spcAft>
            </a:pPr>
            <a:endParaRPr lang="fr-FR" sz="1400" dirty="0" smtClean="0"/>
          </a:p>
          <a:p>
            <a:pPr algn="just">
              <a:lnSpc>
                <a:spcPct val="150000"/>
              </a:lnSpc>
              <a:spcAft>
                <a:spcPts val="1000"/>
              </a:spcAft>
            </a:pPr>
            <a:endParaRPr lang="fr-FR"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3" name="Rectangle 2"/>
          <p:cNvSpPr/>
          <p:nvPr/>
        </p:nvSpPr>
        <p:spPr>
          <a:xfrm>
            <a:off x="257578" y="4882213"/>
            <a:ext cx="7109137" cy="1708160"/>
          </a:xfrm>
          <a:prstGeom prst="rect">
            <a:avLst/>
          </a:prstGeom>
        </p:spPr>
        <p:txBody>
          <a:bodyPr wrap="square">
            <a:spAutoFit/>
          </a:bodyPr>
          <a:lstStyle/>
          <a:p>
            <a:pPr algn="just">
              <a:lnSpc>
                <a:spcPct val="150000"/>
              </a:lnSpc>
              <a:spcAft>
                <a:spcPts val="0"/>
              </a:spcAft>
            </a:pPr>
            <a:r>
              <a:rPr lang="fr-FR" sz="1400" b="1" dirty="0">
                <a:latin typeface="Times New Roman" panose="02020603050405020304" pitchFamily="18" charset="0"/>
                <a:ea typeface="Calibri" panose="020F0502020204030204" pitchFamily="34" charset="0"/>
                <a:cs typeface="Arial" panose="020B0604020202020204" pitchFamily="34" charset="0"/>
              </a:rPr>
              <a:t>Le nucléoplasme (</a:t>
            </a:r>
            <a:r>
              <a:rPr lang="fr-FR" sz="1400" dirty="0">
                <a:latin typeface="Times New Roman" panose="02020603050405020304" pitchFamily="18" charset="0"/>
                <a:ea typeface="Calibri" panose="020F0502020204030204" pitchFamily="34" charset="0"/>
                <a:cs typeface="Arial" panose="020B0604020202020204" pitchFamily="34" charset="0"/>
              </a:rPr>
              <a:t>milieu intranucléaire) : C’est une matrice gélatineuse contenant des ions, des protéines, des enzymes, des nucléotides… </a:t>
            </a:r>
            <a:endParaRPr lang="fr-FR" sz="1400"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0"/>
              </a:spcAft>
            </a:pPr>
            <a:r>
              <a:rPr lang="fr-FR" sz="1400" b="1" dirty="0" smtClean="0">
                <a:latin typeface="Times New Roman" panose="02020603050405020304" pitchFamily="18" charset="0"/>
                <a:ea typeface="Calibri" panose="020F0502020204030204" pitchFamily="34" charset="0"/>
                <a:cs typeface="Arial" panose="020B0604020202020204" pitchFamily="34" charset="0"/>
              </a:rPr>
              <a:t>Le </a:t>
            </a:r>
            <a:r>
              <a:rPr lang="fr-FR" sz="1400" b="1" dirty="0">
                <a:latin typeface="Times New Roman" panose="02020603050405020304" pitchFamily="18" charset="0"/>
                <a:ea typeface="Calibri" panose="020F0502020204030204" pitchFamily="34" charset="0"/>
                <a:cs typeface="Arial" panose="020B0604020202020204" pitchFamily="34" charset="0"/>
              </a:rPr>
              <a:t>nucléole : </a:t>
            </a:r>
            <a:r>
              <a:rPr lang="fr-FR" sz="1400" dirty="0">
                <a:latin typeface="Times New Roman" panose="02020603050405020304" pitchFamily="18" charset="0"/>
                <a:ea typeface="Calibri" panose="020F0502020204030204" pitchFamily="34" charset="0"/>
                <a:cs typeface="Arial" panose="020B0604020202020204" pitchFamily="34" charset="0"/>
              </a:rPr>
              <a:t>Est un compartiment nucléaire non limité par une membrane, responsable de la synthèse des ARN ribosomaux (ARNr) et d'assemblage des sous-unités ribosomales. Les composants biochimiques du nucléole sont des ARN, de l’ADN et des protéines. </a:t>
            </a:r>
            <a:endParaRPr lang="fr-FR"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2136188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ssociée"/>
          <p:cNvPicPr>
            <a:picLocks noChangeAspect="1" noChangeArrowheads="1"/>
          </p:cNvPicPr>
          <p:nvPr/>
        </p:nvPicPr>
        <p:blipFill>
          <a:blip r:embed="rId2" cstate="print"/>
          <a:srcRect/>
          <a:stretch>
            <a:fillRect/>
          </a:stretch>
        </p:blipFill>
        <p:spPr bwMode="auto">
          <a:xfrm>
            <a:off x="2423592" y="3119585"/>
            <a:ext cx="4968552" cy="3494829"/>
          </a:xfrm>
          <a:prstGeom prst="rect">
            <a:avLst/>
          </a:prstGeom>
          <a:noFill/>
        </p:spPr>
      </p:pic>
      <p:sp>
        <p:nvSpPr>
          <p:cNvPr id="5" name="ZoneTexte 4"/>
          <p:cNvSpPr txBox="1"/>
          <p:nvPr/>
        </p:nvSpPr>
        <p:spPr>
          <a:xfrm>
            <a:off x="4049432" y="188640"/>
            <a:ext cx="3198696" cy="523220"/>
          </a:xfrm>
          <a:prstGeom prst="rect">
            <a:avLst/>
          </a:prstGeom>
          <a:solidFill>
            <a:srgbClr val="00B0F0"/>
          </a:solidFill>
        </p:spPr>
        <p:txBody>
          <a:bodyPr wrap="none" rtlCol="0">
            <a:spAutoFit/>
          </a:bodyPr>
          <a:lstStyle/>
          <a:p>
            <a:r>
              <a:rPr lang="fr-FR" sz="2800" b="1" dirty="0"/>
              <a:t>Enveloppe nucléaire</a:t>
            </a:r>
          </a:p>
        </p:txBody>
      </p:sp>
      <p:sp>
        <p:nvSpPr>
          <p:cNvPr id="6" name="Accolade ouvrante 5"/>
          <p:cNvSpPr/>
          <p:nvPr/>
        </p:nvSpPr>
        <p:spPr>
          <a:xfrm>
            <a:off x="2063552" y="3645024"/>
            <a:ext cx="432048" cy="1296144"/>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b="1" dirty="0"/>
          </a:p>
        </p:txBody>
      </p:sp>
      <p:sp>
        <p:nvSpPr>
          <p:cNvPr id="7" name="ZoneTexte 6"/>
          <p:cNvSpPr txBox="1"/>
          <p:nvPr/>
        </p:nvSpPr>
        <p:spPr>
          <a:xfrm>
            <a:off x="1487488" y="3789041"/>
            <a:ext cx="1584176" cy="461665"/>
          </a:xfrm>
          <a:prstGeom prst="rect">
            <a:avLst/>
          </a:prstGeom>
          <a:noFill/>
        </p:spPr>
        <p:txBody>
          <a:bodyPr wrap="square" rtlCol="0">
            <a:spAutoFit/>
          </a:bodyPr>
          <a:lstStyle/>
          <a:p>
            <a:r>
              <a:rPr lang="fr-FR" sz="1200" b="1" dirty="0"/>
              <a:t>Enveloppe </a:t>
            </a:r>
          </a:p>
          <a:p>
            <a:r>
              <a:rPr lang="fr-FR" sz="1200" b="1" dirty="0"/>
              <a:t>nucléaire </a:t>
            </a:r>
          </a:p>
        </p:txBody>
      </p:sp>
      <p:pic>
        <p:nvPicPr>
          <p:cNvPr id="8" name="Picture 4" descr="Résultat de recherche d'images pour &quot;enveloppe nucléaire structure&quot;"/>
          <p:cNvPicPr>
            <a:picLocks noChangeAspect="1" noChangeArrowheads="1"/>
          </p:cNvPicPr>
          <p:nvPr/>
        </p:nvPicPr>
        <p:blipFill>
          <a:blip r:embed="rId3" cstate="print"/>
          <a:srcRect/>
          <a:stretch>
            <a:fillRect/>
          </a:stretch>
        </p:blipFill>
        <p:spPr bwMode="auto">
          <a:xfrm>
            <a:off x="5447928" y="1124744"/>
            <a:ext cx="4968552" cy="5733256"/>
          </a:xfrm>
          <a:prstGeom prst="rect">
            <a:avLst/>
          </a:prstGeom>
          <a:noFill/>
        </p:spPr>
      </p:pic>
      <p:sp>
        <p:nvSpPr>
          <p:cNvPr id="9" name="Organigramme : Connecteur 8"/>
          <p:cNvSpPr/>
          <p:nvPr/>
        </p:nvSpPr>
        <p:spPr>
          <a:xfrm>
            <a:off x="8760296" y="4653136"/>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Connecteur 9"/>
          <p:cNvSpPr/>
          <p:nvPr/>
        </p:nvSpPr>
        <p:spPr>
          <a:xfrm>
            <a:off x="7968208" y="4805536"/>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rganigramme : Connecteur 10"/>
          <p:cNvSpPr/>
          <p:nvPr/>
        </p:nvSpPr>
        <p:spPr>
          <a:xfrm>
            <a:off x="7176120" y="4957936"/>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rganigramme : Connecteur 11"/>
          <p:cNvSpPr/>
          <p:nvPr/>
        </p:nvSpPr>
        <p:spPr>
          <a:xfrm>
            <a:off x="3575720" y="3501008"/>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6744072" y="5262736"/>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rganigramme : Connecteur 13"/>
          <p:cNvSpPr/>
          <p:nvPr/>
        </p:nvSpPr>
        <p:spPr>
          <a:xfrm>
            <a:off x="8616280" y="5229200"/>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6" name="Connecteur droit 15"/>
          <p:cNvCxnSpPr>
            <a:stCxn id="10" idx="5"/>
          </p:cNvCxnSpPr>
          <p:nvPr/>
        </p:nvCxnSpPr>
        <p:spPr>
          <a:xfrm>
            <a:off x="8029672" y="4867000"/>
            <a:ext cx="1378697" cy="2161"/>
          </a:xfrm>
          <a:prstGeom prst="line">
            <a:avLst/>
          </a:prstGeom>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192344" y="4581128"/>
            <a:ext cx="1224136"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Ribosome</a:t>
            </a:r>
          </a:p>
        </p:txBody>
      </p:sp>
      <p:sp>
        <p:nvSpPr>
          <p:cNvPr id="18" name="Organigramme : Connecteur 17"/>
          <p:cNvSpPr/>
          <p:nvPr/>
        </p:nvSpPr>
        <p:spPr>
          <a:xfrm>
            <a:off x="6528048" y="4797152"/>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p:cNvSpPr/>
          <p:nvPr/>
        </p:nvSpPr>
        <p:spPr>
          <a:xfrm>
            <a:off x="2783632" y="2564904"/>
            <a:ext cx="1224136"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Ribosome</a:t>
            </a:r>
          </a:p>
        </p:txBody>
      </p:sp>
      <p:cxnSp>
        <p:nvCxnSpPr>
          <p:cNvPr id="21" name="Connecteur droit 20"/>
          <p:cNvCxnSpPr>
            <a:endCxn id="12" idx="2"/>
          </p:cNvCxnSpPr>
          <p:nvPr/>
        </p:nvCxnSpPr>
        <p:spPr>
          <a:xfrm>
            <a:off x="3143672" y="2996952"/>
            <a:ext cx="432048" cy="540060"/>
          </a:xfrm>
          <a:prstGeom prst="line">
            <a:avLst/>
          </a:prstGeom>
        </p:spPr>
        <p:style>
          <a:lnRef idx="1">
            <a:schemeClr val="accent1"/>
          </a:lnRef>
          <a:fillRef idx="0">
            <a:schemeClr val="accent1"/>
          </a:fillRef>
          <a:effectRef idx="0">
            <a:schemeClr val="accent1"/>
          </a:effectRef>
          <a:fontRef idx="minor">
            <a:schemeClr val="tx1"/>
          </a:fontRef>
        </p:style>
      </p:cxnSp>
      <p:sp>
        <p:nvSpPr>
          <p:cNvPr id="22" name="Organigramme : Connecteur 21"/>
          <p:cNvSpPr/>
          <p:nvPr/>
        </p:nvSpPr>
        <p:spPr>
          <a:xfrm>
            <a:off x="3071664" y="3501008"/>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Organigramme : Connecteur 22"/>
          <p:cNvSpPr/>
          <p:nvPr/>
        </p:nvSpPr>
        <p:spPr>
          <a:xfrm>
            <a:off x="4727848" y="3501008"/>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995228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0" name="Picture 4" descr="Résultat de recherche d'images pour &quot;pore nucléaire&quot;"/>
          <p:cNvPicPr>
            <a:picLocks noChangeAspect="1" noChangeArrowheads="1"/>
          </p:cNvPicPr>
          <p:nvPr/>
        </p:nvPicPr>
        <p:blipFill>
          <a:blip r:embed="rId2" cstate="print"/>
          <a:srcRect/>
          <a:stretch>
            <a:fillRect/>
          </a:stretch>
        </p:blipFill>
        <p:spPr bwMode="auto">
          <a:xfrm>
            <a:off x="1631504" y="908720"/>
            <a:ext cx="9036496" cy="5949280"/>
          </a:xfrm>
          <a:prstGeom prst="rect">
            <a:avLst/>
          </a:prstGeom>
          <a:noFill/>
        </p:spPr>
      </p:pic>
      <p:sp>
        <p:nvSpPr>
          <p:cNvPr id="6" name="ZoneTexte 5"/>
          <p:cNvSpPr txBox="1"/>
          <p:nvPr/>
        </p:nvSpPr>
        <p:spPr>
          <a:xfrm>
            <a:off x="2207569" y="332657"/>
            <a:ext cx="2720809" cy="584775"/>
          </a:xfrm>
          <a:prstGeom prst="rect">
            <a:avLst/>
          </a:prstGeom>
          <a:solidFill>
            <a:srgbClr val="00B0F0"/>
          </a:solidFill>
        </p:spPr>
        <p:txBody>
          <a:bodyPr wrap="none" rtlCol="0">
            <a:spAutoFit/>
          </a:bodyPr>
          <a:lstStyle/>
          <a:p>
            <a:r>
              <a:rPr lang="fr-FR" sz="3200" b="1" dirty="0"/>
              <a:t>Pore nucléaire </a:t>
            </a:r>
          </a:p>
        </p:txBody>
      </p:sp>
      <p:cxnSp>
        <p:nvCxnSpPr>
          <p:cNvPr id="10" name="Connecteur droit avec flèche 9"/>
          <p:cNvCxnSpPr/>
          <p:nvPr/>
        </p:nvCxnSpPr>
        <p:spPr>
          <a:xfrm flipH="1">
            <a:off x="4511824" y="1772816"/>
            <a:ext cx="1152128" cy="136815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ZoneTexte 10"/>
          <p:cNvSpPr txBox="1"/>
          <p:nvPr/>
        </p:nvSpPr>
        <p:spPr>
          <a:xfrm>
            <a:off x="5087888" y="1412776"/>
            <a:ext cx="2073516" cy="369332"/>
          </a:xfrm>
          <a:prstGeom prst="rect">
            <a:avLst/>
          </a:prstGeom>
          <a:noFill/>
        </p:spPr>
        <p:txBody>
          <a:bodyPr wrap="none" rtlCol="0">
            <a:spAutoFit/>
          </a:bodyPr>
          <a:lstStyle/>
          <a:p>
            <a:r>
              <a:rPr lang="fr-FR" b="1" dirty="0"/>
              <a:t>Anneau cytosolique</a:t>
            </a:r>
          </a:p>
        </p:txBody>
      </p:sp>
      <p:sp>
        <p:nvSpPr>
          <p:cNvPr id="12" name="ZoneTexte 11"/>
          <p:cNvSpPr txBox="1"/>
          <p:nvPr/>
        </p:nvSpPr>
        <p:spPr>
          <a:xfrm>
            <a:off x="1524000" y="5517232"/>
            <a:ext cx="1855636" cy="369332"/>
          </a:xfrm>
          <a:prstGeom prst="rect">
            <a:avLst/>
          </a:prstGeom>
          <a:noFill/>
        </p:spPr>
        <p:txBody>
          <a:bodyPr wrap="none" rtlCol="0">
            <a:spAutoFit/>
          </a:bodyPr>
          <a:lstStyle/>
          <a:p>
            <a:r>
              <a:rPr lang="fr-FR" b="1" dirty="0"/>
              <a:t>Anneau nucléaire</a:t>
            </a:r>
          </a:p>
        </p:txBody>
      </p:sp>
      <p:cxnSp>
        <p:nvCxnSpPr>
          <p:cNvPr id="13" name="Connecteur droit avec flèche 12"/>
          <p:cNvCxnSpPr/>
          <p:nvPr/>
        </p:nvCxnSpPr>
        <p:spPr>
          <a:xfrm flipV="1">
            <a:off x="2855640" y="4437112"/>
            <a:ext cx="1008112" cy="115212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Connecteur droit avec flèche 15"/>
          <p:cNvCxnSpPr/>
          <p:nvPr/>
        </p:nvCxnSpPr>
        <p:spPr>
          <a:xfrm>
            <a:off x="2423592" y="2492896"/>
            <a:ext cx="1512168" cy="136815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ZoneTexte 18"/>
          <p:cNvSpPr txBox="1"/>
          <p:nvPr/>
        </p:nvSpPr>
        <p:spPr>
          <a:xfrm>
            <a:off x="1524001" y="2132857"/>
            <a:ext cx="1471365" cy="646331"/>
          </a:xfrm>
          <a:prstGeom prst="rect">
            <a:avLst/>
          </a:prstGeom>
          <a:noFill/>
        </p:spPr>
        <p:txBody>
          <a:bodyPr wrap="none" rtlCol="0">
            <a:spAutoFit/>
          </a:bodyPr>
          <a:lstStyle/>
          <a:p>
            <a:r>
              <a:rPr lang="fr-FR" b="1" dirty="0"/>
              <a:t>Transporteur </a:t>
            </a:r>
          </a:p>
          <a:p>
            <a:r>
              <a:rPr lang="fr-FR" b="1" dirty="0"/>
              <a:t>central</a:t>
            </a:r>
          </a:p>
        </p:txBody>
      </p:sp>
      <p:sp>
        <p:nvSpPr>
          <p:cNvPr id="22" name="Rectangle 21"/>
          <p:cNvSpPr/>
          <p:nvPr/>
        </p:nvSpPr>
        <p:spPr>
          <a:xfrm>
            <a:off x="2711624" y="1484784"/>
            <a:ext cx="2448272" cy="360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Cytosol</a:t>
            </a:r>
          </a:p>
        </p:txBody>
      </p:sp>
      <p:sp>
        <p:nvSpPr>
          <p:cNvPr id="23" name="Rectangle 22"/>
          <p:cNvSpPr/>
          <p:nvPr/>
        </p:nvSpPr>
        <p:spPr>
          <a:xfrm>
            <a:off x="3647728" y="5733256"/>
            <a:ext cx="2448272" cy="360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Nucléoplasme</a:t>
            </a:r>
          </a:p>
        </p:txBody>
      </p:sp>
      <p:cxnSp>
        <p:nvCxnSpPr>
          <p:cNvPr id="24" name="Connecteur droit avec flèche 23"/>
          <p:cNvCxnSpPr/>
          <p:nvPr/>
        </p:nvCxnSpPr>
        <p:spPr>
          <a:xfrm flipH="1">
            <a:off x="4295800" y="5301208"/>
            <a:ext cx="432048"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rot="10800000" flipV="1">
            <a:off x="4727850" y="5034777"/>
            <a:ext cx="1543779" cy="5544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Petit anneau nucléaire</a:t>
            </a:r>
          </a:p>
        </p:txBody>
      </p:sp>
    </p:spTree>
    <p:extLst>
      <p:ext uri="{BB962C8B-B14F-4D97-AF65-F5344CB8AC3E}">
        <p14:creationId xmlns:p14="http://schemas.microsoft.com/office/powerpoint/2010/main" val="16210624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p:cNvSpPr txBox="1"/>
          <p:nvPr/>
        </p:nvSpPr>
        <p:spPr>
          <a:xfrm>
            <a:off x="1826532" y="97468"/>
            <a:ext cx="2325252" cy="523220"/>
          </a:xfrm>
          <a:prstGeom prst="rect">
            <a:avLst/>
          </a:prstGeom>
          <a:solidFill>
            <a:srgbClr val="00B0F0"/>
          </a:solidFill>
        </p:spPr>
        <p:txBody>
          <a:bodyPr wrap="none" rtlCol="0">
            <a:spAutoFit/>
          </a:bodyPr>
          <a:lstStyle/>
          <a:p>
            <a:r>
              <a:rPr lang="fr-FR" sz="2800" b="1" dirty="0"/>
              <a:t>Pore nucléaire</a:t>
            </a:r>
          </a:p>
        </p:txBody>
      </p:sp>
      <p:pic>
        <p:nvPicPr>
          <p:cNvPr id="27658" name="Picture 10" descr="Résultat de recherche d'images pour &quot;pore nucléaire&quot;"/>
          <p:cNvPicPr>
            <a:picLocks noChangeAspect="1" noChangeArrowheads="1"/>
          </p:cNvPicPr>
          <p:nvPr/>
        </p:nvPicPr>
        <p:blipFill>
          <a:blip r:embed="rId2" cstate="print"/>
          <a:srcRect/>
          <a:stretch>
            <a:fillRect/>
          </a:stretch>
        </p:blipFill>
        <p:spPr bwMode="auto">
          <a:xfrm>
            <a:off x="1847528" y="1124744"/>
            <a:ext cx="8136904" cy="5328592"/>
          </a:xfrm>
          <a:prstGeom prst="rect">
            <a:avLst/>
          </a:prstGeom>
          <a:noFill/>
        </p:spPr>
      </p:pic>
      <p:sp>
        <p:nvSpPr>
          <p:cNvPr id="10" name="Rectangle 9"/>
          <p:cNvSpPr/>
          <p:nvPr/>
        </p:nvSpPr>
        <p:spPr>
          <a:xfrm>
            <a:off x="6744072" y="2420888"/>
            <a:ext cx="1296144" cy="72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Anneau cytosolique</a:t>
            </a:r>
          </a:p>
        </p:txBody>
      </p:sp>
      <p:sp>
        <p:nvSpPr>
          <p:cNvPr id="11" name="ZoneTexte 10"/>
          <p:cNvSpPr txBox="1"/>
          <p:nvPr/>
        </p:nvSpPr>
        <p:spPr>
          <a:xfrm>
            <a:off x="6744072" y="6165304"/>
            <a:ext cx="2376264" cy="707886"/>
          </a:xfrm>
          <a:prstGeom prst="rect">
            <a:avLst/>
          </a:prstGeom>
          <a:noFill/>
        </p:spPr>
        <p:txBody>
          <a:bodyPr wrap="square" rtlCol="0">
            <a:spAutoFit/>
          </a:bodyPr>
          <a:lstStyle/>
          <a:p>
            <a:r>
              <a:rPr lang="fr-FR" sz="2000" b="1" dirty="0"/>
              <a:t>Petit anneau nucléaire</a:t>
            </a:r>
          </a:p>
        </p:txBody>
      </p:sp>
      <p:sp>
        <p:nvSpPr>
          <p:cNvPr id="6" name="Rectangle 5"/>
          <p:cNvSpPr/>
          <p:nvPr/>
        </p:nvSpPr>
        <p:spPr>
          <a:xfrm>
            <a:off x="8760296" y="5229200"/>
            <a:ext cx="1512168" cy="72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Réseau de Lamine</a:t>
            </a:r>
          </a:p>
        </p:txBody>
      </p:sp>
      <p:cxnSp>
        <p:nvCxnSpPr>
          <p:cNvPr id="8" name="Connecteur droit avec flèche 7"/>
          <p:cNvCxnSpPr/>
          <p:nvPr/>
        </p:nvCxnSpPr>
        <p:spPr>
          <a:xfrm flipH="1" flipV="1">
            <a:off x="8760296" y="4437112"/>
            <a:ext cx="360040" cy="86409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42734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6" name="Picture 4" descr="Résultat de recherche d'images pour &quot;transport de molécules pore nucléaire&quot;"/>
          <p:cNvPicPr>
            <a:picLocks noChangeAspect="1" noChangeArrowheads="1"/>
          </p:cNvPicPr>
          <p:nvPr/>
        </p:nvPicPr>
        <p:blipFill>
          <a:blip r:embed="rId2" cstate="print"/>
          <a:srcRect/>
          <a:stretch>
            <a:fillRect/>
          </a:stretch>
        </p:blipFill>
        <p:spPr bwMode="auto">
          <a:xfrm>
            <a:off x="1464834" y="0"/>
            <a:ext cx="9144000" cy="6858000"/>
          </a:xfrm>
          <a:prstGeom prst="rect">
            <a:avLst/>
          </a:prstGeom>
          <a:noFill/>
        </p:spPr>
      </p:pic>
      <p:sp>
        <p:nvSpPr>
          <p:cNvPr id="3" name="Rectangle 2"/>
          <p:cNvSpPr/>
          <p:nvPr/>
        </p:nvSpPr>
        <p:spPr>
          <a:xfrm>
            <a:off x="2423592" y="692696"/>
            <a:ext cx="4536504" cy="5040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i="1" dirty="0">
                <a:solidFill>
                  <a:schemeClr val="tx1"/>
                </a:solidFill>
              </a:rPr>
              <a:t>Vue de face à partir du cytosol</a:t>
            </a:r>
          </a:p>
        </p:txBody>
      </p:sp>
    </p:spTree>
    <p:extLst>
      <p:ext uri="{BB962C8B-B14F-4D97-AF65-F5344CB8AC3E}">
        <p14:creationId xmlns:p14="http://schemas.microsoft.com/office/powerpoint/2010/main" val="25449043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4" name="Picture 4" descr="Image associée"/>
          <p:cNvPicPr>
            <a:picLocks noChangeAspect="1" noChangeArrowheads="1"/>
          </p:cNvPicPr>
          <p:nvPr/>
        </p:nvPicPr>
        <p:blipFill>
          <a:blip r:embed="rId2" cstate="print"/>
          <a:srcRect/>
          <a:stretch>
            <a:fillRect/>
          </a:stretch>
        </p:blipFill>
        <p:spPr bwMode="auto">
          <a:xfrm>
            <a:off x="1539240" y="692696"/>
            <a:ext cx="9144000" cy="6165304"/>
          </a:xfrm>
          <a:prstGeom prst="rect">
            <a:avLst/>
          </a:prstGeom>
          <a:noFill/>
          <a:ln w="38100">
            <a:noFill/>
          </a:ln>
        </p:spPr>
      </p:pic>
      <p:sp>
        <p:nvSpPr>
          <p:cNvPr id="12" name="Rectangle 11"/>
          <p:cNvSpPr/>
          <p:nvPr/>
        </p:nvSpPr>
        <p:spPr>
          <a:xfrm>
            <a:off x="5447928" y="4725144"/>
            <a:ext cx="1440160" cy="72008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Protéine  avec  NES</a:t>
            </a:r>
          </a:p>
        </p:txBody>
      </p:sp>
      <p:sp>
        <p:nvSpPr>
          <p:cNvPr id="13" name="Rectangle 12"/>
          <p:cNvSpPr/>
          <p:nvPr/>
        </p:nvSpPr>
        <p:spPr>
          <a:xfrm>
            <a:off x="5663952" y="5301208"/>
            <a:ext cx="504056" cy="288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1524000" y="5733256"/>
            <a:ext cx="1187624" cy="112474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Protéine libérée dans le noyau</a:t>
            </a:r>
          </a:p>
        </p:txBody>
      </p:sp>
      <p:sp>
        <p:nvSpPr>
          <p:cNvPr id="15" name="Rectangle 14"/>
          <p:cNvSpPr/>
          <p:nvPr/>
        </p:nvSpPr>
        <p:spPr>
          <a:xfrm>
            <a:off x="9480376" y="1124744"/>
            <a:ext cx="1187624" cy="112474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Protéine libérée dans le cytosol</a:t>
            </a:r>
          </a:p>
        </p:txBody>
      </p:sp>
      <p:sp>
        <p:nvSpPr>
          <p:cNvPr id="16" name="Rectangle 15"/>
          <p:cNvSpPr/>
          <p:nvPr/>
        </p:nvSpPr>
        <p:spPr>
          <a:xfrm>
            <a:off x="7104112" y="764704"/>
            <a:ext cx="2304256" cy="69269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Exportine libre</a:t>
            </a:r>
          </a:p>
        </p:txBody>
      </p:sp>
      <p:sp>
        <p:nvSpPr>
          <p:cNvPr id="17" name="Rectangle 16"/>
          <p:cNvSpPr/>
          <p:nvPr/>
        </p:nvSpPr>
        <p:spPr>
          <a:xfrm>
            <a:off x="8363744" y="5445224"/>
            <a:ext cx="2304256" cy="119675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Exportine+ </a:t>
            </a:r>
            <a:r>
              <a:rPr lang="fr-FR" b="1" dirty="0" err="1">
                <a:solidFill>
                  <a:schemeClr val="tx1"/>
                </a:solidFill>
              </a:rPr>
              <a:t>Ran</a:t>
            </a:r>
            <a:r>
              <a:rPr lang="fr-FR" b="1" dirty="0">
                <a:solidFill>
                  <a:schemeClr val="tx1"/>
                </a:solidFill>
              </a:rPr>
              <a:t>-GTP+molécule  à transporter </a:t>
            </a:r>
          </a:p>
        </p:txBody>
      </p:sp>
      <p:sp>
        <p:nvSpPr>
          <p:cNvPr id="18" name="Rectangle 17"/>
          <p:cNvSpPr/>
          <p:nvPr/>
        </p:nvSpPr>
        <p:spPr>
          <a:xfrm>
            <a:off x="1596008" y="1777172"/>
            <a:ext cx="1187624" cy="12961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Protéine avec  NLS+ importine</a:t>
            </a:r>
          </a:p>
        </p:txBody>
      </p:sp>
      <p:sp>
        <p:nvSpPr>
          <p:cNvPr id="19" name="Rectangle 18"/>
          <p:cNvSpPr/>
          <p:nvPr/>
        </p:nvSpPr>
        <p:spPr>
          <a:xfrm flipH="1">
            <a:off x="8256240" y="4437112"/>
            <a:ext cx="144016"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p:cNvSpPr/>
          <p:nvPr/>
        </p:nvSpPr>
        <p:spPr>
          <a:xfrm>
            <a:off x="7392144" y="2780928"/>
            <a:ext cx="144016"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p:cNvSpPr/>
          <p:nvPr/>
        </p:nvSpPr>
        <p:spPr>
          <a:xfrm>
            <a:off x="4151784" y="4509120"/>
            <a:ext cx="144016"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p:cNvSpPr/>
          <p:nvPr/>
        </p:nvSpPr>
        <p:spPr>
          <a:xfrm>
            <a:off x="3359696" y="2852936"/>
            <a:ext cx="144016"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22"/>
          <p:cNvSpPr/>
          <p:nvPr/>
        </p:nvSpPr>
        <p:spPr>
          <a:xfrm>
            <a:off x="2783632" y="692696"/>
            <a:ext cx="2304256" cy="6926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Importine libre</a:t>
            </a:r>
          </a:p>
        </p:txBody>
      </p:sp>
      <p:sp>
        <p:nvSpPr>
          <p:cNvPr id="24" name="ZoneTexte 23"/>
          <p:cNvSpPr txBox="1"/>
          <p:nvPr/>
        </p:nvSpPr>
        <p:spPr>
          <a:xfrm>
            <a:off x="2207568" y="116633"/>
            <a:ext cx="8064896" cy="584775"/>
          </a:xfrm>
          <a:prstGeom prst="rect">
            <a:avLst/>
          </a:prstGeom>
          <a:solidFill>
            <a:srgbClr val="00B0F0"/>
          </a:solidFill>
        </p:spPr>
        <p:txBody>
          <a:bodyPr wrap="square" rtlCol="0">
            <a:spAutoFit/>
          </a:bodyPr>
          <a:lstStyle/>
          <a:p>
            <a:r>
              <a:rPr lang="fr-FR" sz="3200" b="1" dirty="0"/>
              <a:t>Les échanges entre le cytosol et le noyau</a:t>
            </a:r>
          </a:p>
        </p:txBody>
      </p:sp>
    </p:spTree>
    <p:extLst>
      <p:ext uri="{BB962C8B-B14F-4D97-AF65-F5344CB8AC3E}">
        <p14:creationId xmlns:p14="http://schemas.microsoft.com/office/powerpoint/2010/main" val="24242202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1504" y="404664"/>
            <a:ext cx="8568952" cy="1477328"/>
          </a:xfrm>
          <a:prstGeom prst="rect">
            <a:avLst/>
          </a:prstGeom>
        </p:spPr>
        <p:txBody>
          <a:bodyPr wrap="square">
            <a:spAutoFit/>
          </a:bodyPr>
          <a:lstStyle/>
          <a:p>
            <a:pPr algn="just"/>
            <a:r>
              <a:rPr lang="fr-FR" dirty="0"/>
              <a:t>Les ions et les molécules de poids moléculaire inférieur à 40 </a:t>
            </a:r>
            <a:r>
              <a:rPr lang="fr-FR" dirty="0" err="1"/>
              <a:t>kDa</a:t>
            </a:r>
            <a:r>
              <a:rPr lang="fr-FR" dirty="0"/>
              <a:t> peuvent diffuser librement à travers le pore nucléaire. En revanche la translocation de molécules de poids moléculaire supérieur à 40 </a:t>
            </a:r>
            <a:r>
              <a:rPr lang="fr-FR" dirty="0" err="1"/>
              <a:t>kDa</a:t>
            </a:r>
            <a:r>
              <a:rPr lang="fr-FR" dirty="0"/>
              <a:t>, c’est-</a:t>
            </a:r>
            <a:r>
              <a:rPr lang="fr-FR" dirty="0" err="1"/>
              <a:t>àdire</a:t>
            </a:r>
            <a:r>
              <a:rPr lang="fr-FR" dirty="0"/>
              <a:t> la plupart des protéines et des complexes </a:t>
            </a:r>
            <a:r>
              <a:rPr lang="fr-FR" dirty="0" err="1"/>
              <a:t>ribonucléoprotéiques</a:t>
            </a:r>
            <a:r>
              <a:rPr lang="fr-FR" dirty="0"/>
              <a:t>, mais également de certaines protéines de poids moléculaire inférieur à 40 </a:t>
            </a:r>
            <a:r>
              <a:rPr lang="fr-FR" dirty="0" err="1"/>
              <a:t>kDa</a:t>
            </a:r>
            <a:r>
              <a:rPr lang="fr-FR" dirty="0"/>
              <a:t> comme les histones, s’opère de façon active à travers le canal central.</a:t>
            </a:r>
          </a:p>
        </p:txBody>
      </p:sp>
      <p:sp>
        <p:nvSpPr>
          <p:cNvPr id="3" name="Rectangle 2"/>
          <p:cNvSpPr/>
          <p:nvPr/>
        </p:nvSpPr>
        <p:spPr>
          <a:xfrm>
            <a:off x="1526232" y="2276872"/>
            <a:ext cx="8818240" cy="3724096"/>
          </a:xfrm>
          <a:prstGeom prst="rect">
            <a:avLst/>
          </a:prstGeom>
        </p:spPr>
        <p:txBody>
          <a:bodyPr wrap="square">
            <a:spAutoFit/>
          </a:bodyPr>
          <a:lstStyle/>
          <a:p>
            <a:pPr algn="just"/>
            <a:r>
              <a:rPr lang="fr-FR" sz="2000" b="1" dirty="0"/>
              <a:t>-</a:t>
            </a:r>
            <a:r>
              <a:rPr lang="fr-FR" dirty="0"/>
              <a:t> Les substrats d’import ou d’export nucléaire sont identifiés grâce à des séquences d’adressage spécifiques par des récepteurs appartenant à une même famille de protéines, les </a:t>
            </a:r>
            <a:r>
              <a:rPr lang="fr-FR" dirty="0" err="1"/>
              <a:t>karyophérines</a:t>
            </a:r>
            <a:r>
              <a:rPr lang="fr-FR" dirty="0"/>
              <a:t> β (</a:t>
            </a:r>
            <a:r>
              <a:rPr lang="fr-FR" dirty="0" err="1"/>
              <a:t>Importine</a:t>
            </a:r>
            <a:r>
              <a:rPr lang="fr-FR" dirty="0"/>
              <a:t> et </a:t>
            </a:r>
            <a:r>
              <a:rPr lang="fr-FR" dirty="0" err="1"/>
              <a:t>Exportine</a:t>
            </a:r>
            <a:r>
              <a:rPr lang="fr-FR" dirty="0"/>
              <a:t>). </a:t>
            </a:r>
          </a:p>
          <a:p>
            <a:pPr algn="just"/>
            <a:r>
              <a:rPr lang="fr-FR" b="1" dirty="0"/>
              <a:t>- </a:t>
            </a:r>
            <a:r>
              <a:rPr lang="fr-FR" dirty="0"/>
              <a:t>Une fois dans le compartiment d’arrivée, les substrats transportés sont libérés et les récepteurs sont recyclés afin de permettre un nouveau cycle de transport. L’interaction entre substrat et récepteur est contrôlée par la petite </a:t>
            </a:r>
            <a:r>
              <a:rPr lang="fr-FR" dirty="0" err="1"/>
              <a:t>GTPase</a:t>
            </a:r>
            <a:r>
              <a:rPr lang="fr-FR" dirty="0"/>
              <a:t> </a:t>
            </a:r>
            <a:r>
              <a:rPr lang="fr-FR" dirty="0" err="1"/>
              <a:t>Ran</a:t>
            </a:r>
            <a:r>
              <a:rPr lang="fr-FR" dirty="0"/>
              <a:t> appartenant à la superfamille Ras (Protéine G). </a:t>
            </a:r>
          </a:p>
          <a:p>
            <a:pPr algn="just"/>
            <a:r>
              <a:rPr lang="fr-FR" b="1" dirty="0"/>
              <a:t>- </a:t>
            </a:r>
            <a:r>
              <a:rPr lang="fr-FR" dirty="0"/>
              <a:t>Il existe dans la cellule un gradient de </a:t>
            </a:r>
            <a:r>
              <a:rPr lang="fr-FR" dirty="0" err="1"/>
              <a:t>Ran</a:t>
            </a:r>
            <a:r>
              <a:rPr lang="fr-FR" dirty="0"/>
              <a:t>-GDP (cytoplasmique) /</a:t>
            </a:r>
            <a:r>
              <a:rPr lang="fr-FR" dirty="0" err="1"/>
              <a:t>Ran</a:t>
            </a:r>
            <a:r>
              <a:rPr lang="fr-FR" dirty="0"/>
              <a:t>-GTP (nucléaire) de part et d’autre de l’enveloppe nucléaire qui conditionne l’orientation des échanges nucléocytoplasmiques: les </a:t>
            </a:r>
            <a:r>
              <a:rPr lang="fr-FR" dirty="0" err="1"/>
              <a:t>importines</a:t>
            </a:r>
            <a:r>
              <a:rPr lang="fr-FR" dirty="0"/>
              <a:t> se lient à leurs substrats en l’absence de </a:t>
            </a:r>
            <a:r>
              <a:rPr lang="fr-FR" dirty="0" err="1"/>
              <a:t>Ran</a:t>
            </a:r>
            <a:r>
              <a:rPr lang="fr-FR" dirty="0"/>
              <a:t>-GTP (dans le cytoplasme) et les libèrent en présence de </a:t>
            </a:r>
            <a:r>
              <a:rPr lang="fr-FR" dirty="0" err="1"/>
              <a:t>Ran</a:t>
            </a:r>
            <a:r>
              <a:rPr lang="fr-FR" dirty="0"/>
              <a:t>-GTP (dans le noyau) , alors que les </a:t>
            </a:r>
            <a:r>
              <a:rPr lang="fr-FR" dirty="0" err="1"/>
              <a:t>exportines</a:t>
            </a:r>
            <a:r>
              <a:rPr lang="fr-FR" dirty="0"/>
              <a:t> ne reconnaissent leurs substrats qu’en présence de </a:t>
            </a:r>
            <a:r>
              <a:rPr lang="fr-FR" dirty="0" err="1"/>
              <a:t>Ran</a:t>
            </a:r>
            <a:r>
              <a:rPr lang="fr-FR" dirty="0"/>
              <a:t>-GTP (dans le noyau) et les libèrent lors de l’hydrolyse du GTP (dans le cytoplasme).</a:t>
            </a:r>
          </a:p>
        </p:txBody>
      </p:sp>
    </p:spTree>
    <p:extLst>
      <p:ext uri="{BB962C8B-B14F-4D97-AF65-F5344CB8AC3E}">
        <p14:creationId xmlns:p14="http://schemas.microsoft.com/office/powerpoint/2010/main" val="38665180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Image associée"/>
          <p:cNvPicPr/>
          <p:nvPr/>
        </p:nvPicPr>
        <p:blipFill>
          <a:blip r:embed="rId4" cstate="print"/>
          <a:srcRect/>
          <a:stretch>
            <a:fillRect/>
          </a:stretch>
        </p:blipFill>
        <p:spPr bwMode="auto">
          <a:xfrm>
            <a:off x="1919536" y="980728"/>
            <a:ext cx="8568952" cy="3168352"/>
          </a:xfrm>
          <a:prstGeom prst="rect">
            <a:avLst/>
          </a:prstGeom>
          <a:noFill/>
          <a:ln w="9525">
            <a:noFill/>
            <a:miter lim="800000"/>
            <a:headEnd/>
            <a:tailEnd/>
          </a:ln>
        </p:spPr>
      </p:pic>
      <p:sp>
        <p:nvSpPr>
          <p:cNvPr id="5" name="Rectangle 4"/>
          <p:cNvSpPr/>
          <p:nvPr/>
        </p:nvSpPr>
        <p:spPr>
          <a:xfrm>
            <a:off x="2279576" y="404664"/>
            <a:ext cx="7848872" cy="400110"/>
          </a:xfrm>
          <a:prstGeom prst="rect">
            <a:avLst/>
          </a:prstGeom>
          <a:solidFill>
            <a:srgbClr val="00B0F0"/>
          </a:solidFill>
        </p:spPr>
        <p:txBody>
          <a:bodyPr wrap="square">
            <a:spAutoFit/>
          </a:bodyPr>
          <a:lstStyle/>
          <a:p>
            <a:r>
              <a:rPr lang="fr-FR" sz="2000" b="1" dirty="0"/>
              <a:t>Micrographie électronique représentant un noyau cellulaire. </a:t>
            </a:r>
          </a:p>
        </p:txBody>
      </p:sp>
      <p:pic>
        <p:nvPicPr>
          <p:cNvPr id="7" name="foppp">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cstate="print"/>
          <a:stretch>
            <a:fillRect/>
          </a:stretch>
        </p:blipFill>
        <p:spPr>
          <a:xfrm>
            <a:off x="5973764" y="3306764"/>
            <a:ext cx="45719" cy="45719"/>
          </a:xfrm>
          <a:prstGeom prst="rect">
            <a:avLst/>
          </a:prstGeom>
        </p:spPr>
      </p:pic>
      <p:sp>
        <p:nvSpPr>
          <p:cNvPr id="8" name="Rectangle 7"/>
          <p:cNvSpPr/>
          <p:nvPr/>
        </p:nvSpPr>
        <p:spPr>
          <a:xfrm>
            <a:off x="1662998" y="4174980"/>
            <a:ext cx="8712968" cy="2308324"/>
          </a:xfrm>
          <a:prstGeom prst="rect">
            <a:avLst/>
          </a:prstGeom>
        </p:spPr>
        <p:txBody>
          <a:bodyPr wrap="square">
            <a:spAutoFit/>
          </a:bodyPr>
          <a:lstStyle/>
          <a:p>
            <a:pPr algn="just"/>
            <a:r>
              <a:rPr lang="fr-FR" dirty="0">
                <a:latin typeface="Century Schoolbook" panose="02040604050505020304" pitchFamily="18" charset="0"/>
              </a:rPr>
              <a:t>Dans les cellules eucaryotes, le matériel génétique est organisé en une structure complexe constituée d'ADN et de protéines et il est localisé dans un compartiment spécialisé, le noyau. Cette structure a été baptisée </a:t>
            </a:r>
            <a:r>
              <a:rPr lang="fr-FR" b="1" dirty="0">
                <a:latin typeface="Century Schoolbook" panose="02040604050505020304" pitchFamily="18" charset="0"/>
              </a:rPr>
              <a:t>chromatine</a:t>
            </a:r>
            <a:r>
              <a:rPr lang="fr-FR" dirty="0">
                <a:latin typeface="Century Schoolbook" panose="02040604050505020304" pitchFamily="18" charset="0"/>
              </a:rPr>
              <a:t> (du grec </a:t>
            </a:r>
            <a:r>
              <a:rPr lang="fr-FR" dirty="0" err="1">
                <a:latin typeface="Century Schoolbook" panose="02040604050505020304" pitchFamily="18" charset="0"/>
              </a:rPr>
              <a:t>khroma</a:t>
            </a:r>
            <a:r>
              <a:rPr lang="fr-FR" dirty="0">
                <a:latin typeface="Century Schoolbook" panose="02040604050505020304" pitchFamily="18" charset="0"/>
              </a:rPr>
              <a:t>: couleur et </a:t>
            </a:r>
            <a:r>
              <a:rPr lang="fr-FR" dirty="0" err="1">
                <a:latin typeface="Century Schoolbook" panose="02040604050505020304" pitchFamily="18" charset="0"/>
              </a:rPr>
              <a:t>sôma</a:t>
            </a:r>
            <a:r>
              <a:rPr lang="fr-FR" dirty="0">
                <a:latin typeface="Century Schoolbook" panose="02040604050505020304" pitchFamily="18" charset="0"/>
              </a:rPr>
              <a:t>: corps). Environ deux mètres d'ADN dans chaque cellule doivent être contenus dans un noyau de quelques </a:t>
            </a:r>
            <a:r>
              <a:rPr lang="el-GR" dirty="0"/>
              <a:t>μ</a:t>
            </a:r>
            <a:r>
              <a:rPr lang="fr-FR" dirty="0"/>
              <a:t>m</a:t>
            </a:r>
            <a:r>
              <a:rPr lang="fr-FR" dirty="0">
                <a:latin typeface="Century Schoolbook" panose="02040604050505020304" pitchFamily="18" charset="0"/>
              </a:rPr>
              <a:t>  de diamètre. En plus de cet énorme degré de compaction, l'ADN doit être rapidement accessible afin de permettre son interaction avec les machineries protéiques régulant les fonctions de la </a:t>
            </a:r>
            <a:r>
              <a:rPr lang="fr-FR" dirty="0" smtClean="0">
                <a:latin typeface="Century Schoolbook" panose="02040604050505020304" pitchFamily="18" charset="0"/>
              </a:rPr>
              <a:t>chromatine.</a:t>
            </a:r>
            <a:endParaRPr lang="fr-FR" dirty="0">
              <a:latin typeface="Century Schoolbook" panose="02040604050505020304" pitchFamily="18" charset="0"/>
            </a:endParaRPr>
          </a:p>
        </p:txBody>
      </p:sp>
    </p:spTree>
    <p:extLst>
      <p:ext uri="{BB962C8B-B14F-4D97-AF65-F5344CB8AC3E}">
        <p14:creationId xmlns:p14="http://schemas.microsoft.com/office/powerpoint/2010/main" val="145173495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4210" fill="hold"/>
                                        <p:tgtEl>
                                          <p:spTgt spid="7"/>
                                        </p:tgtEl>
                                      </p:cBhvr>
                                    </p:cmd>
                                  </p:childTnLst>
                                </p:cTn>
                              </p:par>
                            </p:childTnLst>
                          </p:cTn>
                        </p:par>
                      </p:childTnLst>
                    </p:cTn>
                  </p:par>
                </p:childTnLst>
              </p:cTn>
              <p:nextCondLst>
                <p:cond evt="onClick" delay="0">
                  <p:tgtEl>
                    <p:spTgt spid="7"/>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4" name="Picture 6" descr="Résultat de recherche d'images pour &quot;le nucléole&quot;"/>
          <p:cNvPicPr>
            <a:picLocks noChangeAspect="1" noChangeArrowheads="1"/>
          </p:cNvPicPr>
          <p:nvPr/>
        </p:nvPicPr>
        <p:blipFill>
          <a:blip r:embed="rId2" cstate="print"/>
          <a:srcRect/>
          <a:stretch>
            <a:fillRect/>
          </a:stretch>
        </p:blipFill>
        <p:spPr bwMode="auto">
          <a:xfrm>
            <a:off x="1891656" y="993209"/>
            <a:ext cx="8136904" cy="2160240"/>
          </a:xfrm>
          <a:prstGeom prst="rect">
            <a:avLst/>
          </a:prstGeom>
          <a:noFill/>
        </p:spPr>
      </p:pic>
      <p:sp>
        <p:nvSpPr>
          <p:cNvPr id="3" name="ZoneTexte 2"/>
          <p:cNvSpPr txBox="1"/>
          <p:nvPr/>
        </p:nvSpPr>
        <p:spPr>
          <a:xfrm>
            <a:off x="1643956" y="3573016"/>
            <a:ext cx="8688064" cy="2308324"/>
          </a:xfrm>
          <a:prstGeom prst="rect">
            <a:avLst/>
          </a:prstGeom>
          <a:noFill/>
        </p:spPr>
        <p:txBody>
          <a:bodyPr wrap="square" rtlCol="0">
            <a:spAutoFit/>
          </a:bodyPr>
          <a:lstStyle/>
          <a:p>
            <a:pPr lvl="0" algn="just"/>
            <a:r>
              <a:rPr lang="fr-FR" dirty="0">
                <a:latin typeface="Century Schoolbook" panose="02040604050505020304" pitchFamily="18" charset="0"/>
              </a:rPr>
              <a:t>Le nucléole : Le nucléole est une structure nucléaire connu depuis les années 1960 :</a:t>
            </a:r>
          </a:p>
          <a:p>
            <a:pPr marL="285750" indent="-285750" algn="just">
              <a:buFont typeface="Arial" panose="020B0604020202020204" pitchFamily="34" charset="0"/>
              <a:buChar char="•"/>
            </a:pPr>
            <a:r>
              <a:rPr lang="fr-FR" dirty="0">
                <a:latin typeface="Century Schoolbook" panose="02040604050505020304" pitchFamily="18" charset="0"/>
              </a:rPr>
              <a:t>Il est visible en microscopie par contraste de phase.</a:t>
            </a:r>
          </a:p>
          <a:p>
            <a:pPr marL="285750" indent="-285750" algn="just">
              <a:buFont typeface="Arial" panose="020B0604020202020204" pitchFamily="34" charset="0"/>
              <a:buChar char="•"/>
            </a:pPr>
            <a:r>
              <a:rPr lang="fr-FR" dirty="0">
                <a:latin typeface="Century Schoolbook" panose="02040604050505020304" pitchFamily="18" charset="0"/>
              </a:rPr>
              <a:t>Il n’est entouré d’aucune membrane,</a:t>
            </a:r>
            <a:r>
              <a:rPr lang="fr-FR" dirty="0"/>
              <a:t> il disparaît avant la division cellulaire et réapparaît juste après</a:t>
            </a:r>
            <a:r>
              <a:rPr lang="fr-FR" dirty="0">
                <a:latin typeface="Century Schoolbook" panose="02040604050505020304" pitchFamily="18" charset="0"/>
              </a:rPr>
              <a:t>. </a:t>
            </a:r>
          </a:p>
          <a:p>
            <a:pPr marL="285750" indent="-285750" algn="just">
              <a:buFont typeface="Arial" panose="020B0604020202020204" pitchFamily="34" charset="0"/>
              <a:buChar char="•"/>
            </a:pPr>
            <a:r>
              <a:rPr lang="fr-FR" dirty="0">
                <a:latin typeface="Century Schoolbook" panose="02040604050505020304" pitchFamily="18" charset="0"/>
              </a:rPr>
              <a:t>Connu comme étant le centre de synthèse des ARN ribosomiques (ARNr) et d’assemblage des sous-unités ribosomiques.</a:t>
            </a:r>
          </a:p>
          <a:p>
            <a:pPr marL="285750" indent="-285750" algn="just">
              <a:buFont typeface="Arial" panose="020B0604020202020204" pitchFamily="34" charset="0"/>
              <a:buChar char="•"/>
            </a:pPr>
            <a:r>
              <a:rPr lang="fr-FR" dirty="0">
                <a:latin typeface="Century Schoolbook" panose="02040604050505020304" pitchFamily="18" charset="0"/>
                <a:cs typeface="Times New Roman" pitchFamily="18" charset="0"/>
              </a:rPr>
              <a:t>C</a:t>
            </a:r>
            <a:r>
              <a:rPr lang="fr-FR" dirty="0">
                <a:latin typeface="Century Schoolbook" panose="02040604050505020304" pitchFamily="18" charset="0"/>
                <a:ea typeface="Calibri" pitchFamily="34" charset="0"/>
                <a:cs typeface="Times New Roman" pitchFamily="18" charset="0"/>
              </a:rPr>
              <a:t>es composants biochimiques sont des ARN, de l’ADN et des protéines.</a:t>
            </a:r>
          </a:p>
        </p:txBody>
      </p:sp>
      <p:sp>
        <p:nvSpPr>
          <p:cNvPr id="4" name="ZoneTexte 3"/>
          <p:cNvSpPr txBox="1"/>
          <p:nvPr/>
        </p:nvSpPr>
        <p:spPr>
          <a:xfrm>
            <a:off x="1900660" y="111978"/>
            <a:ext cx="2808312" cy="461665"/>
          </a:xfrm>
          <a:prstGeom prst="rect">
            <a:avLst/>
          </a:prstGeom>
          <a:noFill/>
        </p:spPr>
        <p:txBody>
          <a:bodyPr wrap="square" rtlCol="0">
            <a:spAutoFit/>
          </a:bodyPr>
          <a:lstStyle/>
          <a:p>
            <a:r>
              <a:rPr lang="fr-FR" sz="2400" b="1" dirty="0">
                <a:latin typeface="Century Schoolbook" panose="02040604050505020304" pitchFamily="18" charset="0"/>
              </a:rPr>
              <a:t>Le nucléole: </a:t>
            </a:r>
            <a:endParaRPr lang="fr-FR" sz="2400" b="1" dirty="0"/>
          </a:p>
        </p:txBody>
      </p:sp>
    </p:spTree>
    <p:extLst>
      <p:ext uri="{BB962C8B-B14F-4D97-AF65-F5344CB8AC3E}">
        <p14:creationId xmlns:p14="http://schemas.microsoft.com/office/powerpoint/2010/main" val="15828683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Image associée"/>
          <p:cNvPicPr>
            <a:picLocks noChangeAspect="1" noChangeArrowheads="1"/>
          </p:cNvPicPr>
          <p:nvPr/>
        </p:nvPicPr>
        <p:blipFill>
          <a:blip r:embed="rId2" cstate="print"/>
          <a:srcRect/>
          <a:stretch>
            <a:fillRect/>
          </a:stretch>
        </p:blipFill>
        <p:spPr bwMode="auto">
          <a:xfrm>
            <a:off x="1605856" y="455633"/>
            <a:ext cx="8460432" cy="3456384"/>
          </a:xfrm>
          <a:prstGeom prst="rect">
            <a:avLst/>
          </a:prstGeom>
          <a:noFill/>
        </p:spPr>
      </p:pic>
      <p:sp>
        <p:nvSpPr>
          <p:cNvPr id="5" name="Rectangle 4"/>
          <p:cNvSpPr/>
          <p:nvPr/>
        </p:nvSpPr>
        <p:spPr>
          <a:xfrm>
            <a:off x="1590576" y="116632"/>
            <a:ext cx="3600400" cy="5040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rPr>
              <a:t>La Chromatine</a:t>
            </a:r>
          </a:p>
        </p:txBody>
      </p:sp>
      <p:sp>
        <p:nvSpPr>
          <p:cNvPr id="39939" name="Rectangle 3"/>
          <p:cNvSpPr>
            <a:spLocks noChangeArrowheads="1"/>
          </p:cNvSpPr>
          <p:nvPr/>
        </p:nvSpPr>
        <p:spPr bwMode="auto">
          <a:xfrm>
            <a:off x="1465288" y="3340360"/>
            <a:ext cx="3131840" cy="584775"/>
          </a:xfrm>
          <a:prstGeom prst="rect">
            <a:avLst/>
          </a:prstGeom>
          <a:solidFill>
            <a:srgbClr val="00B0F0"/>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Low" fontAlgn="base">
              <a:spcBef>
                <a:spcPct val="0"/>
              </a:spcBef>
              <a:spcAft>
                <a:spcPct val="0"/>
              </a:spcAft>
            </a:pPr>
            <a:r>
              <a:rPr lang="fr-FR" sz="1600" b="1" dirty="0">
                <a:latin typeface="Times New Roman" pitchFamily="18" charset="0"/>
                <a:ea typeface="Calibri" pitchFamily="34" charset="0"/>
                <a:cs typeface="Times New Roman" pitchFamily="18" charset="0"/>
              </a:rPr>
              <a:t>zones actives d</a:t>
            </a:r>
            <a:r>
              <a:rPr lang="fr-FR" sz="1600" b="1" dirty="0">
                <a:latin typeface="Calibri"/>
                <a:ea typeface="Calibri" pitchFamily="34" charset="0"/>
                <a:cs typeface="Times New Roman" pitchFamily="18" charset="0"/>
              </a:rPr>
              <a:t>’</a:t>
            </a:r>
            <a:r>
              <a:rPr lang="fr-FR" sz="1600" b="1" dirty="0">
                <a:latin typeface="Times New Roman" pitchFamily="18" charset="0"/>
                <a:ea typeface="Calibri" pitchFamily="34" charset="0"/>
                <a:cs typeface="Times New Roman" pitchFamily="18" charset="0"/>
              </a:rPr>
              <a:t>ADN (forte transcription g</a:t>
            </a:r>
            <a:r>
              <a:rPr lang="fr-FR" sz="1600" b="1" dirty="0">
                <a:latin typeface="Calibri"/>
                <a:ea typeface="Calibri" pitchFamily="34" charset="0"/>
                <a:cs typeface="Times New Roman" pitchFamily="18" charset="0"/>
              </a:rPr>
              <a:t>é</a:t>
            </a:r>
            <a:r>
              <a:rPr lang="fr-FR" sz="1600" b="1" dirty="0">
                <a:latin typeface="Times New Roman" pitchFamily="18" charset="0"/>
                <a:ea typeface="Calibri" pitchFamily="34" charset="0"/>
                <a:cs typeface="Times New Roman" pitchFamily="18" charset="0"/>
              </a:rPr>
              <a:t>nique).</a:t>
            </a:r>
            <a:endParaRPr lang="fr-FR" sz="1600" b="1" dirty="0">
              <a:latin typeface="Arial" pitchFamily="34" charset="0"/>
              <a:cs typeface="Arial" pitchFamily="34" charset="0"/>
            </a:endParaRPr>
          </a:p>
        </p:txBody>
      </p:sp>
      <p:sp>
        <p:nvSpPr>
          <p:cNvPr id="7" name="Rectangle 6"/>
          <p:cNvSpPr/>
          <p:nvPr/>
        </p:nvSpPr>
        <p:spPr>
          <a:xfrm>
            <a:off x="1516212" y="875257"/>
            <a:ext cx="2345680" cy="646331"/>
          </a:xfrm>
          <a:prstGeom prst="rect">
            <a:avLst/>
          </a:prstGeom>
          <a:solidFill>
            <a:srgbClr val="00B0F0"/>
          </a:solidFill>
        </p:spPr>
        <p:txBody>
          <a:bodyPr wrap="square">
            <a:spAutoFit/>
          </a:bodyPr>
          <a:lstStyle/>
          <a:p>
            <a:r>
              <a:rPr lang="fr-FR" b="1" dirty="0"/>
              <a:t>zones inactives d’ADN (non transcrites). </a:t>
            </a:r>
          </a:p>
        </p:txBody>
      </p:sp>
      <p:sp>
        <p:nvSpPr>
          <p:cNvPr id="2" name="Rectangle 1"/>
          <p:cNvSpPr/>
          <p:nvPr/>
        </p:nvSpPr>
        <p:spPr>
          <a:xfrm>
            <a:off x="1516212" y="4853626"/>
            <a:ext cx="8876580" cy="1754326"/>
          </a:xfrm>
          <a:prstGeom prst="rect">
            <a:avLst/>
          </a:prstGeom>
        </p:spPr>
        <p:txBody>
          <a:bodyPr wrap="square">
            <a:spAutoFit/>
          </a:bodyPr>
          <a:lstStyle/>
          <a:p>
            <a:pPr algn="just"/>
            <a:r>
              <a:rPr lang="fr-FR" dirty="0">
                <a:solidFill>
                  <a:schemeClr val="tx2">
                    <a:lumMod val="60000"/>
                    <a:lumOff val="40000"/>
                  </a:schemeClr>
                </a:solidFill>
              </a:rPr>
              <a:t>L‘Hétérochromatine</a:t>
            </a:r>
            <a:r>
              <a:rPr lang="fr-FR" dirty="0"/>
              <a:t> qui est localisée principalement en périphérie du noyau et dans le nucléole et </a:t>
            </a:r>
            <a:r>
              <a:rPr lang="fr-FR" dirty="0">
                <a:solidFill>
                  <a:schemeClr val="tx2">
                    <a:lumMod val="60000"/>
                    <a:lumOff val="40000"/>
                  </a:schemeClr>
                </a:solidFill>
              </a:rPr>
              <a:t>l‘Euchromatine </a:t>
            </a:r>
            <a:r>
              <a:rPr lang="fr-FR" dirty="0"/>
              <a:t>qui est répartie à l'intérieur du nucléoplasme. </a:t>
            </a:r>
          </a:p>
          <a:p>
            <a:pPr marL="285750" indent="-285750" algn="just">
              <a:buFont typeface="Arial" panose="020B0604020202020204" pitchFamily="34" charset="0"/>
              <a:buChar char="•"/>
            </a:pPr>
            <a:r>
              <a:rPr lang="fr-FR" dirty="0"/>
              <a:t>L’Hétérochromatine : C’est la forme condensée de la chromatine pendant l’interphase. Elle correspond aux zones inactives d’ADN (non transcrites). </a:t>
            </a:r>
          </a:p>
          <a:p>
            <a:pPr marL="285750" indent="-285750" algn="just">
              <a:buFont typeface="Arial" panose="020B0604020202020204" pitchFamily="34" charset="0"/>
              <a:buChar char="•"/>
            </a:pPr>
            <a:r>
              <a:rPr lang="fr-FR" dirty="0"/>
              <a:t>L’ Euchromatine : C’est la forme décondensée de la chromatine pendant l’interphase (très faiblement colorée). Elle correspond aux zones actives d’ADN (forte transcription génique).</a:t>
            </a:r>
          </a:p>
        </p:txBody>
      </p:sp>
      <p:sp>
        <p:nvSpPr>
          <p:cNvPr id="3" name="Rectangle 2"/>
          <p:cNvSpPr/>
          <p:nvPr/>
        </p:nvSpPr>
        <p:spPr>
          <a:xfrm>
            <a:off x="1516212" y="3964219"/>
            <a:ext cx="8954640" cy="923330"/>
          </a:xfrm>
          <a:prstGeom prst="rect">
            <a:avLst/>
          </a:prstGeom>
        </p:spPr>
        <p:txBody>
          <a:bodyPr wrap="square">
            <a:spAutoFit/>
          </a:bodyPr>
          <a:lstStyle/>
          <a:p>
            <a:r>
              <a:rPr lang="fr-FR" b="1" dirty="0"/>
              <a:t>La chromatine </a:t>
            </a:r>
            <a:r>
              <a:rPr lang="fr-FR" dirty="0"/>
              <a:t>: constitue le support de l'information génétique, c'est une structure complexe constituée de brins d’ADN disposé en double hélice et des protéines liées à l’ADN (histones). La chromatine peut être divisée en deux types: </a:t>
            </a:r>
          </a:p>
        </p:txBody>
      </p:sp>
    </p:spTree>
    <p:extLst>
      <p:ext uri="{BB962C8B-B14F-4D97-AF65-F5344CB8AC3E}">
        <p14:creationId xmlns:p14="http://schemas.microsoft.com/office/powerpoint/2010/main" val="1975694442"/>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14703</TotalTime>
  <Words>654</Words>
  <Application>Microsoft Office PowerPoint</Application>
  <PresentationFormat>Grand écran</PresentationFormat>
  <Paragraphs>55</Paragraphs>
  <Slides>13</Slides>
  <Notes>0</Notes>
  <HiddenSlides>0</HiddenSlides>
  <MMClips>1</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13</vt:i4>
      </vt:variant>
    </vt:vector>
  </HeadingPairs>
  <TitlesOfParts>
    <vt:vector size="19" baseType="lpstr">
      <vt:lpstr>Arial</vt:lpstr>
      <vt:lpstr>Calibri</vt:lpstr>
      <vt:lpstr>Calibri Light</vt:lpstr>
      <vt:lpstr>Century Schoolbook</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amel biol</dc:creator>
  <cp:lastModifiedBy>Amel</cp:lastModifiedBy>
  <cp:revision>18</cp:revision>
  <dcterms:created xsi:type="dcterms:W3CDTF">2022-04-30T00:16:43Z</dcterms:created>
  <dcterms:modified xsi:type="dcterms:W3CDTF">2024-04-17T21:34:39Z</dcterms:modified>
</cp:coreProperties>
</file>