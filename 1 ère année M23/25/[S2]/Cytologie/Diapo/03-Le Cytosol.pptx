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  <p:sldId id="258" r:id="rId3"/>
    <p:sldId id="276" r:id="rId4"/>
    <p:sldId id="259" r:id="rId5"/>
    <p:sldId id="280" r:id="rId6"/>
    <p:sldId id="260" r:id="rId7"/>
    <p:sldId id="265" r:id="rId8"/>
    <p:sldId id="267" r:id="rId9"/>
    <p:sldId id="271" r:id="rId10"/>
    <p:sldId id="272" r:id="rId11"/>
    <p:sldId id="274" r:id="rId12"/>
    <p:sldId id="275" r:id="rId13"/>
    <p:sldId id="273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38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6EDB8-95E8-41D9-A550-388009D75038}" type="datetimeFigureOut">
              <a:rPr lang="fr-FR" smtClean="0"/>
              <a:pPr/>
              <a:t>10/02/2024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BB3D0-5A8B-47D7-93B3-0F302886B2E4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83671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836712"/>
            <a:ext cx="9144000" cy="15121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Définition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Le cytoplasme: est le milieu cellulaire délimité par la membrane plasmique. C’est une phase liquide qui comporte de nombreux organistes et structures en suspension dans le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cytosol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5362" name="Picture 2" descr="RÃ©sultat de recherche d'images pour &quot;cellule cytosol&quot;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2348881"/>
            <a:ext cx="7020897" cy="450912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38" name="AutoShape 2" descr="RÃ©sultat de recherche d'images pour &quot;centrifugation diffÃ©rentielle cytosquelette cytosol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0" y="980728"/>
            <a:ext cx="9144000" cy="19442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 cytosol   (hyaloplasme) :</a:t>
            </a: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est la fraction liquide, </a:t>
            </a:r>
            <a:r>
              <a:rPr lang="fr-FR" sz="24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hyaline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et homogène dans laquelle baignent les organites cellulaire.  Il correspond au surnageant qui reste après sédimentation de tous les organites.</a:t>
            </a:r>
          </a:p>
          <a:p>
            <a:pPr algn="ctr"/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345" name="AutoShape 9" descr="RÃ©sultat de recherche d'images pour &quot;ultracentrifugation diffÃ©rentielle cytosol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4347" name="AutoShape 11" descr="RÃ©sultat de recherche d'images pour &quot;ultracentrifugation diffÃ©rentielle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pic>
        <p:nvPicPr>
          <p:cNvPr id="23" name="Picture 14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9512" y="2708920"/>
            <a:ext cx="8784976" cy="396281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1475656" y="2050504"/>
          <a:ext cx="60960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Compartiment</a:t>
                      </a:r>
                      <a:r>
                        <a:rPr lang="fr-FR" sz="2400" baseline="0" dirty="0" smtClean="0"/>
                        <a:t> 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% du volume cellulaire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Cytosol 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54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Mitochondries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22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REG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9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REL+Golgi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6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Noyau 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6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Peroxysomes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1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Lysosomes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1</a:t>
                      </a:r>
                      <a:endParaRPr lang="fr-FR" sz="2400" dirty="0"/>
                    </a:p>
                  </a:txBody>
                  <a:tcPr/>
                </a:tc>
              </a:tr>
              <a:tr h="380014"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Endosomes</a:t>
                      </a:r>
                      <a:endParaRPr lang="fr-F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sz="2400" dirty="0" smtClean="0"/>
                        <a:t>           1</a:t>
                      </a:r>
                      <a:r>
                        <a:rPr lang="fr-FR" sz="2400" baseline="0" dirty="0" smtClean="0"/>
                        <a:t> </a:t>
                      </a:r>
                      <a:endParaRPr lang="fr-FR" sz="24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539552" y="1052736"/>
            <a:ext cx="8352928" cy="8309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2400" b="1" dirty="0" smtClean="0"/>
              <a:t>Volume du cytosol et des organites</a:t>
            </a:r>
          </a:p>
          <a:p>
            <a:pPr algn="ctr"/>
            <a:r>
              <a:rPr lang="fr-FR" sz="2400" b="1" dirty="0" smtClean="0"/>
              <a:t>Intracellulaires dans une cellule hépatique</a:t>
            </a:r>
            <a:endParaRPr lang="fr-FR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2" descr="RÃ©sultat de recherche d'images pour &quot;centrifugation diffÃ©rentielle cytosquelette cytosol&quot;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6" name="Rectangle à coins arrondis 5"/>
          <p:cNvSpPr/>
          <p:nvPr/>
        </p:nvSpPr>
        <p:spPr>
          <a:xfrm>
            <a:off x="539552" y="1340768"/>
            <a:ext cx="8604448" cy="551723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Rectangle 6"/>
          <p:cNvSpPr/>
          <p:nvPr/>
        </p:nvSpPr>
        <p:spPr>
          <a:xfrm>
            <a:off x="539552" y="2276872"/>
            <a:ext cx="5112568" cy="86409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Eau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environ 85% de cytosol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55576" y="5301208"/>
            <a:ext cx="7776864" cy="115212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u="sng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Les  macromolécules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polysaccharides, protéines (dont les protéines de cytosquelette) , enzymes,  glycoprotéines,  acides nucléiques…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27584" y="3068960"/>
            <a:ext cx="8100392" cy="1080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Petites molécules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telles que les ions (Na+, K+, Ca++…) et les gaz dissous tels que ( CO2 et O2).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3568" y="4077072"/>
            <a:ext cx="8388424" cy="136815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Les molécules de taille moyenne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 Glucides, lipides, acides aminés, nucléotides et métabolites divers.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59632" y="1556792"/>
            <a:ext cx="6696744" cy="72008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Ultrastructure et composition chimique</a:t>
            </a:r>
            <a:endParaRPr lang="fr-FR" sz="2400" b="1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9144000" cy="105273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5037692"/>
              </p:ext>
            </p:extLst>
          </p:nvPr>
        </p:nvGraphicFramePr>
        <p:xfrm>
          <a:off x="899592" y="1700810"/>
          <a:ext cx="7704855" cy="44644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285"/>
                <a:gridCol w="2568285"/>
                <a:gridCol w="2568285"/>
              </a:tblGrid>
              <a:tr h="846083">
                <a:tc>
                  <a:txBody>
                    <a:bodyPr/>
                    <a:lstStyle/>
                    <a:p>
                      <a:r>
                        <a:rPr lang="fr-FR" dirty="0" smtClean="0"/>
                        <a:t>Ions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Cytosol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Milieu extracellulaire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K+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139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Na+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145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Cl-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4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116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HCO</a:t>
                      </a:r>
                      <a:r>
                        <a:rPr lang="fr-FR" sz="1600" dirty="0" smtClean="0"/>
                        <a:t>-3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12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29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Mg</a:t>
                      </a:r>
                      <a:r>
                        <a:rPr lang="fr-FR" sz="1600" dirty="0" smtClean="0"/>
                        <a:t>2+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0.8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1.5</a:t>
                      </a:r>
                      <a:endParaRPr lang="fr-FR" dirty="0"/>
                    </a:p>
                  </a:txBody>
                  <a:tcPr/>
                </a:tc>
              </a:tr>
              <a:tr h="603069">
                <a:tc>
                  <a:txBody>
                    <a:bodyPr/>
                    <a:lstStyle/>
                    <a:p>
                      <a:r>
                        <a:rPr lang="fr-FR" dirty="0" smtClean="0"/>
                        <a:t>Ca</a:t>
                      </a:r>
                      <a:r>
                        <a:rPr lang="fr-FR" sz="1600" dirty="0" smtClean="0"/>
                        <a:t>2+</a:t>
                      </a:r>
                      <a:endParaRPr lang="fr-F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b="1" dirty="0" smtClean="0"/>
                        <a:t>&lt;0.0002 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1.8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3568" y="1124744"/>
            <a:ext cx="8136904" cy="46166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Composition ionique du cytosol des cellules humaines (</a:t>
            </a:r>
            <a:r>
              <a:rPr lang="fr-FR" sz="2400" b="1" dirty="0" err="1" smtClean="0">
                <a:latin typeface="Times New Roman" pitchFamily="18" charset="0"/>
                <a:cs typeface="Times New Roman" pitchFamily="18" charset="0"/>
              </a:rPr>
              <a:t>mM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619672" y="692696"/>
            <a:ext cx="5868144" cy="720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Propriétés du cytosol</a:t>
            </a:r>
            <a:endParaRPr lang="fr-FR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à coins arrondis 3"/>
          <p:cNvSpPr/>
          <p:nvPr/>
        </p:nvSpPr>
        <p:spPr>
          <a:xfrm>
            <a:off x="251520" y="1556792"/>
            <a:ext cx="2160240" cy="50405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Le pH</a:t>
            </a:r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67544" y="2739692"/>
            <a:ext cx="84249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Consistance variable selon l’état physiologique de la cellule (synthèse, dégradation, sécrétion, division et mouvement).</a:t>
            </a:r>
          </a:p>
          <a:p>
            <a:pPr>
              <a:buFont typeface="Wingdings" pitchFamily="2" charset="2"/>
              <a:buChar char="Ø"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le cytosol présente deux aspects différents:</a:t>
            </a:r>
          </a:p>
          <a:p>
            <a:endParaRPr lang="fr-FR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fr-FR" sz="24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Aspect visqueux (gel) 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 lorsque les macromolécules protéiques fibreuses ou globulaires sont liées les unes autres par de fortes liaisons (polymérisation des protéines).</a:t>
            </a:r>
          </a:p>
          <a:p>
            <a:pPr marL="457200" indent="-457200">
              <a:buAutoNum type="arabicPeriod"/>
            </a:pPr>
            <a:endParaRPr lang="fr-FR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AutoNum type="arabicPeriod"/>
            </a:pPr>
            <a:r>
              <a:rPr lang="fr-FR" sz="2400" b="1" u="sng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Aspect liquide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 les liaisons entre les protéines sont faibles (fragmentation des protéines, dépolymérisation).    </a:t>
            </a:r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fr-FR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Le compartiment cytosolique   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2555776" y="1628800"/>
            <a:ext cx="21986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Varie de 7 à 7.4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Rectangle à coins arrondis 7"/>
          <p:cNvSpPr/>
          <p:nvPr/>
        </p:nvSpPr>
        <p:spPr>
          <a:xfrm>
            <a:off x="251520" y="2276872"/>
            <a:ext cx="2664296" cy="504056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 typeface="Wingdings" pitchFamily="2" charset="2"/>
              <a:buChar char="Ø"/>
            </a:pPr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La viscosité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316383" y="4642943"/>
            <a:ext cx="86044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De nombreuses voies métaboliques commencent dans le cytosol et vont se poursuivre après adressage des métabolites dans d’autres compartiments.</a:t>
            </a:r>
            <a:endParaRPr lang="fr-FR" sz="2400" b="1" u="sng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23528" y="5870014"/>
            <a:ext cx="86044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 le cytosol est le site de synthèse et de dégradation de plusieurs molécules, Glucides, protéines, lipides et nucléotides.</a:t>
            </a:r>
            <a:endParaRPr lang="fr-FR" sz="24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835696" y="208545"/>
            <a:ext cx="5364088" cy="72008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8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Principales fonctions</a:t>
            </a:r>
            <a:endParaRPr lang="fr-FR" sz="28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1520" y="967622"/>
            <a:ext cx="3745000" cy="46166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1. Carrefour Métabolique: </a:t>
            </a:r>
            <a:endParaRPr lang="fr-FR" sz="2400" dirty="0"/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556792"/>
            <a:ext cx="7920880" cy="29004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536" y="1704700"/>
            <a:ext cx="7560840" cy="5108676"/>
          </a:xfrm>
          <a:prstGeom prst="rect">
            <a:avLst/>
          </a:prstGeom>
          <a:noFill/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764704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Principales fonctions du cytosol, </a:t>
            </a:r>
            <a:endParaRPr lang="fr-FR" sz="2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4704"/>
            <a:ext cx="534858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2. Synthèse, modification et dégradation des protéines</a:t>
            </a:r>
            <a:endParaRPr lang="fr-FR" sz="2000" b="1" u="sng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Principales fonctions du cytosol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700" name="Picture 4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3547" y="1556792"/>
            <a:ext cx="8470941" cy="5301208"/>
          </a:xfrm>
          <a:prstGeom prst="rect">
            <a:avLst/>
          </a:prstGeom>
          <a:noFill/>
        </p:spPr>
      </p:pic>
      <p:sp>
        <p:nvSpPr>
          <p:cNvPr id="4" name="ZoneTexte 3"/>
          <p:cNvSpPr txBox="1"/>
          <p:nvPr/>
        </p:nvSpPr>
        <p:spPr>
          <a:xfrm>
            <a:off x="0" y="1052736"/>
            <a:ext cx="3347864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2400" b="1" dirty="0" smtClean="0">
                <a:solidFill>
                  <a:srgbClr val="FF0000"/>
                </a:solidFill>
              </a:rPr>
              <a:t>3.Transduction de signal</a:t>
            </a:r>
            <a:endParaRPr lang="fr-FR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1556792"/>
            <a:ext cx="864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dirty="0" smtClean="0"/>
              <a:t>Des sucres et des lipides sous forme polymérisée ayant l’aspect d’organites sont stockés dans le cytosol.  Exemple: </a:t>
            </a:r>
            <a:r>
              <a:rPr lang="fr-FR" sz="2400" b="1" u="sng" dirty="0" smtClean="0"/>
              <a:t>glycogène</a:t>
            </a:r>
            <a:r>
              <a:rPr lang="fr-FR" sz="2400" b="1" dirty="0" smtClean="0"/>
              <a:t> et des </a:t>
            </a:r>
            <a:r>
              <a:rPr lang="fr-FR" sz="2400" b="1" u="sng" dirty="0" smtClean="0"/>
              <a:t>inclusions lipidiques</a:t>
            </a:r>
            <a:r>
              <a:rPr lang="fr-FR" sz="2400" b="1" dirty="0" smtClean="0"/>
              <a:t>. </a:t>
            </a:r>
            <a:endParaRPr lang="fr-FR" sz="2400" b="1" dirty="0"/>
          </a:p>
        </p:txBody>
      </p:sp>
      <p:sp>
        <p:nvSpPr>
          <p:cNvPr id="5" name="Rectangle 4"/>
          <p:cNvSpPr/>
          <p:nvPr/>
        </p:nvSpPr>
        <p:spPr>
          <a:xfrm>
            <a:off x="0" y="-27384"/>
            <a:ext cx="9144000" cy="108012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Principales fonctions du cytosol</a:t>
            </a:r>
            <a:endParaRPr lang="fr-FR" sz="3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3528" y="2708920"/>
            <a:ext cx="882047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Glycogène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 il est retrouvé dans la majorité des cellules, sauf dans les neurones. Et abondant dans les cellules spécialisées dans le stockage du glucose en glycogène, ex : hépatocytes, cellules musculaires.</a:t>
            </a:r>
          </a:p>
          <a:p>
            <a:endParaRPr lang="fr-FR" sz="2400" b="1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fr-FR" sz="2400" b="1" u="sng" dirty="0" smtClean="0">
                <a:latin typeface="Times New Roman" pitchFamily="18" charset="0"/>
                <a:cs typeface="Times New Roman" pitchFamily="18" charset="0"/>
              </a:rPr>
              <a:t> Les inclusion lipidiques</a:t>
            </a:r>
            <a:r>
              <a:rPr lang="fr-FR" sz="2400" b="1" dirty="0" smtClean="0">
                <a:latin typeface="Times New Roman" pitchFamily="18" charset="0"/>
                <a:cs typeface="Times New Roman" pitchFamily="18" charset="0"/>
              </a:rPr>
              <a:t>: abondantes dans les cellules spécialisées dans le stockage des acides gras et du cholestérol, ex : adipocytes, cellules sécrétant les hormones stéroïdes, hépatocytes (rôle de réserve). </a:t>
            </a:r>
            <a:endParaRPr lang="fr-FR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79512" y="1124744"/>
            <a:ext cx="1782347" cy="46166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none">
            <a:spAutoFit/>
          </a:bodyPr>
          <a:lstStyle/>
          <a:p>
            <a:r>
              <a:rPr lang="fr-FR" sz="2400" b="1" u="sng" dirty="0" smtClean="0">
                <a:solidFill>
                  <a:srgbClr val="FF0000"/>
                </a:solidFill>
              </a:rPr>
              <a:t>4. Stockage: </a:t>
            </a:r>
            <a:endParaRPr lang="fr-FR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Image associÃ©e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3528" y="1124744"/>
            <a:ext cx="4824536" cy="4968552"/>
          </a:xfrm>
          <a:prstGeom prst="rect">
            <a:avLst/>
          </a:prstGeom>
          <a:noFill/>
        </p:spPr>
      </p:pic>
      <p:sp>
        <p:nvSpPr>
          <p:cNvPr id="4" name="Rectangle 3"/>
          <p:cNvSpPr/>
          <p:nvPr/>
        </p:nvSpPr>
        <p:spPr>
          <a:xfrm>
            <a:off x="611560" y="188640"/>
            <a:ext cx="4248472" cy="9144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Glycogène dans la cellule musculaire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60032" y="1124744"/>
            <a:ext cx="4283968" cy="4968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5436096" y="6165304"/>
            <a:ext cx="26480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 smtClean="0"/>
              <a:t>Coloration spécifique: APS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268761"/>
            <a:ext cx="6197674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/>
          <p:cNvSpPr/>
          <p:nvPr/>
        </p:nvSpPr>
        <p:spPr>
          <a:xfrm>
            <a:off x="611560" y="188640"/>
            <a:ext cx="424847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Glycogène dans la cellule hépatique</a:t>
            </a:r>
            <a:endParaRPr lang="fr-FR" sz="2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4248472" cy="9144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2400" b="1" dirty="0" smtClean="0">
                <a:solidFill>
                  <a:schemeClr val="tx1"/>
                </a:solidFill>
              </a:rPr>
              <a:t>Inclusions lipidiques dans la cellule adipeuse</a:t>
            </a:r>
            <a:endParaRPr lang="fr-FR" sz="2400" b="1" dirty="0">
              <a:solidFill>
                <a:schemeClr val="tx1"/>
              </a:solidFill>
            </a:endParaRPr>
          </a:p>
        </p:txBody>
      </p:sp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0" y="1412776"/>
            <a:ext cx="4572000" cy="46649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4283968" y="6211669"/>
            <a:ext cx="48600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smtClean="0"/>
              <a:t>par la coloration au noir soudan B</a:t>
            </a:r>
          </a:p>
          <a:p>
            <a:r>
              <a:rPr lang="fr-FR" b="1" dirty="0" smtClean="0"/>
              <a:t>dans les hépatocytes </a:t>
            </a:r>
            <a:endParaRPr lang="fr-FR" dirty="0"/>
          </a:p>
        </p:txBody>
      </p:sp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84784"/>
            <a:ext cx="4355976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0" y="6211669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smtClean="0"/>
              <a:t>par la coloration au </a:t>
            </a:r>
            <a:r>
              <a:rPr lang="fr-FR" b="1" dirty="0" err="1" smtClean="0"/>
              <a:t>Oil</a:t>
            </a:r>
            <a:r>
              <a:rPr lang="fr-FR" b="1" dirty="0" smtClean="0"/>
              <a:t> </a:t>
            </a:r>
            <a:r>
              <a:rPr lang="fr-FR" b="1" dirty="0" err="1" smtClean="0"/>
              <a:t>red</a:t>
            </a:r>
            <a:r>
              <a:rPr lang="fr-FR" b="1" dirty="0" smtClean="0"/>
              <a:t> O </a:t>
            </a:r>
          </a:p>
          <a:p>
            <a:r>
              <a:rPr lang="fr-FR" b="1" dirty="0" smtClean="0"/>
              <a:t>dans les adipocytes 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1531</TotalTime>
  <Words>554</Words>
  <Application>Microsoft Office PowerPoint</Application>
  <PresentationFormat>Affichage à l'écran (4:3)</PresentationFormat>
  <Paragraphs>87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HP</dc:creator>
  <cp:lastModifiedBy>Amel</cp:lastModifiedBy>
  <cp:revision>142</cp:revision>
  <dcterms:created xsi:type="dcterms:W3CDTF">2019-02-10T08:30:46Z</dcterms:created>
  <dcterms:modified xsi:type="dcterms:W3CDTF">2024-02-10T22:03:59Z</dcterms:modified>
</cp:coreProperties>
</file>