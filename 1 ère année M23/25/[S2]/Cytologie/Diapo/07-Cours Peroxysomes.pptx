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58" r:id="rId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B8BCA-2B66-4AD1-85CC-6174E1FF6787}" type="datetimeFigureOut">
              <a:rPr lang="fr-FR" smtClean="0"/>
              <a:t>17/04/2024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2EBC2-4B44-4D7C-BD63-66C554142C1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892351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B8BCA-2B66-4AD1-85CC-6174E1FF6787}" type="datetimeFigureOut">
              <a:rPr lang="fr-FR" smtClean="0"/>
              <a:t>17/04/2024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2EBC2-4B44-4D7C-BD63-66C554142C1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347202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B8BCA-2B66-4AD1-85CC-6174E1FF6787}" type="datetimeFigureOut">
              <a:rPr lang="fr-FR" smtClean="0"/>
              <a:t>17/04/2024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2EBC2-4B44-4D7C-BD63-66C554142C1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35823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B8BCA-2B66-4AD1-85CC-6174E1FF6787}" type="datetimeFigureOut">
              <a:rPr lang="fr-FR" smtClean="0"/>
              <a:t>17/04/2024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2EBC2-4B44-4D7C-BD63-66C554142C1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895136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B8BCA-2B66-4AD1-85CC-6174E1FF6787}" type="datetimeFigureOut">
              <a:rPr lang="fr-FR" smtClean="0"/>
              <a:t>17/04/2024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2EBC2-4B44-4D7C-BD63-66C554142C1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748022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B8BCA-2B66-4AD1-85CC-6174E1FF6787}" type="datetimeFigureOut">
              <a:rPr lang="fr-FR" smtClean="0"/>
              <a:t>17/04/2024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2EBC2-4B44-4D7C-BD63-66C554142C1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50849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B8BCA-2B66-4AD1-85CC-6174E1FF6787}" type="datetimeFigureOut">
              <a:rPr lang="fr-FR" smtClean="0"/>
              <a:t>17/04/2024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2EBC2-4B44-4D7C-BD63-66C554142C1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818168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B8BCA-2B66-4AD1-85CC-6174E1FF6787}" type="datetimeFigureOut">
              <a:rPr lang="fr-FR" smtClean="0"/>
              <a:t>17/04/2024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2EBC2-4B44-4D7C-BD63-66C554142C1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919679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B8BCA-2B66-4AD1-85CC-6174E1FF6787}" type="datetimeFigureOut">
              <a:rPr lang="fr-FR" smtClean="0"/>
              <a:t>17/04/2024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2EBC2-4B44-4D7C-BD63-66C554142C1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853543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B8BCA-2B66-4AD1-85CC-6174E1FF6787}" type="datetimeFigureOut">
              <a:rPr lang="fr-FR" smtClean="0"/>
              <a:t>17/04/2024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2EBC2-4B44-4D7C-BD63-66C554142C1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436873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B8BCA-2B66-4AD1-85CC-6174E1FF6787}" type="datetimeFigureOut">
              <a:rPr lang="fr-FR" smtClean="0"/>
              <a:t>17/04/2024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2EBC2-4B44-4D7C-BD63-66C554142C1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351001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BB8BCA-2B66-4AD1-85CC-6174E1FF6787}" type="datetimeFigureOut">
              <a:rPr lang="fr-FR" smtClean="0"/>
              <a:t>17/04/2024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C2EBC2-4B44-4D7C-BD63-66C554142C1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384314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 rotWithShape="1">
          <a:blip r:embed="rId2"/>
          <a:srcRect l="26508" t="30414" r="42114" b="21348"/>
          <a:stretch/>
        </p:blipFill>
        <p:spPr>
          <a:xfrm>
            <a:off x="3850783" y="2086376"/>
            <a:ext cx="4726547" cy="4085407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204378" y="681438"/>
            <a:ext cx="380585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3200" b="1" dirty="0" smtClean="0">
                <a:latin typeface="Century Schoolbook" panose="02040604050505020304" pitchFamily="18" charset="0"/>
              </a:rPr>
              <a:t>Les peroxysomes</a:t>
            </a:r>
            <a:endParaRPr lang="fr-FR" sz="32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86094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99247" y="550478"/>
            <a:ext cx="11462196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dirty="0" smtClean="0">
                <a:latin typeface="Century Schoolbook" panose="02040604050505020304" pitchFamily="18" charset="0"/>
              </a:rPr>
              <a:t>Ultra structure des peroxysomes :</a:t>
            </a:r>
          </a:p>
          <a:p>
            <a:r>
              <a:rPr lang="fr-FR" dirty="0" smtClean="0">
                <a:latin typeface="Century Schoolbook" panose="02040604050505020304" pitchFamily="18" charset="0"/>
              </a:rPr>
              <a:t>Les peroxysomes sont visibles uniquement en microscopie électronique.</a:t>
            </a:r>
          </a:p>
          <a:p>
            <a:r>
              <a:rPr lang="fr-FR" dirty="0" smtClean="0">
                <a:latin typeface="Century Schoolbook" panose="02040604050505020304" pitchFamily="18" charset="0"/>
              </a:rPr>
              <a:t>Ce sont des organites sphériques ou ovalaires, de 0,15 à 1,7μm de diamètre.</a:t>
            </a:r>
          </a:p>
          <a:p>
            <a:r>
              <a:rPr lang="fr-FR" dirty="0" smtClean="0">
                <a:latin typeface="Century Schoolbook" panose="02040604050505020304" pitchFamily="18" charset="0"/>
              </a:rPr>
              <a:t>Leur nombre varie en fonction du type cellulaire et l’activité de la cellule elle-même.</a:t>
            </a:r>
          </a:p>
          <a:p>
            <a:r>
              <a:rPr lang="fr-FR" dirty="0" smtClean="0">
                <a:latin typeface="Century Schoolbook" panose="02040604050505020304" pitchFamily="18" charset="0"/>
              </a:rPr>
              <a:t>Le nombre est très élevé dans le système nerveux et le Foie (jusqu’à 1000/hépatocyte). </a:t>
            </a:r>
          </a:p>
          <a:p>
            <a:r>
              <a:rPr lang="fr-FR" dirty="0" smtClean="0">
                <a:latin typeface="Century Schoolbook" panose="02040604050505020304" pitchFamily="18" charset="0"/>
              </a:rPr>
              <a:t>Ils forment un réseau dynamique, dit : canaliculaire, par l’intermédiaire duquel ils sont reliés entre eux, ce réseau est indépendant des autres organites.</a:t>
            </a:r>
            <a:endParaRPr lang="fr-FR" dirty="0">
              <a:latin typeface="Century Schoolbook" panose="02040604050505020304" pitchFamily="18" charset="0"/>
            </a:endParaRP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 rotWithShape="1">
          <a:blip r:embed="rId2"/>
          <a:srcRect l="21659" t="27421" r="22416" b="24340"/>
          <a:stretch/>
        </p:blipFill>
        <p:spPr>
          <a:xfrm>
            <a:off x="2073499" y="3013657"/>
            <a:ext cx="8345509" cy="3844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79193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671" y="1192394"/>
            <a:ext cx="10985679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fr-FR" b="1" dirty="0" smtClean="0">
                <a:latin typeface="Century Schoolbook" panose="02040604050505020304" pitchFamily="18" charset="0"/>
              </a:rPr>
              <a:t>La composition biochimique des peroxysomes</a:t>
            </a:r>
          </a:p>
          <a:p>
            <a:pPr algn="just"/>
            <a:r>
              <a:rPr lang="fr-FR" b="1" dirty="0" smtClean="0">
                <a:latin typeface="Century Schoolbook" panose="02040604050505020304" pitchFamily="18" charset="0"/>
              </a:rPr>
              <a:t>1) La membrane :</a:t>
            </a:r>
            <a:r>
              <a:rPr lang="fr-FR" dirty="0" smtClean="0">
                <a:latin typeface="Century Schoolbook" panose="02040604050505020304" pitchFamily="18" charset="0"/>
              </a:rPr>
              <a:t> est une bicouche lipidique </a:t>
            </a:r>
            <a:r>
              <a:rPr lang="fr-FR" dirty="0" smtClean="0">
                <a:latin typeface="Century Schoolbook" panose="02040604050505020304" pitchFamily="18" charset="0"/>
              </a:rPr>
              <a:t>contenant 30% de lipides et 70% de protéine, </a:t>
            </a:r>
            <a:r>
              <a:rPr lang="fr-FR" dirty="0" smtClean="0">
                <a:latin typeface="Century Schoolbook" panose="02040604050505020304" pitchFamily="18" charset="0"/>
              </a:rPr>
              <a:t>comparable à celle du RE.</a:t>
            </a:r>
          </a:p>
          <a:p>
            <a:pPr algn="just"/>
            <a:r>
              <a:rPr lang="fr-FR" dirty="0" smtClean="0">
                <a:latin typeface="Century Schoolbook" panose="02040604050505020304" pitchFamily="18" charset="0"/>
              </a:rPr>
              <a:t>Elle contient 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dirty="0">
                <a:latin typeface="Century Schoolbook" panose="02040604050505020304" pitchFamily="18" charset="0"/>
              </a:rPr>
              <a:t>D</a:t>
            </a:r>
            <a:r>
              <a:rPr lang="fr-FR" dirty="0" smtClean="0">
                <a:latin typeface="Century Schoolbook" panose="02040604050505020304" pitchFamily="18" charset="0"/>
              </a:rPr>
              <a:t>es perméases </a:t>
            </a:r>
            <a:r>
              <a:rPr lang="fr-FR" dirty="0" smtClean="0">
                <a:latin typeface="Century Schoolbook" panose="02040604050505020304" pitchFamily="18" charset="0"/>
              </a:rPr>
              <a:t>qui permettent l’entrée des métabolites dans le peroxysome</a:t>
            </a:r>
            <a:r>
              <a:rPr lang="fr-FR" dirty="0" smtClean="0">
                <a:latin typeface="Century Schoolbook" panose="02040604050505020304" pitchFamily="18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dirty="0" smtClean="0">
                <a:latin typeface="Century Schoolbook" panose="02040604050505020304" pitchFamily="18" charset="0"/>
              </a:rPr>
              <a:t>D</a:t>
            </a:r>
            <a:r>
              <a:rPr lang="fr-FR" dirty="0" smtClean="0">
                <a:latin typeface="Century Schoolbook" panose="02040604050505020304" pitchFamily="18" charset="0"/>
              </a:rPr>
              <a:t>es protéines membranaires spécifiques aux peroxysomes, importées du cytoplasme (il existe 24 </a:t>
            </a:r>
            <a:r>
              <a:rPr lang="fr-FR" dirty="0" err="1" smtClean="0">
                <a:latin typeface="Century Schoolbook" panose="02040604050505020304" pitchFamily="18" charset="0"/>
              </a:rPr>
              <a:t>peroxines</a:t>
            </a:r>
            <a:r>
              <a:rPr lang="fr-FR" dirty="0" smtClean="0">
                <a:latin typeface="Century Schoolbook" panose="02040604050505020304" pitchFamily="18" charset="0"/>
              </a:rPr>
              <a:t> actuellement connues)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dirty="0" smtClean="0">
                <a:latin typeface="Century Schoolbook" panose="02040604050505020304" pitchFamily="18" charset="0"/>
              </a:rPr>
              <a:t>Un cytochrome P450 spécifique aux peroxysomes.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dirty="0" smtClean="0">
                <a:latin typeface="Century Schoolbook" panose="02040604050505020304" pitchFamily="18" charset="0"/>
              </a:rPr>
              <a:t>D’autres protéines ayants une activité enzymatique qui interviennent dans le métabolisme des acides gras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fr-FR" dirty="0">
              <a:latin typeface="Century Schoolbook" panose="02040604050505020304" pitchFamily="18" charset="0"/>
            </a:endParaRPr>
          </a:p>
          <a:p>
            <a:pPr algn="just"/>
            <a:r>
              <a:rPr lang="fr-FR" b="1" dirty="0" smtClean="0">
                <a:latin typeface="Century Schoolbook" panose="02040604050505020304" pitchFamily="18" charset="0"/>
              </a:rPr>
              <a:t>2) La matrice :</a:t>
            </a:r>
            <a:r>
              <a:rPr lang="fr-FR" dirty="0" smtClean="0">
                <a:latin typeface="Century Schoolbook" panose="02040604050505020304" pitchFamily="18" charset="0"/>
              </a:rPr>
              <a:t> on retrouve des enzymes telles que: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dirty="0" smtClean="0">
                <a:latin typeface="Century Schoolbook" panose="02040604050505020304" pitchFamily="18" charset="0"/>
              </a:rPr>
              <a:t>Les Oxydases : qui dégradent des métabolites en consommant de l’oxygène.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smtClean="0">
                <a:latin typeface="Century Schoolbook" panose="02040604050505020304" pitchFamily="18" charset="0"/>
              </a:rPr>
              <a:t>Les Catalases : sont des protéines qui assurent la destruction du peroxyde d’hydrogène H2O2 et sa transformation en H2O. </a:t>
            </a:r>
          </a:p>
          <a:p>
            <a:endParaRPr lang="fr-FR" dirty="0" smtClean="0">
              <a:latin typeface="Century Schoolbook" panose="02040604050505020304" pitchFamily="18" charset="0"/>
            </a:endParaRPr>
          </a:p>
          <a:p>
            <a:pPr algn="just"/>
            <a:endParaRPr lang="fr-FR" dirty="0" smtClean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11810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97982" y="1322907"/>
            <a:ext cx="10449059" cy="38472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800" dirty="0" smtClean="0">
                <a:latin typeface="Century Schoolbook" panose="02040604050505020304" pitchFamily="18" charset="0"/>
              </a:rPr>
              <a:t>Fonctions: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>
              <a:latin typeface="Century Schoolbook" panose="020406040505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b="1" dirty="0" smtClean="0">
                <a:latin typeface="Century Schoolbook" panose="02040604050505020304" pitchFamily="18" charset="0"/>
              </a:rPr>
              <a:t>La β Oxydation des acides gras </a:t>
            </a:r>
            <a:r>
              <a:rPr lang="fr-FR" dirty="0" smtClean="0">
                <a:latin typeface="Century Schoolbook" panose="02040604050505020304" pitchFamily="18" charset="0"/>
              </a:rPr>
              <a:t>les peroxysomes sont le lieu de l’oxydation des AG à</a:t>
            </a:r>
          </a:p>
          <a:p>
            <a:pPr algn="just"/>
            <a:r>
              <a:rPr lang="fr-FR" dirty="0" smtClean="0">
                <a:latin typeface="Century Schoolbook" panose="02040604050505020304" pitchFamily="18" charset="0"/>
              </a:rPr>
              <a:t>chaînes longues (qui ont plus de 22 atomes de carbone)  en chaînes courtes avec production de l’</a:t>
            </a:r>
            <a:r>
              <a:rPr lang="fr-FR" dirty="0" err="1" smtClean="0">
                <a:latin typeface="Century Schoolbook" panose="02040604050505020304" pitchFamily="18" charset="0"/>
              </a:rPr>
              <a:t>acetylCoA</a:t>
            </a:r>
            <a:r>
              <a:rPr lang="fr-FR" dirty="0" smtClean="0">
                <a:latin typeface="Century Schoolbook" panose="02040604050505020304" pitchFamily="18" charset="0"/>
              </a:rPr>
              <a:t> ; grâce à l’action  des oxydases.</a:t>
            </a:r>
          </a:p>
          <a:p>
            <a:pPr algn="just"/>
            <a:r>
              <a:rPr lang="fr-FR" dirty="0" smtClean="0">
                <a:latin typeface="Century Schoolbook" panose="02040604050505020304" pitchFamily="18" charset="0"/>
              </a:rPr>
              <a:t> Cette β oxydation se déroule en parallèle avec celle qui se fait dans la mitochondrie.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b="1" dirty="0" smtClean="0">
                <a:latin typeface="Century Schoolbook" panose="02040604050505020304" pitchFamily="18" charset="0"/>
              </a:rPr>
              <a:t>Le lieu de synthèse du </a:t>
            </a:r>
            <a:r>
              <a:rPr lang="fr-FR" b="1" dirty="0" err="1" smtClean="0">
                <a:latin typeface="Century Schoolbook" panose="02040604050505020304" pitchFamily="18" charset="0"/>
              </a:rPr>
              <a:t>plasmalogène</a:t>
            </a:r>
            <a:r>
              <a:rPr lang="fr-FR" dirty="0" smtClean="0">
                <a:latin typeface="Century Schoolbook" panose="02040604050505020304" pitchFamily="18" charset="0"/>
              </a:rPr>
              <a:t> qui est un élément essentiel dans la gaine de myéline, d’où le nombre élevé des peroxysomes au niveau des neurones.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b="1" dirty="0" smtClean="0">
                <a:latin typeface="Century Schoolbook" panose="02040604050505020304" pitchFamily="18" charset="0"/>
              </a:rPr>
              <a:t>Synthèse des acides biliaires </a:t>
            </a:r>
            <a:r>
              <a:rPr lang="fr-FR" dirty="0" smtClean="0">
                <a:latin typeface="Century Schoolbook" panose="02040604050505020304" pitchFamily="18" charset="0"/>
              </a:rPr>
              <a:t>: à partir du cholestérol, qui se fait au niveau de l’hépatocyte.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b="1" dirty="0" smtClean="0">
                <a:latin typeface="Century Schoolbook" panose="02040604050505020304" pitchFamily="18" charset="0"/>
              </a:rPr>
              <a:t>Dégradation des acides aminés et des protéines </a:t>
            </a:r>
            <a:r>
              <a:rPr lang="fr-FR" dirty="0" smtClean="0">
                <a:latin typeface="Century Schoolbook" panose="02040604050505020304" pitchFamily="18" charset="0"/>
              </a:rPr>
              <a:t>: assurée par des </a:t>
            </a:r>
            <a:r>
              <a:rPr lang="fr-FR" dirty="0" err="1" smtClean="0">
                <a:latin typeface="Century Schoolbook" panose="02040604050505020304" pitchFamily="18" charset="0"/>
              </a:rPr>
              <a:t>amino</a:t>
            </a:r>
            <a:r>
              <a:rPr lang="fr-FR" dirty="0" smtClean="0">
                <a:latin typeface="Century Schoolbook" panose="02040604050505020304" pitchFamily="18" charset="0"/>
              </a:rPr>
              <a:t>-oxydases.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b="1" dirty="0" smtClean="0">
                <a:latin typeface="Century Schoolbook" panose="02040604050505020304" pitchFamily="18" charset="0"/>
              </a:rPr>
              <a:t>Réactions de détoxication</a:t>
            </a:r>
            <a:r>
              <a:rPr lang="fr-FR" dirty="0" smtClean="0">
                <a:latin typeface="Century Schoolbook" panose="02040604050505020304" pitchFamily="18" charset="0"/>
              </a:rPr>
              <a:t>: 50% de l’alcool ingéré est éliminé au niveau du Foie, grâce aux Peroxysomes pour donner de l’acétaldéhyde, cette réaction est catalysée par les catalases.</a:t>
            </a:r>
          </a:p>
          <a:p>
            <a:endParaRPr lang="fr-FR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65884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47729" y="602722"/>
            <a:ext cx="11681139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dirty="0" smtClean="0">
                <a:latin typeface="Century Schoolbook" panose="02040604050505020304" pitchFamily="18" charset="0"/>
              </a:rPr>
              <a:t>Mode de formation des peroxysomes :</a:t>
            </a:r>
          </a:p>
          <a:p>
            <a:endParaRPr lang="fr-FR" dirty="0">
              <a:latin typeface="Century Schoolbook" panose="02040604050505020304" pitchFamily="18" charset="0"/>
            </a:endParaRPr>
          </a:p>
          <a:p>
            <a:endParaRPr lang="fr-FR" dirty="0" smtClean="0">
              <a:latin typeface="Century Schoolbook" panose="02040604050505020304" pitchFamily="18" charset="0"/>
            </a:endParaRPr>
          </a:p>
          <a:p>
            <a:r>
              <a:rPr lang="fr-FR" dirty="0" smtClean="0">
                <a:latin typeface="Century Schoolbook" panose="02040604050505020304" pitchFamily="18" charset="0"/>
              </a:rPr>
              <a:t>Les peroxysomes proviennent des peroxysomes préexistants. </a:t>
            </a:r>
          </a:p>
          <a:p>
            <a:r>
              <a:rPr lang="fr-FR" dirty="0" smtClean="0">
                <a:latin typeface="Century Schoolbook" panose="02040604050505020304" pitchFamily="18" charset="0"/>
              </a:rPr>
              <a:t>Les peroxysomes ne sont pas immobiles, ils sont toujours en déplacement en utilisant les microtubules</a:t>
            </a:r>
          </a:p>
          <a:p>
            <a:r>
              <a:rPr lang="fr-FR" dirty="0" smtClean="0">
                <a:latin typeface="Century Schoolbook" panose="02040604050505020304" pitchFamily="18" charset="0"/>
              </a:rPr>
              <a:t>Ils sont détruits par autophagie par les lysosomes.</a:t>
            </a:r>
          </a:p>
          <a:p>
            <a:endParaRPr lang="fr-FR" dirty="0" smtClean="0">
              <a:latin typeface="Century Schoolbook" panose="02040604050505020304" pitchFamily="18" charset="0"/>
            </a:endParaRPr>
          </a:p>
          <a:p>
            <a:r>
              <a:rPr lang="fr-FR" dirty="0" smtClean="0">
                <a:latin typeface="Century Schoolbook" panose="02040604050505020304" pitchFamily="18" charset="0"/>
              </a:rPr>
              <a:t>Il existe un système d’adressage vers le peroxysome appelé PTS (séquence d’adressage au peroxysome). </a:t>
            </a:r>
          </a:p>
          <a:p>
            <a:endParaRPr lang="fr-FR" dirty="0">
              <a:latin typeface="Century Schoolbook" panose="02040604050505020304" pitchFamily="18" charset="0"/>
            </a:endParaRPr>
          </a:p>
          <a:p>
            <a:r>
              <a:rPr lang="fr-FR" dirty="0" smtClean="0">
                <a:latin typeface="Century Schoolbook" panose="02040604050505020304" pitchFamily="18" charset="0"/>
              </a:rPr>
              <a:t>Il existe deux types de PTS :</a:t>
            </a:r>
          </a:p>
          <a:p>
            <a:endParaRPr lang="fr-FR" dirty="0" smtClean="0">
              <a:latin typeface="Century Schoolbook" panose="02040604050505020304" pitchFamily="18" charset="0"/>
            </a:endParaRPr>
          </a:p>
          <a:p>
            <a:r>
              <a:rPr lang="fr-FR" dirty="0" smtClean="0">
                <a:latin typeface="Century Schoolbook" panose="02040604050505020304" pitchFamily="18" charset="0"/>
              </a:rPr>
              <a:t>PTS – 1 : situé à l’extrémité C- terminale, constitué de 3 acides aminés : Serine – Lysine – Leucine ou SKL. Cette séquence est reconnue par un récepteur, la </a:t>
            </a:r>
            <a:r>
              <a:rPr lang="fr-FR" dirty="0" err="1" smtClean="0">
                <a:latin typeface="Century Schoolbook" panose="02040604050505020304" pitchFamily="18" charset="0"/>
              </a:rPr>
              <a:t>Peroxine</a:t>
            </a:r>
            <a:r>
              <a:rPr lang="fr-FR" dirty="0" smtClean="0">
                <a:latin typeface="Century Schoolbook" panose="02040604050505020304" pitchFamily="18" charset="0"/>
              </a:rPr>
              <a:t> 5.</a:t>
            </a:r>
          </a:p>
          <a:p>
            <a:endParaRPr lang="fr-FR" dirty="0" smtClean="0">
              <a:latin typeface="Century Schoolbook" panose="02040604050505020304" pitchFamily="18" charset="0"/>
            </a:endParaRPr>
          </a:p>
          <a:p>
            <a:r>
              <a:rPr lang="fr-FR" dirty="0" smtClean="0">
                <a:latin typeface="Century Schoolbook" panose="02040604050505020304" pitchFamily="18" charset="0"/>
              </a:rPr>
              <a:t>PTS – 2 : situé à l’extrémité N-terminale, constitué d’une séquence de 9 acides aminés basiques. Cette séquence est également reconnue par un récepteur spécifique, la </a:t>
            </a:r>
            <a:r>
              <a:rPr lang="fr-FR" dirty="0" err="1" smtClean="0">
                <a:latin typeface="Century Schoolbook" panose="02040604050505020304" pitchFamily="18" charset="0"/>
              </a:rPr>
              <a:t>Peroxine</a:t>
            </a:r>
            <a:r>
              <a:rPr lang="fr-FR" dirty="0">
                <a:latin typeface="Century Schoolbook" panose="02040604050505020304" pitchFamily="18" charset="0"/>
              </a:rPr>
              <a:t> </a:t>
            </a:r>
            <a:r>
              <a:rPr lang="fr-FR" dirty="0" smtClean="0">
                <a:latin typeface="Century Schoolbook" panose="02040604050505020304" pitchFamily="18" charset="0"/>
              </a:rPr>
              <a:t>7.</a:t>
            </a:r>
          </a:p>
          <a:p>
            <a:endParaRPr lang="fr-FR" dirty="0" smtClean="0">
              <a:latin typeface="Century Schoolbook" panose="02040604050505020304" pitchFamily="18" charset="0"/>
            </a:endParaRPr>
          </a:p>
          <a:p>
            <a:r>
              <a:rPr lang="fr-FR" dirty="0" smtClean="0">
                <a:latin typeface="Century Schoolbook" panose="02040604050505020304" pitchFamily="18" charset="0"/>
              </a:rPr>
              <a:t>Les protéines ne peuvent présenter les deux types de séquences, la séquence PTS – 1 étant la</a:t>
            </a:r>
          </a:p>
          <a:p>
            <a:r>
              <a:rPr lang="fr-FR" dirty="0" smtClean="0">
                <a:latin typeface="Century Schoolbook" panose="02040604050505020304" pitchFamily="18" charset="0"/>
              </a:rPr>
              <a:t>plus retrouvée</a:t>
            </a:r>
            <a:endParaRPr lang="fr-FR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914957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518</Words>
  <Application>Microsoft Office PowerPoint</Application>
  <PresentationFormat>Grand écran</PresentationFormat>
  <Paragraphs>44</Paragraphs>
  <Slides>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Century Schoolbook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Amel</dc:creator>
  <cp:lastModifiedBy>Amel</cp:lastModifiedBy>
  <cp:revision>7</cp:revision>
  <dcterms:created xsi:type="dcterms:W3CDTF">2024-04-17T20:48:38Z</dcterms:created>
  <dcterms:modified xsi:type="dcterms:W3CDTF">2024-04-17T21:37:41Z</dcterms:modified>
</cp:coreProperties>
</file>