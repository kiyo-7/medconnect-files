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8" r:id="rId2"/>
    <p:sldId id="257" r:id="rId3"/>
    <p:sldId id="259" r:id="rId4"/>
    <p:sldId id="342" r:id="rId5"/>
    <p:sldId id="261" r:id="rId6"/>
    <p:sldId id="343" r:id="rId7"/>
    <p:sldId id="344" r:id="rId8"/>
    <p:sldId id="345" r:id="rId9"/>
    <p:sldId id="346" r:id="rId10"/>
    <p:sldId id="347" r:id="rId11"/>
    <p:sldId id="348" r:id="rId12"/>
    <p:sldId id="371" r:id="rId13"/>
    <p:sldId id="263" r:id="rId14"/>
    <p:sldId id="372" r:id="rId15"/>
    <p:sldId id="350" r:id="rId16"/>
    <p:sldId id="351" r:id="rId17"/>
    <p:sldId id="352" r:id="rId18"/>
    <p:sldId id="379" r:id="rId19"/>
    <p:sldId id="353" r:id="rId20"/>
    <p:sldId id="374" r:id="rId21"/>
    <p:sldId id="380" r:id="rId22"/>
    <p:sldId id="354" r:id="rId23"/>
    <p:sldId id="355" r:id="rId24"/>
    <p:sldId id="356" r:id="rId25"/>
    <p:sldId id="377" r:id="rId26"/>
    <p:sldId id="357" r:id="rId27"/>
    <p:sldId id="358" r:id="rId28"/>
    <p:sldId id="359" r:id="rId29"/>
    <p:sldId id="360" r:id="rId30"/>
    <p:sldId id="378" r:id="rId31"/>
    <p:sldId id="361" r:id="rId32"/>
    <p:sldId id="272" r:id="rId33"/>
    <p:sldId id="362" r:id="rId34"/>
    <p:sldId id="363" r:id="rId35"/>
    <p:sldId id="376" r:id="rId36"/>
    <p:sldId id="364" r:id="rId37"/>
    <p:sldId id="365" r:id="rId38"/>
    <p:sldId id="375" r:id="rId39"/>
    <p:sldId id="367" r:id="rId40"/>
    <p:sldId id="368" r:id="rId41"/>
    <p:sldId id="369" r:id="rId42"/>
    <p:sldId id="280" r:id="rId4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2448" y="-108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2FF0C7-5179-4677-B71E-62C69B55021E}" type="datetimeFigureOut">
              <a:rPr lang="fr-FR" smtClean="0"/>
              <a:pPr/>
              <a:t>05/03/2024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5A1DC5-2C92-434D-94C5-E1A705DD0EF2}"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A25A1DC5-2C92-434D-94C5-E1A705DD0EF2}" type="slidenum">
              <a:rPr lang="fr-FR" smtClean="0"/>
              <a:pPr/>
              <a:t>2</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D870BA5-D1A5-47B3-B129-6614AD6C2073}"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427CE0-507E-44CE-A83C-F35D03F7C16C}" type="datetimeFigureOut">
              <a:rPr lang="fr-FR" smtClean="0"/>
              <a:pPr/>
              <a:t>05/03/2024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870BA5-D1A5-47B3-B129-6614AD6C2073}"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Autofit/>
          </a:bodyPr>
          <a:lstStyle/>
          <a:p>
            <a:r>
              <a:rPr lang="fr-FR" sz="6000" b="1" dirty="0">
                <a:solidFill>
                  <a:srgbClr val="000000"/>
                </a:solidFill>
                <a:effectLst/>
                <a:latin typeface="Times New Roman"/>
                <a:ea typeface="Times New Roman"/>
              </a:rPr>
              <a:t/>
            </a:r>
            <a:br>
              <a:rPr lang="fr-FR" sz="6000" b="1" dirty="0">
                <a:solidFill>
                  <a:srgbClr val="000000"/>
                </a:solidFill>
                <a:effectLst/>
                <a:latin typeface="Times New Roman"/>
                <a:ea typeface="Times New Roman"/>
              </a:rPr>
            </a:br>
            <a:r>
              <a:rPr lang="fr-FR" sz="6000" dirty="0"/>
              <a:t> Histoire des hôpitaux de l'antiquité à nos jours</a:t>
            </a:r>
          </a:p>
        </p:txBody>
      </p:sp>
      <p:pic>
        <p:nvPicPr>
          <p:cNvPr id="4" name="Image 1"/>
          <p:cNvPicPr>
            <a:picLocks noChangeAspect="1"/>
          </p:cNvPicPr>
          <p:nvPr/>
        </p:nvPicPr>
        <p:blipFill>
          <a:blip r:embed="rId2" cstate="print">
            <a:extLst>
              <a:ext uri="{BEBA8EAE-BF5A-486C-A8C5-ECC9F3942E4B}">
                <a14:imgProps xmlns:a14="http://schemas.microsoft.com/office/drawing/2010/main" xmlns="">
                  <a14:imgLayer>
                    <a14:imgEffect>
                      <a14:saturation sat="300000"/>
                    </a14:imgEffect>
                  </a14:imgLayer>
                </a14:imgProps>
              </a:ext>
              <a:ext uri="{28A0092B-C50C-407E-A947-70E740481C1C}">
                <a14:useLocalDpi xmlns:a14="http://schemas.microsoft.com/office/drawing/2010/main" xmlns="" val="0"/>
              </a:ext>
            </a:extLst>
          </a:blip>
          <a:srcRect/>
          <a:stretch>
            <a:fillRect/>
          </a:stretch>
        </p:blipFill>
        <p:spPr bwMode="auto">
          <a:xfrm>
            <a:off x="8172400" y="0"/>
            <a:ext cx="971600" cy="8585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Image 5" descr="C:\Documents and Settings\DIRECTION DES ETUDES\Bureau\th.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51920" y="0"/>
            <a:ext cx="1187450" cy="8585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Image 2"/>
          <p:cNvPicPr>
            <a:picLocks noChangeAspect="1" noChangeArrowheads="1"/>
          </p:cNvPicPr>
          <p:nvPr/>
        </p:nvPicPr>
        <p:blipFill>
          <a:blip r:embed="rId4" cstate="print"/>
          <a:srcRect/>
          <a:stretch>
            <a:fillRect/>
          </a:stretch>
        </p:blipFill>
        <p:spPr bwMode="auto">
          <a:xfrm>
            <a:off x="-36512" y="-27384"/>
            <a:ext cx="899592" cy="856662"/>
          </a:xfrm>
          <a:prstGeom prst="rect">
            <a:avLst/>
          </a:prstGeom>
          <a:ln>
            <a:noFill/>
          </a:ln>
          <a:effectLst>
            <a:outerShdw blurRad="292100" dist="139700" dir="2700000" algn="tl" rotWithShape="0">
              <a:srgbClr val="333333">
                <a:alpha val="65000"/>
              </a:srgbClr>
            </a:outerShdw>
          </a:effectLst>
        </p:spPr>
      </p:pic>
      <p:sp>
        <p:nvSpPr>
          <p:cNvPr id="8" name="Sous-titre 7">
            <a:extLst>
              <a:ext uri="{FF2B5EF4-FFF2-40B4-BE49-F238E27FC236}">
                <a16:creationId xmlns:a16="http://schemas.microsoft.com/office/drawing/2014/main" xmlns="" id="{B2581753-381A-399D-BF65-B1AAD605C867}"/>
              </a:ext>
            </a:extLst>
          </p:cNvPr>
          <p:cNvSpPr>
            <a:spLocks noGrp="1"/>
          </p:cNvSpPr>
          <p:nvPr>
            <p:ph type="subTitle" idx="1"/>
          </p:nvPr>
        </p:nvSpPr>
        <p:spPr>
          <a:xfrm>
            <a:off x="242208" y="4608286"/>
            <a:ext cx="8659584" cy="2249714"/>
          </a:xfrm>
        </p:spPr>
        <p:txBody>
          <a:bodyPr/>
          <a:lstStyle/>
          <a:p>
            <a:r>
              <a:rPr lang="en-US" dirty="0">
                <a:solidFill>
                  <a:schemeClr val="tx1"/>
                </a:solidFill>
              </a:rPr>
              <a:t>Pr. Abdelhamid BELLOUM </a:t>
            </a:r>
          </a:p>
          <a:p>
            <a:r>
              <a:rPr lang="en-US" dirty="0">
                <a:solidFill>
                  <a:schemeClr val="tx1"/>
                </a:solidFill>
              </a:rPr>
              <a:t>Professeur en Médecine Légale du C.H.U.C</a:t>
            </a:r>
          </a:p>
          <a:p>
            <a:r>
              <a:rPr lang="en-US" dirty="0">
                <a:solidFill>
                  <a:schemeClr val="tx1"/>
                </a:solidFill>
              </a:rPr>
              <a:t>Université Mohamed Khider Biskra le 20/02/2024</a:t>
            </a:r>
            <a:endParaRPr lang="fr-FR" dirty="0"/>
          </a:p>
        </p:txBody>
      </p:sp>
    </p:spTree>
    <p:extLst>
      <p:ext uri="{BB962C8B-B14F-4D97-AF65-F5344CB8AC3E}">
        <p14:creationId xmlns:p14="http://schemas.microsoft.com/office/powerpoint/2010/main" xmlns="" val="1455388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PLAN</a:t>
            </a:r>
          </a:p>
        </p:txBody>
      </p:sp>
      <p:sp>
        <p:nvSpPr>
          <p:cNvPr id="3" name="Espace réservé du contenu 2"/>
          <p:cNvSpPr>
            <a:spLocks noGrp="1"/>
          </p:cNvSpPr>
          <p:nvPr>
            <p:ph idx="1"/>
          </p:nvPr>
        </p:nvSpPr>
        <p:spPr>
          <a:xfrm>
            <a:off x="-32" y="1214422"/>
            <a:ext cx="9001156" cy="4768865"/>
          </a:xfrm>
        </p:spPr>
        <p:txBody>
          <a:bodyPr>
            <a:noAutofit/>
          </a:bodyPr>
          <a:lstStyle/>
          <a:p>
            <a:pPr indent="14288">
              <a:buFont typeface="+mj-lt"/>
              <a:buAutoNum type="romanUcPeriod"/>
            </a:pPr>
            <a:r>
              <a:rPr lang="fr-FR" sz="2400" b="1" dirty="0">
                <a:latin typeface="Times New Roman" pitchFamily="18" charset="0"/>
                <a:cs typeface="Times New Roman" pitchFamily="18" charset="0"/>
              </a:rPr>
              <a:t>Introduction</a:t>
            </a:r>
          </a:p>
          <a:p>
            <a:pPr indent="14288">
              <a:buFont typeface="+mj-lt"/>
              <a:buAutoNum type="romanUcPeriod"/>
            </a:pPr>
            <a:r>
              <a:rPr lang="fr-FR" sz="2400" b="1" dirty="0">
                <a:latin typeface="Times New Roman" pitchFamily="18" charset="0"/>
                <a:cs typeface="Times New Roman" pitchFamily="18" charset="0"/>
              </a:rPr>
              <a:t>Le développement historique des hôpitaux</a:t>
            </a:r>
          </a:p>
          <a:p>
            <a:pPr indent="14288">
              <a:buFont typeface="+mj-lt"/>
              <a:buAutoNum type="romanUcPeriod"/>
            </a:pPr>
            <a:r>
              <a:rPr lang="fr-FR" sz="2400" b="1" dirty="0">
                <a:latin typeface="Times New Roman" pitchFamily="18" charset="0"/>
                <a:cs typeface="Times New Roman" pitchFamily="18" charset="0"/>
              </a:rPr>
              <a:t>Les hôpitaux dans le monde arabo-musulman</a:t>
            </a:r>
          </a:p>
          <a:p>
            <a:pPr indent="14288">
              <a:buFont typeface="+mj-lt"/>
              <a:buAutoNum type="romanUcPeriod"/>
            </a:pPr>
            <a:r>
              <a:rPr lang="fr-FR" sz="2400" b="1" dirty="0">
                <a:latin typeface="Times New Roman" pitchFamily="18" charset="0"/>
                <a:cs typeface="Times New Roman" pitchFamily="18" charset="0"/>
              </a:rPr>
              <a:t>Les hôpitaux en Europe au cours des siècles</a:t>
            </a:r>
            <a:r>
              <a:rPr lang="fr-FR" sz="2000" dirty="0">
                <a:latin typeface="Times New Roman" pitchFamily="18" charset="0"/>
                <a:cs typeface="Times New Roman" pitchFamily="18" charset="0"/>
              </a:rPr>
              <a:t/>
            </a:r>
            <a:br>
              <a:rPr lang="fr-FR" sz="2000" dirty="0">
                <a:latin typeface="Times New Roman" pitchFamily="18" charset="0"/>
                <a:cs typeface="Times New Roman" pitchFamily="18" charset="0"/>
              </a:rPr>
            </a:br>
            <a:r>
              <a:rPr lang="fr-FR" sz="2400" dirty="0">
                <a:latin typeface="Times New Roman" pitchFamily="18" charset="0"/>
                <a:cs typeface="Times New Roman" pitchFamily="18" charset="0"/>
              </a:rPr>
              <a:t>1. L’époque médiévale</a:t>
            </a:r>
            <a:br>
              <a:rPr lang="fr-FR" sz="2400" dirty="0">
                <a:latin typeface="Times New Roman" pitchFamily="18" charset="0"/>
                <a:cs typeface="Times New Roman" pitchFamily="18" charset="0"/>
              </a:rPr>
            </a:br>
            <a:r>
              <a:rPr lang="fr-FR" sz="2400" dirty="0">
                <a:latin typeface="Times New Roman" pitchFamily="18" charset="0"/>
                <a:cs typeface="Times New Roman" pitchFamily="18" charset="0"/>
              </a:rPr>
              <a:t>2. L’hôpital en croix de la renaissance</a:t>
            </a:r>
            <a:br>
              <a:rPr lang="fr-FR" sz="2400" dirty="0">
                <a:latin typeface="Times New Roman" pitchFamily="18" charset="0"/>
                <a:cs typeface="Times New Roman" pitchFamily="18" charset="0"/>
              </a:rPr>
            </a:br>
            <a:r>
              <a:rPr lang="fr-FR" sz="2400" dirty="0">
                <a:latin typeface="Times New Roman" pitchFamily="18" charset="0"/>
                <a:cs typeface="Times New Roman" pitchFamily="18" charset="0"/>
              </a:rPr>
              <a:t>3. L’hôpital hygiéniste de la fin du 18ème siècle</a:t>
            </a:r>
            <a:br>
              <a:rPr lang="fr-FR" sz="2400" dirty="0">
                <a:latin typeface="Times New Roman" pitchFamily="18" charset="0"/>
                <a:cs typeface="Times New Roman" pitchFamily="18" charset="0"/>
              </a:rPr>
            </a:br>
            <a:r>
              <a:rPr lang="fr-FR" sz="2400" dirty="0">
                <a:latin typeface="Times New Roman" pitchFamily="18" charset="0"/>
                <a:cs typeface="Times New Roman" pitchFamily="18" charset="0"/>
              </a:rPr>
              <a:t>4. L’hôpital pavillonnaire de la fin du 19ème siècle</a:t>
            </a:r>
            <a:br>
              <a:rPr lang="fr-FR" sz="2400" dirty="0">
                <a:latin typeface="Times New Roman" pitchFamily="18" charset="0"/>
                <a:cs typeface="Times New Roman" pitchFamily="18" charset="0"/>
              </a:rPr>
            </a:br>
            <a:r>
              <a:rPr lang="fr-FR" sz="2400" dirty="0">
                <a:latin typeface="Times New Roman" pitchFamily="18" charset="0"/>
                <a:cs typeface="Times New Roman" pitchFamily="18" charset="0"/>
              </a:rPr>
              <a:t>5. L’hôpital monobloc</a:t>
            </a:r>
            <a:br>
              <a:rPr lang="fr-FR" sz="2400" dirty="0">
                <a:latin typeface="Times New Roman" pitchFamily="18" charset="0"/>
                <a:cs typeface="Times New Roman" pitchFamily="18" charset="0"/>
              </a:rPr>
            </a:br>
            <a:r>
              <a:rPr lang="fr-FR" sz="2400" dirty="0">
                <a:latin typeface="Times New Roman" pitchFamily="18" charset="0"/>
                <a:cs typeface="Times New Roman" pitchFamily="18" charset="0"/>
              </a:rPr>
              <a:t>6. L’hôpital </a:t>
            </a:r>
            <a:r>
              <a:rPr lang="fr-FR" sz="2400" dirty="0" err="1">
                <a:latin typeface="Times New Roman" pitchFamily="18" charset="0"/>
                <a:cs typeface="Times New Roman" pitchFamily="18" charset="0"/>
              </a:rPr>
              <a:t>polybloc</a:t>
            </a:r>
            <a:r>
              <a:rPr lang="fr-FR" sz="2400" dirty="0">
                <a:latin typeface="Times New Roman" pitchFamily="18" charset="0"/>
                <a:cs typeface="Times New Roman" pitchFamily="18" charset="0"/>
              </a:rPr>
              <a:t/>
            </a:r>
            <a:br>
              <a:rPr lang="fr-FR" sz="2400" dirty="0">
                <a:latin typeface="Times New Roman" pitchFamily="18" charset="0"/>
                <a:cs typeface="Times New Roman" pitchFamily="18" charset="0"/>
              </a:rPr>
            </a:br>
            <a:r>
              <a:rPr lang="fr-FR" sz="2400" b="1" dirty="0">
                <a:latin typeface="Times New Roman" pitchFamily="18" charset="0"/>
                <a:cs typeface="Times New Roman" pitchFamily="18" charset="0"/>
              </a:rPr>
              <a:t>V. Les hôpitaux en Algérie</a:t>
            </a:r>
            <a:br>
              <a:rPr lang="fr-FR" sz="2400" b="1" dirty="0">
                <a:latin typeface="Times New Roman" pitchFamily="18" charset="0"/>
                <a:cs typeface="Times New Roman" pitchFamily="18" charset="0"/>
              </a:rPr>
            </a:br>
            <a:r>
              <a:rPr lang="fr-FR" sz="2400" b="1" dirty="0">
                <a:latin typeface="Times New Roman" pitchFamily="18" charset="0"/>
                <a:cs typeface="Times New Roman" pitchFamily="18" charset="0"/>
              </a:rPr>
              <a:t>VI. La conception de l'hôpital au 21ème siècle, l’hôpital moderne</a:t>
            </a:r>
            <a:br>
              <a:rPr lang="fr-FR" sz="2400" b="1" dirty="0">
                <a:latin typeface="Times New Roman" pitchFamily="18" charset="0"/>
                <a:cs typeface="Times New Roman" pitchFamily="18" charset="0"/>
              </a:rPr>
            </a:br>
            <a:r>
              <a:rPr lang="fr-FR" sz="2400" b="1" dirty="0">
                <a:latin typeface="Times New Roman" pitchFamily="18" charset="0"/>
                <a:cs typeface="Times New Roman" pitchFamily="18" charset="0"/>
              </a:rPr>
              <a:t>VII.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a:latin typeface="Times New Roman" pitchFamily="18" charset="0"/>
                <a:cs typeface="Times New Roman" pitchFamily="18" charset="0"/>
              </a:rPr>
              <a:t>I. Introduction</a:t>
            </a:r>
            <a:br>
              <a:rPr lang="fr-FR" sz="3600" dirty="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200000"/>
              </a:lnSpc>
            </a:pPr>
            <a:r>
              <a:rPr lang="fr-FR" sz="2400" dirty="0">
                <a:latin typeface="Times New Roman" pitchFamily="18" charset="0"/>
                <a:cs typeface="Times New Roman" pitchFamily="18" charset="0"/>
              </a:rPr>
              <a:t>L’histoire de l’hôpital montre une </a:t>
            </a:r>
            <a:r>
              <a:rPr lang="fr-FR" sz="2400" b="1" dirty="0">
                <a:latin typeface="Times New Roman" pitchFamily="18" charset="0"/>
                <a:cs typeface="Times New Roman" pitchFamily="18" charset="0"/>
              </a:rPr>
              <a:t>évolution dans sa mission :</a:t>
            </a:r>
            <a:endParaRPr lang="fr-FR" sz="2400" dirty="0">
              <a:latin typeface="Times New Roman" pitchFamily="18" charset="0"/>
              <a:cs typeface="Times New Roman" pitchFamily="18" charset="0"/>
            </a:endParaRPr>
          </a:p>
          <a:p>
            <a:pPr lvl="1" algn="just">
              <a:lnSpc>
                <a:spcPct val="200000"/>
              </a:lnSpc>
            </a:pPr>
            <a:r>
              <a:rPr lang="fr-FR" sz="2400" dirty="0">
                <a:latin typeface="Times New Roman" pitchFamily="18" charset="0"/>
                <a:cs typeface="Times New Roman" pitchFamily="18" charset="0"/>
              </a:rPr>
              <a:t>A l’origine pour</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 </a:t>
            </a:r>
            <a:r>
              <a:rPr lang="fr-FR" sz="2400" b="1" dirty="0">
                <a:latin typeface="Times New Roman" pitchFamily="18" charset="0"/>
                <a:cs typeface="Times New Roman" pitchFamily="18" charset="0"/>
              </a:rPr>
              <a:t>l’ébergement charitable des pauvres </a:t>
            </a:r>
          </a:p>
          <a:p>
            <a:pPr lvl="1" algn="just">
              <a:lnSpc>
                <a:spcPct val="200000"/>
              </a:lnSpc>
            </a:pPr>
            <a:r>
              <a:rPr lang="fr-FR" sz="2400" dirty="0">
                <a:latin typeface="Times New Roman" pitchFamily="18" charset="0"/>
                <a:cs typeface="Times New Roman" pitchFamily="18" charset="0"/>
                <a:sym typeface="Wingdings" pitchFamily="2" charset="2"/>
              </a:rPr>
              <a:t> </a:t>
            </a:r>
            <a:r>
              <a:rPr lang="fr-FR" sz="2400" dirty="0">
                <a:latin typeface="Times New Roman" pitchFamily="18" charset="0"/>
                <a:cs typeface="Times New Roman" pitchFamily="18" charset="0"/>
              </a:rPr>
              <a:t>a fini par assurer</a:t>
            </a:r>
            <a:r>
              <a:rPr lang="fr-FR" sz="2400" b="1" dirty="0">
                <a:latin typeface="Times New Roman" pitchFamily="18" charset="0"/>
                <a:cs typeface="Times New Roman" pitchFamily="18" charset="0"/>
              </a:rPr>
              <a:t> : la prise en charge médicale des malades </a:t>
            </a:r>
            <a:r>
              <a:rPr lang="fr-FR" sz="2400" dirty="0">
                <a:latin typeface="Times New Roman" pitchFamily="18" charset="0"/>
                <a:cs typeface="Times New Roman" pitchFamily="18" charset="0"/>
              </a:rPr>
              <a:t>dans le cadre d’un service publique hospitalier.  </a:t>
            </a:r>
            <a:endParaRPr lang="fr-FR" sz="2000" dirty="0">
              <a:latin typeface="Times New Roman" pitchFamily="18" charset="0"/>
              <a:cs typeface="Times New Roman" pitchFamily="18" charset="0"/>
            </a:endParaRPr>
          </a:p>
          <a:p>
            <a:pPr algn="just">
              <a:lnSpc>
                <a:spcPct val="200000"/>
              </a:lnSpc>
              <a:buNone/>
            </a:pPr>
            <a:endParaRPr lang="fr-FR" sz="2400" dirty="0">
              <a:latin typeface="Times New Roman" pitchFamily="18" charset="0"/>
              <a:cs typeface="Times New Roman" pitchFamily="18" charset="0"/>
            </a:endParaRPr>
          </a:p>
          <a:p>
            <a:pPr algn="just">
              <a:lnSpc>
                <a:spcPct val="200000"/>
              </a:lnSpc>
            </a:pPr>
            <a:endParaRPr lang="fr-FR"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latin typeface="Times New Roman" pitchFamily="18" charset="0"/>
                <a:cs typeface="Times New Roman" pitchFamily="18" charset="0"/>
              </a:rPr>
              <a:t>II. Le développement historique des hôpitaux</a:t>
            </a:r>
            <a:br>
              <a:rPr lang="fr-FR" dirty="0">
                <a:latin typeface="Times New Roman" pitchFamily="18" charset="0"/>
                <a:cs typeface="Times New Roman" pitchFamily="18" charset="0"/>
              </a:rPr>
            </a:br>
            <a:endParaRPr lang="fr-FR" dirty="0">
              <a:latin typeface="Times New Roman" pitchFamily="18" charset="0"/>
              <a:cs typeface="Times New Roman" pitchFamily="18" charset="0"/>
            </a:endParaRP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200000"/>
              </a:lnSpc>
            </a:pPr>
            <a:r>
              <a:rPr lang="fr-FR" sz="2400" dirty="0">
                <a:latin typeface="Times New Roman" pitchFamily="18" charset="0"/>
                <a:cs typeface="Times New Roman" pitchFamily="18" charset="0"/>
              </a:rPr>
              <a:t>Il est sans doute </a:t>
            </a:r>
            <a:r>
              <a:rPr lang="fr-FR" sz="2400" b="1" dirty="0">
                <a:latin typeface="Times New Roman" pitchFamily="18" charset="0"/>
                <a:cs typeface="Times New Roman" pitchFamily="18" charset="0"/>
              </a:rPr>
              <a:t>difficile de définir le moment précis où des hommes ont créé des hôpitaux </a:t>
            </a:r>
            <a:r>
              <a:rPr lang="fr-FR" sz="2400" dirty="0">
                <a:latin typeface="Times New Roman" pitchFamily="18" charset="0"/>
                <a:cs typeface="Times New Roman" pitchFamily="18" charset="0"/>
              </a:rPr>
              <a:t>à destination de ceux qui avaient besoin de soins, de protection ou simplement d’un accompagnement en fin de vie. </a:t>
            </a:r>
          </a:p>
          <a:p>
            <a:pPr algn="just">
              <a:lnSpc>
                <a:spcPct val="200000"/>
              </a:lnSpc>
            </a:pPr>
            <a:endParaRPr lang="fr-FR"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i="1" dirty="0">
                <a:solidFill>
                  <a:srgbClr val="C00000"/>
                </a:solidFill>
                <a:latin typeface="Times New Roman" pitchFamily="18" charset="0"/>
                <a:cs typeface="Times New Roman" pitchFamily="18" charset="0"/>
              </a:rPr>
              <a:t>Dans la Grèce ancienne</a:t>
            </a:r>
          </a:p>
        </p:txBody>
      </p:sp>
      <p:sp>
        <p:nvSpPr>
          <p:cNvPr id="3" name="Espace réservé du contenu 2"/>
          <p:cNvSpPr>
            <a:spLocks noGrp="1"/>
          </p:cNvSpPr>
          <p:nvPr>
            <p:ph idx="1"/>
          </p:nvPr>
        </p:nvSpPr>
        <p:spPr>
          <a:xfrm>
            <a:off x="457200" y="1000108"/>
            <a:ext cx="8229600" cy="5126055"/>
          </a:xfrm>
        </p:spPr>
        <p:txBody>
          <a:bodyPr>
            <a:noAutofit/>
          </a:bodyPr>
          <a:lstStyle/>
          <a:p>
            <a:pPr lvl="0" algn="just">
              <a:lnSpc>
                <a:spcPct val="160000"/>
              </a:lnSpc>
            </a:pPr>
            <a:r>
              <a:rPr lang="fr-FR" sz="2400" b="1" dirty="0">
                <a:latin typeface="Times New Roman" pitchFamily="18" charset="0"/>
                <a:cs typeface="Times New Roman" pitchFamily="18" charset="0"/>
              </a:rPr>
              <a:t>Soins et religions étaient étroitement mêlés</a:t>
            </a:r>
            <a:r>
              <a:rPr lang="fr-FR" sz="2400" dirty="0">
                <a:latin typeface="Times New Roman" pitchFamily="18" charset="0"/>
                <a:cs typeface="Times New Roman" pitchFamily="18" charset="0"/>
              </a:rPr>
              <a:t> : </a:t>
            </a:r>
          </a:p>
          <a:p>
            <a:pPr lvl="1" algn="just">
              <a:lnSpc>
                <a:spcPct val="160000"/>
              </a:lnSpc>
              <a:buFont typeface="Wingdings" pitchFamily="2" charset="2"/>
              <a:buChar char="Ø"/>
            </a:pPr>
            <a:r>
              <a:rPr lang="fr-FR" sz="2400" dirty="0">
                <a:latin typeface="Times New Roman" pitchFamily="18" charset="0"/>
                <a:cs typeface="Times New Roman" pitchFamily="18" charset="0"/>
              </a:rPr>
              <a:t>Le </a:t>
            </a:r>
            <a:r>
              <a:rPr lang="fr-FR" sz="2400" b="1" dirty="0">
                <a:latin typeface="Times New Roman" pitchFamily="18" charset="0"/>
                <a:cs typeface="Times New Roman" pitchFamily="18" charset="0"/>
              </a:rPr>
              <a:t>dieu de la médecine</a:t>
            </a:r>
            <a:r>
              <a:rPr lang="fr-FR" sz="2400" dirty="0">
                <a:latin typeface="Times New Roman" pitchFamily="18" charset="0"/>
                <a:cs typeface="Times New Roman" pitchFamily="18" charset="0"/>
              </a:rPr>
              <a:t>, </a:t>
            </a:r>
            <a:r>
              <a:rPr lang="fr-FR" sz="2400" i="1" dirty="0">
                <a:latin typeface="Times New Roman" pitchFamily="18" charset="0"/>
                <a:cs typeface="Times New Roman" pitchFamily="18" charset="0"/>
              </a:rPr>
              <a:t>Asclépios</a:t>
            </a:r>
            <a:r>
              <a:rPr lang="fr-FR" sz="2400" dirty="0">
                <a:latin typeface="Times New Roman" pitchFamily="18" charset="0"/>
                <a:cs typeface="Times New Roman" pitchFamily="18" charset="0"/>
              </a:rPr>
              <a:t>, connu chez les Romains sous le nom d’</a:t>
            </a:r>
            <a:r>
              <a:rPr lang="fr-FR" sz="2400" b="1" dirty="0">
                <a:latin typeface="Times New Roman" pitchFamily="18" charset="0"/>
                <a:cs typeface="Times New Roman" pitchFamily="18" charset="0"/>
              </a:rPr>
              <a:t>Esculape</a:t>
            </a:r>
            <a:r>
              <a:rPr lang="fr-FR" sz="2400" dirty="0">
                <a:latin typeface="Times New Roman" pitchFamily="18" charset="0"/>
                <a:cs typeface="Times New Roman" pitchFamily="18" charset="0"/>
              </a:rPr>
              <a:t>, était </a:t>
            </a:r>
            <a:r>
              <a:rPr lang="fr-FR" sz="2400" b="1" dirty="0">
                <a:latin typeface="Times New Roman" pitchFamily="18" charset="0"/>
                <a:cs typeface="Times New Roman" pitchFamily="18" charset="0"/>
              </a:rPr>
              <a:t>vénéré</a:t>
            </a:r>
            <a:r>
              <a:rPr lang="fr-FR" sz="2400" dirty="0">
                <a:latin typeface="Times New Roman" pitchFamily="18" charset="0"/>
                <a:cs typeface="Times New Roman" pitchFamily="18" charset="0"/>
              </a:rPr>
              <a:t> </a:t>
            </a:r>
            <a:r>
              <a:rPr lang="fr-FR" sz="2400" b="1" dirty="0">
                <a:latin typeface="Times New Roman" pitchFamily="18" charset="0"/>
                <a:cs typeface="Times New Roman" pitchFamily="18" charset="0"/>
              </a:rPr>
              <a:t>à Épidaure </a:t>
            </a:r>
            <a:r>
              <a:rPr lang="fr-FR" sz="2400" dirty="0">
                <a:latin typeface="Times New Roman" pitchFamily="18" charset="0"/>
                <a:cs typeface="Times New Roman" pitchFamily="18" charset="0"/>
              </a:rPr>
              <a:t>où des </a:t>
            </a:r>
            <a:r>
              <a:rPr lang="fr-FR" sz="2400" b="1" dirty="0">
                <a:latin typeface="Times New Roman" pitchFamily="18" charset="0"/>
                <a:cs typeface="Times New Roman" pitchFamily="18" charset="0"/>
              </a:rPr>
              <a:t>pèlerins venant de toute la Grèce pour se faire soigner</a:t>
            </a:r>
            <a:r>
              <a:rPr lang="fr-FR" sz="2400" dirty="0">
                <a:latin typeface="Times New Roman" pitchFamily="18" charset="0"/>
                <a:cs typeface="Times New Roman" pitchFamily="18" charset="0"/>
              </a:rPr>
              <a:t>, pouvaient y consulter des médecins réputés. </a:t>
            </a:r>
          </a:p>
          <a:p>
            <a:pPr lvl="1" algn="just">
              <a:lnSpc>
                <a:spcPct val="160000"/>
              </a:lnSpc>
              <a:buFont typeface="Wingdings" pitchFamily="2" charset="2"/>
              <a:buChar char="Ø"/>
            </a:pPr>
            <a:r>
              <a:rPr lang="fr-FR" sz="2400" dirty="0">
                <a:latin typeface="Times New Roman" pitchFamily="18" charset="0"/>
                <a:cs typeface="Times New Roman" pitchFamily="18" charset="0"/>
              </a:rPr>
              <a:t>La </a:t>
            </a:r>
            <a:r>
              <a:rPr lang="fr-FR" sz="2400" b="1" dirty="0">
                <a:latin typeface="Times New Roman" pitchFamily="18" charset="0"/>
                <a:cs typeface="Times New Roman" pitchFamily="18" charset="0"/>
              </a:rPr>
              <a:t>constitution sur plusieurs sites antiques d’</a:t>
            </a:r>
            <a:r>
              <a:rPr lang="fr-FR" b="1" i="1" dirty="0" err="1">
                <a:solidFill>
                  <a:srgbClr val="C00000"/>
                </a:solidFill>
                <a:latin typeface="Times New Roman" pitchFamily="18" charset="0"/>
                <a:cs typeface="Times New Roman" pitchFamily="18" charset="0"/>
              </a:rPr>
              <a:t>Aesculapium</a:t>
            </a:r>
            <a:r>
              <a:rPr lang="fr-FR" sz="2400" dirty="0">
                <a:latin typeface="Times New Roman" pitchFamily="18" charset="0"/>
                <a:cs typeface="Times New Roman" pitchFamily="18" charset="0"/>
              </a:rPr>
              <a:t> regroupant thermes, amphithéâtres, temples et bibliothèques </a:t>
            </a:r>
            <a:r>
              <a:rPr lang="fr-FR" b="1" dirty="0">
                <a:latin typeface="Times New Roman" pitchFamily="18" charset="0"/>
                <a:cs typeface="Times New Roman" pitchFamily="18" charset="0"/>
              </a:rPr>
              <a:t>préfigure nos modernes hôpitaux universitaires.</a:t>
            </a:r>
            <a:endParaRPr lang="fr-FR" sz="2400" b="1" dirty="0">
              <a:latin typeface="Times New Roman" pitchFamily="18" charset="0"/>
              <a:cs typeface="Times New Roman" pitchFamily="18" charset="0"/>
            </a:endParaRPr>
          </a:p>
          <a:p>
            <a:pPr algn="just">
              <a:lnSpc>
                <a:spcPct val="160000"/>
              </a:lnSpc>
            </a:pPr>
            <a:endParaRPr lang="fr-FR"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i="1" dirty="0">
                <a:solidFill>
                  <a:srgbClr val="C00000"/>
                </a:solidFill>
                <a:latin typeface="Times New Roman" pitchFamily="18" charset="0"/>
                <a:cs typeface="Times New Roman" pitchFamily="18" charset="0"/>
              </a:rPr>
              <a:t>Les Romains</a:t>
            </a:r>
          </a:p>
        </p:txBody>
      </p:sp>
      <p:sp>
        <p:nvSpPr>
          <p:cNvPr id="3" name="Espace réservé du contenu 2"/>
          <p:cNvSpPr>
            <a:spLocks noGrp="1"/>
          </p:cNvSpPr>
          <p:nvPr>
            <p:ph idx="1"/>
          </p:nvPr>
        </p:nvSpPr>
        <p:spPr>
          <a:xfrm>
            <a:off x="457200" y="1142984"/>
            <a:ext cx="8229600" cy="4740277"/>
          </a:xfrm>
        </p:spPr>
        <p:txBody>
          <a:bodyPr>
            <a:noAutofit/>
          </a:bodyPr>
          <a:lstStyle/>
          <a:p>
            <a:pPr lvl="0" algn="just">
              <a:lnSpc>
                <a:spcPct val="150000"/>
              </a:lnSpc>
            </a:pPr>
            <a:r>
              <a:rPr lang="fr-FR" sz="2400" dirty="0">
                <a:latin typeface="Times New Roman" pitchFamily="18" charset="0"/>
                <a:cs typeface="Times New Roman" pitchFamily="18" charset="0"/>
              </a:rPr>
              <a:t>Au III</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avant notre ère, Rome vit à la suite d’une </a:t>
            </a:r>
            <a:r>
              <a:rPr lang="fr-FR" sz="2400" b="1" dirty="0">
                <a:latin typeface="Times New Roman" pitchFamily="18" charset="0"/>
                <a:cs typeface="Times New Roman" pitchFamily="18" charset="0"/>
              </a:rPr>
              <a:t>épidémie de peste </a:t>
            </a:r>
            <a:r>
              <a:rPr lang="fr-FR" sz="2400" dirty="0">
                <a:latin typeface="Times New Roman" pitchFamily="18" charset="0"/>
                <a:cs typeface="Times New Roman" pitchFamily="18" charset="0"/>
              </a:rPr>
              <a:t>la </a:t>
            </a:r>
            <a:r>
              <a:rPr lang="fr-FR" sz="2400" b="1" dirty="0">
                <a:latin typeface="Times New Roman" pitchFamily="18" charset="0"/>
                <a:cs typeface="Times New Roman" pitchFamily="18" charset="0"/>
              </a:rPr>
              <a:t>construction</a:t>
            </a:r>
            <a:r>
              <a:rPr lang="fr-FR" sz="2400" dirty="0">
                <a:latin typeface="Times New Roman" pitchFamily="18" charset="0"/>
                <a:cs typeface="Times New Roman" pitchFamily="18" charset="0"/>
              </a:rPr>
              <a:t> d’un tel site, qui finit par occuper l’ensemble de l’</a:t>
            </a:r>
            <a:r>
              <a:rPr lang="fr-FR" sz="2800" b="1" dirty="0">
                <a:solidFill>
                  <a:srgbClr val="C00000"/>
                </a:solidFill>
                <a:latin typeface="Times New Roman" pitchFamily="18" charset="0"/>
                <a:cs typeface="Times New Roman" pitchFamily="18" charset="0"/>
              </a:rPr>
              <a:t>Ile </a:t>
            </a:r>
            <a:r>
              <a:rPr lang="fr-FR" sz="2800" b="1" dirty="0" err="1">
                <a:solidFill>
                  <a:srgbClr val="C00000"/>
                </a:solidFill>
                <a:latin typeface="Times New Roman" pitchFamily="18" charset="0"/>
                <a:cs typeface="Times New Roman" pitchFamily="18" charset="0"/>
              </a:rPr>
              <a:t>Tibérine</a:t>
            </a:r>
            <a:r>
              <a:rPr lang="fr-FR" sz="2400" dirty="0">
                <a:latin typeface="Times New Roman" pitchFamily="18" charset="0"/>
                <a:cs typeface="Times New Roman" pitchFamily="18" charset="0"/>
              </a:rPr>
              <a:t>. </a:t>
            </a:r>
          </a:p>
          <a:p>
            <a:pPr lvl="0" algn="just">
              <a:lnSpc>
                <a:spcPct val="150000"/>
              </a:lnSpc>
            </a:pPr>
            <a:r>
              <a:rPr lang="fr-FR" sz="2400" dirty="0">
                <a:latin typeface="Times New Roman" pitchFamily="18" charset="0"/>
                <a:cs typeface="Times New Roman" pitchFamily="18" charset="0"/>
              </a:rPr>
              <a:t>Nombre de médecins grecs célèbres vinrent exercer à Rome et y apportèrent des connaissances étendues pour l’époque comme le célèbre </a:t>
            </a:r>
            <a:r>
              <a:rPr lang="fr-FR" sz="2400" i="1" dirty="0">
                <a:latin typeface="Times New Roman" pitchFamily="18" charset="0"/>
                <a:cs typeface="Times New Roman" pitchFamily="18" charset="0"/>
              </a:rPr>
              <a:t>Galien </a:t>
            </a:r>
            <a:r>
              <a:rPr lang="fr-FR" sz="2400" dirty="0">
                <a:latin typeface="Times New Roman" pitchFamily="18" charset="0"/>
                <a:cs typeface="Times New Roman" pitchFamily="18" charset="0"/>
              </a:rPr>
              <a:t>qui influença la médecine occidentale pendant plus d’un millénaire. </a:t>
            </a:r>
          </a:p>
          <a:p>
            <a:pPr lvl="0">
              <a:lnSpc>
                <a:spcPct val="150000"/>
              </a:lnSpc>
            </a:pPr>
            <a:r>
              <a:rPr lang="fr-FR" sz="2400" b="1" dirty="0">
                <a:latin typeface="Times New Roman" pitchFamily="18" charset="0"/>
                <a:cs typeface="Times New Roman" pitchFamily="18" charset="0"/>
              </a:rPr>
              <a:t>Les Romains disposaient d’une armée structurée et entraînée et d’un service de santé qui annonçaient celui de l’Ère moderne.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i="1" dirty="0">
                <a:solidFill>
                  <a:srgbClr val="C00000"/>
                </a:solidFill>
                <a:latin typeface="Times New Roman" pitchFamily="18" charset="0"/>
                <a:cs typeface="Times New Roman" pitchFamily="18" charset="0"/>
              </a:rPr>
              <a:t>L’Empire Byzantin</a:t>
            </a:r>
          </a:p>
        </p:txBody>
      </p:sp>
      <p:sp>
        <p:nvSpPr>
          <p:cNvPr id="3" name="Espace réservé du contenu 2"/>
          <p:cNvSpPr>
            <a:spLocks noGrp="1"/>
          </p:cNvSpPr>
          <p:nvPr>
            <p:ph idx="1"/>
          </p:nvPr>
        </p:nvSpPr>
        <p:spPr>
          <a:xfrm>
            <a:off x="457200" y="1071546"/>
            <a:ext cx="8229600" cy="4840303"/>
          </a:xfrm>
        </p:spPr>
        <p:txBody>
          <a:bodyPr>
            <a:noAutofit/>
          </a:bodyPr>
          <a:lstStyle/>
          <a:p>
            <a:pPr lvl="0" algn="just">
              <a:lnSpc>
                <a:spcPct val="150000"/>
              </a:lnSpc>
            </a:pPr>
            <a:r>
              <a:rPr lang="fr-FR" sz="2400" dirty="0">
                <a:latin typeface="Times New Roman" pitchFamily="18" charset="0"/>
                <a:cs typeface="Times New Roman" pitchFamily="18" charset="0"/>
              </a:rPr>
              <a:t>L’Empire Byzantin qui survécut à l’Empire romain de près d’un millénaire :</a:t>
            </a:r>
          </a:p>
          <a:p>
            <a:pPr lvl="1" algn="just">
              <a:lnSpc>
                <a:spcPct val="150000"/>
              </a:lnSpc>
              <a:buFont typeface="Wingdings" pitchFamily="2" charset="2"/>
              <a:buChar char="Ø"/>
            </a:pPr>
            <a:r>
              <a:rPr lang="fr-FR" sz="2400" dirty="0">
                <a:latin typeface="Times New Roman" pitchFamily="18" charset="0"/>
                <a:cs typeface="Times New Roman" pitchFamily="18" charset="0"/>
              </a:rPr>
              <a:t>a mis en place un </a:t>
            </a:r>
            <a:r>
              <a:rPr lang="fr-FR" sz="2400" b="1" dirty="0">
                <a:latin typeface="Times New Roman" pitchFamily="18" charset="0"/>
                <a:cs typeface="Times New Roman" pitchFamily="18" charset="0"/>
              </a:rPr>
              <a:t>système de santé très moderne</a:t>
            </a:r>
            <a:r>
              <a:rPr lang="fr-FR" sz="2400" dirty="0">
                <a:latin typeface="Times New Roman" pitchFamily="18" charset="0"/>
                <a:cs typeface="Times New Roman" pitchFamily="18" charset="0"/>
              </a:rPr>
              <a:t> </a:t>
            </a:r>
          </a:p>
          <a:p>
            <a:pPr lvl="1" algn="just">
              <a:lnSpc>
                <a:spcPct val="150000"/>
              </a:lnSpc>
              <a:buFont typeface="Wingdings" pitchFamily="2" charset="2"/>
              <a:buChar char="Ø"/>
            </a:pPr>
            <a:r>
              <a:rPr lang="fr-FR" sz="2400" dirty="0">
                <a:latin typeface="Times New Roman" pitchFamily="18" charset="0"/>
                <a:cs typeface="Times New Roman" pitchFamily="18" charset="0"/>
              </a:rPr>
              <a:t>avec une </a:t>
            </a:r>
            <a:r>
              <a:rPr lang="fr-FR" b="1" dirty="0">
                <a:latin typeface="Times New Roman" pitchFamily="18" charset="0"/>
                <a:cs typeface="Times New Roman" pitchFamily="18" charset="0"/>
              </a:rPr>
              <a:t>reconnaissance officielle des </a:t>
            </a:r>
            <a:r>
              <a:rPr lang="fr-FR" b="1" i="1" dirty="0" err="1">
                <a:latin typeface="Times New Roman" pitchFamily="18" charset="0"/>
                <a:cs typeface="Times New Roman" pitchFamily="18" charset="0"/>
              </a:rPr>
              <a:t>archiatros</a:t>
            </a:r>
            <a:r>
              <a:rPr lang="fr-FR" b="1" dirty="0">
                <a:latin typeface="Times New Roman" pitchFamily="18" charset="0"/>
                <a:cs typeface="Times New Roman" pitchFamily="18" charset="0"/>
              </a:rPr>
              <a:t> </a:t>
            </a:r>
            <a:r>
              <a:rPr lang="fr-FR" sz="2400" b="1" dirty="0">
                <a:latin typeface="Times New Roman" pitchFamily="18" charset="0"/>
                <a:cs typeface="Times New Roman" pitchFamily="18" charset="0"/>
              </a:rPr>
              <a:t>médecins municipaux rémunérés par les cités</a:t>
            </a:r>
            <a:r>
              <a:rPr lang="fr-FR" sz="2400" dirty="0">
                <a:latin typeface="Times New Roman" pitchFamily="18" charset="0"/>
                <a:cs typeface="Times New Roman" pitchFamily="18" charset="0"/>
              </a:rPr>
              <a:t>. </a:t>
            </a:r>
          </a:p>
          <a:p>
            <a:pPr algn="just">
              <a:lnSpc>
                <a:spcPct val="150000"/>
              </a:lnSpc>
            </a:pPr>
            <a:r>
              <a:rPr lang="fr-FR" sz="2400" dirty="0">
                <a:latin typeface="Times New Roman" pitchFamily="18" charset="0"/>
                <a:cs typeface="Times New Roman" pitchFamily="18" charset="0"/>
              </a:rPr>
              <a:t>Dès le IV</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les grandes villes byzantines organisent de </a:t>
            </a:r>
            <a:r>
              <a:rPr lang="fr-FR" sz="2800" b="1" dirty="0">
                <a:latin typeface="Times New Roman" pitchFamily="18" charset="0"/>
                <a:cs typeface="Times New Roman" pitchFamily="18" charset="0"/>
              </a:rPr>
              <a:t>véritables hôpitaux pour accueillir des malades, souvent pauvres ou étrangers</a:t>
            </a:r>
            <a:r>
              <a:rPr lang="fr-FR" sz="2400" b="1" dirty="0">
                <a:latin typeface="Times New Roman" pitchFamily="18" charset="0"/>
                <a:cs typeface="Times New Roman" pitchFamily="18" charset="0"/>
              </a:rPr>
              <a:t>.</a:t>
            </a:r>
            <a:r>
              <a:rPr lang="fr-FR" sz="2400" dirty="0">
                <a:latin typeface="Times New Roman" pitchFamily="18" charset="0"/>
                <a:cs typeface="Times New Roman" pitchFamily="18" charset="0"/>
              </a:rPr>
              <a:t> Le terme de </a:t>
            </a:r>
            <a:r>
              <a:rPr lang="fr-FR" b="1" i="1" dirty="0">
                <a:solidFill>
                  <a:srgbClr val="C00000"/>
                </a:solidFill>
                <a:latin typeface="Times New Roman" pitchFamily="18" charset="0"/>
                <a:cs typeface="Times New Roman" pitchFamily="18" charset="0"/>
              </a:rPr>
              <a:t>xénon</a:t>
            </a:r>
            <a:r>
              <a:rPr lang="fr-FR" sz="2400" dirty="0">
                <a:latin typeface="Times New Roman" pitchFamily="18" charset="0"/>
                <a:cs typeface="Times New Roman" pitchFamily="18" charset="0"/>
              </a:rPr>
              <a:t> (étranger) dénomme ces structures.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i="1" dirty="0">
                <a:solidFill>
                  <a:srgbClr val="C00000"/>
                </a:solidFill>
                <a:latin typeface="Times New Roman" pitchFamily="18" charset="0"/>
                <a:cs typeface="Times New Roman" pitchFamily="18" charset="0"/>
              </a:rPr>
              <a:t>Dans l’Europe occidentale</a:t>
            </a:r>
          </a:p>
        </p:txBody>
      </p:sp>
      <p:sp>
        <p:nvSpPr>
          <p:cNvPr id="3" name="Espace réservé du contenu 2"/>
          <p:cNvSpPr>
            <a:spLocks noGrp="1"/>
          </p:cNvSpPr>
          <p:nvPr>
            <p:ph idx="1"/>
          </p:nvPr>
        </p:nvSpPr>
        <p:spPr/>
        <p:txBody>
          <a:bodyPr>
            <a:normAutofit lnSpcReduction="10000"/>
          </a:bodyPr>
          <a:lstStyle/>
          <a:p>
            <a:pPr algn="just">
              <a:lnSpc>
                <a:spcPct val="150000"/>
              </a:lnSpc>
            </a:pPr>
            <a:r>
              <a:rPr lang="fr-FR" sz="2400" dirty="0">
                <a:latin typeface="Times New Roman" pitchFamily="18" charset="0"/>
                <a:cs typeface="Times New Roman" pitchFamily="18" charset="0"/>
              </a:rPr>
              <a:t>Dans l’Europe occidentale, c’est </a:t>
            </a:r>
            <a:r>
              <a:rPr lang="fr-FR" sz="2800" b="1" dirty="0">
                <a:solidFill>
                  <a:srgbClr val="C00000"/>
                </a:solidFill>
                <a:latin typeface="Times New Roman" pitchFamily="18" charset="0"/>
                <a:cs typeface="Times New Roman" pitchFamily="18" charset="0"/>
              </a:rPr>
              <a:t>l’Église et ses ordres monastiques </a:t>
            </a:r>
            <a:r>
              <a:rPr lang="fr-FR" sz="2400" b="1" dirty="0">
                <a:latin typeface="Times New Roman" pitchFamily="18" charset="0"/>
                <a:cs typeface="Times New Roman" pitchFamily="18" charset="0"/>
              </a:rPr>
              <a:t>qui assuraient la </a:t>
            </a:r>
            <a:r>
              <a:rPr lang="fr-FR" sz="2800" b="1" dirty="0">
                <a:latin typeface="Times New Roman" pitchFamily="18" charset="0"/>
                <a:cs typeface="Times New Roman" pitchFamily="18" charset="0"/>
              </a:rPr>
              <a:t>prise en charge des pauvres, des pèlerins et des mourants</a:t>
            </a:r>
            <a:r>
              <a:rPr lang="fr-FR" sz="2400" dirty="0">
                <a:latin typeface="Times New Roman" pitchFamily="18" charset="0"/>
                <a:cs typeface="Times New Roman" pitchFamily="18" charset="0"/>
              </a:rPr>
              <a:t>. </a:t>
            </a:r>
          </a:p>
          <a:p>
            <a:pPr algn="just">
              <a:lnSpc>
                <a:spcPct val="150000"/>
              </a:lnSpc>
            </a:pPr>
            <a:r>
              <a:rPr lang="fr-FR" sz="2400" dirty="0">
                <a:latin typeface="Times New Roman" pitchFamily="18" charset="0"/>
                <a:cs typeface="Times New Roman" pitchFamily="18" charset="0"/>
              </a:rPr>
              <a:t>Ces monastères outre des locaux </a:t>
            </a:r>
            <a:r>
              <a:rPr lang="fr-FR" sz="2400" b="1" dirty="0">
                <a:latin typeface="Times New Roman" pitchFamily="18" charset="0"/>
                <a:cs typeface="Times New Roman" pitchFamily="18" charset="0"/>
              </a:rPr>
              <a:t>disposent de jardins permettant la production de plantes médicinales et de scriptorium</a:t>
            </a:r>
            <a:r>
              <a:rPr lang="fr-FR" sz="2400" dirty="0">
                <a:latin typeface="Times New Roman" pitchFamily="18" charset="0"/>
                <a:cs typeface="Times New Roman" pitchFamily="18" charset="0"/>
              </a:rPr>
              <a:t> où sont recopiés les manuscrits plus anciens, participant à la conservation et à la diffusion des connaissances.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i="1" dirty="0">
                <a:solidFill>
                  <a:srgbClr val="C00000"/>
                </a:solidFill>
                <a:latin typeface="Times New Roman" pitchFamily="18" charset="0"/>
                <a:cs typeface="Times New Roman" pitchFamily="18" charset="0"/>
              </a:rPr>
              <a:t>Vers le IX</a:t>
            </a:r>
            <a:r>
              <a:rPr lang="fr-FR" sz="3200" b="1" i="1" baseline="30000" dirty="0">
                <a:solidFill>
                  <a:srgbClr val="C00000"/>
                </a:solidFill>
                <a:latin typeface="Times New Roman" pitchFamily="18" charset="0"/>
                <a:cs typeface="Times New Roman" pitchFamily="18" charset="0"/>
              </a:rPr>
              <a:t>e</a:t>
            </a:r>
            <a:r>
              <a:rPr lang="fr-FR" sz="3200" b="1" i="1" dirty="0">
                <a:solidFill>
                  <a:srgbClr val="C00000"/>
                </a:solidFill>
                <a:latin typeface="Times New Roman" pitchFamily="18" charset="0"/>
                <a:cs typeface="Times New Roman" pitchFamily="18" charset="0"/>
              </a:rPr>
              <a:t> siècle</a:t>
            </a:r>
          </a:p>
        </p:txBody>
      </p:sp>
      <p:sp>
        <p:nvSpPr>
          <p:cNvPr id="3" name="Espace réservé du contenu 2"/>
          <p:cNvSpPr>
            <a:spLocks noGrp="1"/>
          </p:cNvSpPr>
          <p:nvPr>
            <p:ph idx="1"/>
          </p:nvPr>
        </p:nvSpPr>
        <p:spPr>
          <a:xfrm>
            <a:off x="457200" y="1357298"/>
            <a:ext cx="8229600" cy="4525963"/>
          </a:xfrm>
        </p:spPr>
        <p:txBody>
          <a:bodyPr>
            <a:noAutofit/>
          </a:bodyPr>
          <a:lstStyle/>
          <a:p>
            <a:pPr lvl="0" algn="just">
              <a:lnSpc>
                <a:spcPct val="200000"/>
              </a:lnSpc>
            </a:pPr>
            <a:r>
              <a:rPr lang="fr-FR" sz="2400" dirty="0">
                <a:latin typeface="Times New Roman" pitchFamily="18" charset="0"/>
                <a:cs typeface="Times New Roman" pitchFamily="18" charset="0"/>
              </a:rPr>
              <a:t>Vers le IX</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c’est </a:t>
            </a:r>
            <a:r>
              <a:rPr lang="fr-FR" sz="2800" b="1" dirty="0">
                <a:latin typeface="Times New Roman" pitchFamily="18" charset="0"/>
                <a:cs typeface="Times New Roman" pitchFamily="18" charset="0"/>
              </a:rPr>
              <a:t>en Italie </a:t>
            </a:r>
            <a:r>
              <a:rPr lang="fr-FR" sz="2400" dirty="0">
                <a:latin typeface="Times New Roman" pitchFamily="18" charset="0"/>
                <a:cs typeface="Times New Roman" pitchFamily="18" charset="0"/>
              </a:rPr>
              <a:t>qu’est fondée la </a:t>
            </a:r>
            <a:r>
              <a:rPr lang="fr-FR" sz="2800" b="1" dirty="0">
                <a:latin typeface="Times New Roman" pitchFamily="18" charset="0"/>
                <a:cs typeface="Times New Roman" pitchFamily="18" charset="0"/>
              </a:rPr>
              <a:t>première école de médecine d’Europe</a:t>
            </a:r>
            <a:r>
              <a:rPr lang="fr-FR" sz="2400" dirty="0">
                <a:latin typeface="Times New Roman" pitchFamily="18" charset="0"/>
                <a:cs typeface="Times New Roman" pitchFamily="18" charset="0"/>
              </a:rPr>
              <a:t> : la </a:t>
            </a:r>
            <a:r>
              <a:rPr lang="fr-FR" sz="2800" b="1" i="1" dirty="0">
                <a:solidFill>
                  <a:srgbClr val="C00000"/>
                </a:solidFill>
                <a:latin typeface="Times New Roman" pitchFamily="18" charset="0"/>
                <a:cs typeface="Times New Roman" pitchFamily="18" charset="0"/>
              </a:rPr>
              <a:t>Schola </a:t>
            </a:r>
            <a:r>
              <a:rPr lang="fr-FR" sz="2800" b="1" i="1" dirty="0" err="1">
                <a:solidFill>
                  <a:srgbClr val="C00000"/>
                </a:solidFill>
                <a:latin typeface="Times New Roman" pitchFamily="18" charset="0"/>
                <a:cs typeface="Times New Roman" pitchFamily="18" charset="0"/>
              </a:rPr>
              <a:t>Medica</a:t>
            </a:r>
            <a:r>
              <a:rPr lang="fr-FR" sz="2800" b="1" i="1" dirty="0">
                <a:solidFill>
                  <a:srgbClr val="C00000"/>
                </a:solidFill>
                <a:latin typeface="Times New Roman" pitchFamily="18" charset="0"/>
                <a:cs typeface="Times New Roman" pitchFamily="18" charset="0"/>
              </a:rPr>
              <a:t> </a:t>
            </a:r>
            <a:r>
              <a:rPr lang="fr-FR" sz="2800" b="1" i="1" dirty="0" err="1">
                <a:solidFill>
                  <a:srgbClr val="C00000"/>
                </a:solidFill>
                <a:latin typeface="Times New Roman" pitchFamily="18" charset="0"/>
                <a:cs typeface="Times New Roman" pitchFamily="18" charset="0"/>
              </a:rPr>
              <a:t>Salernitana</a:t>
            </a:r>
            <a:r>
              <a:rPr lang="fr-FR" sz="2800" b="1" dirty="0">
                <a:solidFill>
                  <a:srgbClr val="C00000"/>
                </a:solidFill>
                <a:latin typeface="Times New Roman" pitchFamily="18" charset="0"/>
                <a:cs typeface="Times New Roman" pitchFamily="18" charset="0"/>
              </a:rPr>
              <a:t> </a:t>
            </a:r>
            <a:r>
              <a:rPr lang="fr-FR" sz="2400" dirty="0">
                <a:latin typeface="Times New Roman" pitchFamily="18" charset="0"/>
                <a:cs typeface="Times New Roman" pitchFamily="18" charset="0"/>
              </a:rPr>
              <a:t>qui fait la jonction entre les médecines antique, byzantine et arabe. </a:t>
            </a:r>
          </a:p>
          <a:p>
            <a:pPr algn="just">
              <a:lnSpc>
                <a:spcPct val="200000"/>
              </a:lnSpc>
            </a:pPr>
            <a:endParaRPr lang="fr-FR"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357298"/>
            <a:ext cx="8229600" cy="4525963"/>
          </a:xfrm>
        </p:spPr>
        <p:txBody>
          <a:bodyPr>
            <a:noAutofit/>
          </a:bodyPr>
          <a:lstStyle/>
          <a:p>
            <a:pPr lvl="0" algn="just">
              <a:lnSpc>
                <a:spcPct val="150000"/>
              </a:lnSpc>
            </a:pPr>
            <a:r>
              <a:rPr lang="fr-FR" sz="2400" dirty="0">
                <a:latin typeface="Times New Roman" pitchFamily="18" charset="0"/>
                <a:cs typeface="Times New Roman" pitchFamily="18" charset="0"/>
              </a:rPr>
              <a:t>Il existe des </a:t>
            </a:r>
            <a:r>
              <a:rPr lang="fr-FR" sz="2400" b="1" dirty="0">
                <a:latin typeface="Times New Roman" pitchFamily="18" charset="0"/>
                <a:cs typeface="Times New Roman" pitchFamily="18" charset="0"/>
              </a:rPr>
              <a:t>hôpitaux dénommés</a:t>
            </a:r>
            <a:r>
              <a:rPr lang="fr-FR" sz="2800" b="1" dirty="0">
                <a:latin typeface="Times New Roman" pitchFamily="18" charset="0"/>
                <a:cs typeface="Times New Roman" pitchFamily="18" charset="0"/>
              </a:rPr>
              <a:t> </a:t>
            </a:r>
            <a:r>
              <a:rPr lang="fr-FR" sz="2800" b="1" i="1" dirty="0" err="1">
                <a:solidFill>
                  <a:srgbClr val="C00000"/>
                </a:solidFill>
                <a:latin typeface="Times New Roman" pitchFamily="18" charset="0"/>
                <a:cs typeface="Times New Roman" pitchFamily="18" charset="0"/>
              </a:rPr>
              <a:t>Bimaristan</a:t>
            </a:r>
            <a:r>
              <a:rPr lang="fr-FR" sz="2400" dirty="0">
                <a:latin typeface="Times New Roman" pitchFamily="18" charset="0"/>
                <a:cs typeface="Times New Roman" pitchFamily="18" charset="0"/>
              </a:rPr>
              <a:t> où les </a:t>
            </a:r>
            <a:r>
              <a:rPr lang="fr-FR" sz="2400" b="1" dirty="0">
                <a:latin typeface="Times New Roman" pitchFamily="18" charset="0"/>
                <a:cs typeface="Times New Roman" pitchFamily="18" charset="0"/>
              </a:rPr>
              <a:t>malades</a:t>
            </a:r>
            <a:r>
              <a:rPr lang="fr-FR" sz="2400" dirty="0">
                <a:latin typeface="Times New Roman" pitchFamily="18" charset="0"/>
                <a:cs typeface="Times New Roman" pitchFamily="18" charset="0"/>
              </a:rPr>
              <a:t> sont </a:t>
            </a:r>
            <a:r>
              <a:rPr lang="fr-FR" sz="2400" b="1" dirty="0">
                <a:latin typeface="Times New Roman" pitchFamily="18" charset="0"/>
                <a:cs typeface="Times New Roman" pitchFamily="18" charset="0"/>
              </a:rPr>
              <a:t>pris en charge par un personnel qualifié</a:t>
            </a:r>
            <a:r>
              <a:rPr lang="fr-FR" sz="2400" dirty="0">
                <a:latin typeface="Times New Roman" pitchFamily="18" charset="0"/>
                <a:cs typeface="Times New Roman" pitchFamily="18" charset="0"/>
              </a:rPr>
              <a:t>. </a:t>
            </a:r>
          </a:p>
          <a:p>
            <a:pPr lvl="0" algn="just">
              <a:lnSpc>
                <a:spcPct val="150000"/>
              </a:lnSpc>
            </a:pPr>
            <a:r>
              <a:rPr lang="fr-FR" sz="2400" dirty="0">
                <a:latin typeface="Times New Roman" pitchFamily="18" charset="0"/>
                <a:cs typeface="Times New Roman" pitchFamily="18" charset="0"/>
              </a:rPr>
              <a:t>La médecine arabe avait pour base la médecine grecque ancienne, celle d’Hippocrate et de Galien. </a:t>
            </a:r>
          </a:p>
          <a:p>
            <a:pPr lvl="0" algn="just">
              <a:lnSpc>
                <a:spcPct val="150000"/>
              </a:lnSpc>
            </a:pPr>
            <a:r>
              <a:rPr lang="fr-FR" sz="2400" dirty="0">
                <a:latin typeface="Times New Roman" pitchFamily="18" charset="0"/>
                <a:cs typeface="Times New Roman" pitchFamily="18" charset="0"/>
              </a:rPr>
              <a:t>C’est à travers les sujets chrétiens souvent nestoriens qui avaient traduit cet héritage ancien que c’est fait cette transmission reprise et développée par de grands médecins tels </a:t>
            </a:r>
            <a:r>
              <a:rPr lang="fr-FR" sz="2400" i="1" dirty="0">
                <a:latin typeface="Times New Roman" pitchFamily="18" charset="0"/>
                <a:cs typeface="Times New Roman" pitchFamily="18" charset="0"/>
              </a:rPr>
              <a:t>Avicenne</a:t>
            </a:r>
            <a:r>
              <a:rPr lang="fr-FR" sz="2400" dirty="0">
                <a:latin typeface="Times New Roman" pitchFamily="18" charset="0"/>
                <a:cs typeface="Times New Roman" pitchFamily="18" charset="0"/>
              </a:rPr>
              <a:t>. </a:t>
            </a:r>
          </a:p>
          <a:p>
            <a:pPr algn="just">
              <a:lnSpc>
                <a:spcPct val="150000"/>
              </a:lnSpc>
            </a:pPr>
            <a:endParaRPr lang="fr-FR" sz="2400" dirty="0">
              <a:latin typeface="Times New Roman" pitchFamily="18" charset="0"/>
              <a:cs typeface="Times New Roman" pitchFamily="18" charset="0"/>
            </a:endParaRPr>
          </a:p>
        </p:txBody>
      </p:sp>
      <p:sp>
        <p:nvSpPr>
          <p:cNvPr id="4" name="Rectangle 3"/>
          <p:cNvSpPr/>
          <p:nvPr/>
        </p:nvSpPr>
        <p:spPr>
          <a:xfrm>
            <a:off x="0" y="558209"/>
            <a:ext cx="9144000" cy="584775"/>
          </a:xfrm>
          <a:prstGeom prst="rect">
            <a:avLst/>
          </a:prstGeom>
        </p:spPr>
        <p:txBody>
          <a:bodyPr wrap="square">
            <a:spAutoFit/>
          </a:bodyPr>
          <a:lstStyle/>
          <a:p>
            <a:pPr algn="ctr"/>
            <a:r>
              <a:rPr lang="fr-FR" sz="3200" b="1" i="1" dirty="0">
                <a:solidFill>
                  <a:srgbClr val="C00000"/>
                </a:solidFill>
                <a:latin typeface="Times New Roman" pitchFamily="18" charset="0"/>
                <a:cs typeface="Times New Roman" pitchFamily="18" charset="0"/>
              </a:rPr>
              <a:t>Dans le monde islamique</a:t>
            </a:r>
            <a:endParaRPr lang="fr-FR" sz="2400" b="1" i="1"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latin typeface="Times New Roman" pitchFamily="18" charset="0"/>
                <a:cs typeface="Times New Roman" pitchFamily="18" charset="0"/>
              </a:rPr>
              <a:t>III. Les hôpitaux dans le monde arabo-musulman</a:t>
            </a:r>
            <a:br>
              <a:rPr lang="fr-FR" dirty="0">
                <a:latin typeface="Times New Roman" pitchFamily="18" charset="0"/>
                <a:cs typeface="Times New Roman" pitchFamily="18" charset="0"/>
              </a:rPr>
            </a:br>
            <a:endParaRPr lang="fr-FR" dirty="0">
              <a:latin typeface="Times New Roman" pitchFamily="18" charset="0"/>
              <a:cs typeface="Times New Roman" pitchFamily="18" charset="0"/>
            </a:endParaRP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Autofit/>
          </a:bodyPr>
          <a:lstStyle/>
          <a:p>
            <a:pPr algn="just">
              <a:lnSpc>
                <a:spcPct val="150000"/>
              </a:lnSpc>
            </a:pPr>
            <a:r>
              <a:rPr lang="fr-FR" sz="2400" dirty="0">
                <a:latin typeface="Times New Roman" pitchFamily="18" charset="0"/>
                <a:cs typeface="Times New Roman" pitchFamily="18" charset="0"/>
              </a:rPr>
              <a:t>Les médecins musulmans </a:t>
            </a:r>
            <a:r>
              <a:rPr lang="fr-FR" sz="2400" b="1" dirty="0">
                <a:latin typeface="Times New Roman" pitchFamily="18" charset="0"/>
                <a:cs typeface="Times New Roman" pitchFamily="18" charset="0"/>
              </a:rPr>
              <a:t>ont été les premiers à établir une distinction entre un hôpital et les différents types d’accueil </a:t>
            </a:r>
            <a:r>
              <a:rPr lang="fr-FR" sz="2400" dirty="0">
                <a:latin typeface="Times New Roman" pitchFamily="18" charset="0"/>
                <a:cs typeface="Times New Roman" pitchFamily="18" charset="0"/>
              </a:rPr>
              <a:t>comme les temples de guérison, temples de sommeil, Hospices, Asiles, Lazaret et Léproseries qui, dans l’Antiquité répondaient davantage à une préoccupation d’isoler les malades et les fous de la société « plutôt qu'à celle de leur offrir l’espoir d’une véritable guérison. »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150000"/>
              </a:lnSpc>
            </a:pPr>
            <a:r>
              <a:rPr lang="fr-FR" sz="2800" dirty="0">
                <a:latin typeface="Times New Roman" pitchFamily="18" charset="0"/>
                <a:cs typeface="Times New Roman" pitchFamily="18" charset="0"/>
              </a:rPr>
              <a:t>Les </a:t>
            </a:r>
            <a:r>
              <a:rPr lang="fr-FR" b="1" dirty="0" err="1">
                <a:solidFill>
                  <a:srgbClr val="C00000"/>
                </a:solidFill>
                <a:latin typeface="Times New Roman" pitchFamily="18" charset="0"/>
                <a:cs typeface="Times New Roman" pitchFamily="18" charset="0"/>
              </a:rPr>
              <a:t>Bimaristans</a:t>
            </a:r>
            <a:r>
              <a:rPr lang="fr-FR" b="1" dirty="0">
                <a:solidFill>
                  <a:srgbClr val="C00000"/>
                </a:solidFill>
                <a:latin typeface="Times New Roman" pitchFamily="18" charset="0"/>
                <a:cs typeface="Times New Roman" pitchFamily="18" charset="0"/>
              </a:rPr>
              <a:t> </a:t>
            </a:r>
            <a:r>
              <a:rPr lang="fr-FR" sz="2800" b="1" dirty="0">
                <a:latin typeface="Times New Roman" pitchFamily="18" charset="0"/>
                <a:cs typeface="Times New Roman" pitchFamily="18" charset="0"/>
              </a:rPr>
              <a:t>médiévaux</a:t>
            </a:r>
            <a:r>
              <a:rPr lang="fr-FR" b="1" dirty="0">
                <a:solidFill>
                  <a:srgbClr val="C00000"/>
                </a:solidFill>
                <a:latin typeface="Times New Roman" pitchFamily="18" charset="0"/>
                <a:cs typeface="Times New Roman" pitchFamily="18" charset="0"/>
              </a:rPr>
              <a:t> </a:t>
            </a:r>
            <a:r>
              <a:rPr lang="fr-FR" sz="2800" b="1" dirty="0">
                <a:latin typeface="Times New Roman" pitchFamily="18" charset="0"/>
                <a:cs typeface="Times New Roman" pitchFamily="18" charset="0"/>
              </a:rPr>
              <a:t>sont donc considérés comme les premiers hôpitaux au sens moderne du terme</a:t>
            </a:r>
            <a:r>
              <a:rPr lang="fr-FR" sz="2800" dirty="0">
                <a:latin typeface="Times New Roman" pitchFamily="18" charset="0"/>
                <a:cs typeface="Times New Roman" pitchFamily="18" charset="0"/>
              </a:rPr>
              <a:t>. </a:t>
            </a:r>
          </a:p>
          <a:p>
            <a:pPr algn="just">
              <a:lnSpc>
                <a:spcPct val="150000"/>
              </a:lnSpc>
            </a:pPr>
            <a:endParaRPr lang="fr-FR" sz="28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36"/>
            <a:ext cx="8229600" cy="1143000"/>
          </a:xfrm>
        </p:spPr>
        <p:txBody>
          <a:bodyPr>
            <a:noAutofit/>
          </a:bodyPr>
          <a:lstStyle/>
          <a:p>
            <a:pPr lvl="0"/>
            <a:r>
              <a:rPr lang="fr-FR" sz="3200" b="1" i="1" dirty="0">
                <a:solidFill>
                  <a:srgbClr val="C00000"/>
                </a:solidFill>
                <a:latin typeface="Times New Roman" pitchFamily="18" charset="0"/>
                <a:cs typeface="Times New Roman" pitchFamily="18" charset="0"/>
              </a:rPr>
              <a:t>Les premiers hôpitaux </a:t>
            </a:r>
            <a:r>
              <a:rPr lang="fr-FR" sz="3200" b="1" i="1" dirty="0">
                <a:latin typeface="Times New Roman" pitchFamily="18" charset="0"/>
                <a:cs typeface="Times New Roman" pitchFamily="18" charset="0"/>
              </a:rPr>
              <a:t/>
            </a:r>
            <a:br>
              <a:rPr lang="fr-FR" sz="3200" b="1" i="1" dirty="0">
                <a:latin typeface="Times New Roman" pitchFamily="18" charset="0"/>
                <a:cs typeface="Times New Roman" pitchFamily="18" charset="0"/>
              </a:rPr>
            </a:br>
            <a:endParaRPr lang="fr-FR" sz="3200" b="1"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357158" y="1071546"/>
            <a:ext cx="8329642" cy="5429288"/>
          </a:xfrm>
        </p:spPr>
        <p:txBody>
          <a:bodyPr>
            <a:normAutofit/>
          </a:bodyPr>
          <a:lstStyle/>
          <a:p>
            <a:pPr algn="just">
              <a:lnSpc>
                <a:spcPct val="150000"/>
              </a:lnSpc>
            </a:pPr>
            <a:r>
              <a:rPr lang="fr-FR" sz="2800" b="1" dirty="0">
                <a:latin typeface="Times New Roman" pitchFamily="18" charset="0"/>
                <a:cs typeface="Times New Roman" pitchFamily="18" charset="0"/>
              </a:rPr>
              <a:t>Le</a:t>
            </a:r>
            <a:r>
              <a:rPr lang="fr-FR" sz="2400" dirty="0">
                <a:latin typeface="Times New Roman" pitchFamily="18" charset="0"/>
                <a:cs typeface="Times New Roman" pitchFamily="18" charset="0"/>
              </a:rPr>
              <a:t> </a:t>
            </a:r>
            <a:r>
              <a:rPr lang="fr-FR" sz="2800" b="1" dirty="0">
                <a:latin typeface="Times New Roman" pitchFamily="18" charset="0"/>
                <a:cs typeface="Times New Roman" pitchFamily="18" charset="0"/>
              </a:rPr>
              <a:t>premier hôpital musulman </a:t>
            </a:r>
            <a:r>
              <a:rPr lang="fr-FR" sz="2400" dirty="0">
                <a:latin typeface="Times New Roman" pitchFamily="18" charset="0"/>
                <a:cs typeface="Times New Roman" pitchFamily="18" charset="0"/>
              </a:rPr>
              <a:t>est souvent </a:t>
            </a:r>
            <a:r>
              <a:rPr lang="fr-FR" sz="2800" b="1" dirty="0">
                <a:latin typeface="Times New Roman" pitchFamily="18" charset="0"/>
                <a:cs typeface="Times New Roman" pitchFamily="18" charset="0"/>
              </a:rPr>
              <a:t>attribué au calife Al-</a:t>
            </a:r>
            <a:r>
              <a:rPr lang="fr-FR" sz="2800" b="1" dirty="0" err="1">
                <a:latin typeface="Times New Roman" pitchFamily="18" charset="0"/>
                <a:cs typeface="Times New Roman" pitchFamily="18" charset="0"/>
              </a:rPr>
              <a:t>Walïd</a:t>
            </a:r>
            <a:r>
              <a:rPr lang="fr-FR" sz="2800" b="1" dirty="0">
                <a:latin typeface="Times New Roman" pitchFamily="18" charset="0"/>
                <a:cs typeface="Times New Roman" pitchFamily="18" charset="0"/>
              </a:rPr>
              <a:t> Ier</a:t>
            </a:r>
            <a:r>
              <a:rPr lang="fr-FR" sz="2400" dirty="0">
                <a:latin typeface="Times New Roman" pitchFamily="18" charset="0"/>
                <a:cs typeface="Times New Roman" pitchFamily="18" charset="0"/>
              </a:rPr>
              <a:t>, qui régna de 705 à 715, mais : </a:t>
            </a:r>
          </a:p>
          <a:p>
            <a:pPr lvl="1" algn="just">
              <a:lnSpc>
                <a:spcPct val="150000"/>
              </a:lnSpc>
              <a:buFont typeface="Wingdings" pitchFamily="2" charset="2"/>
              <a:buChar char="Ø"/>
            </a:pPr>
            <a:r>
              <a:rPr lang="fr-FR" sz="2400" u="sng" dirty="0">
                <a:latin typeface="Times New Roman" pitchFamily="18" charset="0"/>
                <a:cs typeface="Times New Roman" pitchFamily="18" charset="0"/>
              </a:rPr>
              <a:t>sa nature exacte n'est pas claire</a:t>
            </a:r>
            <a:r>
              <a:rPr lang="fr-FR" sz="2400" dirty="0">
                <a:latin typeface="Times New Roman" pitchFamily="18" charset="0"/>
                <a:cs typeface="Times New Roman" pitchFamily="18" charset="0"/>
              </a:rPr>
              <a:t> : hospice, léproserie, service d'assistance pour les aveugles et les estropiés... </a:t>
            </a:r>
          </a:p>
          <a:p>
            <a:pPr lvl="1" algn="just">
              <a:lnSpc>
                <a:spcPct val="150000"/>
              </a:lnSpc>
              <a:buFont typeface="Wingdings" pitchFamily="2" charset="2"/>
              <a:buChar char="Ø"/>
            </a:pPr>
            <a:r>
              <a:rPr lang="fr-FR" sz="2400" u="sng" dirty="0">
                <a:latin typeface="Times New Roman" pitchFamily="18" charset="0"/>
                <a:cs typeface="Times New Roman" pitchFamily="18" charset="0"/>
              </a:rPr>
              <a:t>son lieu n’est pas claire </a:t>
            </a:r>
            <a:r>
              <a:rPr lang="fr-FR" sz="2400" dirty="0">
                <a:latin typeface="Times New Roman" pitchFamily="18" charset="0"/>
                <a:cs typeface="Times New Roman" pitchFamily="18" charset="0"/>
              </a:rPr>
              <a:t>non plus (Damas ou Médine).</a:t>
            </a:r>
          </a:p>
          <a:p>
            <a:pPr algn="just">
              <a:lnSpc>
                <a:spcPct val="150000"/>
              </a:lnSpc>
            </a:pPr>
            <a:r>
              <a:rPr lang="fr-FR" sz="2800" b="1" dirty="0">
                <a:latin typeface="Times New Roman" pitchFamily="18" charset="0"/>
                <a:cs typeface="Times New Roman" pitchFamily="18" charset="0"/>
              </a:rPr>
              <a:t>Le plus ancien hôpital suffisamment documenté </a:t>
            </a:r>
            <a:r>
              <a:rPr lang="fr-FR" sz="2400" dirty="0">
                <a:latin typeface="Times New Roman" pitchFamily="18" charset="0"/>
                <a:cs typeface="Times New Roman" pitchFamily="18" charset="0"/>
              </a:rPr>
              <a:t>est </a:t>
            </a:r>
            <a:r>
              <a:rPr lang="fr-FR" sz="2800" b="1" dirty="0">
                <a:latin typeface="Times New Roman" pitchFamily="18" charset="0"/>
                <a:cs typeface="Times New Roman" pitchFamily="18" charset="0"/>
              </a:rPr>
              <a:t>construit à Bagdad</a:t>
            </a:r>
            <a:r>
              <a:rPr lang="fr-FR" sz="2400" dirty="0">
                <a:latin typeface="Times New Roman" pitchFamily="18" charset="0"/>
                <a:cs typeface="Times New Roman" pitchFamily="18" charset="0"/>
              </a:rPr>
              <a:t>, </a:t>
            </a:r>
            <a:r>
              <a:rPr lang="fr-FR" sz="2800" b="1" dirty="0">
                <a:latin typeface="Times New Roman" pitchFamily="18" charset="0"/>
                <a:cs typeface="Times New Roman" pitchFamily="18" charset="0"/>
              </a:rPr>
              <a:t>par un vizir du calife </a:t>
            </a:r>
            <a:r>
              <a:rPr lang="fr-FR" sz="2800" b="1" dirty="0" err="1">
                <a:latin typeface="Times New Roman" pitchFamily="18" charset="0"/>
                <a:cs typeface="Times New Roman" pitchFamily="18" charset="0"/>
              </a:rPr>
              <a:t>Harun</a:t>
            </a:r>
            <a:r>
              <a:rPr lang="fr-FR" sz="2800" b="1" dirty="0">
                <a:latin typeface="Times New Roman" pitchFamily="18" charset="0"/>
                <a:cs typeface="Times New Roman" pitchFamily="18" charset="0"/>
              </a:rPr>
              <a:t> al-Rashid</a:t>
            </a:r>
            <a:r>
              <a:rPr lang="fr-FR" sz="2400" dirty="0">
                <a:latin typeface="Times New Roman" pitchFamily="18" charset="0"/>
                <a:cs typeface="Times New Roman" pitchFamily="18" charset="0"/>
              </a:rPr>
              <a:t> qui régna de 786 à 809.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42852"/>
            <a:ext cx="8229600" cy="1143000"/>
          </a:xfrm>
        </p:spPr>
        <p:txBody>
          <a:bodyPr>
            <a:noAutofit/>
          </a:bodyPr>
          <a:lstStyle/>
          <a:p>
            <a:pPr lvl="0"/>
            <a:r>
              <a:rPr lang="fr-FR" sz="3200" b="1" i="1" dirty="0">
                <a:solidFill>
                  <a:srgbClr val="C00000"/>
                </a:solidFill>
                <a:latin typeface="Times New Roman" pitchFamily="18" charset="0"/>
                <a:cs typeface="Times New Roman" pitchFamily="18" charset="0"/>
              </a:rPr>
              <a:t>Les plus célèbres </a:t>
            </a:r>
            <a:br>
              <a:rPr lang="fr-FR" sz="3200" b="1" i="1" dirty="0">
                <a:solidFill>
                  <a:srgbClr val="C00000"/>
                </a:solidFill>
                <a:latin typeface="Times New Roman" pitchFamily="18" charset="0"/>
                <a:cs typeface="Times New Roman" pitchFamily="18" charset="0"/>
              </a:rPr>
            </a:br>
            <a:endParaRPr lang="fr-FR" sz="3200" b="1" i="1" dirty="0">
              <a:solidFill>
                <a:srgbClr val="C00000"/>
              </a:solidFill>
              <a:latin typeface="Times New Roman" pitchFamily="18" charset="0"/>
              <a:cs typeface="Times New Roman" pitchFamily="18" charset="0"/>
            </a:endParaRPr>
          </a:p>
        </p:txBody>
      </p:sp>
      <p:sp>
        <p:nvSpPr>
          <p:cNvPr id="3" name="Espace réservé du contenu 2"/>
          <p:cNvSpPr>
            <a:spLocks noGrp="1"/>
          </p:cNvSpPr>
          <p:nvPr>
            <p:ph idx="1"/>
          </p:nvPr>
        </p:nvSpPr>
        <p:spPr>
          <a:xfrm>
            <a:off x="457200" y="857232"/>
            <a:ext cx="8229600" cy="5268931"/>
          </a:xfrm>
        </p:spPr>
        <p:txBody>
          <a:bodyPr>
            <a:noAutofit/>
          </a:bodyPr>
          <a:lstStyle/>
          <a:p>
            <a:pPr algn="just"/>
            <a:r>
              <a:rPr lang="fr-FR" sz="2800" b="1" dirty="0">
                <a:latin typeface="Times New Roman" pitchFamily="18" charset="0"/>
                <a:cs typeface="Times New Roman" pitchFamily="18" charset="0"/>
              </a:rPr>
              <a:t>À Damas</a:t>
            </a:r>
            <a:r>
              <a:rPr lang="fr-FR" sz="2800" dirty="0">
                <a:latin typeface="Times New Roman" pitchFamily="18" charset="0"/>
                <a:cs typeface="Times New Roman" pitchFamily="18" charset="0"/>
              </a:rPr>
              <a:t> :</a:t>
            </a:r>
          </a:p>
          <a:p>
            <a:pPr lvl="2" algn="just">
              <a:buFont typeface="Wingdings" pitchFamily="2" charset="2"/>
              <a:buChar char="ü"/>
            </a:pPr>
            <a:r>
              <a:rPr lang="fr-FR" sz="2800" dirty="0">
                <a:latin typeface="Times New Roman" pitchFamily="18" charset="0"/>
                <a:cs typeface="Times New Roman" pitchFamily="18" charset="0"/>
              </a:rPr>
              <a:t>l'</a:t>
            </a:r>
            <a:r>
              <a:rPr lang="fr-FR" sz="2800" b="1" dirty="0">
                <a:solidFill>
                  <a:srgbClr val="C00000"/>
                </a:solidFill>
                <a:latin typeface="Times New Roman" pitchFamily="18" charset="0"/>
                <a:cs typeface="Times New Roman" pitchFamily="18" charset="0"/>
              </a:rPr>
              <a:t>hôpital </a:t>
            </a:r>
            <a:r>
              <a:rPr lang="fr-FR" sz="2800" b="1" i="1" dirty="0" err="1">
                <a:solidFill>
                  <a:srgbClr val="C00000"/>
                </a:solidFill>
                <a:latin typeface="Times New Roman" pitchFamily="18" charset="0"/>
                <a:cs typeface="Times New Roman" pitchFamily="18" charset="0"/>
              </a:rPr>
              <a:t>Adudi</a:t>
            </a:r>
            <a:r>
              <a:rPr lang="fr-FR" sz="2800" dirty="0">
                <a:latin typeface="Times New Roman" pitchFamily="18" charset="0"/>
                <a:cs typeface="Times New Roman" pitchFamily="18" charset="0"/>
              </a:rPr>
              <a:t> :</a:t>
            </a:r>
          </a:p>
          <a:p>
            <a:pPr lvl="1" algn="just">
              <a:buFont typeface="Wingdings" pitchFamily="2" charset="2"/>
              <a:buChar char="Ø"/>
            </a:pPr>
            <a:r>
              <a:rPr lang="fr-FR" sz="2400" dirty="0">
                <a:latin typeface="Times New Roman" pitchFamily="18" charset="0"/>
                <a:cs typeface="Times New Roman" pitchFamily="18" charset="0"/>
              </a:rPr>
              <a:t>est construit en 982 par </a:t>
            </a:r>
            <a:r>
              <a:rPr lang="fr-FR" sz="2400" dirty="0" err="1">
                <a:latin typeface="Times New Roman" pitchFamily="18" charset="0"/>
                <a:cs typeface="Times New Roman" pitchFamily="18" charset="0"/>
              </a:rPr>
              <a:t>Adud</a:t>
            </a:r>
            <a:r>
              <a:rPr lang="fr-FR" sz="2400" dirty="0">
                <a:latin typeface="Times New Roman" pitchFamily="18" charset="0"/>
                <a:cs typeface="Times New Roman" pitchFamily="18" charset="0"/>
              </a:rPr>
              <a:t> Al </a:t>
            </a:r>
            <a:r>
              <a:rPr lang="fr-FR" sz="2400" dirty="0" err="1">
                <a:latin typeface="Times New Roman" pitchFamily="18" charset="0"/>
                <a:cs typeface="Times New Roman" pitchFamily="18" charset="0"/>
              </a:rPr>
              <a:t>Dawla</a:t>
            </a:r>
            <a:r>
              <a:rPr lang="fr-FR" sz="2400" dirty="0">
                <a:latin typeface="Times New Roman" pitchFamily="18" charset="0"/>
                <a:cs typeface="Times New Roman" pitchFamily="18" charset="0"/>
              </a:rPr>
              <a:t>. </a:t>
            </a:r>
          </a:p>
          <a:p>
            <a:pPr lvl="1" algn="just">
              <a:buFont typeface="Wingdings" pitchFamily="2" charset="2"/>
              <a:buChar char="Ø"/>
            </a:pPr>
            <a:r>
              <a:rPr lang="fr-FR" sz="2400" dirty="0">
                <a:latin typeface="Times New Roman" pitchFamily="18" charset="0"/>
                <a:cs typeface="Times New Roman" pitchFamily="18" charset="0"/>
              </a:rPr>
              <a:t>était tenu à son début par 25 médecins.</a:t>
            </a:r>
          </a:p>
          <a:p>
            <a:pPr lvl="1" algn="just">
              <a:buNone/>
            </a:pPr>
            <a:endParaRPr lang="fr-FR" sz="2000" dirty="0">
              <a:latin typeface="Times New Roman" pitchFamily="18" charset="0"/>
              <a:cs typeface="Times New Roman" pitchFamily="18" charset="0"/>
            </a:endParaRPr>
          </a:p>
          <a:p>
            <a:pPr algn="just"/>
            <a:r>
              <a:rPr lang="fr-FR" sz="2800" b="1" dirty="0">
                <a:latin typeface="Times New Roman" pitchFamily="18" charset="0"/>
                <a:cs typeface="Times New Roman" pitchFamily="18" charset="0"/>
              </a:rPr>
              <a:t>Au Caire</a:t>
            </a:r>
            <a:r>
              <a:rPr lang="fr-FR" sz="2400" b="1" dirty="0">
                <a:latin typeface="Times New Roman" pitchFamily="18" charset="0"/>
                <a:cs typeface="Times New Roman" pitchFamily="18" charset="0"/>
              </a:rPr>
              <a:t> :</a:t>
            </a:r>
          </a:p>
          <a:p>
            <a:pPr lvl="2" algn="just">
              <a:buFont typeface="Wingdings" pitchFamily="2" charset="2"/>
              <a:buChar char="ü"/>
            </a:pPr>
            <a:r>
              <a:rPr lang="fr-FR" sz="2800" dirty="0">
                <a:latin typeface="Times New Roman" pitchFamily="18" charset="0"/>
                <a:cs typeface="Times New Roman" pitchFamily="18" charset="0"/>
              </a:rPr>
              <a:t>l'</a:t>
            </a:r>
            <a:r>
              <a:rPr lang="fr-FR" sz="2800" b="1" dirty="0">
                <a:solidFill>
                  <a:srgbClr val="C00000"/>
                </a:solidFill>
                <a:latin typeface="Times New Roman" pitchFamily="18" charset="0"/>
                <a:cs typeface="Times New Roman" pitchFamily="18" charset="0"/>
              </a:rPr>
              <a:t>hôpital </a:t>
            </a:r>
            <a:r>
              <a:rPr lang="fr-FR" sz="2800" b="1" i="1" dirty="0" err="1">
                <a:solidFill>
                  <a:srgbClr val="C00000"/>
                </a:solidFill>
                <a:latin typeface="Times New Roman" pitchFamily="18" charset="0"/>
                <a:cs typeface="Times New Roman" pitchFamily="18" charset="0"/>
              </a:rPr>
              <a:t>Nasiri</a:t>
            </a:r>
            <a:r>
              <a:rPr lang="fr-FR" sz="2800" dirty="0">
                <a:latin typeface="Times New Roman" pitchFamily="18" charset="0"/>
                <a:cs typeface="Times New Roman" pitchFamily="18" charset="0"/>
              </a:rPr>
              <a:t> :</a:t>
            </a:r>
          </a:p>
          <a:p>
            <a:pPr lvl="1" algn="just">
              <a:buFont typeface="Wingdings" pitchFamily="2" charset="2"/>
              <a:buChar char="Ø"/>
            </a:pPr>
            <a:r>
              <a:rPr lang="fr-FR" sz="2400" dirty="0">
                <a:latin typeface="Times New Roman" pitchFamily="18" charset="0"/>
                <a:cs typeface="Times New Roman" pitchFamily="18" charset="0"/>
              </a:rPr>
              <a:t>fondé au </a:t>
            </a:r>
            <a:r>
              <a:rPr lang="fr-FR" sz="2400" cap="small" dirty="0" err="1">
                <a:latin typeface="Times New Roman" pitchFamily="18" charset="0"/>
                <a:cs typeface="Times New Roman" pitchFamily="18" charset="0"/>
              </a:rPr>
              <a:t>xii</a:t>
            </a:r>
            <a:r>
              <a:rPr lang="fr-FR" sz="2400" baseline="30000" dirty="0" err="1">
                <a:latin typeface="Times New Roman" pitchFamily="18" charset="0"/>
                <a:cs typeface="Times New Roman" pitchFamily="18" charset="0"/>
              </a:rPr>
              <a:t>e</a:t>
            </a:r>
            <a:r>
              <a:rPr lang="fr-FR" sz="2400" baseline="30000" dirty="0">
                <a:latin typeface="Times New Roman" pitchFamily="18" charset="0"/>
                <a:cs typeface="Times New Roman" pitchFamily="18" charset="0"/>
              </a:rPr>
              <a:t> </a:t>
            </a:r>
            <a:r>
              <a:rPr lang="fr-FR" sz="2400" dirty="0">
                <a:latin typeface="Times New Roman" pitchFamily="18" charset="0"/>
                <a:cs typeface="Times New Roman" pitchFamily="18" charset="0"/>
              </a:rPr>
              <a:t>siècle (après 1171) par Saladin. </a:t>
            </a:r>
          </a:p>
          <a:p>
            <a:pPr lvl="1" algn="just">
              <a:buNone/>
            </a:pPr>
            <a:endParaRPr lang="fr-FR" sz="2400" dirty="0">
              <a:latin typeface="Times New Roman" pitchFamily="18" charset="0"/>
              <a:cs typeface="Times New Roman" pitchFamily="18" charset="0"/>
            </a:endParaRPr>
          </a:p>
          <a:p>
            <a:pPr lvl="2" algn="just">
              <a:buFont typeface="Wingdings" pitchFamily="2" charset="2"/>
              <a:buChar char="ü"/>
            </a:pPr>
            <a:r>
              <a:rPr lang="fr-FR" sz="2800" dirty="0">
                <a:latin typeface="Times New Roman" pitchFamily="18" charset="0"/>
                <a:cs typeface="Times New Roman" pitchFamily="18" charset="0"/>
              </a:rPr>
              <a:t>surpassé par </a:t>
            </a:r>
            <a:r>
              <a:rPr lang="fr-FR" sz="2800" b="1" dirty="0">
                <a:solidFill>
                  <a:srgbClr val="C00000"/>
                </a:solidFill>
                <a:latin typeface="Times New Roman" pitchFamily="18" charset="0"/>
                <a:cs typeface="Times New Roman" pitchFamily="18" charset="0"/>
              </a:rPr>
              <a:t>l'hôpital </a:t>
            </a:r>
            <a:r>
              <a:rPr lang="fr-FR" sz="2800" b="1" i="1" dirty="0" err="1">
                <a:solidFill>
                  <a:srgbClr val="C00000"/>
                </a:solidFill>
                <a:latin typeface="Times New Roman" pitchFamily="18" charset="0"/>
                <a:cs typeface="Times New Roman" pitchFamily="18" charset="0"/>
              </a:rPr>
              <a:t>Mansuri</a:t>
            </a:r>
            <a:r>
              <a:rPr lang="fr-FR" sz="2800" b="1" i="1" dirty="0">
                <a:solidFill>
                  <a:srgbClr val="C00000"/>
                </a:solidFill>
                <a:latin typeface="Times New Roman" pitchFamily="18" charset="0"/>
                <a:cs typeface="Times New Roman" pitchFamily="18" charset="0"/>
              </a:rPr>
              <a:t> </a:t>
            </a:r>
            <a:r>
              <a:rPr lang="fr-FR" sz="2800" dirty="0">
                <a:latin typeface="Times New Roman" pitchFamily="18" charset="0"/>
                <a:cs typeface="Times New Roman" pitchFamily="18" charset="0"/>
              </a:rPr>
              <a:t>: </a:t>
            </a:r>
            <a:endParaRPr lang="fr-FR" sz="2000" dirty="0">
              <a:latin typeface="Times New Roman" pitchFamily="18" charset="0"/>
              <a:cs typeface="Times New Roman" pitchFamily="18" charset="0"/>
            </a:endParaRPr>
          </a:p>
          <a:p>
            <a:pPr lvl="1" algn="just">
              <a:buFont typeface="Wingdings" pitchFamily="2" charset="2"/>
              <a:buChar char="Ø"/>
            </a:pPr>
            <a:r>
              <a:rPr lang="fr-FR" sz="2400" dirty="0">
                <a:latin typeface="Times New Roman" pitchFamily="18" charset="0"/>
                <a:cs typeface="Times New Roman" pitchFamily="18" charset="0"/>
              </a:rPr>
              <a:t>fondé par al Mansur </a:t>
            </a:r>
            <a:r>
              <a:rPr lang="fr-FR" sz="2400" dirty="0" err="1">
                <a:latin typeface="Times New Roman" pitchFamily="18" charset="0"/>
                <a:cs typeface="Times New Roman" pitchFamily="18" charset="0"/>
              </a:rPr>
              <a:t>Qalawun</a:t>
            </a:r>
            <a:r>
              <a:rPr lang="fr-FR" sz="2400" dirty="0">
                <a:latin typeface="Times New Roman" pitchFamily="18" charset="0"/>
                <a:cs typeface="Times New Roman" pitchFamily="18" charset="0"/>
              </a:rPr>
              <a:t> en 1284, </a:t>
            </a:r>
          </a:p>
          <a:p>
            <a:pPr lvl="1" algn="just">
              <a:buFont typeface="Wingdings" pitchFamily="2" charset="2"/>
              <a:buChar char="Ø"/>
            </a:pPr>
            <a:r>
              <a:rPr lang="fr-FR" sz="2400" dirty="0">
                <a:latin typeface="Times New Roman" pitchFamily="18" charset="0"/>
                <a:cs typeface="Times New Roman" pitchFamily="18" charset="0"/>
              </a:rPr>
              <a:t>reste l'hôpital principal du Caire jusqu'au </a:t>
            </a:r>
            <a:r>
              <a:rPr lang="fr-FR" sz="2400" cap="small" dirty="0" err="1">
                <a:latin typeface="Times New Roman" pitchFamily="18" charset="0"/>
                <a:cs typeface="Times New Roman" pitchFamily="18" charset="0"/>
              </a:rPr>
              <a:t>xv</a:t>
            </a:r>
            <a:r>
              <a:rPr lang="fr-FR" sz="2400" baseline="30000" dirty="0" err="1">
                <a:latin typeface="Times New Roman" pitchFamily="18" charset="0"/>
                <a:cs typeface="Times New Roman" pitchFamily="18" charset="0"/>
              </a:rPr>
              <a:t>e</a:t>
            </a:r>
            <a:r>
              <a:rPr lang="fr-FR" sz="2400" dirty="0">
                <a:latin typeface="Times New Roman" pitchFamily="18" charset="0"/>
                <a:cs typeface="Times New Roman" pitchFamily="18" charset="0"/>
              </a:rPr>
              <a:t> siècle.</a:t>
            </a:r>
          </a:p>
          <a:p>
            <a:pPr algn="just">
              <a:buNone/>
            </a:pPr>
            <a:endParaRPr lang="fr-FR"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57232"/>
            <a:ext cx="8229600" cy="5268931"/>
          </a:xfrm>
        </p:spPr>
        <p:txBody>
          <a:bodyPr>
            <a:noAutofit/>
          </a:bodyPr>
          <a:lstStyle/>
          <a:p>
            <a:pPr algn="just"/>
            <a:r>
              <a:rPr lang="fr-FR" sz="2800" b="1" dirty="0">
                <a:latin typeface="Times New Roman" pitchFamily="18" charset="0"/>
                <a:cs typeface="Times New Roman" pitchFamily="18" charset="0"/>
              </a:rPr>
              <a:t>Le plus important de Bagdad</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a:t>
            </a:r>
          </a:p>
          <a:p>
            <a:pPr lvl="2" algn="just">
              <a:buFont typeface="Wingdings" pitchFamily="2" charset="2"/>
              <a:buChar char="ü"/>
            </a:pPr>
            <a:r>
              <a:rPr lang="fr-FR" sz="2800" dirty="0">
                <a:latin typeface="Times New Roman" pitchFamily="18" charset="0"/>
                <a:cs typeface="Times New Roman" pitchFamily="18" charset="0"/>
              </a:rPr>
              <a:t>l'</a:t>
            </a:r>
            <a:r>
              <a:rPr lang="fr-FR" sz="2800" b="1" dirty="0">
                <a:latin typeface="Times New Roman" pitchFamily="18" charset="0"/>
                <a:cs typeface="Times New Roman" pitchFamily="18" charset="0"/>
              </a:rPr>
              <a:t>hôpital</a:t>
            </a:r>
            <a:r>
              <a:rPr lang="fr-FR" sz="2800" b="1" i="1" dirty="0">
                <a:solidFill>
                  <a:srgbClr val="C00000"/>
                </a:solidFill>
                <a:latin typeface="Times New Roman" pitchFamily="18" charset="0"/>
                <a:cs typeface="Times New Roman" pitchFamily="18" charset="0"/>
              </a:rPr>
              <a:t> Nuri </a:t>
            </a:r>
            <a:r>
              <a:rPr lang="fr-FR" sz="2800" dirty="0">
                <a:latin typeface="Times New Roman" pitchFamily="18" charset="0"/>
                <a:cs typeface="Times New Roman" pitchFamily="18" charset="0"/>
              </a:rPr>
              <a:t> :</a:t>
            </a:r>
          </a:p>
          <a:p>
            <a:pPr lvl="1" algn="just">
              <a:buFont typeface="Wingdings" pitchFamily="2" charset="2"/>
              <a:buChar char="Ø"/>
            </a:pPr>
            <a:r>
              <a:rPr lang="fr-FR" sz="2400" dirty="0">
                <a:latin typeface="Times New Roman" pitchFamily="18" charset="0"/>
                <a:cs typeface="Times New Roman" pitchFamily="18" charset="0"/>
              </a:rPr>
              <a:t>fondé par </a:t>
            </a:r>
            <a:r>
              <a:rPr lang="fr-FR" sz="2400" dirty="0" err="1">
                <a:latin typeface="Times New Roman" pitchFamily="18" charset="0"/>
                <a:cs typeface="Times New Roman" pitchFamily="18" charset="0"/>
              </a:rPr>
              <a:t>Nur</a:t>
            </a:r>
            <a:r>
              <a:rPr lang="fr-FR" sz="2400" dirty="0">
                <a:latin typeface="Times New Roman" pitchFamily="18" charset="0"/>
                <a:cs typeface="Times New Roman" pitchFamily="18" charset="0"/>
              </a:rPr>
              <a:t> ad-</a:t>
            </a:r>
            <a:r>
              <a:rPr lang="fr-FR" sz="2400" dirty="0" err="1">
                <a:latin typeface="Times New Roman" pitchFamily="18" charset="0"/>
                <a:cs typeface="Times New Roman" pitchFamily="18" charset="0"/>
              </a:rPr>
              <a:t>Din</a:t>
            </a:r>
            <a:r>
              <a:rPr lang="fr-FR" sz="2400" dirty="0">
                <a:latin typeface="Times New Roman" pitchFamily="18" charset="0"/>
                <a:cs typeface="Times New Roman" pitchFamily="18" charset="0"/>
              </a:rPr>
              <a:t> en 1154, </a:t>
            </a:r>
          </a:p>
          <a:p>
            <a:pPr lvl="1" algn="just">
              <a:buFont typeface="Wingdings" pitchFamily="2" charset="2"/>
              <a:buChar char="Ø"/>
            </a:pPr>
            <a:r>
              <a:rPr lang="fr-FR" sz="2400" dirty="0">
                <a:latin typeface="Times New Roman" pitchFamily="18" charset="0"/>
                <a:cs typeface="Times New Roman" pitchFamily="18" charset="0"/>
              </a:rPr>
              <a:t>est l'un des plus grands, </a:t>
            </a:r>
          </a:p>
          <a:p>
            <a:pPr lvl="1" algn="just">
              <a:buFont typeface="Wingdings" pitchFamily="2" charset="2"/>
              <a:buChar char="Ø"/>
            </a:pPr>
            <a:r>
              <a:rPr lang="fr-FR" sz="2400" dirty="0">
                <a:latin typeface="Times New Roman" pitchFamily="18" charset="0"/>
                <a:cs typeface="Times New Roman" pitchFamily="18" charset="0"/>
              </a:rPr>
              <a:t>la façade d'époque existe toujours abritant désormais un « Musée d'histoire de la médecine et des sciences ».</a:t>
            </a:r>
          </a:p>
          <a:p>
            <a:pPr lvl="1" algn="just">
              <a:buNone/>
            </a:pPr>
            <a:endParaRPr lang="fr-FR" sz="2000" dirty="0">
              <a:latin typeface="Times New Roman" pitchFamily="18" charset="0"/>
              <a:cs typeface="Times New Roman" pitchFamily="18" charset="0"/>
            </a:endParaRPr>
          </a:p>
          <a:p>
            <a:pPr algn="just"/>
            <a:r>
              <a:rPr lang="fr-FR" sz="2800" b="1" dirty="0">
                <a:latin typeface="Times New Roman" pitchFamily="18" charset="0"/>
                <a:cs typeface="Times New Roman" pitchFamily="18" charset="0"/>
              </a:rPr>
              <a:t>À Alep </a:t>
            </a:r>
            <a:r>
              <a:rPr lang="fr-FR" sz="2400" b="1" dirty="0">
                <a:latin typeface="Times New Roman" pitchFamily="18" charset="0"/>
                <a:cs typeface="Times New Roman" pitchFamily="18" charset="0"/>
              </a:rPr>
              <a:t>:</a:t>
            </a:r>
          </a:p>
          <a:p>
            <a:pPr lvl="2" algn="just">
              <a:buFont typeface="Wingdings" pitchFamily="2" charset="2"/>
              <a:buChar char="ü"/>
            </a:pPr>
            <a:r>
              <a:rPr lang="fr-FR" sz="2800" dirty="0">
                <a:latin typeface="Times New Roman" pitchFamily="18" charset="0"/>
                <a:cs typeface="Times New Roman" pitchFamily="18" charset="0"/>
              </a:rPr>
              <a:t>le </a:t>
            </a:r>
            <a:r>
              <a:rPr lang="fr-FR" sz="2800" b="1" dirty="0" err="1">
                <a:latin typeface="Times New Roman" pitchFamily="18" charset="0"/>
                <a:cs typeface="Times New Roman" pitchFamily="18" charset="0"/>
              </a:rPr>
              <a:t>bimaristan</a:t>
            </a:r>
            <a:r>
              <a:rPr lang="fr-FR" sz="2800" dirty="0">
                <a:latin typeface="Times New Roman" pitchFamily="18" charset="0"/>
                <a:cs typeface="Times New Roman" pitchFamily="18" charset="0"/>
              </a:rPr>
              <a:t> </a:t>
            </a:r>
            <a:r>
              <a:rPr lang="fr-FR" sz="2800" b="1" i="1" dirty="0">
                <a:solidFill>
                  <a:srgbClr val="C00000"/>
                </a:solidFill>
                <a:latin typeface="Times New Roman" pitchFamily="18" charset="0"/>
                <a:cs typeface="Times New Roman" pitchFamily="18" charset="0"/>
              </a:rPr>
              <a:t>Argoun</a:t>
            </a:r>
            <a:r>
              <a:rPr lang="fr-FR" sz="2800" dirty="0">
                <a:latin typeface="Times New Roman" pitchFamily="18" charset="0"/>
                <a:cs typeface="Times New Roman" pitchFamily="18" charset="0"/>
              </a:rPr>
              <a:t> :</a:t>
            </a:r>
          </a:p>
          <a:p>
            <a:pPr lvl="1" algn="just">
              <a:buFont typeface="Wingdings" pitchFamily="2" charset="2"/>
              <a:buChar char="Ø"/>
            </a:pPr>
            <a:r>
              <a:rPr lang="fr-FR" sz="2400" dirty="0">
                <a:latin typeface="Times New Roman" pitchFamily="18" charset="0"/>
                <a:cs typeface="Times New Roman" pitchFamily="18" charset="0"/>
              </a:rPr>
              <a:t>fondé en 1354, </a:t>
            </a:r>
          </a:p>
          <a:p>
            <a:pPr lvl="1" algn="just">
              <a:buFont typeface="Wingdings" pitchFamily="2" charset="2"/>
              <a:buChar char="Ø"/>
            </a:pPr>
            <a:r>
              <a:rPr lang="fr-FR" sz="2400" dirty="0">
                <a:latin typeface="Times New Roman" pitchFamily="18" charset="0"/>
                <a:cs typeface="Times New Roman" pitchFamily="18" charset="0"/>
              </a:rPr>
              <a:t>se visite encore, </a:t>
            </a:r>
          </a:p>
          <a:p>
            <a:pPr lvl="1" algn="just">
              <a:buFont typeface="Wingdings" pitchFamily="2" charset="2"/>
              <a:buChar char="Ø"/>
            </a:pPr>
            <a:r>
              <a:rPr lang="fr-FR" sz="2400" dirty="0">
                <a:latin typeface="Times New Roman" pitchFamily="18" charset="0"/>
                <a:cs typeface="Times New Roman" pitchFamily="18" charset="0"/>
              </a:rPr>
              <a:t>est l'un des mieux conservés de cette période.</a:t>
            </a:r>
          </a:p>
          <a:p>
            <a:pPr algn="just">
              <a:buNone/>
            </a:pPr>
            <a:endParaRPr lang="fr-FR"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lvl="0"/>
            <a:r>
              <a:rPr lang="fr-FR" sz="3200" b="1" i="1" dirty="0">
                <a:solidFill>
                  <a:srgbClr val="C00000"/>
                </a:solidFill>
                <a:latin typeface="Times New Roman" pitchFamily="18" charset="0"/>
                <a:cs typeface="Times New Roman" pitchFamily="18" charset="0"/>
              </a:rPr>
              <a:t>L’organisation </a:t>
            </a:r>
            <a:br>
              <a:rPr lang="fr-FR" sz="3200" b="1" i="1" dirty="0">
                <a:solidFill>
                  <a:srgbClr val="C00000"/>
                </a:solidFill>
                <a:latin typeface="Times New Roman" pitchFamily="18" charset="0"/>
                <a:cs typeface="Times New Roman" pitchFamily="18" charset="0"/>
              </a:rPr>
            </a:br>
            <a:endParaRPr lang="fr-FR" sz="3200" b="1" i="1" dirty="0">
              <a:solidFill>
                <a:srgbClr val="C00000"/>
              </a:solidFill>
              <a:latin typeface="Times New Roman" pitchFamily="18" charset="0"/>
              <a:cs typeface="Times New Roman" pitchFamily="18" charset="0"/>
            </a:endParaRPr>
          </a:p>
        </p:txBody>
      </p:sp>
      <p:sp>
        <p:nvSpPr>
          <p:cNvPr id="3" name="Espace réservé du contenu 2"/>
          <p:cNvSpPr>
            <a:spLocks noGrp="1"/>
          </p:cNvSpPr>
          <p:nvPr>
            <p:ph idx="1"/>
          </p:nvPr>
        </p:nvSpPr>
        <p:spPr/>
        <p:txBody>
          <a:bodyPr>
            <a:noAutofit/>
          </a:bodyPr>
          <a:lstStyle/>
          <a:p>
            <a:pPr algn="just">
              <a:lnSpc>
                <a:spcPct val="170000"/>
              </a:lnSpc>
            </a:pPr>
            <a:r>
              <a:rPr lang="fr-FR" sz="2400" dirty="0">
                <a:latin typeface="Times New Roman" pitchFamily="18" charset="0"/>
                <a:cs typeface="Times New Roman" pitchFamily="18" charset="0"/>
              </a:rPr>
              <a:t>L'organisation des grands hôpitaux syriens et égyptiens des </a:t>
            </a:r>
            <a:r>
              <a:rPr lang="fr-FR" sz="2400" cap="small" dirty="0" err="1">
                <a:latin typeface="Times New Roman" pitchFamily="18" charset="0"/>
                <a:cs typeface="Times New Roman" pitchFamily="18" charset="0"/>
              </a:rPr>
              <a:t>xii</a:t>
            </a:r>
            <a:r>
              <a:rPr lang="fr-FR" sz="2400" baseline="30000" dirty="0" err="1">
                <a:latin typeface="Times New Roman" pitchFamily="18" charset="0"/>
                <a:cs typeface="Times New Roman" pitchFamily="18" charset="0"/>
              </a:rPr>
              <a:t>e</a:t>
            </a:r>
            <a:r>
              <a:rPr lang="fr-FR" sz="2400" dirty="0">
                <a:latin typeface="Times New Roman" pitchFamily="18" charset="0"/>
                <a:cs typeface="Times New Roman" pitchFamily="18" charset="0"/>
              </a:rPr>
              <a:t> et </a:t>
            </a:r>
            <a:r>
              <a:rPr lang="fr-FR" sz="2400" cap="small" dirty="0" err="1">
                <a:latin typeface="Times New Roman" pitchFamily="18" charset="0"/>
                <a:cs typeface="Times New Roman" pitchFamily="18" charset="0"/>
              </a:rPr>
              <a:t>xiii</a:t>
            </a:r>
            <a:r>
              <a:rPr lang="fr-FR" sz="2400" baseline="30000" dirty="0" err="1">
                <a:latin typeface="Times New Roman" pitchFamily="18" charset="0"/>
                <a:cs typeface="Times New Roman" pitchFamily="18" charset="0"/>
              </a:rPr>
              <a:t>e</a:t>
            </a:r>
            <a:r>
              <a:rPr lang="fr-FR" sz="2400" dirty="0">
                <a:latin typeface="Times New Roman" pitchFamily="18" charset="0"/>
                <a:cs typeface="Times New Roman" pitchFamily="18" charset="0"/>
              </a:rPr>
              <a:t> siècles est la mieux connue. </a:t>
            </a:r>
          </a:p>
          <a:p>
            <a:pPr algn="just">
              <a:lnSpc>
                <a:spcPct val="170000"/>
              </a:lnSpc>
            </a:pPr>
            <a:r>
              <a:rPr lang="fr-FR" sz="2800" b="1" dirty="0">
                <a:latin typeface="Times New Roman" pitchFamily="18" charset="0"/>
                <a:cs typeface="Times New Roman" pitchFamily="18" charset="0"/>
              </a:rPr>
              <a:t>Le plan de base est un plan cruciforme avec quatre </a:t>
            </a:r>
            <a:r>
              <a:rPr lang="fr-FR" sz="2800" b="1" i="1" dirty="0">
                <a:latin typeface="Times New Roman" pitchFamily="18" charset="0"/>
                <a:cs typeface="Times New Roman" pitchFamily="18" charset="0"/>
              </a:rPr>
              <a:t>iwan</a:t>
            </a:r>
            <a:r>
              <a:rPr lang="fr-FR" sz="2400" dirty="0">
                <a:latin typeface="Times New Roman" pitchFamily="18" charset="0"/>
                <a:cs typeface="Times New Roman" pitchFamily="18" charset="0"/>
              </a:rPr>
              <a:t> (salles voûtées) </a:t>
            </a:r>
            <a:r>
              <a:rPr lang="fr-FR" sz="2800" b="1" dirty="0">
                <a:latin typeface="Times New Roman" pitchFamily="18" charset="0"/>
                <a:cs typeface="Times New Roman" pitchFamily="18" charset="0"/>
              </a:rPr>
              <a:t>centrées sur une cour intérieure, et de nombreuses salles adjacentes</a:t>
            </a:r>
            <a:r>
              <a:rPr lang="fr-FR" sz="2400" dirty="0">
                <a:latin typeface="Times New Roman" pitchFamily="18" charset="0"/>
                <a:cs typeface="Times New Roman" pitchFamily="18" charset="0"/>
              </a:rPr>
              <a:t> : cuisine, pharmacie, mosquée, logement pour le personnel, bibliothèque.</a:t>
            </a:r>
          </a:p>
          <a:p>
            <a:pPr algn="just">
              <a:lnSpc>
                <a:spcPct val="170000"/>
              </a:lnSpc>
              <a:buNone/>
            </a:pPr>
            <a:endParaRPr lang="fr-FR"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42918"/>
            <a:ext cx="8229600" cy="4168773"/>
          </a:xfrm>
        </p:spPr>
        <p:txBody>
          <a:bodyPr>
            <a:noAutofit/>
          </a:bodyPr>
          <a:lstStyle/>
          <a:p>
            <a:pPr algn="just">
              <a:lnSpc>
                <a:spcPct val="150000"/>
              </a:lnSpc>
            </a:pPr>
            <a:r>
              <a:rPr lang="fr-FR" sz="2400" dirty="0">
                <a:latin typeface="Times New Roman" pitchFamily="18" charset="0"/>
                <a:cs typeface="Times New Roman" pitchFamily="18" charset="0"/>
              </a:rPr>
              <a:t>Les hôpitaux les mieux dotés comportent des </a:t>
            </a:r>
            <a:r>
              <a:rPr lang="fr-FR" sz="2400" u="sng" dirty="0">
                <a:latin typeface="Times New Roman" pitchFamily="18" charset="0"/>
                <a:cs typeface="Times New Roman" pitchFamily="18" charset="0"/>
              </a:rPr>
              <a:t>bains</a:t>
            </a:r>
            <a:r>
              <a:rPr lang="fr-FR" sz="2400" dirty="0">
                <a:latin typeface="Times New Roman" pitchFamily="18" charset="0"/>
                <a:cs typeface="Times New Roman" pitchFamily="18" charset="0"/>
              </a:rPr>
              <a:t> et des </a:t>
            </a:r>
            <a:r>
              <a:rPr lang="fr-FR" sz="2400" u="sng" dirty="0">
                <a:latin typeface="Times New Roman" pitchFamily="18" charset="0"/>
                <a:cs typeface="Times New Roman" pitchFamily="18" charset="0"/>
              </a:rPr>
              <a:t>fontaines en eau propre pour chaque </a:t>
            </a:r>
            <a:r>
              <a:rPr lang="fr-FR" sz="2400" i="1" u="sng" dirty="0">
                <a:latin typeface="Times New Roman" pitchFamily="18" charset="0"/>
                <a:cs typeface="Times New Roman" pitchFamily="18" charset="0"/>
              </a:rPr>
              <a:t>iwan</a:t>
            </a:r>
            <a:r>
              <a:rPr lang="fr-FR" sz="2400" i="1" dirty="0">
                <a:latin typeface="Times New Roman" pitchFamily="18" charset="0"/>
                <a:cs typeface="Times New Roman" pitchFamily="18" charset="0"/>
              </a:rPr>
              <a:t>,</a:t>
            </a:r>
            <a:r>
              <a:rPr lang="fr-FR" sz="2400" dirty="0">
                <a:latin typeface="Times New Roman" pitchFamily="18" charset="0"/>
                <a:cs typeface="Times New Roman" pitchFamily="18" charset="0"/>
              </a:rPr>
              <a:t> et des </a:t>
            </a:r>
            <a:r>
              <a:rPr lang="fr-FR" sz="2400" u="sng" dirty="0">
                <a:latin typeface="Times New Roman" pitchFamily="18" charset="0"/>
                <a:cs typeface="Times New Roman" pitchFamily="18" charset="0"/>
              </a:rPr>
              <a:t>bosquets d'arbres dans la cour intérieure </a:t>
            </a:r>
            <a:r>
              <a:rPr lang="fr-FR" sz="2400" dirty="0">
                <a:latin typeface="Times New Roman" pitchFamily="18" charset="0"/>
                <a:cs typeface="Times New Roman" pitchFamily="18" charset="0"/>
              </a:rPr>
              <a:t>pour le repos du personnel et des malades</a:t>
            </a:r>
            <a:r>
              <a:rPr lang="fr-FR" sz="2400" i="1" dirty="0">
                <a:latin typeface="Times New Roman" pitchFamily="18" charset="0"/>
                <a:cs typeface="Times New Roman" pitchFamily="18" charset="0"/>
              </a:rPr>
              <a:t>.</a:t>
            </a:r>
            <a:r>
              <a:rPr lang="fr-FR" sz="2400" dirty="0">
                <a:latin typeface="Times New Roman" pitchFamily="18" charset="0"/>
                <a:cs typeface="Times New Roman" pitchFamily="18" charset="0"/>
              </a:rPr>
              <a:t> </a:t>
            </a:r>
          </a:p>
          <a:p>
            <a:pPr algn="just">
              <a:lnSpc>
                <a:spcPct val="150000"/>
              </a:lnSpc>
              <a:buNone/>
            </a:pPr>
            <a:endParaRPr lang="fr-FR" sz="2400" dirty="0">
              <a:latin typeface="Times New Roman" pitchFamily="18" charset="0"/>
              <a:cs typeface="Times New Roman" pitchFamily="18" charset="0"/>
            </a:endParaRPr>
          </a:p>
          <a:p>
            <a:pPr algn="just">
              <a:lnSpc>
                <a:spcPct val="150000"/>
              </a:lnSpc>
            </a:pPr>
            <a:r>
              <a:rPr lang="fr-FR" sz="2400" dirty="0">
                <a:latin typeface="Times New Roman" pitchFamily="18" charset="0"/>
                <a:cs typeface="Times New Roman" pitchFamily="18" charset="0"/>
              </a:rPr>
              <a:t>Les malades sont séparés selon:</a:t>
            </a:r>
          </a:p>
          <a:p>
            <a:pPr lvl="2" algn="just">
              <a:lnSpc>
                <a:spcPct val="150000"/>
              </a:lnSpc>
              <a:buFont typeface="Wingdings" pitchFamily="2" charset="2"/>
              <a:buChar char="Ø"/>
            </a:pPr>
            <a:r>
              <a:rPr lang="fr-FR" dirty="0">
                <a:latin typeface="Times New Roman" pitchFamily="18" charset="0"/>
                <a:cs typeface="Times New Roman" pitchFamily="18" charset="0"/>
              </a:rPr>
              <a:t>le sexe, </a:t>
            </a:r>
          </a:p>
          <a:p>
            <a:pPr lvl="2" algn="just">
              <a:lnSpc>
                <a:spcPct val="150000"/>
              </a:lnSpc>
              <a:buFont typeface="Wingdings" pitchFamily="2" charset="2"/>
              <a:buChar char="Ø"/>
            </a:pPr>
            <a:r>
              <a:rPr lang="fr-FR" dirty="0">
                <a:latin typeface="Times New Roman" pitchFamily="18" charset="0"/>
                <a:cs typeface="Times New Roman" pitchFamily="18" charset="0"/>
              </a:rPr>
              <a:t>leur séjour (hospitalisés ou en consultation externe) </a:t>
            </a:r>
          </a:p>
          <a:p>
            <a:pPr lvl="2" algn="just">
              <a:lnSpc>
                <a:spcPct val="150000"/>
              </a:lnSpc>
              <a:buFont typeface="Wingdings" pitchFamily="2" charset="2"/>
              <a:buChar char="Ø"/>
            </a:pPr>
            <a:r>
              <a:rPr lang="fr-FR" dirty="0">
                <a:latin typeface="Times New Roman" pitchFamily="18" charset="0"/>
                <a:cs typeface="Times New Roman" pitchFamily="18" charset="0"/>
              </a:rPr>
              <a:t>et leur maladie ou traitement. </a:t>
            </a:r>
          </a:p>
          <a:p>
            <a:pPr algn="just">
              <a:lnSpc>
                <a:spcPct val="150000"/>
              </a:lnSpc>
              <a:buNone/>
            </a:pPr>
            <a:r>
              <a:rPr lang="fr-FR" sz="2400" dirty="0">
                <a:latin typeface="Times New Roman" pitchFamily="18" charset="0"/>
                <a:cs typeface="Times New Roman" pitchFamily="18" charset="0"/>
              </a:rPr>
              <a:t>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142984"/>
            <a:ext cx="8229600" cy="3668707"/>
          </a:xfrm>
        </p:spPr>
        <p:txBody>
          <a:bodyPr>
            <a:noAutofit/>
          </a:bodyPr>
          <a:lstStyle/>
          <a:p>
            <a:pPr algn="just">
              <a:lnSpc>
                <a:spcPct val="150000"/>
              </a:lnSpc>
            </a:pPr>
            <a:r>
              <a:rPr lang="fr-FR" sz="2400" dirty="0">
                <a:latin typeface="Times New Roman" pitchFamily="18" charset="0"/>
                <a:cs typeface="Times New Roman" pitchFamily="18" charset="0"/>
              </a:rPr>
              <a:t>Des </a:t>
            </a:r>
            <a:r>
              <a:rPr lang="fr-FR" sz="2400" u="sng" dirty="0">
                <a:latin typeface="Times New Roman" pitchFamily="18" charset="0"/>
                <a:cs typeface="Times New Roman" pitchFamily="18" charset="0"/>
              </a:rPr>
              <a:t>emplacements spécifiques </a:t>
            </a:r>
            <a:r>
              <a:rPr lang="fr-FR" sz="2400" dirty="0">
                <a:latin typeface="Times New Roman" pitchFamily="18" charset="0"/>
                <a:cs typeface="Times New Roman" pitchFamily="18" charset="0"/>
              </a:rPr>
              <a:t>sont aménagés </a:t>
            </a:r>
            <a:r>
              <a:rPr lang="fr-FR" sz="2400" u="sng" dirty="0">
                <a:latin typeface="Times New Roman" pitchFamily="18" charset="0"/>
                <a:cs typeface="Times New Roman" pitchFamily="18" charset="0"/>
              </a:rPr>
              <a:t>pour recevoir les dysenteries et diarrhées, les fièvres, les troubles oculaires, et les cas chirurgicaux</a:t>
            </a:r>
            <a:r>
              <a:rPr lang="fr-FR" sz="2400" dirty="0">
                <a:latin typeface="Times New Roman" pitchFamily="18" charset="0"/>
                <a:cs typeface="Times New Roman" pitchFamily="18" charset="0"/>
              </a:rPr>
              <a:t>. </a:t>
            </a:r>
          </a:p>
          <a:p>
            <a:pPr algn="just">
              <a:lnSpc>
                <a:spcPct val="150000"/>
              </a:lnSpc>
            </a:pPr>
            <a:endParaRPr lang="fr-FR" sz="2400" dirty="0">
              <a:latin typeface="Times New Roman" pitchFamily="18" charset="0"/>
              <a:cs typeface="Times New Roman" pitchFamily="18" charset="0"/>
            </a:endParaRPr>
          </a:p>
          <a:p>
            <a:pPr algn="just">
              <a:lnSpc>
                <a:spcPct val="150000"/>
              </a:lnSpc>
            </a:pPr>
            <a:r>
              <a:rPr lang="fr-FR" sz="2400" b="1" dirty="0">
                <a:latin typeface="Times New Roman" pitchFamily="18" charset="0"/>
                <a:cs typeface="Times New Roman" pitchFamily="18" charset="0"/>
              </a:rPr>
              <a:t>Quelques hôpitaux semblent s'être spécialisés </a:t>
            </a:r>
            <a:r>
              <a:rPr lang="fr-FR" sz="2400" dirty="0">
                <a:latin typeface="Times New Roman" pitchFamily="18" charset="0"/>
                <a:cs typeface="Times New Roman" pitchFamily="18" charset="0"/>
              </a:rPr>
              <a:t>pour les rhumatismes, les rhinites, ou encore pour les aliénés, les pauvres ou les militaires.</a:t>
            </a:r>
          </a:p>
          <a:p>
            <a:pPr algn="just">
              <a:lnSpc>
                <a:spcPct val="150000"/>
              </a:lnSpc>
              <a:buNone/>
            </a:pPr>
            <a:r>
              <a:rPr lang="fr-FR" sz="2400" dirty="0">
                <a:latin typeface="Times New Roman" pitchFamily="18" charset="0"/>
                <a:cs typeface="Times New Roman" pitchFamily="18" charset="0"/>
              </a:rPr>
              <a:t>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fr-FR" dirty="0">
                <a:latin typeface="Times New Roman" pitchFamily="18" charset="0"/>
                <a:cs typeface="Times New Roman" pitchFamily="18" charset="0"/>
              </a:rPr>
              <a:t>IV. LES HOPITAUX EN EUROPE AU COURS DES SIECLES</a:t>
            </a:r>
            <a:br>
              <a:rPr lang="fr-FR" dirty="0">
                <a:latin typeface="Times New Roman" pitchFamily="18" charset="0"/>
                <a:cs typeface="Times New Roman" pitchFamily="18" charset="0"/>
              </a:rPr>
            </a:br>
            <a:endParaRPr lang="fr-FR" dirty="0">
              <a:latin typeface="Times New Roman" pitchFamily="18" charset="0"/>
              <a:cs typeface="Times New Roman" pitchFamily="18" charset="0"/>
            </a:endParaRP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150000"/>
              </a:lnSpc>
            </a:pPr>
            <a:r>
              <a:rPr lang="fr-FR" sz="2400" dirty="0">
                <a:latin typeface="Times New Roman" pitchFamily="18" charset="0"/>
                <a:cs typeface="Times New Roman" pitchFamily="18" charset="0"/>
              </a:rPr>
              <a:t>L'histoire de l'hôpital commence dès le VI</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quand il devient une institution, repris au Moyen Âge par l'Église.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L’époque médiévale</a:t>
            </a:r>
            <a:r>
              <a:rPr lang="fr-FR" sz="3200" b="1" i="1" dirty="0">
                <a:latin typeface="Times New Roman" pitchFamily="18" charset="0"/>
                <a:cs typeface="Times New Roman" pitchFamily="18" charset="0"/>
              </a:rPr>
              <a:t/>
            </a:r>
            <a:br>
              <a:rPr lang="fr-FR" sz="3200" b="1" i="1" dirty="0">
                <a:latin typeface="Times New Roman" pitchFamily="18" charset="0"/>
                <a:cs typeface="Times New Roman" pitchFamily="18" charset="0"/>
              </a:rPr>
            </a:br>
            <a:endParaRPr lang="fr-FR" sz="3200" b="1"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457200" y="1214422"/>
            <a:ext cx="8229600" cy="5286412"/>
          </a:xfrm>
        </p:spPr>
        <p:txBody>
          <a:bodyPr>
            <a:noAutofit/>
          </a:bodyPr>
          <a:lstStyle/>
          <a:p>
            <a:pPr algn="just">
              <a:lnSpc>
                <a:spcPct val="150000"/>
              </a:lnSpc>
            </a:pPr>
            <a:r>
              <a:rPr lang="fr-FR" sz="2400" dirty="0">
                <a:latin typeface="Times New Roman" pitchFamily="18" charset="0"/>
                <a:cs typeface="Times New Roman" pitchFamily="18" charset="0"/>
              </a:rPr>
              <a:t>Dans la période médiévale, le terme </a:t>
            </a:r>
            <a:r>
              <a:rPr lang="fr-FR" sz="2400" b="1" i="1" dirty="0">
                <a:latin typeface="Times New Roman" pitchFamily="18" charset="0"/>
                <a:cs typeface="Times New Roman" pitchFamily="18" charset="0"/>
              </a:rPr>
              <a:t>hôpital</a:t>
            </a:r>
            <a:r>
              <a:rPr lang="fr-FR" sz="2400" b="1" dirty="0">
                <a:latin typeface="Times New Roman" pitchFamily="18" charset="0"/>
                <a:cs typeface="Times New Roman" pitchFamily="18" charset="0"/>
              </a:rPr>
              <a:t> englobait :</a:t>
            </a:r>
          </a:p>
          <a:p>
            <a:pPr lvl="1" algn="just">
              <a:lnSpc>
                <a:spcPct val="150000"/>
              </a:lnSpc>
              <a:buFont typeface="Wingdings" pitchFamily="2" charset="2"/>
              <a:buChar char="ü"/>
            </a:pPr>
            <a:r>
              <a:rPr lang="fr-FR" sz="2400" b="1" dirty="0">
                <a:latin typeface="Times New Roman" pitchFamily="18" charset="0"/>
                <a:cs typeface="Times New Roman" pitchFamily="18" charset="0"/>
              </a:rPr>
              <a:t>les auberges pour les voyageurs</a:t>
            </a:r>
            <a:r>
              <a:rPr lang="fr-FR" sz="2400" dirty="0">
                <a:latin typeface="Times New Roman" pitchFamily="18" charset="0"/>
                <a:cs typeface="Times New Roman" pitchFamily="18" charset="0"/>
              </a:rPr>
              <a:t>, </a:t>
            </a:r>
          </a:p>
          <a:p>
            <a:pPr lvl="1" algn="just">
              <a:lnSpc>
                <a:spcPct val="150000"/>
              </a:lnSpc>
              <a:buFont typeface="Wingdings" pitchFamily="2" charset="2"/>
              <a:buChar char="ü"/>
            </a:pPr>
            <a:r>
              <a:rPr lang="fr-FR" sz="2400" dirty="0">
                <a:latin typeface="Times New Roman" pitchFamily="18" charset="0"/>
                <a:cs typeface="Times New Roman" pitchFamily="18" charset="0"/>
              </a:rPr>
              <a:t>les </a:t>
            </a:r>
            <a:r>
              <a:rPr lang="fr-FR" sz="2400" b="1" dirty="0">
                <a:latin typeface="Times New Roman" pitchFamily="18" charset="0"/>
                <a:cs typeface="Times New Roman" pitchFamily="18" charset="0"/>
              </a:rPr>
              <a:t>dispensaires pour l’accueil des pauvres</a:t>
            </a:r>
            <a:r>
              <a:rPr lang="fr-FR" sz="2400" dirty="0">
                <a:latin typeface="Times New Roman" pitchFamily="18" charset="0"/>
                <a:cs typeface="Times New Roman" pitchFamily="18" charset="0"/>
              </a:rPr>
              <a:t>, </a:t>
            </a:r>
          </a:p>
          <a:p>
            <a:pPr lvl="1" algn="just">
              <a:lnSpc>
                <a:spcPct val="150000"/>
              </a:lnSpc>
              <a:buFont typeface="Wingdings" pitchFamily="2" charset="2"/>
              <a:buChar char="ü"/>
            </a:pPr>
            <a:r>
              <a:rPr lang="fr-FR" sz="2400" dirty="0">
                <a:latin typeface="Times New Roman" pitchFamily="18" charset="0"/>
                <a:cs typeface="Times New Roman" pitchFamily="18" charset="0"/>
              </a:rPr>
              <a:t>les </a:t>
            </a:r>
            <a:r>
              <a:rPr lang="fr-FR" sz="2400" b="1" dirty="0">
                <a:latin typeface="Times New Roman" pitchFamily="18" charset="0"/>
                <a:cs typeface="Times New Roman" pitchFamily="18" charset="0"/>
              </a:rPr>
              <a:t>cliniques chirurgicales pour les blessés</a:t>
            </a:r>
            <a:r>
              <a:rPr lang="fr-FR" sz="2400" dirty="0">
                <a:latin typeface="Times New Roman" pitchFamily="18" charset="0"/>
                <a:cs typeface="Times New Roman" pitchFamily="18" charset="0"/>
              </a:rPr>
              <a:t>, </a:t>
            </a:r>
          </a:p>
          <a:p>
            <a:pPr lvl="1" algn="just">
              <a:lnSpc>
                <a:spcPct val="150000"/>
              </a:lnSpc>
              <a:buFont typeface="Wingdings" pitchFamily="2" charset="2"/>
              <a:buChar char="ü"/>
            </a:pPr>
            <a:r>
              <a:rPr lang="fr-FR" sz="2400" dirty="0">
                <a:latin typeface="Times New Roman" pitchFamily="18" charset="0"/>
                <a:cs typeface="Times New Roman" pitchFamily="18" charset="0"/>
              </a:rPr>
              <a:t>et les </a:t>
            </a:r>
            <a:r>
              <a:rPr lang="fr-FR" sz="2400" b="1" dirty="0">
                <a:latin typeface="Times New Roman" pitchFamily="18" charset="0"/>
                <a:cs typeface="Times New Roman" pitchFamily="18" charset="0"/>
              </a:rPr>
              <a:t>maisons accueillant les aveugles</a:t>
            </a:r>
            <a:r>
              <a:rPr lang="fr-FR" sz="2400" dirty="0">
                <a:latin typeface="Times New Roman" pitchFamily="18" charset="0"/>
                <a:cs typeface="Times New Roman" pitchFamily="18" charset="0"/>
              </a:rPr>
              <a:t>, </a:t>
            </a:r>
            <a:r>
              <a:rPr lang="fr-FR" sz="2400" b="1" dirty="0">
                <a:latin typeface="Times New Roman" pitchFamily="18" charset="0"/>
                <a:cs typeface="Times New Roman" pitchFamily="18" charset="0"/>
              </a:rPr>
              <a:t>les boiteux, les personnes âgées et les malades mentaux</a:t>
            </a:r>
            <a:r>
              <a:rPr lang="fr-FR" sz="2400" dirty="0">
                <a:latin typeface="Times New Roman" pitchFamily="18" charset="0"/>
                <a:cs typeface="Times New Roman" pitchFamily="18" charset="0"/>
              </a:rPr>
              <a:t>. </a:t>
            </a:r>
          </a:p>
          <a:p>
            <a:pPr algn="just">
              <a:lnSpc>
                <a:spcPct val="150000"/>
              </a:lnSpc>
            </a:pPr>
            <a:r>
              <a:rPr lang="fr-FR" sz="2400" dirty="0">
                <a:latin typeface="Times New Roman" pitchFamily="18" charset="0"/>
                <a:cs typeface="Times New Roman" pitchFamily="18" charset="0"/>
              </a:rPr>
              <a:t>Les </a:t>
            </a:r>
            <a:r>
              <a:rPr lang="fr-FR" sz="2400" b="1" dirty="0">
                <a:solidFill>
                  <a:srgbClr val="C00000"/>
                </a:solidFill>
                <a:latin typeface="Times New Roman" pitchFamily="18" charset="0"/>
                <a:cs typeface="Times New Roman" pitchFamily="18" charset="0"/>
              </a:rPr>
              <a:t>hôpitaux monastiques </a:t>
            </a:r>
            <a:r>
              <a:rPr lang="fr-FR" sz="2400" dirty="0">
                <a:latin typeface="Times New Roman" pitchFamily="18" charset="0"/>
                <a:cs typeface="Times New Roman" pitchFamily="18" charset="0"/>
              </a:rPr>
              <a:t>ont développé de nombreux modes de prise en charge, à la fois thérapeutiques et spirituels.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71480"/>
            <a:ext cx="8229600" cy="4525963"/>
          </a:xfrm>
        </p:spPr>
        <p:txBody>
          <a:bodyPr>
            <a:noAutofit/>
          </a:bodyPr>
          <a:lstStyle/>
          <a:p>
            <a:pPr algn="just">
              <a:lnSpc>
                <a:spcPct val="150000"/>
              </a:lnSpc>
            </a:pPr>
            <a:r>
              <a:rPr lang="fr-FR" sz="2400" dirty="0">
                <a:latin typeface="Times New Roman" pitchFamily="18" charset="0"/>
                <a:cs typeface="Times New Roman" pitchFamily="18" charset="0"/>
              </a:rPr>
              <a:t>Les patients étaient censés s’aider les uns les autres par la prière et le calme, bénéficiant peut-être davantage d’un réconfort que d’un traitement réel. </a:t>
            </a:r>
          </a:p>
          <a:p>
            <a:pPr algn="just">
              <a:lnSpc>
                <a:spcPct val="150000"/>
              </a:lnSpc>
            </a:pPr>
            <a:r>
              <a:rPr lang="fr-FR" sz="2400" dirty="0">
                <a:latin typeface="Times New Roman" pitchFamily="18" charset="0"/>
                <a:cs typeface="Times New Roman" pitchFamily="18" charset="0"/>
              </a:rPr>
              <a:t>Certains hôpitaux n’avaient pas plus de dix lits, mais d'autres étaient beaucoup plus importants. </a:t>
            </a:r>
            <a:r>
              <a:rPr lang="fr-FR" sz="2400" i="1" dirty="0">
                <a:latin typeface="Times New Roman" pitchFamily="18" charset="0"/>
                <a:cs typeface="Times New Roman" pitchFamily="18" charset="0"/>
              </a:rPr>
              <a:t>L’hôpital St Leonard d’York</a:t>
            </a:r>
            <a:r>
              <a:rPr lang="fr-FR" sz="2400" dirty="0">
                <a:latin typeface="Times New Roman" pitchFamily="18" charset="0"/>
                <a:cs typeface="Times New Roman" pitchFamily="18" charset="0"/>
              </a:rPr>
              <a:t> avait enregistré 225 malades et pauvres accueillis et nourris en 1287. Et à Florence en 1400, il y avait plus de trente hôpitaux dont l'un, </a:t>
            </a:r>
            <a:r>
              <a:rPr lang="fr-FR" sz="2400" i="1" dirty="0">
                <a:latin typeface="Times New Roman" pitchFamily="18" charset="0"/>
                <a:cs typeface="Times New Roman" pitchFamily="18" charset="0"/>
              </a:rPr>
              <a:t>l'hôpital de Santa Maria </a:t>
            </a:r>
            <a:r>
              <a:rPr lang="fr-FR" sz="2400" i="1" dirty="0" err="1">
                <a:latin typeface="Times New Roman" pitchFamily="18" charset="0"/>
                <a:cs typeface="Times New Roman" pitchFamily="18" charset="0"/>
              </a:rPr>
              <a:t>Nuova</a:t>
            </a:r>
            <a:r>
              <a:rPr lang="fr-FR" sz="2400" dirty="0">
                <a:latin typeface="Times New Roman" pitchFamily="18" charset="0"/>
                <a:cs typeface="Times New Roman" pitchFamily="18" charset="0"/>
              </a:rPr>
              <a:t>, disposait, vers 1500, d’une équipe de dix médecins, d’un pharmacien et de plusieurs autres professionnels, dont des femmes chirurgiens.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L’hôpital en croix de la renaissance</a:t>
            </a:r>
            <a:br>
              <a:rPr lang="fr-FR" sz="3200" b="1" i="1" dirty="0">
                <a:solidFill>
                  <a:srgbClr val="C00000"/>
                </a:solidFill>
                <a:latin typeface="Times New Roman" pitchFamily="18" charset="0"/>
                <a:cs typeface="Times New Roman" pitchFamily="18" charset="0"/>
              </a:rPr>
            </a:br>
            <a:endParaRPr lang="fr-FR" sz="3200" b="1" i="1" dirty="0">
              <a:solidFill>
                <a:srgbClr val="C00000"/>
              </a:solidFill>
              <a:latin typeface="Times New Roman" pitchFamily="18" charset="0"/>
              <a:cs typeface="Times New Roman" pitchFamily="18" charset="0"/>
            </a:endParaRPr>
          </a:p>
        </p:txBody>
      </p:sp>
      <p:sp>
        <p:nvSpPr>
          <p:cNvPr id="3" name="Espace réservé du contenu 2"/>
          <p:cNvSpPr>
            <a:spLocks noGrp="1"/>
          </p:cNvSpPr>
          <p:nvPr>
            <p:ph idx="1"/>
          </p:nvPr>
        </p:nvSpPr>
        <p:spPr/>
        <p:txBody>
          <a:bodyPr>
            <a:noAutofit/>
          </a:bodyPr>
          <a:lstStyle/>
          <a:p>
            <a:pPr algn="just">
              <a:lnSpc>
                <a:spcPct val="150000"/>
              </a:lnSpc>
            </a:pPr>
            <a:r>
              <a:rPr lang="fr-FR" sz="2800" b="1" dirty="0">
                <a:solidFill>
                  <a:srgbClr val="C00000"/>
                </a:solidFill>
                <a:latin typeface="Times New Roman" pitchFamily="18" charset="0"/>
                <a:cs typeface="Times New Roman" pitchFamily="18" charset="0"/>
              </a:rPr>
              <a:t>L'hôpital-palais</a:t>
            </a:r>
            <a:r>
              <a:rPr lang="fr-FR" sz="2400" dirty="0">
                <a:latin typeface="Times New Roman" pitchFamily="18" charset="0"/>
                <a:cs typeface="Times New Roman" pitchFamily="18" charset="0"/>
              </a:rPr>
              <a:t> </a:t>
            </a:r>
          </a:p>
          <a:p>
            <a:pPr lvl="1" algn="just">
              <a:lnSpc>
                <a:spcPct val="150000"/>
              </a:lnSpc>
              <a:buFont typeface="Wingdings" pitchFamily="2" charset="2"/>
              <a:buChar char="Ø"/>
            </a:pPr>
            <a:r>
              <a:rPr lang="fr-FR" sz="2400" dirty="0">
                <a:latin typeface="Times New Roman" pitchFamily="18" charset="0"/>
                <a:cs typeface="Times New Roman" pitchFamily="18" charset="0"/>
              </a:rPr>
              <a:t>inspiré du modèle italien, </a:t>
            </a:r>
          </a:p>
          <a:p>
            <a:pPr lvl="1" algn="just">
              <a:lnSpc>
                <a:spcPct val="150000"/>
              </a:lnSpc>
              <a:buFont typeface="Wingdings" pitchFamily="2" charset="2"/>
              <a:buChar char="Ø"/>
            </a:pPr>
            <a:r>
              <a:rPr lang="fr-FR" sz="2400" dirty="0">
                <a:latin typeface="Times New Roman" pitchFamily="18" charset="0"/>
                <a:cs typeface="Times New Roman" pitchFamily="18" charset="0"/>
              </a:rPr>
              <a:t>adopte de nouvelles formes : </a:t>
            </a:r>
            <a:r>
              <a:rPr lang="fr-FR" b="1" dirty="0">
                <a:latin typeface="Times New Roman" pitchFamily="18" charset="0"/>
                <a:cs typeface="Times New Roman" pitchFamily="18" charset="0"/>
              </a:rPr>
              <a:t>la croix et la cour. </a:t>
            </a:r>
            <a:endParaRPr lang="fr-FR" sz="2400" b="1" dirty="0">
              <a:latin typeface="Times New Roman" pitchFamily="18" charset="0"/>
              <a:cs typeface="Times New Roman" pitchFamily="18" charset="0"/>
            </a:endParaRPr>
          </a:p>
          <a:p>
            <a:pPr lvl="2" algn="just">
              <a:lnSpc>
                <a:spcPct val="150000"/>
              </a:lnSpc>
              <a:buFont typeface="Wingdings" pitchFamily="2" charset="2"/>
              <a:buChar char="ü"/>
            </a:pPr>
            <a:r>
              <a:rPr lang="fr-FR" dirty="0">
                <a:latin typeface="Times New Roman" pitchFamily="18" charset="0"/>
                <a:cs typeface="Times New Roman" pitchFamily="18" charset="0"/>
              </a:rPr>
              <a:t>Chaque corps de bâtiment constitue le bras d'une croix et délimite un espace central : une cour carrée ou rectangulaire. </a:t>
            </a:r>
          </a:p>
          <a:p>
            <a:pPr lvl="2" algn="just">
              <a:lnSpc>
                <a:spcPct val="150000"/>
              </a:lnSpc>
              <a:buFont typeface="Wingdings" pitchFamily="2" charset="2"/>
              <a:buChar char="ü"/>
            </a:pPr>
            <a:r>
              <a:rPr lang="fr-FR" dirty="0">
                <a:latin typeface="Times New Roman" pitchFamily="18" charset="0"/>
                <a:cs typeface="Times New Roman" pitchFamily="18" charset="0"/>
              </a:rPr>
              <a:t>La disposition d'ensemble symétrique centrée sur l'axe entrée-chapelle.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L’hôpital hygiéniste de la fin du XVIII</a:t>
            </a:r>
            <a:r>
              <a:rPr lang="fr-FR" sz="3200" b="1" i="1" baseline="30000" dirty="0">
                <a:solidFill>
                  <a:srgbClr val="C00000"/>
                </a:solidFill>
                <a:latin typeface="Times New Roman" pitchFamily="18" charset="0"/>
                <a:cs typeface="Times New Roman" pitchFamily="18" charset="0"/>
              </a:rPr>
              <a:t>ème</a:t>
            </a:r>
            <a:r>
              <a:rPr lang="fr-FR" sz="3200" b="1" i="1" dirty="0">
                <a:solidFill>
                  <a:srgbClr val="C00000"/>
                </a:solidFill>
                <a:latin typeface="Times New Roman" pitchFamily="18" charset="0"/>
                <a:cs typeface="Times New Roman" pitchFamily="18" charset="0"/>
              </a:rPr>
              <a:t> siècle</a:t>
            </a:r>
            <a:r>
              <a:rPr lang="fr-FR" sz="3200" b="1" i="1" dirty="0">
                <a:latin typeface="Times New Roman" pitchFamily="18" charset="0"/>
                <a:cs typeface="Times New Roman" pitchFamily="18" charset="0"/>
              </a:rPr>
              <a:t/>
            </a:r>
            <a:br>
              <a:rPr lang="fr-FR" sz="3200" b="1" i="1" dirty="0">
                <a:latin typeface="Times New Roman" pitchFamily="18" charset="0"/>
                <a:cs typeface="Times New Roman" pitchFamily="18" charset="0"/>
              </a:rPr>
            </a:br>
            <a:endParaRPr lang="fr-FR" sz="3200"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lgn="just">
              <a:lnSpc>
                <a:spcPct val="150000"/>
              </a:lnSpc>
            </a:pPr>
            <a:r>
              <a:rPr lang="fr-FR" sz="2400" dirty="0">
                <a:latin typeface="Times New Roman" pitchFamily="18" charset="0"/>
                <a:cs typeface="Times New Roman" pitchFamily="18" charset="0"/>
              </a:rPr>
              <a:t>L'incendie qui embrase les bâtiments de </a:t>
            </a:r>
            <a:r>
              <a:rPr lang="fr-FR" sz="2400" i="1" dirty="0">
                <a:latin typeface="Times New Roman" pitchFamily="18" charset="0"/>
                <a:cs typeface="Times New Roman" pitchFamily="18" charset="0"/>
              </a:rPr>
              <a:t>l'Hôtel-Dieu</a:t>
            </a:r>
            <a:r>
              <a:rPr lang="fr-FR" sz="2400" dirty="0">
                <a:latin typeface="Times New Roman" pitchFamily="18" charset="0"/>
                <a:cs typeface="Times New Roman" pitchFamily="18" charset="0"/>
              </a:rPr>
              <a:t> la nuit du 29 décembre 1772 déclenche une prise de conscience, dans les milieux politiques et médicaux, de l'état déplorable de l'hygiène hospitalière. </a:t>
            </a:r>
          </a:p>
          <a:p>
            <a:pPr algn="just">
              <a:lnSpc>
                <a:spcPct val="150000"/>
              </a:lnSpc>
            </a:pPr>
            <a:r>
              <a:rPr lang="fr-FR" sz="2400" dirty="0">
                <a:latin typeface="Times New Roman" pitchFamily="18" charset="0"/>
                <a:cs typeface="Times New Roman" pitchFamily="18" charset="0"/>
              </a:rPr>
              <a:t>En 1788, le médecin Jacques Tenon propose, pour reconstruire l'Hôtel-Dieu, un </a:t>
            </a:r>
            <a:r>
              <a:rPr lang="fr-FR" sz="2800" b="1" dirty="0">
                <a:latin typeface="Times New Roman" pitchFamily="18" charset="0"/>
                <a:cs typeface="Times New Roman" pitchFamily="18" charset="0"/>
              </a:rPr>
              <a:t>modèle inspiré de l'infirmerie royale de </a:t>
            </a:r>
            <a:r>
              <a:rPr lang="fr-FR" sz="2800" b="1" dirty="0" err="1">
                <a:latin typeface="Times New Roman" pitchFamily="18" charset="0"/>
                <a:cs typeface="Times New Roman" pitchFamily="18" charset="0"/>
              </a:rPr>
              <a:t>Stonehouse</a:t>
            </a:r>
            <a:r>
              <a:rPr lang="fr-FR" sz="2800" b="1" dirty="0">
                <a:latin typeface="Times New Roman" pitchFamily="18" charset="0"/>
                <a:cs typeface="Times New Roman" pitchFamily="18" charset="0"/>
              </a:rPr>
              <a:t> à Plymouth</a:t>
            </a:r>
            <a:r>
              <a:rPr lang="fr-FR" sz="2400" dirty="0">
                <a:latin typeface="Times New Roman" pitchFamily="18" charset="0"/>
                <a:cs typeface="Times New Roman" pitchFamily="18" charset="0"/>
              </a:rPr>
              <a:t>.</a:t>
            </a:r>
          </a:p>
          <a:p>
            <a:pPr algn="just">
              <a:lnSpc>
                <a:spcPct val="150000"/>
              </a:lnSpc>
              <a:buNone/>
            </a:pPr>
            <a:endParaRPr lang="fr-FR" sz="2400" dirty="0">
              <a:latin typeface="Times New Roman" pitchFamily="18" charset="0"/>
              <a:cs typeface="Times New Roman" pitchFamily="18" charset="0"/>
            </a:endParaRP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L’hôpital pavillonnaire de la fin du XIX</a:t>
            </a:r>
            <a:r>
              <a:rPr lang="fr-FR" sz="3200" b="1" i="1" baseline="30000" dirty="0">
                <a:solidFill>
                  <a:srgbClr val="C00000"/>
                </a:solidFill>
                <a:latin typeface="Times New Roman" pitchFamily="18" charset="0"/>
                <a:cs typeface="Times New Roman" pitchFamily="18" charset="0"/>
              </a:rPr>
              <a:t>ème</a:t>
            </a:r>
            <a:r>
              <a:rPr lang="fr-FR" sz="3200" b="1" i="1" dirty="0">
                <a:solidFill>
                  <a:srgbClr val="C00000"/>
                </a:solidFill>
                <a:latin typeface="Times New Roman" pitchFamily="18" charset="0"/>
                <a:cs typeface="Times New Roman" pitchFamily="18" charset="0"/>
              </a:rPr>
              <a:t> siècle</a:t>
            </a:r>
            <a:r>
              <a:rPr lang="fr-FR" sz="3200" b="1" i="1" dirty="0">
                <a:latin typeface="Times New Roman" pitchFamily="18" charset="0"/>
                <a:cs typeface="Times New Roman" pitchFamily="18" charset="0"/>
              </a:rPr>
              <a:t/>
            </a:r>
            <a:br>
              <a:rPr lang="fr-FR" sz="3200" b="1" i="1" dirty="0">
                <a:latin typeface="Times New Roman" pitchFamily="18" charset="0"/>
                <a:cs typeface="Times New Roman" pitchFamily="18" charset="0"/>
              </a:rPr>
            </a:br>
            <a:endParaRPr lang="fr-FR" sz="3200"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algn="just">
              <a:lnSpc>
                <a:spcPct val="150000"/>
              </a:lnSpc>
            </a:pPr>
            <a:r>
              <a:rPr lang="fr-FR" sz="2400" dirty="0">
                <a:latin typeface="Times New Roman" pitchFamily="18" charset="0"/>
                <a:cs typeface="Times New Roman" pitchFamily="18" charset="0"/>
              </a:rPr>
              <a:t>La </a:t>
            </a:r>
            <a:r>
              <a:rPr lang="fr-FR" sz="2400" b="1" dirty="0">
                <a:latin typeface="Times New Roman" pitchFamily="18" charset="0"/>
                <a:cs typeface="Times New Roman" pitchFamily="18" charset="0"/>
              </a:rPr>
              <a:t>découverte de la transmission des germes dans les années 1860 révolutionne la conception hospitalière</a:t>
            </a:r>
            <a:r>
              <a:rPr lang="fr-FR" sz="2400" dirty="0">
                <a:latin typeface="Times New Roman" pitchFamily="18" charset="0"/>
                <a:cs typeface="Times New Roman" pitchFamily="18" charset="0"/>
              </a:rPr>
              <a:t>. </a:t>
            </a:r>
          </a:p>
          <a:p>
            <a:pPr algn="just">
              <a:lnSpc>
                <a:spcPct val="150000"/>
              </a:lnSpc>
            </a:pPr>
            <a:r>
              <a:rPr lang="fr-FR" sz="2400" dirty="0">
                <a:latin typeface="Times New Roman" pitchFamily="18" charset="0"/>
                <a:cs typeface="Times New Roman" pitchFamily="18" charset="0"/>
              </a:rPr>
              <a:t>Les travaux de Louis Pasteur démontrent la nécessité de combattre la contagion en séparant les malades et en stérilisant les outils médicaux. </a:t>
            </a:r>
          </a:p>
          <a:p>
            <a:pPr algn="just">
              <a:lnSpc>
                <a:spcPct val="150000"/>
              </a:lnSpc>
            </a:pPr>
            <a:r>
              <a:rPr lang="fr-FR" sz="2400" dirty="0">
                <a:latin typeface="Times New Roman" pitchFamily="18" charset="0"/>
                <a:cs typeface="Times New Roman" pitchFamily="18" charset="0"/>
              </a:rPr>
              <a:t>Chaque maladie, puis chaque malade est isolé au sein des pavillons. Ce principe de l'isolement définit un nouvel âge de l'hôpital. </a:t>
            </a:r>
          </a:p>
          <a:p>
            <a:pPr algn="just">
              <a:lnSpc>
                <a:spcPct val="150000"/>
              </a:lnSpc>
            </a:pPr>
            <a:endParaRPr lang="fr-FR" sz="2400" dirty="0">
              <a:latin typeface="Times New Roman" pitchFamily="18" charset="0"/>
              <a:cs typeface="Times New Roman" pitchFamily="18" charset="0"/>
            </a:endParaRP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L’hôpital monobloc</a:t>
            </a:r>
            <a:br>
              <a:rPr lang="fr-FR" sz="3200" b="1" i="1" dirty="0">
                <a:solidFill>
                  <a:srgbClr val="C00000"/>
                </a:solidFill>
                <a:latin typeface="Times New Roman" pitchFamily="18" charset="0"/>
                <a:cs typeface="Times New Roman" pitchFamily="18" charset="0"/>
              </a:rPr>
            </a:br>
            <a:endParaRPr lang="fr-FR" sz="3200" b="1" i="1" dirty="0">
              <a:solidFill>
                <a:srgbClr val="C00000"/>
              </a:solidFill>
              <a:latin typeface="Times New Roman" pitchFamily="18" charset="0"/>
              <a:cs typeface="Times New Roman" pitchFamily="18" charset="0"/>
            </a:endParaRPr>
          </a:p>
        </p:txBody>
      </p:sp>
      <p:sp>
        <p:nvSpPr>
          <p:cNvPr id="3" name="Espace réservé du contenu 2"/>
          <p:cNvSpPr>
            <a:spLocks noGrp="1"/>
          </p:cNvSpPr>
          <p:nvPr>
            <p:ph idx="1"/>
          </p:nvPr>
        </p:nvSpPr>
        <p:spPr/>
        <p:txBody>
          <a:bodyPr>
            <a:noAutofit/>
          </a:bodyPr>
          <a:lstStyle/>
          <a:p>
            <a:pPr algn="just">
              <a:lnSpc>
                <a:spcPct val="170000"/>
              </a:lnSpc>
            </a:pPr>
            <a:r>
              <a:rPr lang="fr-FR" sz="2400" dirty="0">
                <a:latin typeface="Times New Roman" pitchFamily="18" charset="0"/>
                <a:cs typeface="Times New Roman" pitchFamily="18" charset="0"/>
              </a:rPr>
              <a:t>Dans la première moitié du XX</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les victoires contre la contagion hospitalière remettent en cause le principe de l'isolement et de la limitation des étages. </a:t>
            </a:r>
          </a:p>
          <a:p>
            <a:pPr algn="just">
              <a:lnSpc>
                <a:spcPct val="170000"/>
              </a:lnSpc>
            </a:pPr>
            <a:r>
              <a:rPr lang="fr-FR" sz="2400" dirty="0">
                <a:latin typeface="Times New Roman" pitchFamily="18" charset="0"/>
                <a:cs typeface="Times New Roman" pitchFamily="18" charset="0"/>
              </a:rPr>
              <a:t>La découverte des antibiotiques a progressivement raison des hôpitaux villas.</a:t>
            </a:r>
          </a:p>
          <a:p>
            <a:pPr algn="just">
              <a:lnSpc>
                <a:spcPct val="170000"/>
              </a:lnSpc>
              <a:buNone/>
            </a:pPr>
            <a:endParaRPr lang="fr-FR" sz="2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42918"/>
            <a:ext cx="8229600" cy="5483245"/>
          </a:xfrm>
        </p:spPr>
        <p:txBody>
          <a:bodyPr>
            <a:noAutofit/>
          </a:bodyPr>
          <a:lstStyle/>
          <a:p>
            <a:pPr algn="just">
              <a:lnSpc>
                <a:spcPct val="170000"/>
              </a:lnSpc>
            </a:pPr>
            <a:r>
              <a:rPr lang="fr-FR" sz="2400" dirty="0">
                <a:latin typeface="Times New Roman" pitchFamily="18" charset="0"/>
                <a:cs typeface="Times New Roman" pitchFamily="18" charset="0"/>
              </a:rPr>
              <a:t>L'intégration de la dimension économique de la santé dans la construction des hôpitaux engendre un nouveau modèle, conçu aux Etats-Unis, dans lequel la rationalisation des fonctions et des coûts s'exprime par </a:t>
            </a:r>
            <a:r>
              <a:rPr lang="fr-FR" sz="2400" u="sng" dirty="0">
                <a:latin typeface="Times New Roman" pitchFamily="18" charset="0"/>
                <a:cs typeface="Times New Roman" pitchFamily="18" charset="0"/>
              </a:rPr>
              <a:t>la verticalité</a:t>
            </a:r>
            <a:r>
              <a:rPr lang="fr-FR" sz="2400" dirty="0">
                <a:latin typeface="Times New Roman" pitchFamily="18" charset="0"/>
                <a:cs typeface="Times New Roman" pitchFamily="18" charset="0"/>
              </a:rPr>
              <a:t>. </a:t>
            </a:r>
          </a:p>
          <a:p>
            <a:pPr algn="just">
              <a:lnSpc>
                <a:spcPct val="170000"/>
              </a:lnSpc>
            </a:pPr>
            <a:r>
              <a:rPr lang="fr-FR" sz="2400" dirty="0">
                <a:latin typeface="Times New Roman" pitchFamily="18" charset="0"/>
                <a:cs typeface="Times New Roman" pitchFamily="18" charset="0"/>
              </a:rPr>
              <a:t>Dans le nouveau Beaujon, conçu par Jean Walter en 1932 et ouvert à Clichy en 1935, les circulations convergent vers </a:t>
            </a:r>
            <a:r>
              <a:rPr lang="fr-FR" sz="2800" b="1" dirty="0">
                <a:latin typeface="Times New Roman" pitchFamily="18" charset="0"/>
                <a:cs typeface="Times New Roman" pitchFamily="18" charset="0"/>
              </a:rPr>
              <a:t>un unique pôle vertical</a:t>
            </a:r>
            <a:r>
              <a:rPr lang="fr-FR" sz="2400" dirty="0">
                <a:latin typeface="Times New Roman" pitchFamily="18" charset="0"/>
                <a:cs typeface="Times New Roman" pitchFamily="18" charset="0"/>
              </a:rPr>
              <a:t>. Les pavillons se superposent pour donner naissance aux niveaux : </a:t>
            </a:r>
            <a:r>
              <a:rPr lang="fr-FR" sz="2800" b="1" dirty="0">
                <a:solidFill>
                  <a:srgbClr val="C00000"/>
                </a:solidFill>
                <a:latin typeface="Times New Roman" pitchFamily="18" charset="0"/>
                <a:cs typeface="Times New Roman" pitchFamily="18" charset="0"/>
              </a:rPr>
              <a:t>l'hôpital bloc </a:t>
            </a:r>
            <a:r>
              <a:rPr lang="fr-FR" sz="2400" dirty="0">
                <a:latin typeface="Times New Roman" pitchFamily="18" charset="0"/>
                <a:cs typeface="Times New Roman" pitchFamily="18" charset="0"/>
              </a:rPr>
              <a:t>est né. </a:t>
            </a:r>
          </a:p>
          <a:p>
            <a:pPr algn="just">
              <a:lnSpc>
                <a:spcPct val="170000"/>
              </a:lnSpc>
            </a:pPr>
            <a:endParaRPr lang="fr-FR" sz="24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b="1" i="1" dirty="0">
                <a:solidFill>
                  <a:srgbClr val="C00000"/>
                </a:solidFill>
                <a:latin typeface="Times New Roman" pitchFamily="18" charset="0"/>
                <a:cs typeface="Times New Roman" pitchFamily="18" charset="0"/>
              </a:rPr>
              <a:t>L’hôpital </a:t>
            </a:r>
            <a:r>
              <a:rPr lang="fr-FR" sz="3200" b="1" i="1" dirty="0" err="1">
                <a:solidFill>
                  <a:srgbClr val="C00000"/>
                </a:solidFill>
                <a:latin typeface="Times New Roman" pitchFamily="18" charset="0"/>
                <a:cs typeface="Times New Roman" pitchFamily="18" charset="0"/>
              </a:rPr>
              <a:t>polybloc</a:t>
            </a:r>
            <a:r>
              <a:rPr lang="fr-FR" sz="3200" b="1" i="1" dirty="0">
                <a:latin typeface="Times New Roman" pitchFamily="18" charset="0"/>
                <a:cs typeface="Times New Roman" pitchFamily="18" charset="0"/>
              </a:rPr>
              <a:t/>
            </a:r>
            <a:br>
              <a:rPr lang="fr-FR" sz="3200" b="1" i="1" dirty="0">
                <a:latin typeface="Times New Roman" pitchFamily="18" charset="0"/>
                <a:cs typeface="Times New Roman" pitchFamily="18" charset="0"/>
              </a:rPr>
            </a:br>
            <a:endParaRPr lang="fr-FR" sz="3200"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lgn="just">
              <a:lnSpc>
                <a:spcPct val="150000"/>
              </a:lnSpc>
            </a:pPr>
            <a:r>
              <a:rPr lang="fr-FR" sz="2400" dirty="0">
                <a:latin typeface="Times New Roman" pitchFamily="18" charset="0"/>
                <a:cs typeface="Times New Roman" pitchFamily="18" charset="0"/>
              </a:rPr>
              <a:t>Après les années 1980, les concepteurs d'hôpitaux choisissent de prolonger la ville dans l'hôpital en organisant les fonctions le long d'une </a:t>
            </a:r>
            <a:r>
              <a:rPr lang="fr-FR" sz="2400" b="1" dirty="0">
                <a:latin typeface="Times New Roman" pitchFamily="18" charset="0"/>
                <a:cs typeface="Times New Roman" pitchFamily="18" charset="0"/>
              </a:rPr>
              <a:t>vaste rue intérieure</a:t>
            </a:r>
            <a:r>
              <a:rPr lang="fr-FR" sz="2400" dirty="0">
                <a:latin typeface="Times New Roman" pitchFamily="18" charset="0"/>
                <a:cs typeface="Times New Roman" pitchFamily="18" charset="0"/>
              </a:rPr>
              <a:t>. C’est un </a:t>
            </a:r>
            <a:r>
              <a:rPr lang="fr-FR" sz="2800" b="1" dirty="0">
                <a:solidFill>
                  <a:srgbClr val="C00000"/>
                </a:solidFill>
                <a:latin typeface="Times New Roman" pitchFamily="18" charset="0"/>
                <a:cs typeface="Times New Roman" pitchFamily="18" charset="0"/>
              </a:rPr>
              <a:t>concept d'hôpital bloc avec un esprit pavillonnaire</a:t>
            </a:r>
            <a:r>
              <a:rPr lang="fr-FR" sz="2400" dirty="0">
                <a:latin typeface="Times New Roman" pitchFamily="18" charset="0"/>
                <a:cs typeface="Times New Roman" pitchFamily="18" charset="0"/>
              </a:rPr>
              <a:t>.</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a:latin typeface="Times New Roman" pitchFamily="18" charset="0"/>
                <a:cs typeface="Times New Roman" pitchFamily="18" charset="0"/>
              </a:rPr>
              <a:t>V. Les hôpitaux en Algérie</a:t>
            </a: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71480"/>
            <a:ext cx="8229600" cy="4525963"/>
          </a:xfrm>
        </p:spPr>
        <p:txBody>
          <a:bodyPr>
            <a:noAutofit/>
          </a:bodyPr>
          <a:lstStyle/>
          <a:p>
            <a:pPr algn="just">
              <a:lnSpc>
                <a:spcPct val="150000"/>
              </a:lnSpc>
            </a:pPr>
            <a:r>
              <a:rPr lang="fr-FR" sz="2400" u="sng" dirty="0">
                <a:latin typeface="Times New Roman" pitchFamily="18" charset="0"/>
                <a:cs typeface="Times New Roman" pitchFamily="18" charset="0"/>
              </a:rPr>
              <a:t>En 1850</a:t>
            </a:r>
            <a:r>
              <a:rPr lang="fr-FR" sz="2400" dirty="0">
                <a:latin typeface="Times New Roman" pitchFamily="18" charset="0"/>
                <a:cs typeface="Times New Roman" pitchFamily="18" charset="0"/>
              </a:rPr>
              <a:t>, l’Algérie comptait 33 établissements. Les hôpitaux militaires français constituèrent longtemps la charpente de l’assistance hospitalière. L’arrivée de colons provoqua cependant des demandes toujours plus insistantes d’ouverture d’hôpitaux civils.</a:t>
            </a:r>
          </a:p>
          <a:p>
            <a:pPr algn="just">
              <a:lnSpc>
                <a:spcPct val="150000"/>
              </a:lnSpc>
            </a:pPr>
            <a:r>
              <a:rPr lang="fr-FR" sz="2400" b="1" u="sng" dirty="0">
                <a:latin typeface="Times New Roman" pitchFamily="18" charset="0"/>
                <a:cs typeface="Times New Roman" pitchFamily="18" charset="0"/>
              </a:rPr>
              <a:t>En 1854</a:t>
            </a:r>
            <a:r>
              <a:rPr lang="fr-FR" sz="2400" dirty="0">
                <a:latin typeface="Times New Roman" pitchFamily="18" charset="0"/>
                <a:cs typeface="Times New Roman" pitchFamily="18" charset="0"/>
              </a:rPr>
              <a:t>, le </a:t>
            </a:r>
            <a:r>
              <a:rPr lang="fr-FR" sz="2800" b="1" dirty="0">
                <a:solidFill>
                  <a:srgbClr val="C00000"/>
                </a:solidFill>
                <a:latin typeface="Times New Roman" pitchFamily="18" charset="0"/>
                <a:cs typeface="Times New Roman" pitchFamily="18" charset="0"/>
              </a:rPr>
              <a:t>CHU Mustapha</a:t>
            </a:r>
            <a:r>
              <a:rPr lang="fr-FR" sz="2400" dirty="0">
                <a:latin typeface="Times New Roman" pitchFamily="18" charset="0"/>
                <a:cs typeface="Times New Roman" pitchFamily="18" charset="0"/>
              </a:rPr>
              <a:t> a été fondé. C’est l’un des plus grands (9 hectares de bâtiments au cœur de la capitale sur une superficie globale de 15 hectares). C’est </a:t>
            </a:r>
            <a:r>
              <a:rPr lang="fr-FR" sz="2400" b="1" dirty="0">
                <a:latin typeface="Times New Roman" pitchFamily="18" charset="0"/>
                <a:cs typeface="Times New Roman" pitchFamily="18" charset="0"/>
              </a:rPr>
              <a:t>l’un des plus grands et importants hôpitaux d’Algérie</a:t>
            </a:r>
            <a:r>
              <a:rPr lang="fr-FR" sz="2400" dirty="0">
                <a:latin typeface="Times New Roman" pitchFamily="18" charset="0"/>
                <a:cs typeface="Times New Roman" pitchFamily="18" charset="0"/>
              </a:rPr>
              <a:t>. </a:t>
            </a:r>
          </a:p>
          <a:p>
            <a:pPr algn="just">
              <a:lnSpc>
                <a:spcPct val="150000"/>
              </a:lnSpc>
            </a:pPr>
            <a:r>
              <a:rPr lang="fr-FR" sz="2400" u="sng" dirty="0">
                <a:latin typeface="Times New Roman" pitchFamily="18" charset="0"/>
                <a:cs typeface="Times New Roman" pitchFamily="18" charset="0"/>
              </a:rPr>
              <a:t>En 1912</a:t>
            </a:r>
            <a:r>
              <a:rPr lang="fr-FR" sz="2400" dirty="0">
                <a:latin typeface="Times New Roman" pitchFamily="18" charset="0"/>
                <a:cs typeface="Times New Roman" pitchFamily="18" charset="0"/>
              </a:rPr>
              <a:t>, on dénombrait 55 hôpitaux.</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Autofit/>
          </a:bodyPr>
          <a:lstStyle/>
          <a:p>
            <a:pPr algn="just">
              <a:lnSpc>
                <a:spcPct val="170000"/>
              </a:lnSpc>
            </a:pPr>
            <a:r>
              <a:rPr lang="fr-FR" sz="2400" u="sng" dirty="0">
                <a:latin typeface="Times New Roman" pitchFamily="18" charset="0"/>
                <a:cs typeface="Times New Roman" pitchFamily="18" charset="0"/>
              </a:rPr>
              <a:t>Actuellement</a:t>
            </a:r>
            <a:r>
              <a:rPr lang="fr-FR" sz="2400" dirty="0">
                <a:latin typeface="Times New Roman" pitchFamily="18" charset="0"/>
                <a:cs typeface="Times New Roman" pitchFamily="18" charset="0"/>
              </a:rPr>
              <a:t>, le secteur de la santé en Algérie compte 315 hôpitaux dont 15 Centres Hospitaliers Universitaires (CHU). Ces hôpitaux sont des structures sanitaires, sises sur le territoire algérien, qui dépendent des 48 (DSP) Directions de Wilayas de la Santé et de la Population en Algérie.</a:t>
            </a:r>
          </a:p>
          <a:p>
            <a:pPr algn="just">
              <a:lnSpc>
                <a:spcPct val="170000"/>
              </a:lnSpc>
            </a:pPr>
            <a:r>
              <a:rPr lang="fr-FR" sz="2400" dirty="0">
                <a:latin typeface="Times New Roman" pitchFamily="18" charset="0"/>
                <a:cs typeface="Times New Roman" pitchFamily="18" charset="0"/>
              </a:rPr>
              <a:t>Ils relèvent administrativement et financièrement du Ministère de la Santé, de la Population et de la Réforme hospitalière en Algérie.</a:t>
            </a:r>
          </a:p>
          <a:p>
            <a:pPr algn="just">
              <a:lnSpc>
                <a:spcPct val="170000"/>
              </a:lnSpc>
            </a:pPr>
            <a:endParaRPr lang="fr-FR" sz="24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Autofit/>
          </a:bodyPr>
          <a:lstStyle/>
          <a:p>
            <a:pPr algn="just">
              <a:lnSpc>
                <a:spcPct val="170000"/>
              </a:lnSpc>
            </a:pPr>
            <a:r>
              <a:rPr lang="fr-FR" sz="2400" dirty="0">
                <a:latin typeface="Times New Roman" pitchFamily="18" charset="0"/>
                <a:cs typeface="Times New Roman" pitchFamily="18" charset="0"/>
              </a:rPr>
              <a:t>Le nombre de lits d'hôpital a atteint 69 948</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lits dans l'ensemble des structures hospitalières de l'Algérie. Le pays dispose également de structure sanitaire de proximité dénoté Établissement public de santé de proximité (EPSP) dotées de 6 585 lits supplémentaires. On dénombre en moyenne une polyclinique pour 25 000 habitants.</a:t>
            </a:r>
          </a:p>
          <a:p>
            <a:pPr algn="just">
              <a:lnSpc>
                <a:spcPct val="170000"/>
              </a:lnSpc>
              <a:buNone/>
            </a:pPr>
            <a:endParaRPr lang="fr-FR" sz="2400" dirty="0">
              <a:latin typeface="Times New Roman" pitchFamily="18" charset="0"/>
              <a:cs typeface="Times New Roman" pitchFamily="18" charset="0"/>
            </a:endParaRPr>
          </a:p>
          <a:p>
            <a:pPr algn="just">
              <a:lnSpc>
                <a:spcPct val="170000"/>
              </a:lnSpc>
            </a:pPr>
            <a:endParaRPr lang="fr-FR" sz="24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fr-FR" dirty="0">
                <a:latin typeface="Times New Roman" pitchFamily="18" charset="0"/>
                <a:cs typeface="Times New Roman" pitchFamily="18" charset="0"/>
              </a:rPr>
              <a:t>VI. LA CONCEPTION DE L'HOPITAL AU 21EME SIECLE, L’HOPITAL MODERNE</a:t>
            </a:r>
            <a:br>
              <a:rPr lang="fr-FR" dirty="0">
                <a:latin typeface="Times New Roman" pitchFamily="18" charset="0"/>
                <a:cs typeface="Times New Roman" pitchFamily="18" charset="0"/>
              </a:rPr>
            </a:br>
            <a:endParaRPr lang="fr-FR" dirty="0">
              <a:latin typeface="Times New Roman" pitchFamily="18" charset="0"/>
              <a:cs typeface="Times New Roman" pitchFamily="18" charset="0"/>
            </a:endParaRP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Autofit/>
          </a:bodyPr>
          <a:lstStyle/>
          <a:p>
            <a:pPr algn="just">
              <a:lnSpc>
                <a:spcPct val="150000"/>
              </a:lnSpc>
            </a:pPr>
            <a:r>
              <a:rPr lang="fr-FR" sz="2400" dirty="0">
                <a:latin typeface="Times New Roman" pitchFamily="18" charset="0"/>
                <a:cs typeface="Times New Roman" pitchFamily="18" charset="0"/>
              </a:rPr>
              <a:t>L'hôpital est l'élément d'une organisation de caractère médical et social dont la fonction consiste à assurer à la population des soins médicaux complets, curatifs et préventifs, et dont les services extérieurs irradient jusqu'à la cellule familiale considérée dans son milieu ; </a:t>
            </a:r>
          </a:p>
          <a:p>
            <a:pPr algn="just">
              <a:lnSpc>
                <a:spcPct val="150000"/>
              </a:lnSpc>
            </a:pPr>
            <a:r>
              <a:rPr lang="fr-FR" sz="2400" dirty="0">
                <a:latin typeface="Times New Roman" pitchFamily="18" charset="0"/>
                <a:cs typeface="Times New Roman" pitchFamily="18" charset="0"/>
              </a:rPr>
              <a:t>C'est aussi un centre d'enseignement de la médecine et de recherche </a:t>
            </a:r>
            <a:r>
              <a:rPr lang="fr-FR" sz="2400" dirty="0" err="1">
                <a:latin typeface="Times New Roman" pitchFamily="18" charset="0"/>
                <a:cs typeface="Times New Roman" pitchFamily="18" charset="0"/>
              </a:rPr>
              <a:t>biosociale</a:t>
            </a:r>
            <a:r>
              <a:rPr lang="fr-FR" sz="2400" dirty="0">
                <a:latin typeface="Times New Roman" pitchFamily="18" charset="0"/>
                <a:cs typeface="Times New Roman" pitchFamily="18" charset="0"/>
              </a:rPr>
              <a:t> ».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Autofit/>
          </a:bodyPr>
          <a:lstStyle/>
          <a:p>
            <a:pPr algn="just">
              <a:lnSpc>
                <a:spcPct val="150000"/>
              </a:lnSpc>
            </a:pPr>
            <a:r>
              <a:rPr lang="fr-FR" sz="2400" dirty="0">
                <a:latin typeface="Times New Roman" pitchFamily="18" charset="0"/>
                <a:cs typeface="Times New Roman" pitchFamily="18" charset="0"/>
              </a:rPr>
              <a:t>L’hôpital a ainsi d’une part une vocation spécifique d’établissement de soins et, d’autre part, vocation à être inclus dans un système social, général, de santé.</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150000"/>
              </a:lnSpc>
            </a:pPr>
            <a:r>
              <a:rPr lang="fr-FR" sz="2400" dirty="0">
                <a:latin typeface="Times New Roman" pitchFamily="18" charset="0"/>
                <a:cs typeface="Times New Roman" pitchFamily="18" charset="0"/>
              </a:rPr>
              <a:t>La qualification du personnel et la qualité de l'équipement spécialisé sont parmi les objectifs principaux du développement du système sanitaire.</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a:latin typeface="Times New Roman" pitchFamily="18" charset="0"/>
                <a:cs typeface="Times New Roman" pitchFamily="18" charset="0"/>
              </a:rPr>
              <a:t>VII. CONCLUSION</a:t>
            </a:r>
          </a:p>
        </p:txBody>
      </p:sp>
      <p:sp>
        <p:nvSpPr>
          <p:cNvPr id="3" name="Espace réservé du texte 2"/>
          <p:cNvSpPr>
            <a:spLocks noGrp="1"/>
          </p:cNvSpPr>
          <p:nvPr>
            <p:ph type="body" idx="1"/>
          </p:nvPr>
        </p:nvSpPr>
        <p:spPr/>
        <p:txBody>
          <a:bodyPr/>
          <a:lstStyle/>
          <a:p>
            <a:endParaRPr lang="fr-F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lgn="just">
              <a:lnSpc>
                <a:spcPct val="150000"/>
              </a:lnSpc>
            </a:pPr>
            <a:r>
              <a:rPr lang="fr-FR" sz="2400" dirty="0">
                <a:latin typeface="Times New Roman" pitchFamily="18" charset="0"/>
                <a:cs typeface="Times New Roman" pitchFamily="18" charset="0"/>
              </a:rPr>
              <a:t>La médicalisation en place à la fin du XVIII</a:t>
            </a:r>
            <a:r>
              <a:rPr lang="fr-FR" sz="2400" baseline="30000" dirty="0">
                <a:latin typeface="Times New Roman" pitchFamily="18" charset="0"/>
                <a:cs typeface="Times New Roman" pitchFamily="18" charset="0"/>
              </a:rPr>
              <a:t>e</a:t>
            </a:r>
            <a:r>
              <a:rPr lang="fr-FR" sz="2400" dirty="0">
                <a:latin typeface="Times New Roman" pitchFamily="18" charset="0"/>
                <a:cs typeface="Times New Roman" pitchFamily="18" charset="0"/>
              </a:rPr>
              <a:t> siècle a engendré de nombreux conflits mais a progressivement fait apparaître l'établissement de soins que nous connaissons. </a:t>
            </a:r>
          </a:p>
          <a:p>
            <a:pPr algn="just">
              <a:lnSpc>
                <a:spcPct val="150000"/>
              </a:lnSpc>
              <a:buNone/>
            </a:pPr>
            <a:r>
              <a:rPr lang="fr-FR" sz="2400" dirty="0">
                <a:latin typeface="Times New Roman" pitchFamily="18" charset="0"/>
                <a:cs typeface="Times New Roman" pitchFamily="18" charset="0"/>
              </a:rPr>
              <a:t> </a:t>
            </a:r>
          </a:p>
          <a:p>
            <a:pPr algn="just">
              <a:lnSpc>
                <a:spcPct val="150000"/>
              </a:lnSpc>
            </a:pPr>
            <a:endParaRPr lang="fr-FR" sz="24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a:xfrm>
            <a:off x="36512" y="6500366"/>
            <a:ext cx="9144000" cy="385018"/>
          </a:xfrm>
        </p:spPr>
        <p:txBody>
          <a:bodyPr/>
          <a:lstStyle/>
          <a:p>
            <a:r>
              <a:rPr lang="fr-FR" dirty="0">
                <a:solidFill>
                  <a:schemeClr val="tx2"/>
                </a:solidFill>
              </a:rPr>
              <a:t>Service de Médecine Légale C.H.U. Constantine / medlegconst@yahoo.fr</a:t>
            </a:r>
            <a:endParaRPr lang="fr-BE" dirty="0">
              <a:solidFill>
                <a:schemeClr val="tx2"/>
              </a:solidFill>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90675" y="447675"/>
            <a:ext cx="5962650" cy="5962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0732120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47709</TotalTime>
  <Words>1118</Words>
  <Application>Microsoft Office PowerPoint</Application>
  <PresentationFormat>Affichage à l'écran (4:3)</PresentationFormat>
  <Paragraphs>131</Paragraphs>
  <Slides>42</Slides>
  <Notes>1</Notes>
  <HiddenSlides>0</HiddenSlides>
  <MMClips>0</MMClips>
  <ScaleCrop>false</ScaleCrop>
  <HeadingPairs>
    <vt:vector size="4" baseType="variant">
      <vt:variant>
        <vt:lpstr>Thème</vt:lpstr>
      </vt:variant>
      <vt:variant>
        <vt:i4>1</vt:i4>
      </vt:variant>
      <vt:variant>
        <vt:lpstr>Titres des diapositives</vt:lpstr>
      </vt:variant>
      <vt:variant>
        <vt:i4>42</vt:i4>
      </vt:variant>
    </vt:vector>
  </HeadingPairs>
  <TitlesOfParts>
    <vt:vector size="43" baseType="lpstr">
      <vt:lpstr>Thème Office</vt:lpstr>
      <vt:lpstr>  Histoire des hôpitaux de l'antiquité à nos jours</vt:lpstr>
      <vt:lpstr>PLAN</vt:lpstr>
      <vt:lpstr>I. Introduction </vt:lpstr>
      <vt:lpstr>Diapositive 4</vt:lpstr>
      <vt:lpstr>II. Le développement historique des hôpitaux </vt:lpstr>
      <vt:lpstr>Diapositive 6</vt:lpstr>
      <vt:lpstr>Dans la Grèce ancienne</vt:lpstr>
      <vt:lpstr>Les Romains</vt:lpstr>
      <vt:lpstr>L’Empire Byzantin</vt:lpstr>
      <vt:lpstr>Dans l’Europe occidentale</vt:lpstr>
      <vt:lpstr>Vers le IXe siècle</vt:lpstr>
      <vt:lpstr>Diapositive 12</vt:lpstr>
      <vt:lpstr>III. Les hôpitaux dans le monde arabo-musulman </vt:lpstr>
      <vt:lpstr>Diapositive 14</vt:lpstr>
      <vt:lpstr>Diapositive 15</vt:lpstr>
      <vt:lpstr>Les premiers hôpitaux  </vt:lpstr>
      <vt:lpstr>Les plus célèbres  </vt:lpstr>
      <vt:lpstr>Diapositive 18</vt:lpstr>
      <vt:lpstr>L’organisation  </vt:lpstr>
      <vt:lpstr>Diapositive 20</vt:lpstr>
      <vt:lpstr>Diapositive 21</vt:lpstr>
      <vt:lpstr>IV. LES HOPITAUX EN EUROPE AU COURS DES SIECLES </vt:lpstr>
      <vt:lpstr>Diapositive 23</vt:lpstr>
      <vt:lpstr>L’époque médiévale </vt:lpstr>
      <vt:lpstr>Diapositive 25</vt:lpstr>
      <vt:lpstr>L’hôpital en croix de la renaissance </vt:lpstr>
      <vt:lpstr>L’hôpital hygiéniste de la fin du XVIIIème siècle </vt:lpstr>
      <vt:lpstr>L’hôpital pavillonnaire de la fin du XIXème siècle </vt:lpstr>
      <vt:lpstr>L’hôpital monobloc </vt:lpstr>
      <vt:lpstr>Diapositive 30</vt:lpstr>
      <vt:lpstr>L’hôpital polybloc </vt:lpstr>
      <vt:lpstr>V. Les hôpitaux en Algérie</vt:lpstr>
      <vt:lpstr>Diapositive 33</vt:lpstr>
      <vt:lpstr>Diapositive 34</vt:lpstr>
      <vt:lpstr>Diapositive 35</vt:lpstr>
      <vt:lpstr>VI. LA CONCEPTION DE L'HOPITAL AU 21EME SIECLE, L’HOPITAL MODERNE </vt:lpstr>
      <vt:lpstr>Diapositive 37</vt:lpstr>
      <vt:lpstr>Diapositive 38</vt:lpstr>
      <vt:lpstr>Diapositive 39</vt:lpstr>
      <vt:lpstr>VII. CONCLUSION</vt:lpstr>
      <vt:lpstr>Diapositive 41</vt:lpstr>
      <vt:lpstr>Diapositive 42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des hôpitaux de l'antiquitê à nos jours.</dc:title>
  <dc:creator>Hp</dc:creator>
  <cp:lastModifiedBy>mlpc</cp:lastModifiedBy>
  <cp:revision>118</cp:revision>
  <dcterms:created xsi:type="dcterms:W3CDTF">2020-02-10T08:44:01Z</dcterms:created>
  <dcterms:modified xsi:type="dcterms:W3CDTF">2024-03-05T11:43:27Z</dcterms:modified>
</cp:coreProperties>
</file>