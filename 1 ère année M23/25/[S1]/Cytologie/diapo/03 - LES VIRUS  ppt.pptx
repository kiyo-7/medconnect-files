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y="6858000" cx="9144000"/>
  <p:notesSz cx="6858000" cy="9144000"/>
  <p:embeddedFontLst>
    <p:embeddedFont>
      <p:font typeface="Century Schoolbook"/>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39" roundtripDataSignature="AMtx7mhZoQPMjm3MKMPei7lmjHFPtzt03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196501A-A4E7-42B6-AAF0-4F4881D05891}">
  <a:tblStyle styleId="{1196501A-A4E7-42B6-AAF0-4F4881D05891}"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font" Target="fonts/CenturySchoolbook-regular.fntdata"/><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font" Target="fonts/CenturySchoolbook-italic.fntdata"/><Relationship Id="rId14" Type="http://schemas.openxmlformats.org/officeDocument/2006/relationships/slide" Target="slides/slide8.xml"/><Relationship Id="rId36" Type="http://schemas.openxmlformats.org/officeDocument/2006/relationships/font" Target="fonts/CenturySchoolbook-bold.fntdata"/><Relationship Id="rId17" Type="http://schemas.openxmlformats.org/officeDocument/2006/relationships/slide" Target="slides/slide11.xml"/><Relationship Id="rId39" Type="http://customschemas.google.com/relationships/presentationmetadata" Target="metadata"/><Relationship Id="rId16" Type="http://schemas.openxmlformats.org/officeDocument/2006/relationships/slide" Target="slides/slide10.xml"/><Relationship Id="rId38" Type="http://schemas.openxmlformats.org/officeDocument/2006/relationships/font" Target="fonts/CenturySchoolbook-bold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7"/>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884612" y="0"/>
            <a:ext cx="2971800" cy="458787"/>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SzPts val="1400"/>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8685212"/>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 name="Google Shape;96;p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 name="Google Shape;102;p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 name="Google Shape;108;p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 name="Google Shape;113;p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 name="Google Shape;119;p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 name="Google Shape;124;p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 name="Google Shape;134;p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39" name="Google Shape;139;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 name="Google Shape;140;p9: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 name="Google Shape;150;p1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 name="Google Shape;159;p1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 name="Google Shape;170;p1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8" name="Google Shape;178;p1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8" name="Google Shape;188;p1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7" name="Google Shape;197;p1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 name="Google Shape;207;p1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6" name="Google Shape;216;p1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4" name="Google Shape;224;p1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0" name="Google Shape;230;p1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6" name="Google Shape;236;p2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3" name="Google Shape;243;p2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1" name="Google Shape;251;p2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8" name="Google Shape;258;p2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5" name="Google Shape;265;p2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2" name="Google Shape;272;p2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9" name="Google Shape;279;p2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6" name="Google Shape;286;p2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3" name="Google Shape;293;p2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e de titre" type="title">
  <p:cSld name="TITLE">
    <p:spTree>
      <p:nvGrpSpPr>
        <p:cNvPr id="15" name="Shape 15"/>
        <p:cNvGrpSpPr/>
        <p:nvPr/>
      </p:nvGrpSpPr>
      <p:grpSpPr>
        <a:xfrm>
          <a:off x="0" y="0"/>
          <a:ext cx="0" cy="0"/>
          <a:chOff x="0" y="0"/>
          <a:chExt cx="0" cy="0"/>
        </a:xfrm>
      </p:grpSpPr>
      <p:sp>
        <p:nvSpPr>
          <p:cNvPr id="16" name="Google Shape;16;p30"/>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7" name="Google Shape;17;p30"/>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ide" type="blank">
  <p:cSld name="BLANK">
    <p:spTree>
      <p:nvGrpSpPr>
        <p:cNvPr id="21" name="Shape 21"/>
        <p:cNvGrpSpPr/>
        <p:nvPr/>
      </p:nvGrpSpPr>
      <p:grpSpPr>
        <a:xfrm>
          <a:off x="0" y="0"/>
          <a:ext cx="0" cy="0"/>
          <a:chOff x="0" y="0"/>
          <a:chExt cx="0" cy="0"/>
        </a:xfrm>
      </p:grpSpPr>
      <p:sp>
        <p:nvSpPr>
          <p:cNvPr id="22" name="Google Shape;22;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vertical et texte" type="vertTitleAndTx">
  <p:cSld name="VERTICAL_TITLE_AND_VERTICAL_TEXT">
    <p:spTree>
      <p:nvGrpSpPr>
        <p:cNvPr id="25" name="Shape 25"/>
        <p:cNvGrpSpPr/>
        <p:nvPr/>
      </p:nvGrpSpPr>
      <p:grpSpPr>
        <a:xfrm>
          <a:off x="0" y="0"/>
          <a:ext cx="0" cy="0"/>
          <a:chOff x="0" y="0"/>
          <a:chExt cx="0" cy="0"/>
        </a:xfrm>
      </p:grpSpPr>
      <p:sp>
        <p:nvSpPr>
          <p:cNvPr id="26" name="Google Shape;26;p3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7" name="Google Shape;27;p3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8" name="Google Shape;28;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texte vertical" type="vertTx">
  <p:cSld name="VERTICAL_TEXT">
    <p:spTree>
      <p:nvGrpSpPr>
        <p:cNvPr id="31" name="Shape 31"/>
        <p:cNvGrpSpPr/>
        <p:nvPr/>
      </p:nvGrpSpPr>
      <p:grpSpPr>
        <a:xfrm>
          <a:off x="0" y="0"/>
          <a:ext cx="0" cy="0"/>
          <a:chOff x="0" y="0"/>
          <a:chExt cx="0" cy="0"/>
        </a:xfrm>
      </p:grpSpPr>
      <p:sp>
        <p:nvSpPr>
          <p:cNvPr id="32" name="Google Shape;32;p3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3" name="Google Shape;33;p33"/>
          <p:cNvSpPr txBox="1"/>
          <p:nvPr>
            <p:ph idx="1" type="body"/>
          </p:nvPr>
        </p:nvSpPr>
        <p:spPr>
          <a:xfrm rot="5400000">
            <a:off x="2309019" y="-251619"/>
            <a:ext cx="4525962" cy="8229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4" name="Google Shape;34;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avec légende" type="picTx">
  <p:cSld name="PICTURE_WITH_CAPTION_TEXT">
    <p:spTree>
      <p:nvGrpSpPr>
        <p:cNvPr id="37" name="Shape 37"/>
        <p:cNvGrpSpPr/>
        <p:nvPr/>
      </p:nvGrpSpPr>
      <p:grpSpPr>
        <a:xfrm>
          <a:off x="0" y="0"/>
          <a:ext cx="0" cy="0"/>
          <a:chOff x="0" y="0"/>
          <a:chExt cx="0" cy="0"/>
        </a:xfrm>
      </p:grpSpPr>
      <p:sp>
        <p:nvSpPr>
          <p:cNvPr id="38" name="Google Shape;38;p34"/>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9" name="Google Shape;39;p34"/>
          <p:cNvSpPr/>
          <p:nvPr>
            <p:ph idx="2" type="pic"/>
          </p:nvPr>
        </p:nvSpPr>
        <p:spPr>
          <a:xfrm>
            <a:off x="1792288" y="612775"/>
            <a:ext cx="5486400" cy="4114800"/>
          </a:xfrm>
          <a:prstGeom prst="rect">
            <a:avLst/>
          </a:prstGeom>
          <a:noFill/>
          <a:ln>
            <a:noFill/>
          </a:ln>
        </p:spPr>
      </p:sp>
      <p:sp>
        <p:nvSpPr>
          <p:cNvPr id="40" name="Google Shape;40;p34"/>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41" name="Google Shape;41;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 avec légende" type="objTx">
  <p:cSld name="OBJECT_WITH_CAPTION_TEXT">
    <p:spTree>
      <p:nvGrpSpPr>
        <p:cNvPr id="44" name="Shape 44"/>
        <p:cNvGrpSpPr/>
        <p:nvPr/>
      </p:nvGrpSpPr>
      <p:grpSpPr>
        <a:xfrm>
          <a:off x="0" y="0"/>
          <a:ext cx="0" cy="0"/>
          <a:chOff x="0" y="0"/>
          <a:chExt cx="0" cy="0"/>
        </a:xfrm>
      </p:grpSpPr>
      <p:sp>
        <p:nvSpPr>
          <p:cNvPr id="45" name="Google Shape;45;p35"/>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6" name="Google Shape;46;p35"/>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47" name="Google Shape;47;p35"/>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48" name="Google Shape;48;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seul" type="titleOnly">
  <p:cSld name="TITLE_ONLY">
    <p:spTree>
      <p:nvGrpSpPr>
        <p:cNvPr id="51" name="Shape 51"/>
        <p:cNvGrpSpPr/>
        <p:nvPr/>
      </p:nvGrpSpPr>
      <p:grpSpPr>
        <a:xfrm>
          <a:off x="0" y="0"/>
          <a:ext cx="0" cy="0"/>
          <a:chOff x="0" y="0"/>
          <a:chExt cx="0" cy="0"/>
        </a:xfrm>
      </p:grpSpPr>
      <p:sp>
        <p:nvSpPr>
          <p:cNvPr id="52" name="Google Shape;52;p3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3" name="Google Shape;53;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ison" type="twoTxTwoObj">
  <p:cSld name="TWO_OBJECTS_WITH_TEXT">
    <p:spTree>
      <p:nvGrpSpPr>
        <p:cNvPr id="56" name="Shape 56"/>
        <p:cNvGrpSpPr/>
        <p:nvPr/>
      </p:nvGrpSpPr>
      <p:grpSpPr>
        <a:xfrm>
          <a:off x="0" y="0"/>
          <a:ext cx="0" cy="0"/>
          <a:chOff x="0" y="0"/>
          <a:chExt cx="0" cy="0"/>
        </a:xfrm>
      </p:grpSpPr>
      <p:sp>
        <p:nvSpPr>
          <p:cNvPr id="57" name="Google Shape;57;p3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8" name="Google Shape;58;p3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59" name="Google Shape;59;p3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60" name="Google Shape;60;p3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61" name="Google Shape;61;p3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62" name="Google Shape;62;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ux contenus" type="twoObj">
  <p:cSld name="TWO_OBJECTS">
    <p:spTree>
      <p:nvGrpSpPr>
        <p:cNvPr id="65" name="Shape 65"/>
        <p:cNvGrpSpPr/>
        <p:nvPr/>
      </p:nvGrpSpPr>
      <p:grpSpPr>
        <a:xfrm>
          <a:off x="0" y="0"/>
          <a:ext cx="0" cy="0"/>
          <a:chOff x="0" y="0"/>
          <a:chExt cx="0" cy="0"/>
        </a:xfrm>
      </p:grpSpPr>
      <p:sp>
        <p:nvSpPr>
          <p:cNvPr id="66" name="Google Shape;66;p3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7" name="Google Shape;67;p38"/>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68" name="Google Shape;68;p38"/>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69" name="Google Shape;69;p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de section" type="secHead">
  <p:cSld name="SECTION_HEADER">
    <p:spTree>
      <p:nvGrpSpPr>
        <p:cNvPr id="72" name="Shape 72"/>
        <p:cNvGrpSpPr/>
        <p:nvPr/>
      </p:nvGrpSpPr>
      <p:grpSpPr>
        <a:xfrm>
          <a:off x="0" y="0"/>
          <a:ext cx="0" cy="0"/>
          <a:chOff x="0" y="0"/>
          <a:chExt cx="0" cy="0"/>
        </a:xfrm>
      </p:grpSpPr>
      <p:sp>
        <p:nvSpPr>
          <p:cNvPr id="73" name="Google Shape;73;p39"/>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4" name="Google Shape;74;p39"/>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75" name="Google Shape;75;p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contenu" type="obj">
  <p:cSld name="OBJECT">
    <p:spTree>
      <p:nvGrpSpPr>
        <p:cNvPr id="78" name="Shape 78"/>
        <p:cNvGrpSpPr/>
        <p:nvPr/>
      </p:nvGrpSpPr>
      <p:grpSpPr>
        <a:xfrm>
          <a:off x="0" y="0"/>
          <a:ext cx="0" cy="0"/>
          <a:chOff x="0" y="0"/>
          <a:chExt cx="0" cy="0"/>
        </a:xfrm>
      </p:grpSpPr>
      <p:sp>
        <p:nvSpPr>
          <p:cNvPr id="79" name="Google Shape;79;p4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0" name="Google Shape;80;p40"/>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4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11" name="Google Shape;11;p29"/>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200" u="none" cap="none" strike="noStrike">
                <a:solidFill>
                  <a:srgbClr val="898989"/>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6.jpg"/><Relationship Id="rId4" Type="http://schemas.openxmlformats.org/officeDocument/2006/relationships/image" Target="../media/image1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jpg"/><Relationship Id="rId4" Type="http://schemas.openxmlformats.org/officeDocument/2006/relationships/image" Target="../media/image10.png"/><Relationship Id="rId5"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8.jpg"/><Relationship Id="rId4" Type="http://schemas.openxmlformats.org/officeDocument/2006/relationships/image" Target="../media/image7.png"/><Relationship Id="rId5"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9.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8.png"/><Relationship Id="rId4" Type="http://schemas.openxmlformats.org/officeDocument/2006/relationships/image" Target="../media/image9.jpg"/><Relationship Id="rId5" Type="http://schemas.openxmlformats.org/officeDocument/2006/relationships/image" Target="../media/image20.png"/><Relationship Id="rId6" Type="http://schemas.openxmlformats.org/officeDocument/2006/relationships/image" Target="../media/image11.png"/><Relationship Id="rId7" Type="http://schemas.openxmlformats.org/officeDocument/2006/relationships/image" Target="../media/image17.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43.png"/><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5.png"/><Relationship Id="rId4" Type="http://schemas.openxmlformats.org/officeDocument/2006/relationships/image" Target="../media/image22.png"/><Relationship Id="rId5" Type="http://schemas.openxmlformats.org/officeDocument/2006/relationships/image" Target="../media/image21.jpg"/><Relationship Id="rId6" Type="http://schemas.openxmlformats.org/officeDocument/2006/relationships/image" Target="../media/image33.png"/></Relationships>
</file>

<file path=ppt/slides/_rels/slide15.xml.rels><?xml version="1.0" encoding="UTF-8" standalone="yes"?><Relationships xmlns="http://schemas.openxmlformats.org/package/2006/relationships"><Relationship Id="rId11" Type="http://schemas.openxmlformats.org/officeDocument/2006/relationships/hyperlink" Target="https://www.futura-sciences.com/sciences/definitions/univers-oculaire-988/" TargetMode="External"/><Relationship Id="rId10" Type="http://schemas.openxmlformats.org/officeDocument/2006/relationships/hyperlink" Target="https://www.futura-sciences.com/sante/definitions/medecine-pneumonie-7832/" TargetMode="External"/><Relationship Id="rId13" Type="http://schemas.openxmlformats.org/officeDocument/2006/relationships/hyperlink" Target="https://www.futura-sciences.com/sante/definitions/medecine-gastro-enterite-5130/" TargetMode="External"/><Relationship Id="rId12" Type="http://schemas.openxmlformats.org/officeDocument/2006/relationships/hyperlink" Target="https://www.futura-sciences.com/sante/questions-reponses/ophtalmologie-traitement-conjonctivite-1622/" TargetMode="External"/><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31.png"/><Relationship Id="rId4" Type="http://schemas.openxmlformats.org/officeDocument/2006/relationships/image" Target="../media/image39.jpg"/><Relationship Id="rId9" Type="http://schemas.openxmlformats.org/officeDocument/2006/relationships/hyperlink" Target="https://www.futura-sciences.com/sante/definitions/medecine-angine-11923/" TargetMode="External"/><Relationship Id="rId14" Type="http://schemas.openxmlformats.org/officeDocument/2006/relationships/image" Target="../media/image29.jpg"/><Relationship Id="rId5" Type="http://schemas.openxmlformats.org/officeDocument/2006/relationships/hyperlink" Target="https://www.futura-sciences.com/sante/dossiers/medecine-savoir-plus-virus-236/" TargetMode="External"/><Relationship Id="rId6" Type="http://schemas.openxmlformats.org/officeDocument/2006/relationships/hyperlink" Target="https://www.futura-sciences.com/sante/definitions/medecine-adn-87/" TargetMode="External"/><Relationship Id="rId7" Type="http://schemas.openxmlformats.org/officeDocument/2006/relationships/hyperlink" Target="https://www.futura-sciences.com/planete/definitions/zoologie-espece-2261/" TargetMode="External"/><Relationship Id="rId8" Type="http://schemas.openxmlformats.org/officeDocument/2006/relationships/hyperlink" Target="https://www.futura-sciences.com/sante/definitions/medecine-pathologie-2800/"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42.png"/><Relationship Id="rId4" Type="http://schemas.openxmlformats.org/officeDocument/2006/relationships/image" Target="../media/image34.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7.png"/><Relationship Id="rId4" Type="http://schemas.openxmlformats.org/officeDocument/2006/relationships/image" Target="../media/image30.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36.png"/><Relationship Id="rId4" Type="http://schemas.openxmlformats.org/officeDocument/2006/relationships/image" Target="../media/image4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44.png"/><Relationship Id="rId4" Type="http://schemas.openxmlformats.org/officeDocument/2006/relationships/image" Target="../media/image3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3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4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3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4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4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4.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txBox="1"/>
          <p:nvPr>
            <p:ph type="ctrTitle"/>
          </p:nvPr>
        </p:nvSpPr>
        <p:spPr>
          <a:xfrm>
            <a:off x="684212" y="73025"/>
            <a:ext cx="7772400" cy="14700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6000"/>
              <a:buFont typeface="Century Schoolbook"/>
              <a:buNone/>
            </a:pPr>
            <a:r>
              <a:rPr b="0" i="0" lang="en-US" sz="6000" u="none">
                <a:solidFill>
                  <a:schemeClr val="dk1"/>
                </a:solidFill>
                <a:latin typeface="Century Schoolbook"/>
                <a:ea typeface="Century Schoolbook"/>
                <a:cs typeface="Century Schoolbook"/>
                <a:sym typeface="Century Schoolbook"/>
              </a:rPr>
              <a:t>LES VIRUS</a:t>
            </a:r>
            <a:endParaRPr/>
          </a:p>
        </p:txBody>
      </p:sp>
      <p:sp>
        <p:nvSpPr>
          <p:cNvPr descr="Résultat de recherche d'images pour &quot;le virus du HIV&quot;" id="89" name="Google Shape;89;p1"/>
          <p:cNvSpPr txBox="1"/>
          <p:nvPr/>
        </p:nvSpPr>
        <p:spPr>
          <a:xfrm>
            <a:off x="155575" y="-1608137"/>
            <a:ext cx="4991100" cy="33623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descr="Résultat de recherche d'images pour &quot;le virus du HIV&quot;" id="90" name="Google Shape;90;p1"/>
          <p:cNvSpPr txBox="1"/>
          <p:nvPr/>
        </p:nvSpPr>
        <p:spPr>
          <a:xfrm>
            <a:off x="155575" y="-1608137"/>
            <a:ext cx="4991100" cy="33623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descr="http://infos-sante.net/wp-content/uploads/2014/11/HIV.jpg" id="91" name="Google Shape;91;p1"/>
          <p:cNvPicPr preferRelativeResize="0"/>
          <p:nvPr/>
        </p:nvPicPr>
        <p:blipFill rotWithShape="1">
          <a:blip r:embed="rId3">
            <a:alphaModFix/>
          </a:blip>
          <a:srcRect b="0" l="0" r="0" t="0"/>
          <a:stretch/>
        </p:blipFill>
        <p:spPr>
          <a:xfrm>
            <a:off x="611187" y="1543050"/>
            <a:ext cx="4105275" cy="4156075"/>
          </a:xfrm>
          <a:prstGeom prst="rect">
            <a:avLst/>
          </a:prstGeom>
          <a:noFill/>
          <a:ln>
            <a:noFill/>
          </a:ln>
        </p:spPr>
      </p:pic>
      <p:pic>
        <p:nvPicPr>
          <p:cNvPr descr="Résultat de recherche d'images pour &quot;Les virus&quot;" id="92" name="Google Shape;92;p1"/>
          <p:cNvPicPr preferRelativeResize="0"/>
          <p:nvPr/>
        </p:nvPicPr>
        <p:blipFill rotWithShape="1">
          <a:blip r:embed="rId4">
            <a:alphaModFix/>
          </a:blip>
          <a:srcRect b="0" l="0" r="0" t="0"/>
          <a:stretch/>
        </p:blipFill>
        <p:spPr>
          <a:xfrm>
            <a:off x="4716462" y="1754187"/>
            <a:ext cx="3959225" cy="3816350"/>
          </a:xfrm>
          <a:prstGeom prst="rect">
            <a:avLst/>
          </a:prstGeom>
          <a:noFill/>
          <a:ln>
            <a:noFill/>
          </a:ln>
        </p:spPr>
      </p:pic>
      <p:sp>
        <p:nvSpPr>
          <p:cNvPr id="93" name="Google Shape;93;p1"/>
          <p:cNvSpPr txBox="1"/>
          <p:nvPr/>
        </p:nvSpPr>
        <p:spPr>
          <a:xfrm>
            <a:off x="6011862" y="6237287"/>
            <a:ext cx="1643062"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Dr. AOUATI. 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
          <p:cNvSpPr txBox="1"/>
          <p:nvPr/>
        </p:nvSpPr>
        <p:spPr>
          <a:xfrm>
            <a:off x="179387" y="260350"/>
            <a:ext cx="8785225" cy="2586037"/>
          </a:xfrm>
          <a:prstGeom prst="rect">
            <a:avLst/>
          </a:prstGeom>
          <a:noFill/>
          <a:ln>
            <a:noFill/>
          </a:ln>
        </p:spPr>
        <p:txBody>
          <a:bodyPr anchorCtr="0" anchor="ctr" bIns="45700" lIns="91425" spcFirstLastPara="1" rIns="91425" wrap="square" tIns="45700">
            <a:spAutoFit/>
          </a:bodyPr>
          <a:lstStyle/>
          <a:p>
            <a:pPr indent="-114300" lvl="0" marL="0" marR="0" rtl="0" algn="just">
              <a:lnSpc>
                <a:spcPct val="100000"/>
              </a:lnSpc>
              <a:spcBef>
                <a:spcPts val="0"/>
              </a:spcBef>
              <a:spcAft>
                <a:spcPts val="0"/>
              </a:spcAft>
              <a:buClr>
                <a:schemeClr val="dk1"/>
              </a:buClr>
              <a:buSzPts val="1800"/>
              <a:buFont typeface="Arial"/>
              <a:buChar char="•"/>
            </a:pPr>
            <a:r>
              <a:rPr b="0" i="0" lang="en-US" sz="1800" u="none">
                <a:solidFill>
                  <a:schemeClr val="dk1"/>
                </a:solidFill>
                <a:latin typeface="Century Schoolbook"/>
                <a:ea typeface="Century Schoolbook"/>
                <a:cs typeface="Century Schoolbook"/>
                <a:sym typeface="Century Schoolbook"/>
              </a:rPr>
              <a:t> Les virus sont des entités biologiques de très petite taille, 20 à 300 nanomètres, 100 fois plus petits qu’une bactérie, ils ne sont pas visibles en microscopie optique.</a:t>
            </a:r>
            <a:endParaRPr/>
          </a:p>
          <a:p>
            <a:pPr indent="-114300" lvl="0" marL="0" marR="0" rtl="0" algn="just">
              <a:lnSpc>
                <a:spcPct val="100000"/>
              </a:lnSpc>
              <a:spcBef>
                <a:spcPts val="0"/>
              </a:spcBef>
              <a:spcAft>
                <a:spcPts val="0"/>
              </a:spcAft>
              <a:buClr>
                <a:schemeClr val="dk1"/>
              </a:buClr>
              <a:buSzPts val="1800"/>
              <a:buFont typeface="Arial"/>
              <a:buChar char="•"/>
            </a:pPr>
            <a:r>
              <a:rPr b="0" i="0" lang="en-US" sz="1800" u="none">
                <a:solidFill>
                  <a:schemeClr val="dk1"/>
                </a:solidFill>
                <a:latin typeface="Century Schoolbook"/>
                <a:ea typeface="Century Schoolbook"/>
                <a:cs typeface="Century Schoolbook"/>
                <a:sym typeface="Century Schoolbook"/>
              </a:rPr>
              <a:t> Les virus sont des agents infectieux microscopiques possédant un seul type d’acide nucléique (ADN ou ARN).</a:t>
            </a:r>
            <a:endParaRPr/>
          </a:p>
          <a:p>
            <a:pPr indent="-114300" lvl="0" marL="0" marR="0" rtl="0" algn="just">
              <a:lnSpc>
                <a:spcPct val="100000"/>
              </a:lnSpc>
              <a:spcBef>
                <a:spcPts val="0"/>
              </a:spcBef>
              <a:spcAft>
                <a:spcPts val="0"/>
              </a:spcAft>
              <a:buClr>
                <a:schemeClr val="dk1"/>
              </a:buClr>
              <a:buSzPts val="1800"/>
              <a:buFont typeface="Arial"/>
              <a:buChar char="•"/>
            </a:pPr>
            <a:r>
              <a:rPr b="0" i="0" lang="en-US" sz="1800" u="none">
                <a:solidFill>
                  <a:schemeClr val="dk1"/>
                </a:solidFill>
                <a:latin typeface="Century Schoolbook"/>
                <a:ea typeface="Century Schoolbook"/>
                <a:cs typeface="Century Schoolbook"/>
                <a:sym typeface="Century Schoolbook"/>
              </a:rPr>
              <a:t> Ce sont des parasites intracellulaires absolus qui dépendent de cellule hôte, dont ils utilisent les constituants pour se multiplier. Ils parasitant aussi bien les êtres vivants pluricellulaires (animaux et végétaux) que les unicellulaires (bactéries et protistes).</a:t>
            </a:r>
            <a:endParaRPr/>
          </a:p>
        </p:txBody>
      </p:sp>
      <p:pic>
        <p:nvPicPr>
          <p:cNvPr id="99" name="Google Shape;99;p2"/>
          <p:cNvPicPr preferRelativeResize="0"/>
          <p:nvPr/>
        </p:nvPicPr>
        <p:blipFill rotWithShape="1">
          <a:blip r:embed="rId3">
            <a:alphaModFix/>
          </a:blip>
          <a:srcRect b="0" l="0" r="0" t="0"/>
          <a:stretch/>
        </p:blipFill>
        <p:spPr>
          <a:xfrm>
            <a:off x="1331912" y="2997200"/>
            <a:ext cx="5989637" cy="314483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pic>
        <p:nvPicPr>
          <p:cNvPr id="104" name="Google Shape;104;p3"/>
          <p:cNvPicPr preferRelativeResize="0"/>
          <p:nvPr/>
        </p:nvPicPr>
        <p:blipFill rotWithShape="1">
          <a:blip r:embed="rId3">
            <a:alphaModFix/>
          </a:blip>
          <a:srcRect b="0" l="3318" r="14375" t="12315"/>
          <a:stretch/>
        </p:blipFill>
        <p:spPr>
          <a:xfrm>
            <a:off x="323850" y="1123950"/>
            <a:ext cx="8424862" cy="5362575"/>
          </a:xfrm>
          <a:prstGeom prst="rect">
            <a:avLst/>
          </a:prstGeom>
          <a:noFill/>
          <a:ln>
            <a:noFill/>
          </a:ln>
        </p:spPr>
      </p:pic>
      <p:sp>
        <p:nvSpPr>
          <p:cNvPr id="105" name="Google Shape;105;p3"/>
          <p:cNvSpPr txBox="1"/>
          <p:nvPr/>
        </p:nvSpPr>
        <p:spPr>
          <a:xfrm>
            <a:off x="2339975" y="188912"/>
            <a:ext cx="4464050" cy="5222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DIVERSITÉ VIRALE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pic>
        <p:nvPicPr>
          <p:cNvPr id="110" name="Google Shape;110;p4"/>
          <p:cNvPicPr preferRelativeResize="0"/>
          <p:nvPr/>
        </p:nvPicPr>
        <p:blipFill rotWithShape="1">
          <a:blip r:embed="rId3">
            <a:alphaModFix/>
          </a:blip>
          <a:srcRect b="0" l="0" r="0" t="0"/>
          <a:stretch/>
        </p:blipFill>
        <p:spPr>
          <a:xfrm>
            <a:off x="323850" y="2420937"/>
            <a:ext cx="8424862" cy="37306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5"/>
          <p:cNvSpPr txBox="1"/>
          <p:nvPr/>
        </p:nvSpPr>
        <p:spPr>
          <a:xfrm>
            <a:off x="36512" y="214312"/>
            <a:ext cx="9072562" cy="3538537"/>
          </a:xfrm>
          <a:prstGeom prst="rect">
            <a:avLst/>
          </a:prstGeom>
          <a:noFill/>
          <a:ln>
            <a:noFill/>
          </a:ln>
        </p:spPr>
        <p:txBody>
          <a:bodyPr anchorCtr="0" anchor="ctr" bIns="45700" lIns="91425" spcFirstLastPara="1" rIns="91425" wrap="square" tIns="45700">
            <a:spAutoFit/>
          </a:bodyPr>
          <a:lstStyle/>
          <a:p>
            <a:pPr indent="449262" lvl="0" marL="0" marR="0" rtl="0" algn="l">
              <a:lnSpc>
                <a:spcPct val="100000"/>
              </a:lnSpc>
              <a:spcBef>
                <a:spcPts val="0"/>
              </a:spcBef>
              <a:spcAft>
                <a:spcPts val="0"/>
              </a:spcAft>
              <a:buClr>
                <a:srgbClr val="FF0000"/>
              </a:buClr>
              <a:buSzPts val="2400"/>
              <a:buFont typeface="Century Schoolbook"/>
              <a:buNone/>
            </a:pPr>
            <a:r>
              <a:rPr b="1" i="0" lang="en-US" sz="2400" u="none">
                <a:solidFill>
                  <a:srgbClr val="FF0000"/>
                </a:solidFill>
                <a:latin typeface="Century Schoolbook"/>
                <a:ea typeface="Century Schoolbook"/>
                <a:cs typeface="Century Schoolbook"/>
                <a:sym typeface="Century Schoolbook"/>
              </a:rPr>
              <a:t>Organisation et structure des virus</a:t>
            </a:r>
            <a:endParaRPr/>
          </a:p>
          <a:p>
            <a:pPr indent="449262" lvl="0" marL="0" marR="0" rtl="0" algn="l">
              <a:lnSpc>
                <a:spcPct val="100000"/>
              </a:lnSpc>
              <a:spcBef>
                <a:spcPts val="0"/>
              </a:spcBef>
              <a:spcAft>
                <a:spcPts val="0"/>
              </a:spcAft>
              <a:buClr>
                <a:schemeClr val="dk1"/>
              </a:buClr>
              <a:buSzPts val="2000"/>
              <a:buFont typeface="Arial"/>
              <a:buNone/>
            </a:pPr>
            <a:r>
              <a:t/>
            </a:r>
            <a:endParaRPr b="1" i="0" sz="2000" u="none">
              <a:solidFill>
                <a:srgbClr val="FF0000"/>
              </a:solidFill>
              <a:latin typeface="Century Schoolbook"/>
              <a:ea typeface="Century Schoolbook"/>
              <a:cs typeface="Century Schoolbook"/>
              <a:sym typeface="Century Schoolbook"/>
            </a:endParaRPr>
          </a:p>
          <a:p>
            <a:pPr indent="449262" lvl="0" marL="0" marR="0" rtl="0" algn="l">
              <a:lnSpc>
                <a:spcPct val="100000"/>
              </a:lnSpc>
              <a:spcBef>
                <a:spcPts val="0"/>
              </a:spcBef>
              <a:spcAft>
                <a:spcPts val="0"/>
              </a:spcAft>
              <a:buClr>
                <a:schemeClr val="dk1"/>
              </a:buClr>
              <a:buSzPts val="1800"/>
              <a:buFont typeface="Century Schoolbook"/>
              <a:buNone/>
            </a:pPr>
            <a:r>
              <a:rPr b="0" i="0" lang="en-US" sz="1800" u="none">
                <a:solidFill>
                  <a:schemeClr val="dk1"/>
                </a:solidFill>
                <a:latin typeface="Century Schoolbook"/>
                <a:ea typeface="Century Schoolbook"/>
                <a:cs typeface="Century Schoolbook"/>
                <a:sym typeface="Century Schoolbook"/>
              </a:rPr>
              <a:t>Toute particule virale est constituée d'au moins </a:t>
            </a:r>
            <a:r>
              <a:rPr b="1" i="0" lang="en-US" sz="1800" u="none">
                <a:solidFill>
                  <a:schemeClr val="dk1"/>
                </a:solidFill>
                <a:latin typeface="Century Schoolbook"/>
                <a:ea typeface="Century Schoolbook"/>
                <a:cs typeface="Century Schoolbook"/>
                <a:sym typeface="Century Schoolbook"/>
              </a:rPr>
              <a:t>deux éléments constants:</a:t>
            </a:r>
            <a:endParaRPr b="0" i="0" sz="1800" u="none">
              <a:solidFill>
                <a:schemeClr val="dk1"/>
              </a:solidFill>
              <a:latin typeface="Century Schoolbook"/>
              <a:ea typeface="Century Schoolbook"/>
              <a:cs typeface="Century Schoolbook"/>
              <a:sym typeface="Century Schoolbook"/>
            </a:endParaRPr>
          </a:p>
          <a:p>
            <a:pPr indent="449262" lvl="0" marL="0" marR="0" rtl="0" algn="l">
              <a:lnSpc>
                <a:spcPct val="100000"/>
              </a:lnSpc>
              <a:spcBef>
                <a:spcPts val="0"/>
              </a:spcBef>
              <a:spcAft>
                <a:spcPts val="0"/>
              </a:spcAft>
              <a:buClr>
                <a:schemeClr val="dk1"/>
              </a:buClr>
              <a:buSzPts val="1800"/>
              <a:buFont typeface="Century Schoolbook"/>
              <a:buNone/>
            </a:pPr>
            <a:r>
              <a:rPr b="1" i="0" lang="en-US" sz="1800" u="sng">
                <a:solidFill>
                  <a:schemeClr val="dk1"/>
                </a:solidFill>
                <a:latin typeface="Century Schoolbook"/>
                <a:ea typeface="Century Schoolbook"/>
                <a:cs typeface="Century Schoolbook"/>
                <a:sym typeface="Century Schoolbook"/>
              </a:rPr>
              <a:t>le génome </a:t>
            </a:r>
            <a:r>
              <a:rPr b="0" i="0" lang="en-US" sz="1800" u="none">
                <a:solidFill>
                  <a:schemeClr val="dk1"/>
                </a:solidFill>
                <a:latin typeface="Century Schoolbook"/>
                <a:ea typeface="Century Schoolbook"/>
                <a:cs typeface="Century Schoolbook"/>
                <a:sym typeface="Century Schoolbook"/>
              </a:rPr>
              <a:t>: de nature nucléotidique et composé d'acide nucléique (ADN ou     ARN) </a:t>
            </a:r>
            <a:endParaRPr b="1" i="0" sz="1800" u="none">
              <a:solidFill>
                <a:schemeClr val="dk1"/>
              </a:solidFill>
              <a:latin typeface="Century Schoolbook"/>
              <a:ea typeface="Century Schoolbook"/>
              <a:cs typeface="Century Schoolbook"/>
              <a:sym typeface="Century Schoolbook"/>
            </a:endParaRPr>
          </a:p>
          <a:p>
            <a:pPr indent="449262" lvl="0" marL="0" marR="0" rtl="0" algn="l">
              <a:lnSpc>
                <a:spcPct val="100000"/>
              </a:lnSpc>
              <a:spcBef>
                <a:spcPts val="0"/>
              </a:spcBef>
              <a:spcAft>
                <a:spcPts val="0"/>
              </a:spcAft>
              <a:buClr>
                <a:schemeClr val="dk1"/>
              </a:buClr>
              <a:buSzPts val="1800"/>
              <a:buFont typeface="Century Schoolbook"/>
              <a:buNone/>
            </a:pPr>
            <a:r>
              <a:rPr b="1" i="0" lang="en-US" sz="1800" u="sng">
                <a:solidFill>
                  <a:schemeClr val="dk1"/>
                </a:solidFill>
                <a:latin typeface="Century Schoolbook"/>
                <a:ea typeface="Century Schoolbook"/>
                <a:cs typeface="Century Schoolbook"/>
                <a:sym typeface="Century Schoolbook"/>
              </a:rPr>
              <a:t>la capside </a:t>
            </a:r>
            <a:r>
              <a:rPr b="0" i="0" lang="en-US" sz="1800" u="none">
                <a:solidFill>
                  <a:schemeClr val="dk1"/>
                </a:solidFill>
                <a:latin typeface="Century Schoolbook"/>
                <a:ea typeface="Century Schoolbook"/>
                <a:cs typeface="Century Schoolbook"/>
                <a:sym typeface="Century Schoolbook"/>
              </a:rPr>
              <a:t>: qui est une coque de nature protéique, entourant le génome et est capable d'assurer sa protection et sa survie dans le milieu extérieur. </a:t>
            </a:r>
            <a:endParaRPr/>
          </a:p>
          <a:p>
            <a:pPr indent="-334962" lvl="0" marL="449262" marR="0" rtl="0" algn="l">
              <a:lnSpc>
                <a:spcPct val="100000"/>
              </a:lnSpc>
              <a:spcBef>
                <a:spcPts val="0"/>
              </a:spcBef>
              <a:spcAft>
                <a:spcPts val="0"/>
              </a:spcAft>
              <a:buClr>
                <a:schemeClr val="dk1"/>
              </a:buClr>
              <a:buSzPts val="1800"/>
              <a:buFont typeface="Arial"/>
              <a:buNone/>
            </a:pPr>
            <a:r>
              <a:t/>
            </a:r>
            <a:endParaRPr b="0" i="0" sz="1800" u="none">
              <a:solidFill>
                <a:schemeClr val="dk1"/>
              </a:solidFill>
              <a:latin typeface="Century Schoolbook"/>
              <a:ea typeface="Century Schoolbook"/>
              <a:cs typeface="Century Schoolbook"/>
              <a:sym typeface="Century Schoolbook"/>
            </a:endParaRPr>
          </a:p>
          <a:p>
            <a:pPr indent="449262" lvl="0" marL="0" marR="0" rtl="0" algn="l">
              <a:lnSpc>
                <a:spcPct val="100000"/>
              </a:lnSpc>
              <a:spcBef>
                <a:spcPts val="0"/>
              </a:spcBef>
              <a:spcAft>
                <a:spcPts val="0"/>
              </a:spcAft>
              <a:buClr>
                <a:schemeClr val="dk1"/>
              </a:buClr>
              <a:buSzPts val="1800"/>
              <a:buFont typeface="Century Schoolbook"/>
              <a:buNone/>
            </a:pPr>
            <a:r>
              <a:rPr b="1" i="0" lang="en-US" sz="1800" u="none">
                <a:solidFill>
                  <a:schemeClr val="dk1"/>
                </a:solidFill>
                <a:latin typeface="Century Schoolbook"/>
                <a:ea typeface="Century Schoolbook"/>
                <a:cs typeface="Century Schoolbook"/>
                <a:sym typeface="Century Schoolbook"/>
              </a:rPr>
              <a:t>L’ensemble acide nucléique + capside = Une Nucléocapside</a:t>
            </a:r>
            <a:endParaRPr/>
          </a:p>
          <a:p>
            <a:pPr indent="449262" lvl="0" marL="0" marR="0" rtl="0" algn="l">
              <a:lnSpc>
                <a:spcPct val="100000"/>
              </a:lnSpc>
              <a:spcBef>
                <a:spcPts val="0"/>
              </a:spcBef>
              <a:spcAft>
                <a:spcPts val="0"/>
              </a:spcAft>
              <a:buClr>
                <a:schemeClr val="dk1"/>
              </a:buClr>
              <a:buSzPts val="1800"/>
              <a:buFont typeface="Arial"/>
              <a:buNone/>
            </a:pPr>
            <a:r>
              <a:t/>
            </a:r>
            <a:endParaRPr b="1" i="0" sz="1800" u="none">
              <a:solidFill>
                <a:schemeClr val="dk1"/>
              </a:solidFill>
              <a:latin typeface="Century Schoolbook"/>
              <a:ea typeface="Century Schoolbook"/>
              <a:cs typeface="Century Schoolbook"/>
              <a:sym typeface="Century Schoolbook"/>
            </a:endParaRPr>
          </a:p>
          <a:p>
            <a:pPr indent="449262" lvl="0" marL="0" marR="0" rtl="0" algn="l">
              <a:lnSpc>
                <a:spcPct val="100000"/>
              </a:lnSpc>
              <a:spcBef>
                <a:spcPts val="0"/>
              </a:spcBef>
              <a:spcAft>
                <a:spcPts val="0"/>
              </a:spcAft>
              <a:buClr>
                <a:schemeClr val="dk1"/>
              </a:buClr>
              <a:buSzPts val="1800"/>
              <a:buFont typeface="Century Schoolbook"/>
              <a:buNone/>
            </a:pPr>
            <a:r>
              <a:rPr b="1" i="0" lang="en-US" sz="1800" u="none">
                <a:solidFill>
                  <a:schemeClr val="dk1"/>
                </a:solidFill>
                <a:latin typeface="Century Schoolbook"/>
                <a:ea typeface="Century Schoolbook"/>
                <a:cs typeface="Century Schoolbook"/>
                <a:sym typeface="Century Schoolbook"/>
              </a:rPr>
              <a:t>Un</a:t>
            </a:r>
            <a:r>
              <a:rPr b="0" i="0" lang="en-US" sz="1800" u="none">
                <a:solidFill>
                  <a:schemeClr val="dk1"/>
                </a:solidFill>
                <a:latin typeface="Century Schoolbook"/>
                <a:ea typeface="Century Schoolbook"/>
                <a:cs typeface="Century Schoolbook"/>
                <a:sym typeface="Century Schoolbook"/>
              </a:rPr>
              <a:t> </a:t>
            </a:r>
            <a:r>
              <a:rPr b="1" i="0" lang="en-US" sz="1800" u="none">
                <a:solidFill>
                  <a:schemeClr val="dk1"/>
                </a:solidFill>
                <a:latin typeface="Century Schoolbook"/>
                <a:ea typeface="Century Schoolbook"/>
                <a:cs typeface="Century Schoolbook"/>
                <a:sym typeface="Century Schoolbook"/>
              </a:rPr>
              <a:t>élément inconstant</a:t>
            </a:r>
            <a:r>
              <a:rPr b="0" i="0" lang="en-US" sz="1800" u="none">
                <a:solidFill>
                  <a:schemeClr val="dk1"/>
                </a:solidFill>
                <a:latin typeface="Century Schoolbook"/>
                <a:ea typeface="Century Schoolbook"/>
                <a:cs typeface="Century Schoolbook"/>
                <a:sym typeface="Century Schoolbook"/>
              </a:rPr>
              <a:t> :</a:t>
            </a:r>
            <a:r>
              <a:rPr b="1" i="0" lang="en-US" sz="1800" u="sng">
                <a:solidFill>
                  <a:schemeClr val="dk1"/>
                </a:solidFill>
                <a:latin typeface="Century Schoolbook"/>
                <a:ea typeface="Century Schoolbook"/>
                <a:cs typeface="Century Schoolbook"/>
                <a:sym typeface="Century Schoolbook"/>
              </a:rPr>
              <a:t> Enveloppe</a:t>
            </a:r>
            <a:r>
              <a:rPr b="0" i="0" lang="en-US" sz="1800" u="none">
                <a:solidFill>
                  <a:schemeClr val="dk1"/>
                </a:solidFill>
                <a:latin typeface="Century Schoolbook"/>
                <a:ea typeface="Century Schoolbook"/>
                <a:cs typeface="Century Schoolbook"/>
                <a:sym typeface="Century Schoolbook"/>
              </a:rPr>
              <a:t> entoure la capside.</a:t>
            </a:r>
            <a:endParaRPr/>
          </a:p>
          <a:p>
            <a:pPr indent="0" lvl="0" marL="0" marR="0" rtl="0" algn="l">
              <a:lnSpc>
                <a:spcPct val="100000"/>
              </a:lnSpc>
              <a:spcBef>
                <a:spcPts val="0"/>
              </a:spcBef>
              <a:spcAft>
                <a:spcPts val="0"/>
              </a:spcAft>
              <a:buNone/>
            </a:pPr>
            <a:r>
              <a:t/>
            </a:r>
            <a:endParaRPr b="0" i="0" sz="1800" u="none">
              <a:solidFill>
                <a:schemeClr val="dk1"/>
              </a:solidFill>
              <a:latin typeface="Century Schoolbook"/>
              <a:ea typeface="Century Schoolbook"/>
              <a:cs typeface="Century Schoolbook"/>
              <a:sym typeface="Century Schoolbook"/>
            </a:endParaRPr>
          </a:p>
        </p:txBody>
      </p:sp>
      <p:pic>
        <p:nvPicPr>
          <p:cNvPr descr="https://upload.wikimedia.org/wikipedia/commons/thumb/1/11/CMVschema-fr.svg/721px-CMVschema-fr.svg.png" id="116" name="Google Shape;116;p5"/>
          <p:cNvPicPr preferRelativeResize="0"/>
          <p:nvPr/>
        </p:nvPicPr>
        <p:blipFill rotWithShape="1">
          <a:blip r:embed="rId3">
            <a:alphaModFix/>
          </a:blip>
          <a:srcRect b="0" l="0" r="0" t="15948"/>
          <a:stretch/>
        </p:blipFill>
        <p:spPr>
          <a:xfrm>
            <a:off x="1187450" y="3933825"/>
            <a:ext cx="6867525" cy="280828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pic>
        <p:nvPicPr>
          <p:cNvPr descr="Résultat de recherche d'images pour &quot;virus nu et enveloppé&quot;" id="121" name="Google Shape;121;p6"/>
          <p:cNvPicPr preferRelativeResize="0"/>
          <p:nvPr/>
        </p:nvPicPr>
        <p:blipFill rotWithShape="1">
          <a:blip r:embed="rId3">
            <a:alphaModFix/>
          </a:blip>
          <a:srcRect b="0" l="0" r="0" t="0"/>
          <a:stretch/>
        </p:blipFill>
        <p:spPr>
          <a:xfrm>
            <a:off x="755650" y="404812"/>
            <a:ext cx="7561262" cy="60483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7"/>
          <p:cNvSpPr txBox="1"/>
          <p:nvPr/>
        </p:nvSpPr>
        <p:spPr>
          <a:xfrm>
            <a:off x="-252412" y="0"/>
            <a:ext cx="9217025" cy="1138237"/>
          </a:xfrm>
          <a:prstGeom prst="rect">
            <a:avLst/>
          </a:prstGeom>
          <a:noFill/>
          <a:ln>
            <a:noFill/>
          </a:ln>
        </p:spPr>
        <p:txBody>
          <a:bodyPr anchorCtr="0" anchor="ctr" bIns="0" lIns="457050" spcFirstLastPara="1" rIns="91425" wrap="square" tIns="304700">
            <a:spAutoFit/>
          </a:bodyPr>
          <a:lstStyle/>
          <a:p>
            <a:pPr indent="0" lvl="0" marL="0" marR="0" rtl="0" algn="l">
              <a:lnSpc>
                <a:spcPct val="100000"/>
              </a:lnSpc>
              <a:spcBef>
                <a:spcPts val="0"/>
              </a:spcBef>
              <a:spcAft>
                <a:spcPts val="0"/>
              </a:spcAft>
              <a:buClr>
                <a:schemeClr val="dk1"/>
              </a:buClr>
              <a:buSzPts val="1800"/>
              <a:buFont typeface="Century Schoolbook"/>
              <a:buNone/>
            </a:pPr>
            <a:r>
              <a:rPr b="1" i="0" lang="en-US" sz="1800" u="sng">
                <a:solidFill>
                  <a:schemeClr val="dk1"/>
                </a:solidFill>
                <a:latin typeface="Century Schoolbook"/>
                <a:ea typeface="Century Schoolbook"/>
                <a:cs typeface="Century Schoolbook"/>
                <a:sym typeface="Century Schoolbook"/>
              </a:rPr>
              <a:t>LE GÉNOME VIRAL</a:t>
            </a:r>
            <a:r>
              <a:rPr b="1" i="0" lang="en-US" sz="1800" u="none">
                <a:solidFill>
                  <a:schemeClr val="dk1"/>
                </a:solidFill>
                <a:latin typeface="Century Schoolbook"/>
                <a:ea typeface="Century Schoolbook"/>
                <a:cs typeface="Century Schoolbook"/>
                <a:sym typeface="Century Schoolbook"/>
              </a:rPr>
              <a:t> : peut être</a:t>
            </a:r>
            <a:endParaRPr/>
          </a:p>
          <a:p>
            <a:pPr indent="0" lvl="0" marL="0" marR="0" rtl="0" algn="l">
              <a:lnSpc>
                <a:spcPct val="100000"/>
              </a:lnSpc>
              <a:spcBef>
                <a:spcPts val="0"/>
              </a:spcBef>
              <a:spcAft>
                <a:spcPts val="0"/>
              </a:spcAft>
              <a:buClr>
                <a:schemeClr val="dk1"/>
              </a:buClr>
              <a:buSzPts val="1800"/>
              <a:buFont typeface="Arial"/>
              <a:buNone/>
            </a:pPr>
            <a:r>
              <a:t/>
            </a:r>
            <a:endParaRPr b="1" i="0" sz="1800" u="none">
              <a:solidFill>
                <a:srgbClr val="365F91"/>
              </a:solidFill>
              <a:latin typeface="Century Schoolbook"/>
              <a:ea typeface="Century Schoolbook"/>
              <a:cs typeface="Century Schoolbook"/>
              <a:sym typeface="Century Schoolbook"/>
            </a:endParaRPr>
          </a:p>
          <a:p>
            <a:pPr indent="-114300" lvl="0" marL="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Century Schoolbook"/>
                <a:ea typeface="Century Schoolbook"/>
                <a:cs typeface="Century Schoolbook"/>
                <a:sym typeface="Century Schoolbook"/>
              </a:rPr>
              <a:t> De type ADN</a:t>
            </a:r>
            <a:endParaRPr/>
          </a:p>
        </p:txBody>
      </p:sp>
      <p:pic>
        <p:nvPicPr>
          <p:cNvPr descr="Résultat de recherche d'images pour &quot;monocaténaire segmenté&quot;" id="127" name="Google Shape;127;p7"/>
          <p:cNvPicPr preferRelativeResize="0"/>
          <p:nvPr/>
        </p:nvPicPr>
        <p:blipFill rotWithShape="1">
          <a:blip r:embed="rId3">
            <a:alphaModFix/>
          </a:blip>
          <a:srcRect b="0" l="0" r="48141" t="17135"/>
          <a:stretch/>
        </p:blipFill>
        <p:spPr>
          <a:xfrm>
            <a:off x="468312" y="1341437"/>
            <a:ext cx="3024187" cy="2232025"/>
          </a:xfrm>
          <a:prstGeom prst="rect">
            <a:avLst/>
          </a:prstGeom>
          <a:noFill/>
          <a:ln>
            <a:noFill/>
          </a:ln>
        </p:spPr>
      </p:pic>
      <p:pic>
        <p:nvPicPr>
          <p:cNvPr descr="Résultat de recherche d'images pour &quot;monocaténaire segmenté&quot;" id="128" name="Google Shape;128;p7"/>
          <p:cNvPicPr preferRelativeResize="0"/>
          <p:nvPr/>
        </p:nvPicPr>
        <p:blipFill rotWithShape="1">
          <a:blip r:embed="rId3">
            <a:alphaModFix/>
          </a:blip>
          <a:srcRect b="0" l="51857" r="0" t="23559"/>
          <a:stretch/>
        </p:blipFill>
        <p:spPr>
          <a:xfrm>
            <a:off x="468312" y="4287837"/>
            <a:ext cx="3024187" cy="2570162"/>
          </a:xfrm>
          <a:prstGeom prst="rect">
            <a:avLst/>
          </a:prstGeom>
          <a:noFill/>
          <a:ln>
            <a:noFill/>
          </a:ln>
        </p:spPr>
      </p:pic>
      <p:sp>
        <p:nvSpPr>
          <p:cNvPr id="129" name="Google Shape;129;p7"/>
          <p:cNvSpPr txBox="1"/>
          <p:nvPr/>
        </p:nvSpPr>
        <p:spPr>
          <a:xfrm>
            <a:off x="107950" y="3590925"/>
            <a:ext cx="1670050" cy="368300"/>
          </a:xfrm>
          <a:prstGeom prst="rect">
            <a:avLst/>
          </a:prstGeom>
          <a:noFill/>
          <a:ln>
            <a:noFill/>
          </a:ln>
        </p:spPr>
        <p:txBody>
          <a:bodyPr anchorCtr="0" anchor="t" bIns="45700" lIns="91425" spcFirstLastPara="1" rIns="91425" wrap="square" tIns="45700">
            <a:spAutoFit/>
          </a:bodyPr>
          <a:lstStyle/>
          <a:p>
            <a:pPr indent="-114300" lvl="0" marL="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Century Schoolbook"/>
                <a:ea typeface="Century Schoolbook"/>
                <a:cs typeface="Century Schoolbook"/>
                <a:sym typeface="Century Schoolbook"/>
              </a:rPr>
              <a:t>De type ARN</a:t>
            </a:r>
            <a:endParaRPr/>
          </a:p>
        </p:txBody>
      </p:sp>
      <p:pic>
        <p:nvPicPr>
          <p:cNvPr id="130" name="Google Shape;130;p7"/>
          <p:cNvPicPr preferRelativeResize="0"/>
          <p:nvPr/>
        </p:nvPicPr>
        <p:blipFill rotWithShape="1">
          <a:blip r:embed="rId4">
            <a:alphaModFix/>
          </a:blip>
          <a:srcRect b="50892" l="28272" r="26092" t="27934"/>
          <a:stretch/>
        </p:blipFill>
        <p:spPr>
          <a:xfrm>
            <a:off x="4362450" y="4508500"/>
            <a:ext cx="4391025" cy="1370012"/>
          </a:xfrm>
          <a:prstGeom prst="rect">
            <a:avLst/>
          </a:prstGeom>
          <a:noFill/>
          <a:ln>
            <a:noFill/>
          </a:ln>
        </p:spPr>
      </p:pic>
      <p:pic>
        <p:nvPicPr>
          <p:cNvPr id="131" name="Google Shape;131;p7"/>
          <p:cNvPicPr preferRelativeResize="0"/>
          <p:nvPr/>
        </p:nvPicPr>
        <p:blipFill rotWithShape="1">
          <a:blip r:embed="rId5">
            <a:alphaModFix/>
          </a:blip>
          <a:srcRect b="55891" l="28770" r="36508" t="32640"/>
          <a:stretch/>
        </p:blipFill>
        <p:spPr>
          <a:xfrm>
            <a:off x="4356100" y="1671637"/>
            <a:ext cx="3887787" cy="6858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pic>
        <p:nvPicPr>
          <p:cNvPr id="136" name="Google Shape;136;p8"/>
          <p:cNvPicPr preferRelativeResize="0"/>
          <p:nvPr/>
        </p:nvPicPr>
        <p:blipFill rotWithShape="1">
          <a:blip r:embed="rId3">
            <a:alphaModFix/>
          </a:blip>
          <a:srcRect b="0" l="0" r="0" t="0"/>
          <a:stretch/>
        </p:blipFill>
        <p:spPr>
          <a:xfrm>
            <a:off x="323850" y="692150"/>
            <a:ext cx="8208962" cy="5545137"/>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9"/>
          <p:cNvSpPr txBox="1"/>
          <p:nvPr/>
        </p:nvSpPr>
        <p:spPr>
          <a:xfrm>
            <a:off x="323850" y="254000"/>
            <a:ext cx="1946275" cy="482600"/>
          </a:xfrm>
          <a:prstGeom prst="rect">
            <a:avLst/>
          </a:prstGeom>
          <a:solidFill>
            <a:srgbClr val="C6D9F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rPr b="1" i="0" lang="en-US" sz="2400" u="none">
                <a:solidFill>
                  <a:schemeClr val="dk1"/>
                </a:solidFill>
                <a:latin typeface="Times New Roman"/>
                <a:ea typeface="Times New Roman"/>
                <a:cs typeface="Times New Roman"/>
                <a:sym typeface="Times New Roman"/>
              </a:rPr>
              <a:t>2/ La capside </a:t>
            </a:r>
            <a:endParaRPr/>
          </a:p>
        </p:txBody>
      </p:sp>
      <p:sp>
        <p:nvSpPr>
          <p:cNvPr id="143" name="Google Shape;143;p9"/>
          <p:cNvSpPr txBox="1"/>
          <p:nvPr/>
        </p:nvSpPr>
        <p:spPr>
          <a:xfrm>
            <a:off x="323850" y="889000"/>
            <a:ext cx="7881937" cy="738187"/>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chemeClr val="dk1"/>
              </a:buClr>
              <a:buSzPts val="2100"/>
              <a:buFont typeface="Arial"/>
              <a:buChar char="•"/>
            </a:pPr>
            <a:r>
              <a:rPr b="0" i="0" lang="en-US" sz="2100" u="none">
                <a:solidFill>
                  <a:schemeClr val="dk1"/>
                </a:solidFill>
                <a:latin typeface="Times New Roman"/>
                <a:ea typeface="Times New Roman"/>
                <a:cs typeface="Times New Roman"/>
                <a:sym typeface="Times New Roman"/>
              </a:rPr>
              <a:t>Structure polymérisée a base de sous unités protéiques ‘capsomères’ (du grec : capsa= boîte)</a:t>
            </a:r>
            <a:endParaRPr/>
          </a:p>
        </p:txBody>
      </p:sp>
      <p:sp>
        <p:nvSpPr>
          <p:cNvPr id="144" name="Google Shape;144;p9"/>
          <p:cNvSpPr txBox="1"/>
          <p:nvPr/>
        </p:nvSpPr>
        <p:spPr>
          <a:xfrm>
            <a:off x="500062" y="1708150"/>
            <a:ext cx="4572000" cy="14763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imes New Roman"/>
              <a:buNone/>
            </a:pPr>
            <a:r>
              <a:rPr b="0" i="0" lang="en-US" sz="1800" u="none">
                <a:solidFill>
                  <a:schemeClr val="dk1"/>
                </a:solidFill>
                <a:latin typeface="Times New Roman"/>
                <a:ea typeface="Times New Roman"/>
                <a:cs typeface="Times New Roman"/>
                <a:sym typeface="Times New Roman"/>
              </a:rPr>
              <a:t>Rôle :  </a:t>
            </a:r>
            <a:endParaRPr/>
          </a:p>
          <a:p>
            <a:pPr indent="0" lvl="0" marL="0" marR="0" rtl="0" algn="l">
              <a:lnSpc>
                <a:spcPct val="100000"/>
              </a:lnSpc>
              <a:spcBef>
                <a:spcPts val="0"/>
              </a:spcBef>
              <a:spcAft>
                <a:spcPts val="0"/>
              </a:spcAft>
              <a:buClr>
                <a:schemeClr val="dk1"/>
              </a:buClr>
              <a:buSzPts val="1800"/>
              <a:buFont typeface="Times New Roman"/>
              <a:buNone/>
            </a:pPr>
            <a:r>
              <a:rPr b="0" i="0" lang="en-US" sz="1800" u="none">
                <a:solidFill>
                  <a:schemeClr val="dk1"/>
                </a:solidFill>
                <a:latin typeface="Times New Roman"/>
                <a:ea typeface="Times New Roman"/>
                <a:cs typeface="Times New Roman"/>
                <a:sym typeface="Times New Roman"/>
              </a:rPr>
              <a:t>1/ Protection du génome. </a:t>
            </a:r>
            <a:endParaRPr/>
          </a:p>
          <a:p>
            <a:pPr indent="0" lvl="0" marL="0" marR="0" rtl="0" algn="l">
              <a:lnSpc>
                <a:spcPct val="100000"/>
              </a:lnSpc>
              <a:spcBef>
                <a:spcPts val="0"/>
              </a:spcBef>
              <a:spcAft>
                <a:spcPts val="0"/>
              </a:spcAft>
              <a:buClr>
                <a:schemeClr val="dk1"/>
              </a:buClr>
              <a:buSzPts val="1800"/>
              <a:buFont typeface="Times New Roman"/>
              <a:buNone/>
            </a:pPr>
            <a:r>
              <a:rPr b="0" i="0" lang="en-US" sz="1800" u="none">
                <a:solidFill>
                  <a:schemeClr val="dk1"/>
                </a:solidFill>
                <a:latin typeface="Times New Roman"/>
                <a:ea typeface="Times New Roman"/>
                <a:cs typeface="Times New Roman"/>
                <a:sym typeface="Times New Roman"/>
              </a:rPr>
              <a:t>2/ Porte les structures antigéniques et le site d’attachement au récepteur cellulaire (virus nu).</a:t>
            </a:r>
            <a:endParaRPr/>
          </a:p>
        </p:txBody>
      </p:sp>
      <p:pic>
        <p:nvPicPr>
          <p:cNvPr descr="Les virus" id="145" name="Google Shape;145;p9"/>
          <p:cNvPicPr preferRelativeResize="0"/>
          <p:nvPr/>
        </p:nvPicPr>
        <p:blipFill rotWithShape="1">
          <a:blip r:embed="rId3">
            <a:alphaModFix/>
          </a:blip>
          <a:srcRect b="0" l="0" r="0" t="0"/>
          <a:stretch/>
        </p:blipFill>
        <p:spPr>
          <a:xfrm>
            <a:off x="5508625" y="1438275"/>
            <a:ext cx="2855912" cy="2476500"/>
          </a:xfrm>
          <a:prstGeom prst="rect">
            <a:avLst/>
          </a:prstGeom>
          <a:noFill/>
          <a:ln>
            <a:noFill/>
          </a:ln>
        </p:spPr>
      </p:pic>
      <p:pic>
        <p:nvPicPr>
          <p:cNvPr descr="Biologie cellulaire infection bacterie virus Enseignement et recherche  Biochimie Universite Angers Emmanuel Jaspard biochimej" id="146" name="Google Shape;146;p9"/>
          <p:cNvPicPr preferRelativeResize="0"/>
          <p:nvPr/>
        </p:nvPicPr>
        <p:blipFill rotWithShape="1">
          <a:blip r:embed="rId4">
            <a:alphaModFix/>
          </a:blip>
          <a:srcRect b="0" l="0" r="0" t="0"/>
          <a:stretch/>
        </p:blipFill>
        <p:spPr>
          <a:xfrm>
            <a:off x="1631950" y="3087687"/>
            <a:ext cx="3657600" cy="1920875"/>
          </a:xfrm>
          <a:prstGeom prst="rect">
            <a:avLst/>
          </a:prstGeom>
          <a:noFill/>
          <a:ln>
            <a:noFill/>
          </a:ln>
        </p:spPr>
      </p:pic>
      <p:pic>
        <p:nvPicPr>
          <p:cNvPr id="147" name="Google Shape;147;p9"/>
          <p:cNvPicPr preferRelativeResize="0"/>
          <p:nvPr/>
        </p:nvPicPr>
        <p:blipFill rotWithShape="1">
          <a:blip r:embed="rId5">
            <a:alphaModFix/>
          </a:blip>
          <a:srcRect b="0" l="0" r="0" t="0"/>
          <a:stretch/>
        </p:blipFill>
        <p:spPr>
          <a:xfrm>
            <a:off x="188912" y="4976812"/>
            <a:ext cx="8974137" cy="17430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pic>
        <p:nvPicPr>
          <p:cNvPr descr="Structure virale | Votre espace STL" id="152" name="Google Shape;152;p10"/>
          <p:cNvPicPr preferRelativeResize="0"/>
          <p:nvPr/>
        </p:nvPicPr>
        <p:blipFill rotWithShape="1">
          <a:blip r:embed="rId3">
            <a:alphaModFix/>
          </a:blip>
          <a:srcRect b="0" l="0" r="0" t="0"/>
          <a:stretch/>
        </p:blipFill>
        <p:spPr>
          <a:xfrm>
            <a:off x="1092200" y="3014662"/>
            <a:ext cx="6638925" cy="2079625"/>
          </a:xfrm>
          <a:prstGeom prst="rect">
            <a:avLst/>
          </a:prstGeom>
          <a:noFill/>
          <a:ln>
            <a:noFill/>
          </a:ln>
        </p:spPr>
      </p:pic>
      <p:sp>
        <p:nvSpPr>
          <p:cNvPr id="153" name="Google Shape;153;p10"/>
          <p:cNvSpPr txBox="1"/>
          <p:nvPr/>
        </p:nvSpPr>
        <p:spPr>
          <a:xfrm>
            <a:off x="1150937" y="1144587"/>
            <a:ext cx="4233862" cy="695325"/>
          </a:xfrm>
          <a:prstGeom prst="rect">
            <a:avLst/>
          </a:prstGeom>
          <a:solidFill>
            <a:srgbClr val="DCE6F2"/>
          </a:solidFill>
          <a:ln cap="flat" cmpd="sng" w="254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rPr b="1" i="0" lang="en-US" sz="2400" u="none">
                <a:solidFill>
                  <a:schemeClr val="dk1"/>
                </a:solidFill>
                <a:latin typeface="Times New Roman"/>
                <a:ea typeface="Times New Roman"/>
                <a:cs typeface="Times New Roman"/>
                <a:sym typeface="Times New Roman"/>
              </a:rPr>
              <a:t>Les différentes formes de capside</a:t>
            </a:r>
            <a:endParaRPr/>
          </a:p>
        </p:txBody>
      </p:sp>
      <p:sp>
        <p:nvSpPr>
          <p:cNvPr id="154" name="Google Shape;154;p10"/>
          <p:cNvSpPr txBox="1"/>
          <p:nvPr/>
        </p:nvSpPr>
        <p:spPr>
          <a:xfrm>
            <a:off x="871537" y="5233987"/>
            <a:ext cx="1533525" cy="415925"/>
          </a:xfrm>
          <a:prstGeom prst="rect">
            <a:avLst/>
          </a:prstGeom>
          <a:solidFill>
            <a:srgbClr val="DCE6F2"/>
          </a:solidFill>
          <a:ln cap="flat" cmpd="sng" w="25400">
            <a:solidFill>
              <a:srgbClr val="385D8A"/>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rPr b="1" i="0" lang="en-US" sz="1800" u="none">
                <a:solidFill>
                  <a:schemeClr val="dk1"/>
                </a:solidFill>
                <a:latin typeface="Calibri"/>
                <a:ea typeface="Calibri"/>
                <a:cs typeface="Calibri"/>
                <a:sym typeface="Calibri"/>
              </a:rPr>
              <a:t>Forme hélicoïdales</a:t>
            </a:r>
            <a:endParaRPr/>
          </a:p>
        </p:txBody>
      </p:sp>
      <p:sp>
        <p:nvSpPr>
          <p:cNvPr id="155" name="Google Shape;155;p10"/>
          <p:cNvSpPr txBox="1"/>
          <p:nvPr/>
        </p:nvSpPr>
        <p:spPr>
          <a:xfrm>
            <a:off x="3357562" y="5154612"/>
            <a:ext cx="1739900" cy="414337"/>
          </a:xfrm>
          <a:prstGeom prst="rect">
            <a:avLst/>
          </a:prstGeom>
          <a:solidFill>
            <a:srgbClr val="DCE6F2"/>
          </a:solidFill>
          <a:ln cap="flat" cmpd="sng" w="25400">
            <a:solidFill>
              <a:srgbClr val="385D8A"/>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rPr b="1" i="0" lang="en-US" sz="1800" u="none">
                <a:solidFill>
                  <a:schemeClr val="dk1"/>
                </a:solidFill>
                <a:latin typeface="Calibri"/>
                <a:ea typeface="Calibri"/>
                <a:cs typeface="Calibri"/>
                <a:sym typeface="Calibri"/>
              </a:rPr>
              <a:t>Forme icosaédriques</a:t>
            </a:r>
            <a:endParaRPr/>
          </a:p>
        </p:txBody>
      </p:sp>
      <p:sp>
        <p:nvSpPr>
          <p:cNvPr id="156" name="Google Shape;156;p10"/>
          <p:cNvSpPr txBox="1"/>
          <p:nvPr/>
        </p:nvSpPr>
        <p:spPr>
          <a:xfrm>
            <a:off x="6199187" y="5154612"/>
            <a:ext cx="1692275" cy="414337"/>
          </a:xfrm>
          <a:prstGeom prst="rect">
            <a:avLst/>
          </a:prstGeom>
          <a:solidFill>
            <a:srgbClr val="DCE6F2"/>
          </a:solidFill>
          <a:ln cap="flat" cmpd="sng" w="25400">
            <a:solidFill>
              <a:srgbClr val="385D8A"/>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rPr b="1" i="0" lang="en-US" sz="1800" u="none">
                <a:solidFill>
                  <a:schemeClr val="dk1"/>
                </a:solidFill>
                <a:latin typeface="Calibri"/>
                <a:ea typeface="Calibri"/>
                <a:cs typeface="Calibri"/>
                <a:sym typeface="Calibri"/>
              </a:rPr>
              <a:t>Forme complexe (hybride)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pic>
        <p:nvPicPr>
          <p:cNvPr descr="STRUCTURE ET DEFINITION DES VIRUS" id="161" name="Google Shape;161;p11"/>
          <p:cNvPicPr preferRelativeResize="0"/>
          <p:nvPr/>
        </p:nvPicPr>
        <p:blipFill rotWithShape="1">
          <a:blip r:embed="rId3">
            <a:alphaModFix/>
          </a:blip>
          <a:srcRect b="0" l="0" r="0" t="0"/>
          <a:stretch/>
        </p:blipFill>
        <p:spPr>
          <a:xfrm>
            <a:off x="5486400" y="3178175"/>
            <a:ext cx="3657600" cy="2822575"/>
          </a:xfrm>
          <a:prstGeom prst="rect">
            <a:avLst/>
          </a:prstGeom>
          <a:noFill/>
          <a:ln>
            <a:noFill/>
          </a:ln>
        </p:spPr>
      </p:pic>
      <p:sp>
        <p:nvSpPr>
          <p:cNvPr id="162" name="Google Shape;162;p11"/>
          <p:cNvSpPr txBox="1"/>
          <p:nvPr/>
        </p:nvSpPr>
        <p:spPr>
          <a:xfrm>
            <a:off x="5486400" y="5437187"/>
            <a:ext cx="3657600" cy="56356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descr="Structure Taxonomie virale L 3 Professeur Moussa Fafa" id="163" name="Google Shape;163;p11"/>
          <p:cNvPicPr preferRelativeResize="0"/>
          <p:nvPr/>
        </p:nvPicPr>
        <p:blipFill rotWithShape="1">
          <a:blip r:embed="rId4">
            <a:alphaModFix/>
          </a:blip>
          <a:srcRect b="0" l="0" r="0" t="0"/>
          <a:stretch/>
        </p:blipFill>
        <p:spPr>
          <a:xfrm>
            <a:off x="285750" y="2690812"/>
            <a:ext cx="4514850" cy="3248025"/>
          </a:xfrm>
          <a:prstGeom prst="rect">
            <a:avLst/>
          </a:prstGeom>
          <a:noFill/>
          <a:ln>
            <a:noFill/>
          </a:ln>
        </p:spPr>
      </p:pic>
      <p:pic>
        <p:nvPicPr>
          <p:cNvPr descr="Différence entre capside et enveloppe / Science | La différence entre des  objets et des termes similaires." id="164" name="Google Shape;164;p11"/>
          <p:cNvPicPr preferRelativeResize="0"/>
          <p:nvPr/>
        </p:nvPicPr>
        <p:blipFill rotWithShape="1">
          <a:blip r:embed="rId5">
            <a:alphaModFix/>
          </a:blip>
          <a:srcRect b="0" l="0" r="0" t="0"/>
          <a:stretch/>
        </p:blipFill>
        <p:spPr>
          <a:xfrm>
            <a:off x="4649787" y="974725"/>
            <a:ext cx="4105275" cy="2149475"/>
          </a:xfrm>
          <a:prstGeom prst="rect">
            <a:avLst/>
          </a:prstGeom>
          <a:noFill/>
          <a:ln>
            <a:noFill/>
          </a:ln>
        </p:spPr>
      </p:pic>
      <p:pic>
        <p:nvPicPr>
          <p:cNvPr descr="Les virus : Organisation et reproduction" id="165" name="Google Shape;165;p11"/>
          <p:cNvPicPr preferRelativeResize="0"/>
          <p:nvPr/>
        </p:nvPicPr>
        <p:blipFill rotWithShape="1">
          <a:blip r:embed="rId6">
            <a:alphaModFix/>
          </a:blip>
          <a:srcRect b="0" l="0" r="0" t="0"/>
          <a:stretch/>
        </p:blipFill>
        <p:spPr>
          <a:xfrm>
            <a:off x="896937" y="1314450"/>
            <a:ext cx="3209925" cy="2082800"/>
          </a:xfrm>
          <a:prstGeom prst="rect">
            <a:avLst/>
          </a:prstGeom>
          <a:noFill/>
          <a:ln>
            <a:noFill/>
          </a:ln>
        </p:spPr>
      </p:pic>
      <p:sp>
        <p:nvSpPr>
          <p:cNvPr id="166" name="Google Shape;166;p11"/>
          <p:cNvSpPr txBox="1"/>
          <p:nvPr/>
        </p:nvSpPr>
        <p:spPr>
          <a:xfrm>
            <a:off x="220662" y="974725"/>
            <a:ext cx="2311400" cy="339725"/>
          </a:xfrm>
          <a:prstGeom prst="rect">
            <a:avLst/>
          </a:prstGeom>
          <a:solidFill>
            <a:srgbClr val="DCE6F2"/>
          </a:solidFill>
          <a:ln cap="flat" cmpd="sng" w="25400">
            <a:solidFill>
              <a:srgbClr val="DCE6F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imes New Roman"/>
              <a:buNone/>
            </a:pPr>
            <a:r>
              <a:rPr b="1" i="0" lang="en-US" sz="1800" u="none">
                <a:solidFill>
                  <a:schemeClr val="dk1"/>
                </a:solidFill>
                <a:latin typeface="Times New Roman"/>
                <a:ea typeface="Times New Roman"/>
                <a:cs typeface="Times New Roman"/>
                <a:sym typeface="Times New Roman"/>
              </a:rPr>
              <a:t>B/Capside hélicoïdale </a:t>
            </a:r>
            <a:endParaRPr/>
          </a:p>
        </p:txBody>
      </p:sp>
      <p:pic>
        <p:nvPicPr>
          <p:cNvPr descr="UCLOUVAIN FDP Virologie" id="167" name="Google Shape;167;p11"/>
          <p:cNvPicPr preferRelativeResize="0"/>
          <p:nvPr/>
        </p:nvPicPr>
        <p:blipFill rotWithShape="1">
          <a:blip r:embed="rId7">
            <a:alphaModFix/>
          </a:blip>
          <a:srcRect b="0" l="0" r="0" t="0"/>
          <a:stretch/>
        </p:blipFill>
        <p:spPr>
          <a:xfrm>
            <a:off x="4106862" y="2598737"/>
            <a:ext cx="2319337" cy="15938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2"/>
          <p:cNvSpPr txBox="1"/>
          <p:nvPr/>
        </p:nvSpPr>
        <p:spPr>
          <a:xfrm>
            <a:off x="107950" y="488950"/>
            <a:ext cx="9036050" cy="9239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entury Schoolbook"/>
              <a:buNone/>
            </a:pPr>
            <a:r>
              <a:rPr b="0" i="0" lang="en-US" sz="1800" u="none">
                <a:solidFill>
                  <a:schemeClr val="dk1"/>
                </a:solidFill>
                <a:latin typeface="Century Schoolbook"/>
                <a:ea typeface="Century Schoolbook"/>
                <a:cs typeface="Century Schoolbook"/>
                <a:sym typeface="Century Schoolbook"/>
              </a:rPr>
              <a:t>Deux grands types de structure virale ont été mis en évidence : </a:t>
            </a:r>
            <a:endParaRPr/>
          </a:p>
          <a:p>
            <a:pPr indent="0" lvl="0" marL="0" marR="0" rtl="0" algn="l">
              <a:lnSpc>
                <a:spcPct val="100000"/>
              </a:lnSpc>
              <a:spcBef>
                <a:spcPts val="0"/>
              </a:spcBef>
              <a:spcAft>
                <a:spcPts val="0"/>
              </a:spcAft>
              <a:buClr>
                <a:schemeClr val="dk1"/>
              </a:buClr>
              <a:buSzPts val="1800"/>
              <a:buFont typeface="Century Schoolbook"/>
              <a:buNone/>
            </a:pPr>
            <a:r>
              <a:rPr b="0" i="0" lang="en-US" sz="1800" u="none">
                <a:solidFill>
                  <a:schemeClr val="dk1"/>
                </a:solidFill>
                <a:latin typeface="Century Schoolbook"/>
                <a:ea typeface="Century Schoolbook"/>
                <a:cs typeface="Century Schoolbook"/>
                <a:sym typeface="Century Schoolbook"/>
              </a:rPr>
              <a:t>les virus allongés, à structure hélicoïdale, soit nus ou enveloppés et les virus quasi-sphériques, à structure icosaédrique. </a:t>
            </a:r>
            <a:endParaRPr/>
          </a:p>
        </p:txBody>
      </p:sp>
      <p:sp>
        <p:nvSpPr>
          <p:cNvPr id="173" name="Google Shape;173;p12"/>
          <p:cNvSpPr txBox="1"/>
          <p:nvPr/>
        </p:nvSpPr>
        <p:spPr>
          <a:xfrm>
            <a:off x="0" y="981075"/>
            <a:ext cx="4500562" cy="41243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t/>
            </a:r>
            <a:endParaRPr b="1" i="0" sz="2000" u="none">
              <a:solidFill>
                <a:schemeClr val="dk1"/>
              </a:solidFill>
              <a:latin typeface="Century Schoolbook"/>
              <a:ea typeface="Century Schoolbook"/>
              <a:cs typeface="Century Schoolbook"/>
              <a:sym typeface="Century Schoolbook"/>
            </a:endParaRPr>
          </a:p>
          <a:p>
            <a:pPr indent="0" lvl="0" marL="0" marR="0" rtl="0" algn="l">
              <a:lnSpc>
                <a:spcPct val="100000"/>
              </a:lnSpc>
              <a:spcBef>
                <a:spcPts val="0"/>
              </a:spcBef>
              <a:spcAft>
                <a:spcPts val="0"/>
              </a:spcAft>
              <a:buClr>
                <a:schemeClr val="dk1"/>
              </a:buClr>
              <a:buSzPts val="2000"/>
              <a:buFont typeface="Arial"/>
              <a:buNone/>
            </a:pPr>
            <a:r>
              <a:t/>
            </a:r>
            <a:endParaRPr b="1" i="0" sz="2000" u="none">
              <a:solidFill>
                <a:schemeClr val="dk1"/>
              </a:solidFill>
              <a:latin typeface="Century Schoolbook"/>
              <a:ea typeface="Century Schoolbook"/>
              <a:cs typeface="Century Schoolbook"/>
              <a:sym typeface="Century Schoolbook"/>
            </a:endParaRPr>
          </a:p>
          <a:p>
            <a:pPr indent="0" lvl="0" marL="0" marR="0" rtl="0" algn="l">
              <a:lnSpc>
                <a:spcPct val="100000"/>
              </a:lnSpc>
              <a:spcBef>
                <a:spcPts val="0"/>
              </a:spcBef>
              <a:spcAft>
                <a:spcPts val="0"/>
              </a:spcAft>
              <a:buClr>
                <a:schemeClr val="dk1"/>
              </a:buClr>
              <a:buSzPts val="2000"/>
              <a:buFont typeface="Arial"/>
              <a:buNone/>
            </a:pPr>
            <a:r>
              <a:t/>
            </a:r>
            <a:endParaRPr b="1" i="0" sz="2000" u="none">
              <a:solidFill>
                <a:schemeClr val="dk1"/>
              </a:solidFill>
              <a:latin typeface="Century Schoolbook"/>
              <a:ea typeface="Century Schoolbook"/>
              <a:cs typeface="Century Schoolbook"/>
              <a:sym typeface="Century Schoolbook"/>
            </a:endParaRPr>
          </a:p>
          <a:p>
            <a:pPr indent="0" lvl="0" marL="0" marR="0" rtl="0" algn="l">
              <a:lnSpc>
                <a:spcPct val="100000"/>
              </a:lnSpc>
              <a:spcBef>
                <a:spcPts val="0"/>
              </a:spcBef>
              <a:spcAft>
                <a:spcPts val="0"/>
              </a:spcAft>
              <a:buClr>
                <a:schemeClr val="dk1"/>
              </a:buClr>
              <a:buSzPts val="2000"/>
              <a:buFont typeface="Century Schoolbook"/>
              <a:buNone/>
            </a:pPr>
            <a:r>
              <a:rPr b="1" i="0" lang="en-US" sz="2000" u="none">
                <a:solidFill>
                  <a:schemeClr val="dk1"/>
                </a:solidFill>
                <a:latin typeface="Century Schoolbook"/>
                <a:ea typeface="Century Schoolbook"/>
                <a:cs typeface="Century Schoolbook"/>
                <a:sym typeface="Century Schoolbook"/>
              </a:rPr>
              <a:t>Virus nus à symétrie hélicoïdale </a:t>
            </a:r>
            <a:endParaRPr/>
          </a:p>
          <a:p>
            <a:pPr indent="0" lvl="0" marL="0" marR="0" rtl="0" algn="l">
              <a:lnSpc>
                <a:spcPct val="100000"/>
              </a:lnSpc>
              <a:spcBef>
                <a:spcPts val="0"/>
              </a:spcBef>
              <a:spcAft>
                <a:spcPts val="0"/>
              </a:spcAft>
              <a:buClr>
                <a:schemeClr val="dk1"/>
              </a:buClr>
              <a:buSzPts val="2000"/>
              <a:buFont typeface="Arial"/>
              <a:buNone/>
            </a:pPr>
            <a:r>
              <a:t/>
            </a:r>
            <a:endParaRPr b="1" i="0" sz="2000" u="none">
              <a:solidFill>
                <a:schemeClr val="dk1"/>
              </a:solidFill>
              <a:latin typeface="Century Schoolbook"/>
              <a:ea typeface="Century Schoolbook"/>
              <a:cs typeface="Century Schoolbook"/>
              <a:sym typeface="Century Schoolbook"/>
            </a:endParaRPr>
          </a:p>
          <a:p>
            <a:pPr indent="0" lvl="0" marL="0" marR="0" rtl="0" algn="just">
              <a:lnSpc>
                <a:spcPct val="100000"/>
              </a:lnSpc>
              <a:spcBef>
                <a:spcPts val="0"/>
              </a:spcBef>
              <a:spcAft>
                <a:spcPts val="0"/>
              </a:spcAft>
              <a:buClr>
                <a:schemeClr val="dk1"/>
              </a:buClr>
              <a:buSzPts val="1800"/>
              <a:buFont typeface="Century Schoolbook"/>
              <a:buNone/>
            </a:pPr>
            <a:r>
              <a:rPr b="0" i="0" lang="en-US" sz="1800" u="none">
                <a:solidFill>
                  <a:schemeClr val="dk1"/>
                </a:solidFill>
                <a:latin typeface="Century Schoolbook"/>
                <a:ea typeface="Century Schoolbook"/>
                <a:cs typeface="Century Schoolbook"/>
                <a:sym typeface="Century Schoolbook"/>
              </a:rPr>
              <a:t>les virus allongés présentent donc des particules de symétrie hélicoïdale</a:t>
            </a:r>
            <a:endParaRPr/>
          </a:p>
          <a:p>
            <a:pPr indent="0" lvl="0" marL="0" marR="0" rtl="0" algn="just">
              <a:lnSpc>
                <a:spcPct val="100000"/>
              </a:lnSpc>
              <a:spcBef>
                <a:spcPts val="0"/>
              </a:spcBef>
              <a:spcAft>
                <a:spcPts val="0"/>
              </a:spcAft>
              <a:buClr>
                <a:schemeClr val="dk1"/>
              </a:buClr>
              <a:buSzPts val="1800"/>
              <a:buFont typeface="Century Schoolbook"/>
              <a:buNone/>
            </a:pPr>
            <a:r>
              <a:rPr b="0" i="0" lang="en-US" sz="1800" u="none">
                <a:solidFill>
                  <a:schemeClr val="dk1"/>
                </a:solidFill>
                <a:latin typeface="Century Schoolbook"/>
                <a:ea typeface="Century Schoolbook"/>
                <a:cs typeface="Century Schoolbook"/>
                <a:sym typeface="Century Schoolbook"/>
              </a:rPr>
              <a:t>lorsque la capside de ce type de virus n’est pas enveloppée, on parle de virus «nus ». Il s’agit alors essentiellement de virus de plantes et de quelques bactériophages. le virus dont la symétrie hélicoïdale est la mieux connu est le virus de la mosaïque du tabac.</a:t>
            </a:r>
            <a:endParaRPr/>
          </a:p>
        </p:txBody>
      </p:sp>
      <p:pic>
        <p:nvPicPr>
          <p:cNvPr id="174" name="Google Shape;174;p12"/>
          <p:cNvPicPr preferRelativeResize="0"/>
          <p:nvPr/>
        </p:nvPicPr>
        <p:blipFill rotWithShape="1">
          <a:blip r:embed="rId3">
            <a:alphaModFix/>
          </a:blip>
          <a:srcRect b="8828" l="58383" r="18925" t="17343"/>
          <a:stretch/>
        </p:blipFill>
        <p:spPr>
          <a:xfrm>
            <a:off x="4643437" y="1046162"/>
            <a:ext cx="4249739" cy="5688012"/>
          </a:xfrm>
          <a:prstGeom prst="rect">
            <a:avLst/>
          </a:prstGeom>
          <a:noFill/>
          <a:ln>
            <a:noFill/>
          </a:ln>
        </p:spPr>
      </p:pic>
      <p:sp>
        <p:nvSpPr>
          <p:cNvPr id="175" name="Google Shape;175;p12"/>
          <p:cNvSpPr txBox="1"/>
          <p:nvPr/>
        </p:nvSpPr>
        <p:spPr>
          <a:xfrm>
            <a:off x="-360362" y="107950"/>
            <a:ext cx="9396412" cy="368300"/>
          </a:xfrm>
          <a:prstGeom prst="rect">
            <a:avLst/>
          </a:prstGeom>
          <a:noFill/>
          <a:ln>
            <a:noFill/>
          </a:ln>
        </p:spPr>
        <p:txBody>
          <a:bodyPr anchorCtr="0" anchor="t" bIns="45700" lIns="91425" spcFirstLastPara="1" rIns="91425" wrap="square" tIns="45700">
            <a:spAutoFit/>
          </a:bodyPr>
          <a:lstStyle/>
          <a:p>
            <a:pPr indent="449262" lvl="0" marL="0" marR="0" rtl="0" algn="l">
              <a:lnSpc>
                <a:spcPct val="100000"/>
              </a:lnSpc>
              <a:spcBef>
                <a:spcPts val="0"/>
              </a:spcBef>
              <a:spcAft>
                <a:spcPts val="0"/>
              </a:spcAft>
              <a:buClr>
                <a:schemeClr val="dk1"/>
              </a:buClr>
              <a:buSzPts val="1800"/>
              <a:buFont typeface="Century Schoolbook"/>
              <a:buNone/>
            </a:pPr>
            <a:r>
              <a:rPr b="0" i="0" lang="en-US" sz="1800" u="none">
                <a:solidFill>
                  <a:schemeClr val="dk1"/>
                </a:solidFill>
                <a:latin typeface="Century Schoolbook"/>
                <a:ea typeface="Century Schoolbook"/>
                <a:cs typeface="Century Schoolbook"/>
                <a:sym typeface="Century Schoolbook"/>
              </a:rPr>
              <a:t>La nucléocapside peut avoir une symétrie hélicoïdale, icosaédrique ou complexe</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3"/>
          <p:cNvSpPr txBox="1"/>
          <p:nvPr/>
        </p:nvSpPr>
        <p:spPr>
          <a:xfrm>
            <a:off x="250825" y="260350"/>
            <a:ext cx="5489575"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Century Schoolbook"/>
              <a:buNone/>
            </a:pPr>
            <a:r>
              <a:rPr b="1" i="0" lang="en-US" sz="2000" u="none">
                <a:solidFill>
                  <a:schemeClr val="dk1"/>
                </a:solidFill>
                <a:latin typeface="Century Schoolbook"/>
                <a:ea typeface="Century Schoolbook"/>
                <a:cs typeface="Century Schoolbook"/>
                <a:sym typeface="Century Schoolbook"/>
              </a:rPr>
              <a:t>Virus enveloppés à symétrie hélicoïdale</a:t>
            </a:r>
            <a:endParaRPr/>
          </a:p>
        </p:txBody>
      </p:sp>
      <p:sp>
        <p:nvSpPr>
          <p:cNvPr id="181" name="Google Shape;181;p13"/>
          <p:cNvSpPr txBox="1"/>
          <p:nvPr/>
        </p:nvSpPr>
        <p:spPr>
          <a:xfrm>
            <a:off x="0" y="2852737"/>
            <a:ext cx="9144000" cy="9239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entury Schoolbook"/>
              <a:buNone/>
            </a:pPr>
            <a:r>
              <a:rPr b="0" i="0" lang="en-US" sz="1800" u="none">
                <a:solidFill>
                  <a:schemeClr val="dk1"/>
                </a:solidFill>
                <a:latin typeface="Century Schoolbook"/>
                <a:ea typeface="Century Schoolbook"/>
                <a:cs typeface="Century Schoolbook"/>
                <a:sym typeface="Century Schoolbook"/>
              </a:rPr>
              <a:t>Plusieurs virus présentent une symétrie hélicoïdale tout en étant enveloppés visent les animaux et les humains. les myxovirus et les Rhabdovirus sont les principaux virus qui présentent cette forme structurale particulière. </a:t>
            </a:r>
            <a:endParaRPr/>
          </a:p>
        </p:txBody>
      </p:sp>
      <p:sp>
        <p:nvSpPr>
          <p:cNvPr id="182" name="Google Shape;182;p13"/>
          <p:cNvSpPr txBox="1"/>
          <p:nvPr/>
        </p:nvSpPr>
        <p:spPr>
          <a:xfrm>
            <a:off x="0" y="3673475"/>
            <a:ext cx="9396412" cy="646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entury Schoolbook"/>
              <a:buNone/>
            </a:pPr>
            <a:r>
              <a:rPr b="0" i="0" lang="en-US" sz="1800" u="none">
                <a:solidFill>
                  <a:schemeClr val="dk1"/>
                </a:solidFill>
                <a:latin typeface="Century Schoolbook"/>
                <a:ea typeface="Century Schoolbook"/>
                <a:cs typeface="Century Schoolbook"/>
                <a:sym typeface="Century Schoolbook"/>
              </a:rPr>
              <a:t>Le virus de la stomatite vésiculeuse, le virus de la rage ou encore le virus de la mosaïque de la luzerne présentent une structure en forme de balles de fusil</a:t>
            </a:r>
            <a:endParaRPr/>
          </a:p>
        </p:txBody>
      </p:sp>
      <p:pic>
        <p:nvPicPr>
          <p:cNvPr id="183" name="Google Shape;183;p13"/>
          <p:cNvPicPr preferRelativeResize="0"/>
          <p:nvPr/>
        </p:nvPicPr>
        <p:blipFill rotWithShape="1">
          <a:blip r:embed="rId3">
            <a:alphaModFix/>
          </a:blip>
          <a:srcRect b="32451" l="58383" r="20585" t="28172"/>
          <a:stretch/>
        </p:blipFill>
        <p:spPr>
          <a:xfrm>
            <a:off x="5651500" y="188912"/>
            <a:ext cx="3241675" cy="2592387"/>
          </a:xfrm>
          <a:prstGeom prst="rect">
            <a:avLst/>
          </a:prstGeom>
          <a:noFill/>
          <a:ln>
            <a:noFill/>
          </a:ln>
        </p:spPr>
      </p:pic>
      <p:sp>
        <p:nvSpPr>
          <p:cNvPr id="184" name="Google Shape;184;p13"/>
          <p:cNvSpPr txBox="1"/>
          <p:nvPr/>
        </p:nvSpPr>
        <p:spPr>
          <a:xfrm>
            <a:off x="250825" y="908050"/>
            <a:ext cx="4572000" cy="147796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1800"/>
              <a:buFont typeface="Century Schoolbook"/>
              <a:buNone/>
            </a:pPr>
            <a:r>
              <a:rPr b="0" i="0" lang="en-US" sz="1800" u="none">
                <a:solidFill>
                  <a:schemeClr val="dk1"/>
                </a:solidFill>
                <a:latin typeface="Century Schoolbook"/>
                <a:ea typeface="Century Schoolbook"/>
                <a:cs typeface="Century Schoolbook"/>
                <a:sym typeface="Century Schoolbook"/>
              </a:rPr>
              <a:t>D’autres virus qui présentent une symétrie hélicoïdale forment des particules allongées mais « flexueuses ». </a:t>
            </a:r>
            <a:endParaRPr/>
          </a:p>
          <a:p>
            <a:pPr indent="0" lvl="0" marL="0" marR="0" rtl="0" algn="just">
              <a:lnSpc>
                <a:spcPct val="100000"/>
              </a:lnSpc>
              <a:spcBef>
                <a:spcPts val="0"/>
              </a:spcBef>
              <a:spcAft>
                <a:spcPts val="0"/>
              </a:spcAft>
              <a:buClr>
                <a:schemeClr val="dk1"/>
              </a:buClr>
              <a:buSzPts val="1800"/>
              <a:buFont typeface="Century Schoolbook"/>
              <a:buNone/>
            </a:pPr>
            <a:r>
              <a:rPr b="0" i="0" lang="en-US" sz="1800" u="none">
                <a:solidFill>
                  <a:schemeClr val="dk1"/>
                </a:solidFill>
                <a:latin typeface="Century Schoolbook"/>
                <a:ea typeface="Century Schoolbook"/>
                <a:cs typeface="Century Schoolbook"/>
                <a:sym typeface="Century Schoolbook"/>
              </a:rPr>
              <a:t>le virus X ou Y de la pomme de terre sont des exemples de ce type de virus.</a:t>
            </a:r>
            <a:endParaRPr/>
          </a:p>
        </p:txBody>
      </p:sp>
      <p:pic>
        <p:nvPicPr>
          <p:cNvPr id="185" name="Google Shape;185;p13"/>
          <p:cNvPicPr preferRelativeResize="0"/>
          <p:nvPr/>
        </p:nvPicPr>
        <p:blipFill rotWithShape="1">
          <a:blip r:embed="rId4">
            <a:alphaModFix/>
          </a:blip>
          <a:srcRect b="35235" l="58300" r="19007" t="29327"/>
          <a:stretch/>
        </p:blipFill>
        <p:spPr>
          <a:xfrm>
            <a:off x="2268537" y="4437062"/>
            <a:ext cx="4175125" cy="2160587"/>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pic>
        <p:nvPicPr>
          <p:cNvPr descr="STRUCTURE ET DEFINITION DES VIRUS" id="190" name="Google Shape;190;p14"/>
          <p:cNvPicPr preferRelativeResize="0"/>
          <p:nvPr/>
        </p:nvPicPr>
        <p:blipFill rotWithShape="1">
          <a:blip r:embed="rId3">
            <a:alphaModFix/>
          </a:blip>
          <a:srcRect b="0" l="0" r="0" t="0"/>
          <a:stretch/>
        </p:blipFill>
        <p:spPr>
          <a:xfrm>
            <a:off x="506412" y="1636712"/>
            <a:ext cx="4598987" cy="4298950"/>
          </a:xfrm>
          <a:prstGeom prst="rect">
            <a:avLst/>
          </a:prstGeom>
          <a:noFill/>
          <a:ln>
            <a:noFill/>
          </a:ln>
        </p:spPr>
      </p:pic>
      <p:pic>
        <p:nvPicPr>
          <p:cNvPr descr="The major capsid proteins fiber, penton, and hexon are the principle... |  Download Scientific Diagram" id="191" name="Google Shape;191;p14"/>
          <p:cNvPicPr preferRelativeResize="0"/>
          <p:nvPr/>
        </p:nvPicPr>
        <p:blipFill rotWithShape="1">
          <a:blip r:embed="rId4">
            <a:alphaModFix/>
          </a:blip>
          <a:srcRect b="0" l="0" r="0" t="0"/>
          <a:stretch/>
        </p:blipFill>
        <p:spPr>
          <a:xfrm>
            <a:off x="5903912" y="939800"/>
            <a:ext cx="3149600" cy="2474912"/>
          </a:xfrm>
          <a:prstGeom prst="rect">
            <a:avLst/>
          </a:prstGeom>
          <a:noFill/>
          <a:ln>
            <a:noFill/>
          </a:ln>
        </p:spPr>
      </p:pic>
      <p:pic>
        <p:nvPicPr>
          <p:cNvPr id="192" name="Google Shape;192;p14"/>
          <p:cNvPicPr preferRelativeResize="0"/>
          <p:nvPr/>
        </p:nvPicPr>
        <p:blipFill rotWithShape="1">
          <a:blip r:embed="rId5">
            <a:alphaModFix/>
          </a:blip>
          <a:srcRect b="0" l="0" r="0" t="0"/>
          <a:stretch/>
        </p:blipFill>
        <p:spPr>
          <a:xfrm>
            <a:off x="4978400" y="3414712"/>
            <a:ext cx="4075112" cy="2520950"/>
          </a:xfrm>
          <a:prstGeom prst="rect">
            <a:avLst/>
          </a:prstGeom>
          <a:noFill/>
          <a:ln>
            <a:noFill/>
          </a:ln>
        </p:spPr>
      </p:pic>
      <p:sp>
        <p:nvSpPr>
          <p:cNvPr id="193" name="Google Shape;193;p14"/>
          <p:cNvSpPr txBox="1"/>
          <p:nvPr/>
        </p:nvSpPr>
        <p:spPr>
          <a:xfrm>
            <a:off x="465137" y="1035050"/>
            <a:ext cx="2854325" cy="525462"/>
          </a:xfrm>
          <a:prstGeom prst="rect">
            <a:avLst/>
          </a:prstGeom>
          <a:solidFill>
            <a:srgbClr val="DCE6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100"/>
              <a:buFont typeface="Times New Roman"/>
              <a:buNone/>
            </a:pPr>
            <a:r>
              <a:rPr b="1" i="0" lang="en-US" sz="2100" u="none">
                <a:solidFill>
                  <a:schemeClr val="dk1"/>
                </a:solidFill>
                <a:latin typeface="Times New Roman"/>
                <a:ea typeface="Times New Roman"/>
                <a:cs typeface="Times New Roman"/>
                <a:sym typeface="Times New Roman"/>
              </a:rPr>
              <a:t>A/Capside icosaédrique</a:t>
            </a:r>
            <a:endParaRPr/>
          </a:p>
        </p:txBody>
      </p:sp>
      <p:pic>
        <p:nvPicPr>
          <p:cNvPr descr="Détection des virus par microscopie électronique : passé, présent et futur  - PDF Free Download" id="194" name="Google Shape;194;p14"/>
          <p:cNvPicPr preferRelativeResize="0"/>
          <p:nvPr/>
        </p:nvPicPr>
        <p:blipFill rotWithShape="1">
          <a:blip r:embed="rId6">
            <a:alphaModFix/>
          </a:blip>
          <a:srcRect b="0" l="0" r="0" t="0"/>
          <a:stretch/>
        </p:blipFill>
        <p:spPr>
          <a:xfrm>
            <a:off x="5105400" y="3668712"/>
            <a:ext cx="2014537" cy="2138362"/>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pic>
        <p:nvPicPr>
          <p:cNvPr id="199" name="Google Shape;199;p15"/>
          <p:cNvPicPr preferRelativeResize="0"/>
          <p:nvPr/>
        </p:nvPicPr>
        <p:blipFill rotWithShape="1">
          <a:blip r:embed="rId3">
            <a:alphaModFix/>
          </a:blip>
          <a:srcRect b="19656" l="58663" r="19751" t="39984"/>
          <a:stretch/>
        </p:blipFill>
        <p:spPr>
          <a:xfrm>
            <a:off x="5724525" y="58737"/>
            <a:ext cx="2808288" cy="3382961"/>
          </a:xfrm>
          <a:prstGeom prst="rect">
            <a:avLst/>
          </a:prstGeom>
          <a:noFill/>
          <a:ln>
            <a:noFill/>
          </a:ln>
        </p:spPr>
      </p:pic>
      <p:sp>
        <p:nvSpPr>
          <p:cNvPr id="200" name="Google Shape;200;p15"/>
          <p:cNvSpPr txBox="1"/>
          <p:nvPr/>
        </p:nvSpPr>
        <p:spPr>
          <a:xfrm>
            <a:off x="250825" y="260350"/>
            <a:ext cx="4240212"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Century Schoolbook"/>
              <a:buNone/>
            </a:pPr>
            <a:r>
              <a:rPr b="1" i="0" lang="en-US" sz="2000" u="none">
                <a:solidFill>
                  <a:schemeClr val="dk1"/>
                </a:solidFill>
                <a:latin typeface="Century Schoolbook"/>
                <a:ea typeface="Century Schoolbook"/>
                <a:cs typeface="Century Schoolbook"/>
                <a:sym typeface="Century Schoolbook"/>
              </a:rPr>
              <a:t>Virus à symétrie icosaédrique:</a:t>
            </a:r>
            <a:endParaRPr/>
          </a:p>
        </p:txBody>
      </p:sp>
      <p:sp>
        <p:nvSpPr>
          <p:cNvPr id="201" name="Google Shape;201;p15"/>
          <p:cNvSpPr txBox="1"/>
          <p:nvPr/>
        </p:nvSpPr>
        <p:spPr>
          <a:xfrm rot="311">
            <a:off x="5724528" y="4019770"/>
            <a:ext cx="3313200" cy="14775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1800"/>
              <a:buFont typeface="Calibri"/>
              <a:buNone/>
            </a:pPr>
            <a:r>
              <a:rPr b="0" i="0" lang="en-US" sz="1800" u="none">
                <a:solidFill>
                  <a:schemeClr val="dk1"/>
                </a:solidFill>
                <a:latin typeface="Calibri"/>
                <a:ea typeface="Calibri"/>
                <a:cs typeface="Calibri"/>
                <a:sym typeface="Calibri"/>
              </a:rPr>
              <a:t>l’icosaèdre est un  polyèdre régulier ayant trois axes de symétrie, 12 sommets, 20 faces qui sont des triangles équilaté-raux et 30 arêtes.</a:t>
            </a:r>
            <a:endParaRPr/>
          </a:p>
        </p:txBody>
      </p:sp>
      <p:pic>
        <p:nvPicPr>
          <p:cNvPr descr="Résultat de recherche d'images pour &quot;les adénovirus&quot;" id="202" name="Google Shape;202;p15"/>
          <p:cNvPicPr preferRelativeResize="0"/>
          <p:nvPr/>
        </p:nvPicPr>
        <p:blipFill rotWithShape="1">
          <a:blip r:embed="rId4">
            <a:alphaModFix/>
          </a:blip>
          <a:srcRect b="0" l="0" r="0" t="0"/>
          <a:stretch/>
        </p:blipFill>
        <p:spPr>
          <a:xfrm>
            <a:off x="0" y="2852737"/>
            <a:ext cx="2843212" cy="3506787"/>
          </a:xfrm>
          <a:prstGeom prst="rect">
            <a:avLst/>
          </a:prstGeom>
          <a:noFill/>
          <a:ln>
            <a:noFill/>
          </a:ln>
        </p:spPr>
      </p:pic>
      <p:sp>
        <p:nvSpPr>
          <p:cNvPr id="203" name="Google Shape;203;p15"/>
          <p:cNvSpPr txBox="1"/>
          <p:nvPr/>
        </p:nvSpPr>
        <p:spPr>
          <a:xfrm>
            <a:off x="107950" y="692150"/>
            <a:ext cx="5472000" cy="1006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2060"/>
              </a:buClr>
              <a:buSzPts val="1800"/>
              <a:buFont typeface="Calibri"/>
              <a:buNone/>
            </a:pPr>
            <a:r>
              <a:rPr b="0" i="0" lang="en-US" sz="1800" u="none">
                <a:solidFill>
                  <a:srgbClr val="002060"/>
                </a:solidFill>
                <a:latin typeface="Calibri"/>
                <a:ea typeface="Calibri"/>
                <a:cs typeface="Calibri"/>
                <a:sym typeface="Calibri"/>
              </a:rPr>
              <a:t>Les Adénovirus composent une famille d'une centaine de </a:t>
            </a:r>
            <a:r>
              <a:rPr b="0" i="0" lang="en-US" sz="1800" u="sng">
                <a:solidFill>
                  <a:srgbClr val="002060"/>
                </a:solidFill>
                <a:latin typeface="Arial"/>
                <a:ea typeface="Arial"/>
                <a:cs typeface="Arial"/>
                <a:sym typeface="Arial"/>
                <a:hlinkClick r:id="rId5">
                  <a:extLst>
                    <a:ext uri="{A12FA001-AC4F-418D-AE19-62706E023703}">
                      <ahyp:hlinkClr val="tx"/>
                    </a:ext>
                  </a:extLst>
                </a:hlinkClick>
              </a:rPr>
              <a:t>virus</a:t>
            </a:r>
            <a:r>
              <a:rPr b="0" i="0" lang="en-US" sz="1800" u="none">
                <a:solidFill>
                  <a:srgbClr val="002060"/>
                </a:solidFill>
                <a:latin typeface="Calibri"/>
                <a:ea typeface="Calibri"/>
                <a:cs typeface="Calibri"/>
                <a:sym typeface="Calibri"/>
              </a:rPr>
              <a:t> possédant de l'</a:t>
            </a:r>
            <a:r>
              <a:rPr b="0" i="0" lang="en-US" sz="1800" u="sng">
                <a:solidFill>
                  <a:srgbClr val="002060"/>
                </a:solidFill>
                <a:latin typeface="Arial"/>
                <a:ea typeface="Arial"/>
                <a:cs typeface="Arial"/>
                <a:sym typeface="Arial"/>
                <a:hlinkClick r:id="rId6">
                  <a:extLst>
                    <a:ext uri="{A12FA001-AC4F-418D-AE19-62706E023703}">
                      <ahyp:hlinkClr val="tx"/>
                    </a:ext>
                  </a:extLst>
                </a:hlinkClick>
              </a:rPr>
              <a:t>ADN</a:t>
            </a:r>
            <a:r>
              <a:rPr b="0" i="0" lang="en-US" sz="1800" u="none">
                <a:solidFill>
                  <a:srgbClr val="002060"/>
                </a:solidFill>
                <a:latin typeface="Calibri"/>
                <a:ea typeface="Calibri"/>
                <a:cs typeface="Calibri"/>
                <a:sym typeface="Calibri"/>
              </a:rPr>
              <a:t>Les Adénovirus composent une famille d'une centaine de virus possédant de l'ADN double brin linéaire. Parmi eux, une quarantaine de variétés peut infecter l'</a:t>
            </a:r>
            <a:r>
              <a:rPr b="0" i="0" lang="en-US" sz="1800" u="sng">
                <a:solidFill>
                  <a:srgbClr val="002060"/>
                </a:solidFill>
                <a:latin typeface="Arial"/>
                <a:ea typeface="Arial"/>
                <a:cs typeface="Arial"/>
                <a:sym typeface="Arial"/>
                <a:hlinkClick r:id="rId7">
                  <a:extLst>
                    <a:ext uri="{A12FA001-AC4F-418D-AE19-62706E023703}">
                      <ahyp:hlinkClr val="tx"/>
                    </a:ext>
                  </a:extLst>
                </a:hlinkClick>
              </a:rPr>
              <a:t>espèce</a:t>
            </a:r>
            <a:r>
              <a:rPr b="0" i="0" lang="en-US" sz="1800" u="none">
                <a:solidFill>
                  <a:srgbClr val="002060"/>
                </a:solidFill>
                <a:latin typeface="Calibri"/>
                <a:ea typeface="Calibri"/>
                <a:cs typeface="Calibri"/>
                <a:sym typeface="Calibri"/>
              </a:rPr>
              <a:t>Les Adénovirus composent une famille d'une centaine de virus possédant de l'ADN double brin linéaire. Parmi eux, une quarantaine de variétés peut infecter l'espèce humaine et causer des </a:t>
            </a:r>
            <a:r>
              <a:rPr b="0" i="0" lang="en-US" sz="1800" u="sng">
                <a:solidFill>
                  <a:srgbClr val="002060"/>
                </a:solidFill>
                <a:latin typeface="Arial"/>
                <a:ea typeface="Arial"/>
                <a:cs typeface="Arial"/>
                <a:sym typeface="Arial"/>
                <a:hlinkClick r:id="rId8">
                  <a:extLst>
                    <a:ext uri="{A12FA001-AC4F-418D-AE19-62706E023703}">
                      <ahyp:hlinkClr val="tx"/>
                    </a:ext>
                  </a:extLst>
                </a:hlinkClick>
              </a:rPr>
              <a:t>pathologies</a:t>
            </a:r>
            <a:r>
              <a:rPr b="0" i="0" lang="en-US" sz="1800" u="none">
                <a:solidFill>
                  <a:srgbClr val="002060"/>
                </a:solidFill>
                <a:latin typeface="Calibri"/>
                <a:ea typeface="Calibri"/>
                <a:cs typeface="Calibri"/>
                <a:sym typeface="Calibri"/>
              </a:rPr>
              <a:t>Les Adénovirus composent une famille d'une centaine de virus possédant de l'ADN double brin linéaire. Parmi eux, une quarantaine de variétés peut infecter l'espèce humaine et causer des pathologies principalement respiratoires (</a:t>
            </a:r>
            <a:r>
              <a:rPr b="0" i="0" lang="en-US" sz="1800" u="sng">
                <a:solidFill>
                  <a:srgbClr val="002060"/>
                </a:solidFill>
                <a:latin typeface="Arial"/>
                <a:ea typeface="Arial"/>
                <a:cs typeface="Arial"/>
                <a:sym typeface="Arial"/>
                <a:hlinkClick r:id="rId9">
                  <a:extLst>
                    <a:ext uri="{A12FA001-AC4F-418D-AE19-62706E023703}">
                      <ahyp:hlinkClr val="tx"/>
                    </a:ext>
                  </a:extLst>
                </a:hlinkClick>
              </a:rPr>
              <a:t>pharyngites</a:t>
            </a:r>
            <a:r>
              <a:rPr b="0" i="0" lang="en-US" sz="1800" u="none">
                <a:solidFill>
                  <a:srgbClr val="002060"/>
                </a:solidFill>
                <a:latin typeface="Calibri"/>
                <a:ea typeface="Calibri"/>
                <a:cs typeface="Calibri"/>
                <a:sym typeface="Calibri"/>
              </a:rPr>
              <a:t>Les Adénovirus composent une famille d'une centaine de virus possédant de l'ADN double brin linéaire. Parmi eux, une quarantaine de variétés peut infecter l'espèce humaine et causer des pathologies principalement respiratoires (pharyngites, </a:t>
            </a:r>
            <a:r>
              <a:rPr b="0" i="0" lang="en-US" sz="1800" u="sng">
                <a:solidFill>
                  <a:srgbClr val="002060"/>
                </a:solidFill>
                <a:latin typeface="Arial"/>
                <a:ea typeface="Arial"/>
                <a:cs typeface="Arial"/>
                <a:sym typeface="Arial"/>
                <a:hlinkClick r:id="rId10">
                  <a:extLst>
                    <a:ext uri="{A12FA001-AC4F-418D-AE19-62706E023703}">
                      <ahyp:hlinkClr val="tx"/>
                    </a:ext>
                  </a:extLst>
                </a:hlinkClick>
              </a:rPr>
              <a:t>pneumonies</a:t>
            </a:r>
            <a:r>
              <a:rPr b="0" i="0" lang="en-US" sz="1800" u="none">
                <a:solidFill>
                  <a:srgbClr val="002060"/>
                </a:solidFill>
                <a:latin typeface="Calibri"/>
                <a:ea typeface="Calibri"/>
                <a:cs typeface="Calibri"/>
                <a:sym typeface="Calibri"/>
              </a:rPr>
              <a:t>Les Adénovirus composent une famille d'une centaine de virus possédant de l'ADN double brin linéaire. Parmi eux, une quarantaine de variétés peut infecter l'espèce humaine et causer des pathologies principalement respiratoires (pharyngites, pneumonies), mais aussi </a:t>
            </a:r>
            <a:r>
              <a:rPr b="0" i="0" lang="en-US" sz="1800" u="sng">
                <a:solidFill>
                  <a:srgbClr val="002060"/>
                </a:solidFill>
                <a:latin typeface="Arial"/>
                <a:ea typeface="Arial"/>
                <a:cs typeface="Arial"/>
                <a:sym typeface="Arial"/>
                <a:hlinkClick r:id="rId11">
                  <a:extLst>
                    <a:ext uri="{A12FA001-AC4F-418D-AE19-62706E023703}">
                      <ahyp:hlinkClr val="tx"/>
                    </a:ext>
                  </a:extLst>
                </a:hlinkClick>
              </a:rPr>
              <a:t>oculaires</a:t>
            </a:r>
            <a:r>
              <a:rPr b="0" i="0" lang="en-US" sz="1800" u="none">
                <a:solidFill>
                  <a:srgbClr val="002060"/>
                </a:solidFill>
                <a:latin typeface="Calibri"/>
                <a:ea typeface="Calibri"/>
                <a:cs typeface="Calibri"/>
                <a:sym typeface="Calibri"/>
              </a:rPr>
              <a:t>Les Adénovirus composent une famille d'une centaine de virus possédant de l'ADN double brin linéaire. Parmi eux, une quarantaine de variétés peut infecter l'espèce humaine et causer des pathologies principalement respiratoires (pharyngites, pneumonies), mais aussi oculaires (</a:t>
            </a:r>
            <a:r>
              <a:rPr b="0" i="0" lang="en-US" sz="1800" u="sng">
                <a:solidFill>
                  <a:srgbClr val="002060"/>
                </a:solidFill>
                <a:latin typeface="Arial"/>
                <a:ea typeface="Arial"/>
                <a:cs typeface="Arial"/>
                <a:sym typeface="Arial"/>
                <a:hlinkClick r:id="rId12">
                  <a:extLst>
                    <a:ext uri="{A12FA001-AC4F-418D-AE19-62706E023703}">
                      <ahyp:hlinkClr val="tx"/>
                    </a:ext>
                  </a:extLst>
                </a:hlinkClick>
              </a:rPr>
              <a:t>conjonctivite</a:t>
            </a:r>
            <a:r>
              <a:rPr b="0" i="0" lang="en-US" sz="1800" u="none">
                <a:solidFill>
                  <a:srgbClr val="002060"/>
                </a:solidFill>
                <a:latin typeface="Calibri"/>
                <a:ea typeface="Calibri"/>
                <a:cs typeface="Calibri"/>
                <a:sym typeface="Calibri"/>
              </a:rPr>
              <a:t>Les Adénovirus composent une famille d'une centaine de virus possédant de l'ADN double brin linéaire. Parmi eux, une quarantaine de variétés peut infecter l'espèce humaine et causer des pathologies principalement respiratoires (pharyngites, pneumonies), mais aussi oculaires (conjonctivite) et dans certains cas digestives (</a:t>
            </a:r>
            <a:r>
              <a:rPr b="0" i="0" lang="en-US" sz="1800" u="sng">
                <a:solidFill>
                  <a:srgbClr val="002060"/>
                </a:solidFill>
                <a:latin typeface="Arial"/>
                <a:ea typeface="Arial"/>
                <a:cs typeface="Arial"/>
                <a:sym typeface="Arial"/>
                <a:hlinkClick r:id="rId13">
                  <a:extLst>
                    <a:ext uri="{A12FA001-AC4F-418D-AE19-62706E023703}">
                      <ahyp:hlinkClr val="tx"/>
                    </a:ext>
                  </a:extLst>
                </a:hlinkClick>
              </a:rPr>
              <a:t>gastroentérites</a:t>
            </a:r>
            <a:r>
              <a:rPr b="0" i="0" lang="en-US" sz="1800" u="none">
                <a:solidFill>
                  <a:srgbClr val="002060"/>
                </a:solidFill>
                <a:latin typeface="Calibri"/>
                <a:ea typeface="Calibri"/>
                <a:cs typeface="Calibri"/>
                <a:sym typeface="Calibri"/>
              </a:rPr>
              <a:t> chez l'enfant).</a:t>
            </a:r>
            <a:endParaRPr/>
          </a:p>
        </p:txBody>
      </p:sp>
      <p:pic>
        <p:nvPicPr>
          <p:cNvPr descr="Longs de 60 à 90 nm, les adénovirus (vus ici au microscope électronique à transmission) sont très répandus dans la nature et causent des pathologies le plus souvent bénignes. © Centers for Diease Contro and Prevention, Wikipédia, DP" id="204" name="Google Shape;204;p15"/>
          <p:cNvPicPr preferRelativeResize="0"/>
          <p:nvPr/>
        </p:nvPicPr>
        <p:blipFill rotWithShape="1">
          <a:blip r:embed="rId14">
            <a:alphaModFix/>
          </a:blip>
          <a:srcRect b="0" l="0" r="0" t="0"/>
          <a:stretch/>
        </p:blipFill>
        <p:spPr>
          <a:xfrm>
            <a:off x="2729250" y="3028937"/>
            <a:ext cx="2735262" cy="333057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16"/>
          <p:cNvSpPr txBox="1"/>
          <p:nvPr/>
        </p:nvSpPr>
        <p:spPr>
          <a:xfrm>
            <a:off x="220662" y="974725"/>
            <a:ext cx="3200400" cy="339725"/>
          </a:xfrm>
          <a:prstGeom prst="rect">
            <a:avLst/>
          </a:prstGeom>
          <a:solidFill>
            <a:srgbClr val="DCE6F2"/>
          </a:solidFill>
          <a:ln cap="flat" cmpd="sng" w="25400">
            <a:solidFill>
              <a:srgbClr val="DCE6F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imes New Roman"/>
              <a:buNone/>
            </a:pPr>
            <a:r>
              <a:rPr b="1" i="0" lang="en-US" sz="1800" u="none">
                <a:solidFill>
                  <a:schemeClr val="dk1"/>
                </a:solidFill>
                <a:latin typeface="Times New Roman"/>
                <a:ea typeface="Times New Roman"/>
                <a:cs typeface="Times New Roman"/>
                <a:sym typeface="Times New Roman"/>
              </a:rPr>
              <a:t>B/Capside de forme complexe </a:t>
            </a:r>
            <a:endParaRPr/>
          </a:p>
        </p:txBody>
      </p:sp>
      <p:pic>
        <p:nvPicPr>
          <p:cNvPr descr="UCLOUVAIN FDP Virologie" id="210" name="Google Shape;210;p16"/>
          <p:cNvPicPr preferRelativeResize="0"/>
          <p:nvPr/>
        </p:nvPicPr>
        <p:blipFill rotWithShape="1">
          <a:blip r:embed="rId3">
            <a:alphaModFix/>
          </a:blip>
          <a:srcRect b="0" l="0" r="0" t="0"/>
          <a:stretch/>
        </p:blipFill>
        <p:spPr>
          <a:xfrm>
            <a:off x="4113212" y="1887537"/>
            <a:ext cx="3176587" cy="3138487"/>
          </a:xfrm>
          <a:prstGeom prst="rect">
            <a:avLst/>
          </a:prstGeom>
          <a:noFill/>
          <a:ln>
            <a:noFill/>
          </a:ln>
        </p:spPr>
      </p:pic>
      <p:sp>
        <p:nvSpPr>
          <p:cNvPr id="211" name="Google Shape;211;p16"/>
          <p:cNvSpPr txBox="1"/>
          <p:nvPr/>
        </p:nvSpPr>
        <p:spPr>
          <a:xfrm>
            <a:off x="4622800" y="5149850"/>
            <a:ext cx="1709737" cy="439737"/>
          </a:xfrm>
          <a:prstGeom prst="rect">
            <a:avLst/>
          </a:prstGeom>
          <a:solidFill>
            <a:srgbClr val="DCE6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500"/>
              <a:buFont typeface="Times New Roman"/>
              <a:buNone/>
            </a:pPr>
            <a:r>
              <a:rPr b="1" i="0" lang="en-US" sz="1500" u="none">
                <a:solidFill>
                  <a:schemeClr val="dk1"/>
                </a:solidFill>
                <a:latin typeface="Times New Roman"/>
                <a:ea typeface="Times New Roman"/>
                <a:cs typeface="Times New Roman"/>
                <a:sym typeface="Times New Roman"/>
              </a:rPr>
              <a:t>Bactériophage T4</a:t>
            </a:r>
            <a:endParaRPr/>
          </a:p>
        </p:txBody>
      </p:sp>
      <p:pic>
        <p:nvPicPr>
          <p:cNvPr descr="Bactériophages, virus des bactéries - Virus et maladies virales - RECHERCHE  - Institut Pasteur" id="212" name="Google Shape;212;p16"/>
          <p:cNvPicPr preferRelativeResize="0"/>
          <p:nvPr/>
        </p:nvPicPr>
        <p:blipFill rotWithShape="1">
          <a:blip r:embed="rId4">
            <a:alphaModFix/>
          </a:blip>
          <a:srcRect b="0" l="0" r="0" t="0"/>
          <a:stretch/>
        </p:blipFill>
        <p:spPr>
          <a:xfrm>
            <a:off x="1041400" y="2482850"/>
            <a:ext cx="2811462" cy="2252662"/>
          </a:xfrm>
          <a:prstGeom prst="rect">
            <a:avLst/>
          </a:prstGeom>
          <a:noFill/>
          <a:ln>
            <a:noFill/>
          </a:ln>
        </p:spPr>
      </p:pic>
      <p:sp>
        <p:nvSpPr>
          <p:cNvPr id="213" name="Google Shape;213;p16"/>
          <p:cNvSpPr txBox="1"/>
          <p:nvPr/>
        </p:nvSpPr>
        <p:spPr>
          <a:xfrm>
            <a:off x="1338262" y="4852987"/>
            <a:ext cx="2301875" cy="365125"/>
          </a:xfrm>
          <a:prstGeom prst="rect">
            <a:avLst/>
          </a:prstGeom>
          <a:solidFill>
            <a:srgbClr val="DCE6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rPr b="0" i="0" lang="en-US" sz="1800" u="none">
                <a:solidFill>
                  <a:schemeClr val="dk1"/>
                </a:solidFill>
                <a:latin typeface="Calibri"/>
                <a:ea typeface="Calibri"/>
                <a:cs typeface="Calibri"/>
                <a:sym typeface="Calibri"/>
              </a:rPr>
              <a:t>Image en ME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17"/>
          <p:cNvSpPr txBox="1"/>
          <p:nvPr/>
        </p:nvSpPr>
        <p:spPr>
          <a:xfrm>
            <a:off x="71437" y="0"/>
            <a:ext cx="8964612" cy="1816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Century Schoolbook"/>
              <a:buNone/>
            </a:pPr>
            <a:r>
              <a:rPr b="1" i="0" lang="en-US" sz="2000" u="none">
                <a:solidFill>
                  <a:schemeClr val="dk1"/>
                </a:solidFill>
                <a:latin typeface="Century Schoolbook"/>
                <a:ea typeface="Century Schoolbook"/>
                <a:cs typeface="Century Schoolbook"/>
                <a:sym typeface="Century Schoolbook"/>
              </a:rPr>
              <a:t>Virus à architecture complexe:</a:t>
            </a:r>
            <a:endParaRPr/>
          </a:p>
          <a:p>
            <a:pPr indent="0" lvl="0" marL="0" marR="0" rtl="0" algn="l">
              <a:lnSpc>
                <a:spcPct val="100000"/>
              </a:lnSpc>
              <a:spcBef>
                <a:spcPts val="0"/>
              </a:spcBef>
              <a:spcAft>
                <a:spcPts val="0"/>
              </a:spcAft>
              <a:buClr>
                <a:schemeClr val="dk1"/>
              </a:buClr>
              <a:buSzPts val="2000"/>
              <a:buFont typeface="Century Schoolbook"/>
              <a:buNone/>
            </a:pPr>
            <a:r>
              <a:rPr b="1" i="0" lang="en-US" sz="2000" u="none">
                <a:solidFill>
                  <a:schemeClr val="dk1"/>
                </a:solidFill>
                <a:latin typeface="Century Schoolbook"/>
                <a:ea typeface="Century Schoolbook"/>
                <a:cs typeface="Century Schoolbook"/>
                <a:sym typeface="Century Schoolbook"/>
              </a:rPr>
              <a:t> </a:t>
            </a:r>
            <a:endParaRPr/>
          </a:p>
          <a:p>
            <a:pPr indent="0" lvl="0" marL="0" marR="0" rtl="0" algn="just">
              <a:lnSpc>
                <a:spcPct val="100000"/>
              </a:lnSpc>
              <a:spcBef>
                <a:spcPts val="0"/>
              </a:spcBef>
              <a:spcAft>
                <a:spcPts val="0"/>
              </a:spcAft>
              <a:buClr>
                <a:schemeClr val="dk1"/>
              </a:buClr>
              <a:buSzPts val="1800"/>
              <a:buFont typeface="Century Schoolbook"/>
              <a:buNone/>
            </a:pPr>
            <a:r>
              <a:rPr b="0" i="0" lang="en-US" sz="1800" u="none">
                <a:solidFill>
                  <a:schemeClr val="dk1"/>
                </a:solidFill>
                <a:latin typeface="Century Schoolbook"/>
                <a:ea typeface="Century Schoolbook"/>
                <a:cs typeface="Century Schoolbook"/>
                <a:sym typeface="Century Schoolbook"/>
              </a:rPr>
              <a:t>Un certain nombre de virus élaborent leur capside d’une manière qui ne correspond pas aux standards hélicoïdaux ou icosaédriques. </a:t>
            </a:r>
            <a:endParaRPr/>
          </a:p>
          <a:p>
            <a:pPr indent="0" lvl="0" marL="0" marR="0" rtl="0" algn="just">
              <a:lnSpc>
                <a:spcPct val="100000"/>
              </a:lnSpc>
              <a:spcBef>
                <a:spcPts val="0"/>
              </a:spcBef>
              <a:spcAft>
                <a:spcPts val="0"/>
              </a:spcAft>
              <a:buClr>
                <a:schemeClr val="dk1"/>
              </a:buClr>
              <a:buSzPts val="1800"/>
              <a:buFont typeface="Century Schoolbook"/>
              <a:buNone/>
            </a:pPr>
            <a:r>
              <a:rPr b="0" i="0" lang="en-US" sz="1800" u="none">
                <a:solidFill>
                  <a:schemeClr val="dk1"/>
                </a:solidFill>
                <a:latin typeface="Century Schoolbook"/>
                <a:ea typeface="Century Schoolbook"/>
                <a:cs typeface="Century Schoolbook"/>
                <a:sym typeface="Century Schoolbook"/>
              </a:rPr>
              <a:t>Par exemple, les phages de la série t montrent une structure de nature binaire, impliquant à la fois des éléments de nature hélicoïdale et icosaédrique.</a:t>
            </a:r>
            <a:endParaRPr/>
          </a:p>
        </p:txBody>
      </p:sp>
      <p:pic>
        <p:nvPicPr>
          <p:cNvPr id="219" name="Google Shape;219;p17"/>
          <p:cNvPicPr preferRelativeResize="0"/>
          <p:nvPr/>
        </p:nvPicPr>
        <p:blipFill rotWithShape="1">
          <a:blip r:embed="rId3">
            <a:alphaModFix/>
          </a:blip>
          <a:srcRect b="6250" l="20750" r="43138" t="26202"/>
          <a:stretch/>
        </p:blipFill>
        <p:spPr>
          <a:xfrm>
            <a:off x="5148262" y="1916112"/>
            <a:ext cx="3744912" cy="4941887"/>
          </a:xfrm>
          <a:prstGeom prst="rect">
            <a:avLst/>
          </a:prstGeom>
          <a:noFill/>
          <a:ln>
            <a:noFill/>
          </a:ln>
        </p:spPr>
      </p:pic>
      <p:sp>
        <p:nvSpPr>
          <p:cNvPr id="220" name="Google Shape;220;p17"/>
          <p:cNvSpPr txBox="1"/>
          <p:nvPr/>
        </p:nvSpPr>
        <p:spPr>
          <a:xfrm>
            <a:off x="71437" y="1844675"/>
            <a:ext cx="4572000" cy="17541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rPr b="0" i="0" lang="en-US" sz="1800" u="none">
                <a:solidFill>
                  <a:schemeClr val="dk1"/>
                </a:solidFill>
                <a:latin typeface="Calibri"/>
                <a:ea typeface="Calibri"/>
                <a:cs typeface="Calibri"/>
                <a:sym typeface="Calibri"/>
              </a:rPr>
              <a:t>Le bactériophage T4 est un virus a ADN double brin.</a:t>
            </a:r>
            <a:endParaRPr/>
          </a:p>
          <a:p>
            <a:pPr indent="-114300" lvl="0" marL="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Calibri"/>
                <a:ea typeface="Calibri"/>
                <a:cs typeface="Calibri"/>
                <a:sym typeface="Calibri"/>
              </a:rPr>
              <a:t> Il attaque E. coli (il est même utilisé en thérapie).</a:t>
            </a:r>
            <a:endParaRPr/>
          </a:p>
          <a:p>
            <a:pPr indent="-114300" lvl="0" marL="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Calibri"/>
                <a:ea typeface="Calibri"/>
                <a:cs typeface="Calibri"/>
                <a:sym typeface="Calibri"/>
              </a:rPr>
              <a:t> Il est de la famille des Myoviridae.</a:t>
            </a:r>
            <a:endParaRPr/>
          </a:p>
          <a:p>
            <a:pPr indent="-114300" lvl="0" marL="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Calibri"/>
                <a:ea typeface="Calibri"/>
                <a:cs typeface="Calibri"/>
                <a:sym typeface="Calibri"/>
              </a:rPr>
              <a:t>Il est petit et mesure environ 150 nm.</a:t>
            </a:r>
            <a:endParaRPr/>
          </a:p>
        </p:txBody>
      </p:sp>
      <p:pic>
        <p:nvPicPr>
          <p:cNvPr descr="Enterobacteria Phage T4 Greeting Card featuring the photograph Bacteriophage T4, Artwork by Russell Kightley" id="221" name="Google Shape;221;p17"/>
          <p:cNvPicPr preferRelativeResize="0"/>
          <p:nvPr/>
        </p:nvPicPr>
        <p:blipFill rotWithShape="1">
          <a:blip r:embed="rId4">
            <a:alphaModFix/>
          </a:blip>
          <a:srcRect b="0" l="0" r="0" t="0"/>
          <a:stretch/>
        </p:blipFill>
        <p:spPr>
          <a:xfrm>
            <a:off x="1835150" y="3644900"/>
            <a:ext cx="3024187" cy="2989262"/>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18"/>
          <p:cNvSpPr txBox="1"/>
          <p:nvPr/>
        </p:nvSpPr>
        <p:spPr>
          <a:xfrm>
            <a:off x="107950" y="44450"/>
            <a:ext cx="9036050" cy="32004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Century Schoolbook"/>
              <a:buNone/>
            </a:pPr>
            <a:r>
              <a:rPr b="1" i="0" lang="en-US" sz="2000" u="none">
                <a:solidFill>
                  <a:schemeClr val="dk1"/>
                </a:solidFill>
                <a:latin typeface="Century Schoolbook"/>
                <a:ea typeface="Century Schoolbook"/>
                <a:cs typeface="Century Schoolbook"/>
                <a:sym typeface="Century Schoolbook"/>
              </a:rPr>
              <a:t>Classification des virus:</a:t>
            </a:r>
            <a:endParaRPr/>
          </a:p>
          <a:p>
            <a:pPr indent="0" lvl="0" marL="0" marR="0" rtl="0" algn="l">
              <a:lnSpc>
                <a:spcPct val="100000"/>
              </a:lnSpc>
              <a:spcBef>
                <a:spcPts val="0"/>
              </a:spcBef>
              <a:spcAft>
                <a:spcPts val="0"/>
              </a:spcAft>
              <a:buClr>
                <a:schemeClr val="dk1"/>
              </a:buClr>
              <a:buSzPts val="2000"/>
              <a:buFont typeface="Arial"/>
              <a:buNone/>
            </a:pPr>
            <a:r>
              <a:t/>
            </a:r>
            <a:endParaRPr b="0" i="0" sz="2000" u="none">
              <a:solidFill>
                <a:schemeClr val="dk1"/>
              </a:solidFill>
              <a:latin typeface="Century Schoolbook"/>
              <a:ea typeface="Century Schoolbook"/>
              <a:cs typeface="Century Schoolbook"/>
              <a:sym typeface="Century Schoolbook"/>
            </a:endParaRPr>
          </a:p>
          <a:p>
            <a:pPr indent="0" lvl="0" marL="0" marR="0" rtl="0" algn="l">
              <a:lnSpc>
                <a:spcPct val="100000"/>
              </a:lnSpc>
              <a:spcBef>
                <a:spcPts val="0"/>
              </a:spcBef>
              <a:spcAft>
                <a:spcPts val="0"/>
              </a:spcAft>
              <a:buClr>
                <a:schemeClr val="dk1"/>
              </a:buClr>
              <a:buSzPts val="1800"/>
              <a:buFont typeface="Century Schoolbook"/>
              <a:buNone/>
            </a:pPr>
            <a:r>
              <a:rPr b="0" i="0" lang="en-US" sz="1800" u="none">
                <a:solidFill>
                  <a:schemeClr val="dk1"/>
                </a:solidFill>
                <a:latin typeface="Century Schoolbook"/>
                <a:ea typeface="Century Schoolbook"/>
                <a:cs typeface="Century Schoolbook"/>
                <a:sym typeface="Century Schoolbook"/>
              </a:rPr>
              <a:t>La classification des virus a été établie depuis 1962 par Lwoff, Horne et Tournier et tient compte des caractéristiques des virus. Quatre critères sont retenus pour cette classification :</a:t>
            </a:r>
            <a:endParaRPr/>
          </a:p>
          <a:p>
            <a:pPr indent="-114300" lvl="0" marL="0" marR="0" rtl="0" algn="l">
              <a:lnSpc>
                <a:spcPct val="100000"/>
              </a:lnSpc>
              <a:spcBef>
                <a:spcPts val="0"/>
              </a:spcBef>
              <a:spcAft>
                <a:spcPts val="0"/>
              </a:spcAft>
              <a:buClr>
                <a:schemeClr val="dk1"/>
              </a:buClr>
              <a:buSzPts val="1800"/>
              <a:buFont typeface="Century Schoolbook"/>
              <a:buChar char="•"/>
            </a:pPr>
            <a:r>
              <a:rPr b="0" i="0" lang="en-US" sz="1800" u="none">
                <a:solidFill>
                  <a:schemeClr val="dk1"/>
                </a:solidFill>
                <a:latin typeface="Century Schoolbook"/>
                <a:ea typeface="Century Schoolbook"/>
                <a:cs typeface="Century Schoolbook"/>
                <a:sym typeface="Century Schoolbook"/>
              </a:rPr>
              <a:t>Nature de l'acide nucléique viral : ADN ou ARN </a:t>
            </a:r>
            <a:endParaRPr/>
          </a:p>
          <a:p>
            <a:pPr indent="-114300" lvl="0" marL="0" marR="0" rtl="0" algn="l">
              <a:lnSpc>
                <a:spcPct val="100000"/>
              </a:lnSpc>
              <a:spcBef>
                <a:spcPts val="0"/>
              </a:spcBef>
              <a:spcAft>
                <a:spcPts val="0"/>
              </a:spcAft>
              <a:buClr>
                <a:schemeClr val="dk1"/>
              </a:buClr>
              <a:buSzPts val="1800"/>
              <a:buFont typeface="Century Schoolbook"/>
              <a:buChar char="•"/>
            </a:pPr>
            <a:r>
              <a:rPr b="0" i="0" lang="en-US" sz="1800" u="none">
                <a:solidFill>
                  <a:schemeClr val="dk1"/>
                </a:solidFill>
                <a:latin typeface="Century Schoolbook"/>
                <a:ea typeface="Century Schoolbook"/>
                <a:cs typeface="Century Schoolbook"/>
                <a:sym typeface="Century Schoolbook"/>
              </a:rPr>
              <a:t>Symétrie de la capside : cubique ou hélicoïdale </a:t>
            </a:r>
            <a:endParaRPr/>
          </a:p>
          <a:p>
            <a:pPr indent="-114300" lvl="0" marL="0" marR="0" rtl="0" algn="l">
              <a:lnSpc>
                <a:spcPct val="100000"/>
              </a:lnSpc>
              <a:spcBef>
                <a:spcPts val="0"/>
              </a:spcBef>
              <a:spcAft>
                <a:spcPts val="0"/>
              </a:spcAft>
              <a:buClr>
                <a:schemeClr val="dk1"/>
              </a:buClr>
              <a:buSzPts val="1800"/>
              <a:buFont typeface="Century Schoolbook"/>
              <a:buChar char="•"/>
            </a:pPr>
            <a:r>
              <a:rPr b="0" i="0" lang="en-US" sz="1800" u="none">
                <a:solidFill>
                  <a:schemeClr val="dk1"/>
                </a:solidFill>
                <a:latin typeface="Century Schoolbook"/>
                <a:ea typeface="Century Schoolbook"/>
                <a:cs typeface="Century Schoolbook"/>
                <a:sym typeface="Century Schoolbook"/>
              </a:rPr>
              <a:t>Présence ou non d'enveloppe ce qui permet de distinguer les virus nus et ceux enveloppés. </a:t>
            </a:r>
            <a:endParaRPr/>
          </a:p>
          <a:p>
            <a:pPr indent="-114300" lvl="0" marL="0" marR="0" rtl="0" algn="l">
              <a:lnSpc>
                <a:spcPct val="100000"/>
              </a:lnSpc>
              <a:spcBef>
                <a:spcPts val="0"/>
              </a:spcBef>
              <a:spcAft>
                <a:spcPts val="0"/>
              </a:spcAft>
              <a:buClr>
                <a:schemeClr val="dk1"/>
              </a:buClr>
              <a:buSzPts val="1800"/>
              <a:buFont typeface="Century Schoolbook"/>
              <a:buChar char="•"/>
            </a:pPr>
            <a:r>
              <a:rPr b="0" i="0" lang="en-US" sz="1800" u="none">
                <a:solidFill>
                  <a:schemeClr val="dk1"/>
                </a:solidFill>
                <a:latin typeface="Century Schoolbook"/>
                <a:ea typeface="Century Schoolbook"/>
                <a:cs typeface="Century Schoolbook"/>
                <a:sym typeface="Century Schoolbook"/>
              </a:rPr>
              <a:t>Nombre de capsomères pour les virus à symétrie icosaédrique et diamètre de la nucléocapside pour les virus à symétrie hélicoïdale</a:t>
            </a:r>
            <a:r>
              <a:rPr b="0" i="0" lang="en-US" sz="1200" u="none">
                <a:solidFill>
                  <a:schemeClr val="dk1"/>
                </a:solidFill>
                <a:latin typeface="Arial"/>
                <a:ea typeface="Arial"/>
                <a:cs typeface="Arial"/>
                <a:sym typeface="Arial"/>
              </a:rPr>
              <a:t>.</a:t>
            </a:r>
            <a:endParaRPr/>
          </a:p>
        </p:txBody>
      </p:sp>
      <p:graphicFrame>
        <p:nvGraphicFramePr>
          <p:cNvPr id="227" name="Google Shape;227;p18"/>
          <p:cNvGraphicFramePr/>
          <p:nvPr/>
        </p:nvGraphicFramePr>
        <p:xfrm>
          <a:off x="539750" y="3325812"/>
          <a:ext cx="3000000" cy="3000000"/>
        </p:xfrm>
        <a:graphic>
          <a:graphicData uri="http://schemas.openxmlformats.org/drawingml/2006/table">
            <a:tbl>
              <a:tblPr>
                <a:noFill/>
                <a:tableStyleId>{1196501A-A4E7-42B6-AAF0-4F4881D05891}</a:tableStyleId>
              </a:tblPr>
              <a:tblGrid>
                <a:gridCol w="2903525"/>
                <a:gridCol w="2511425"/>
                <a:gridCol w="2649525"/>
              </a:tblGrid>
              <a:tr h="420675">
                <a:tc>
                  <a:txBody>
                    <a:bodyPr/>
                    <a:lstStyle/>
                    <a:p>
                      <a:pPr indent="0" lvl="0" marL="0" marR="0" rtl="0" algn="ctr">
                        <a:lnSpc>
                          <a:spcPct val="115000"/>
                        </a:lnSpc>
                        <a:spcBef>
                          <a:spcPts val="0"/>
                        </a:spcBef>
                        <a:spcAft>
                          <a:spcPts val="0"/>
                        </a:spcAft>
                        <a:buClr>
                          <a:schemeClr val="dk1"/>
                        </a:buClr>
                        <a:buSzPts val="1200"/>
                        <a:buFont typeface="Century Schoolbook"/>
                        <a:buNone/>
                      </a:pPr>
                      <a:r>
                        <a:rPr b="1" i="0" lang="en-US" sz="1200" u="none" cap="none" strike="noStrike">
                          <a:solidFill>
                            <a:schemeClr val="dk1"/>
                          </a:solidFill>
                          <a:latin typeface="Century Schoolbook"/>
                          <a:ea typeface="Century Schoolbook"/>
                          <a:cs typeface="Century Schoolbook"/>
                          <a:sym typeface="Century Schoolbook"/>
                        </a:rPr>
                        <a:t>1 - LE GENOME</a:t>
                      </a:r>
                      <a:endParaRPr/>
                    </a:p>
                  </a:txBody>
                  <a:tcPr marT="0" marB="0" marR="0" marL="0" anchor="ctr">
                    <a:solidFill>
                      <a:srgbClr val="FFCCFF"/>
                    </a:solidFill>
                  </a:tcPr>
                </a:tc>
                <a:tc>
                  <a:txBody>
                    <a:bodyPr/>
                    <a:lstStyle/>
                    <a:p>
                      <a:pPr indent="0" lvl="0" marL="0" marR="0" rtl="0" algn="ctr">
                        <a:lnSpc>
                          <a:spcPct val="115000"/>
                        </a:lnSpc>
                        <a:spcBef>
                          <a:spcPts val="0"/>
                        </a:spcBef>
                        <a:spcAft>
                          <a:spcPts val="0"/>
                        </a:spcAft>
                        <a:buClr>
                          <a:schemeClr val="dk1"/>
                        </a:buClr>
                        <a:buSzPts val="1200"/>
                        <a:buFont typeface="Century Schoolbook"/>
                        <a:buNone/>
                      </a:pPr>
                      <a:r>
                        <a:rPr b="1" i="0" lang="en-US" sz="1200" u="none" cap="none" strike="noStrike">
                          <a:solidFill>
                            <a:schemeClr val="dk1"/>
                          </a:solidFill>
                          <a:latin typeface="Century Schoolbook"/>
                          <a:ea typeface="Century Schoolbook"/>
                          <a:cs typeface="Century Schoolbook"/>
                          <a:sym typeface="Century Schoolbook"/>
                        </a:rPr>
                        <a:t>2 - L'ENVELOPPE</a:t>
                      </a:r>
                      <a:endParaRPr/>
                    </a:p>
                  </a:txBody>
                  <a:tcPr marT="0" marB="0" marR="0" marL="0" anchor="ctr">
                    <a:solidFill>
                      <a:srgbClr val="FFCCFF"/>
                    </a:solidFill>
                  </a:tcPr>
                </a:tc>
                <a:tc>
                  <a:txBody>
                    <a:bodyPr/>
                    <a:lstStyle/>
                    <a:p>
                      <a:pPr indent="0" lvl="0" marL="0" marR="0" rtl="0" algn="ctr">
                        <a:lnSpc>
                          <a:spcPct val="115000"/>
                        </a:lnSpc>
                        <a:spcBef>
                          <a:spcPts val="0"/>
                        </a:spcBef>
                        <a:spcAft>
                          <a:spcPts val="0"/>
                        </a:spcAft>
                        <a:buClr>
                          <a:schemeClr val="dk1"/>
                        </a:buClr>
                        <a:buSzPts val="1200"/>
                        <a:buFont typeface="Century Schoolbook"/>
                        <a:buNone/>
                      </a:pPr>
                      <a:r>
                        <a:rPr b="1" i="0" lang="en-US" sz="1200" u="none" cap="none" strike="noStrike">
                          <a:solidFill>
                            <a:schemeClr val="dk1"/>
                          </a:solidFill>
                          <a:latin typeface="Century Schoolbook"/>
                          <a:ea typeface="Century Schoolbook"/>
                          <a:cs typeface="Century Schoolbook"/>
                          <a:sym typeface="Century Schoolbook"/>
                        </a:rPr>
                        <a:t>3 - LA SYMETRIE DE LA CAPSIDE</a:t>
                      </a:r>
                      <a:endParaRPr/>
                    </a:p>
                  </a:txBody>
                  <a:tcPr marT="0" marB="0" marR="0" marL="0" anchor="ctr">
                    <a:solidFill>
                      <a:srgbClr val="FFCCFF"/>
                    </a:solidFill>
                  </a:tcPr>
                </a:tc>
              </a:tr>
              <a:tr h="2312975">
                <a:tc>
                  <a:txBody>
                    <a:bodyPr/>
                    <a:lstStyle/>
                    <a:p>
                      <a:pPr indent="0" lvl="0" marL="0" marR="0" rtl="0" algn="l">
                        <a:lnSpc>
                          <a:spcPct val="115000"/>
                        </a:lnSpc>
                        <a:spcBef>
                          <a:spcPts val="0"/>
                        </a:spcBef>
                        <a:spcAft>
                          <a:spcPts val="0"/>
                        </a:spcAft>
                        <a:buClr>
                          <a:schemeClr val="dk1"/>
                        </a:buClr>
                        <a:buSzPts val="1200"/>
                        <a:buFont typeface="Century Schoolbook"/>
                        <a:buNone/>
                      </a:pPr>
                      <a:r>
                        <a:rPr b="1" i="0" lang="en-US" sz="1200" u="sng" cap="none" strike="noStrike">
                          <a:solidFill>
                            <a:schemeClr val="dk1"/>
                          </a:solidFill>
                          <a:latin typeface="Century Schoolbook"/>
                          <a:ea typeface="Century Schoolbook"/>
                          <a:cs typeface="Century Schoolbook"/>
                          <a:sym typeface="Century Schoolbook"/>
                        </a:rPr>
                        <a:t>1° - la nature du matériel génétique</a:t>
                      </a:r>
                      <a:endParaRPr b="0" i="0" sz="1200" u="none" cap="none" strike="noStrike">
                        <a:solidFill>
                          <a:schemeClr val="dk1"/>
                        </a:solidFill>
                        <a:latin typeface="Century Schoolbook"/>
                        <a:ea typeface="Century Schoolbook"/>
                        <a:cs typeface="Century Schoolbook"/>
                        <a:sym typeface="Century Schoolbook"/>
                      </a:endParaRPr>
                    </a:p>
                    <a:p>
                      <a:pPr indent="0" lvl="0" marL="0" marR="0" rtl="0" algn="l">
                        <a:lnSpc>
                          <a:spcPct val="115000"/>
                        </a:lnSpc>
                        <a:spcBef>
                          <a:spcPts val="0"/>
                        </a:spcBef>
                        <a:spcAft>
                          <a:spcPts val="0"/>
                        </a:spcAft>
                        <a:buClr>
                          <a:schemeClr val="dk1"/>
                        </a:buClr>
                        <a:buSzPts val="1200"/>
                        <a:buFont typeface="Century Schoolbook"/>
                        <a:buNone/>
                      </a:pPr>
                      <a:r>
                        <a:rPr b="0" i="0" lang="en-US" sz="1200" u="none" cap="none" strike="noStrike">
                          <a:solidFill>
                            <a:schemeClr val="dk1"/>
                          </a:solidFill>
                          <a:latin typeface="Century Schoolbook"/>
                          <a:ea typeface="Century Schoolbook"/>
                          <a:cs typeface="Century Schoolbook"/>
                          <a:sym typeface="Century Schoolbook"/>
                        </a:rPr>
                        <a:t>- ADN</a:t>
                      </a:r>
                      <a:endParaRPr b="0" i="0" sz="1200" u="none" cap="none" strike="noStrike">
                        <a:solidFill>
                          <a:schemeClr val="dk1"/>
                        </a:solidFill>
                        <a:latin typeface="Century Schoolbook"/>
                        <a:ea typeface="Century Schoolbook"/>
                        <a:cs typeface="Century Schoolbook"/>
                        <a:sym typeface="Century Schoolbook"/>
                      </a:endParaRPr>
                    </a:p>
                    <a:p>
                      <a:pPr indent="0" lvl="0" marL="0" marR="0" rtl="0" algn="l">
                        <a:lnSpc>
                          <a:spcPct val="115000"/>
                        </a:lnSpc>
                        <a:spcBef>
                          <a:spcPts val="0"/>
                        </a:spcBef>
                        <a:spcAft>
                          <a:spcPts val="0"/>
                        </a:spcAft>
                        <a:buClr>
                          <a:schemeClr val="dk1"/>
                        </a:buClr>
                        <a:buSzPts val="1200"/>
                        <a:buFont typeface="Century Schoolbook"/>
                        <a:buNone/>
                      </a:pPr>
                      <a:r>
                        <a:rPr b="0" i="0" lang="en-US" sz="1200" u="none" cap="none" strike="noStrike">
                          <a:solidFill>
                            <a:schemeClr val="dk1"/>
                          </a:solidFill>
                          <a:latin typeface="Century Schoolbook"/>
                          <a:ea typeface="Century Schoolbook"/>
                          <a:cs typeface="Century Schoolbook"/>
                          <a:sym typeface="Century Schoolbook"/>
                        </a:rPr>
                        <a:t>- ARN</a:t>
                      </a:r>
                      <a:endParaRPr b="0" i="0" sz="1200" u="none" cap="none" strike="noStrike">
                        <a:solidFill>
                          <a:schemeClr val="dk1"/>
                        </a:solidFill>
                        <a:latin typeface="Century Schoolbook"/>
                        <a:ea typeface="Century Schoolbook"/>
                        <a:cs typeface="Century Schoolbook"/>
                        <a:sym typeface="Century Schoolbook"/>
                      </a:endParaRPr>
                    </a:p>
                    <a:p>
                      <a:pPr indent="0" lvl="0" marL="0" marR="0" rtl="0" algn="l">
                        <a:lnSpc>
                          <a:spcPct val="115000"/>
                        </a:lnSpc>
                        <a:spcBef>
                          <a:spcPts val="0"/>
                        </a:spcBef>
                        <a:spcAft>
                          <a:spcPts val="0"/>
                        </a:spcAft>
                        <a:buClr>
                          <a:schemeClr val="dk1"/>
                        </a:buClr>
                        <a:buSzPts val="1200"/>
                        <a:buFont typeface="Century Schoolbook"/>
                        <a:buNone/>
                      </a:pPr>
                      <a:r>
                        <a:rPr b="1" i="0" lang="en-US" sz="1200" u="sng" cap="none" strike="noStrike">
                          <a:solidFill>
                            <a:schemeClr val="dk1"/>
                          </a:solidFill>
                          <a:latin typeface="Century Schoolbook"/>
                          <a:ea typeface="Century Schoolbook"/>
                          <a:cs typeface="Century Schoolbook"/>
                          <a:sym typeface="Century Schoolbook"/>
                        </a:rPr>
                        <a:t>2° - la structure de l'acide nucléique</a:t>
                      </a:r>
                      <a:endParaRPr b="0" i="0" sz="1200" u="none" cap="none" strike="noStrike">
                        <a:solidFill>
                          <a:schemeClr val="dk1"/>
                        </a:solidFill>
                        <a:latin typeface="Century Schoolbook"/>
                        <a:ea typeface="Century Schoolbook"/>
                        <a:cs typeface="Century Schoolbook"/>
                        <a:sym typeface="Century Schoolbook"/>
                      </a:endParaRPr>
                    </a:p>
                    <a:p>
                      <a:pPr indent="0" lvl="0" marL="0" marR="0" rtl="0" algn="l">
                        <a:lnSpc>
                          <a:spcPct val="115000"/>
                        </a:lnSpc>
                        <a:spcBef>
                          <a:spcPts val="0"/>
                        </a:spcBef>
                        <a:spcAft>
                          <a:spcPts val="0"/>
                        </a:spcAft>
                        <a:buClr>
                          <a:schemeClr val="dk1"/>
                        </a:buClr>
                        <a:buSzPts val="1200"/>
                        <a:buFont typeface="Century Schoolbook"/>
                        <a:buNone/>
                      </a:pPr>
                      <a:r>
                        <a:rPr b="0" i="0" lang="en-US" sz="1200" u="none" cap="none" strike="noStrike">
                          <a:solidFill>
                            <a:schemeClr val="dk1"/>
                          </a:solidFill>
                          <a:latin typeface="Century Schoolbook"/>
                          <a:ea typeface="Century Schoolbook"/>
                          <a:cs typeface="Century Schoolbook"/>
                          <a:sym typeface="Century Schoolbook"/>
                        </a:rPr>
                        <a:t>- monocaténaire</a:t>
                      </a:r>
                      <a:endParaRPr b="0" i="0" sz="1200" u="none" cap="none" strike="noStrike">
                        <a:solidFill>
                          <a:schemeClr val="dk1"/>
                        </a:solidFill>
                        <a:latin typeface="Century Schoolbook"/>
                        <a:ea typeface="Century Schoolbook"/>
                        <a:cs typeface="Century Schoolbook"/>
                        <a:sym typeface="Century Schoolbook"/>
                      </a:endParaRPr>
                    </a:p>
                    <a:p>
                      <a:pPr indent="0" lvl="0" marL="0" marR="0" rtl="0" algn="l">
                        <a:lnSpc>
                          <a:spcPct val="115000"/>
                        </a:lnSpc>
                        <a:spcBef>
                          <a:spcPts val="0"/>
                        </a:spcBef>
                        <a:spcAft>
                          <a:spcPts val="0"/>
                        </a:spcAft>
                        <a:buClr>
                          <a:schemeClr val="dk1"/>
                        </a:buClr>
                        <a:buSzPts val="1200"/>
                        <a:buFont typeface="Century Schoolbook"/>
                        <a:buNone/>
                      </a:pPr>
                      <a:r>
                        <a:rPr b="0" i="0" lang="en-US" sz="1200" u="none" cap="none" strike="noStrike">
                          <a:solidFill>
                            <a:schemeClr val="dk1"/>
                          </a:solidFill>
                          <a:latin typeface="Century Schoolbook"/>
                          <a:ea typeface="Century Schoolbook"/>
                          <a:cs typeface="Century Schoolbook"/>
                          <a:sym typeface="Century Schoolbook"/>
                        </a:rPr>
                        <a:t>- bicaténaire</a:t>
                      </a:r>
                      <a:endParaRPr b="0" i="0" sz="1200" u="none" cap="none" strike="noStrike">
                        <a:solidFill>
                          <a:schemeClr val="dk1"/>
                        </a:solidFill>
                        <a:latin typeface="Century Schoolbook"/>
                        <a:ea typeface="Century Schoolbook"/>
                        <a:cs typeface="Century Schoolbook"/>
                        <a:sym typeface="Century Schoolbook"/>
                      </a:endParaRPr>
                    </a:p>
                    <a:p>
                      <a:pPr indent="0" lvl="0" marL="0" marR="0" rtl="0" algn="l">
                        <a:lnSpc>
                          <a:spcPct val="115000"/>
                        </a:lnSpc>
                        <a:spcBef>
                          <a:spcPts val="0"/>
                        </a:spcBef>
                        <a:spcAft>
                          <a:spcPts val="0"/>
                        </a:spcAft>
                        <a:buClr>
                          <a:schemeClr val="dk1"/>
                        </a:buClr>
                        <a:buSzPts val="1200"/>
                        <a:buFont typeface="Century Schoolbook"/>
                        <a:buNone/>
                      </a:pPr>
                      <a:r>
                        <a:rPr b="1" i="0" lang="en-US" sz="1200" u="sng" cap="none" strike="noStrike">
                          <a:solidFill>
                            <a:schemeClr val="dk1"/>
                          </a:solidFill>
                          <a:latin typeface="Century Schoolbook"/>
                          <a:ea typeface="Century Schoolbook"/>
                          <a:cs typeface="Century Schoolbook"/>
                          <a:sym typeface="Century Schoolbook"/>
                        </a:rPr>
                        <a:t>3° - la forme de l'acide nucléique</a:t>
                      </a:r>
                      <a:endParaRPr b="0" i="0" sz="1200" u="none" cap="none" strike="noStrike">
                        <a:solidFill>
                          <a:schemeClr val="dk1"/>
                        </a:solidFill>
                        <a:latin typeface="Century Schoolbook"/>
                        <a:ea typeface="Century Schoolbook"/>
                        <a:cs typeface="Century Schoolbook"/>
                        <a:sym typeface="Century Schoolbook"/>
                      </a:endParaRPr>
                    </a:p>
                    <a:p>
                      <a:pPr indent="0" lvl="0" marL="0" marR="0" rtl="0" algn="l">
                        <a:lnSpc>
                          <a:spcPct val="115000"/>
                        </a:lnSpc>
                        <a:spcBef>
                          <a:spcPts val="0"/>
                        </a:spcBef>
                        <a:spcAft>
                          <a:spcPts val="0"/>
                        </a:spcAft>
                        <a:buClr>
                          <a:schemeClr val="dk1"/>
                        </a:buClr>
                        <a:buSzPts val="1200"/>
                        <a:buFont typeface="Century Schoolbook"/>
                        <a:buNone/>
                      </a:pPr>
                      <a:r>
                        <a:rPr b="0" i="0" lang="en-US" sz="1200" u="none" cap="none" strike="noStrike">
                          <a:solidFill>
                            <a:schemeClr val="dk1"/>
                          </a:solidFill>
                          <a:latin typeface="Century Schoolbook"/>
                          <a:ea typeface="Century Schoolbook"/>
                          <a:cs typeface="Century Schoolbook"/>
                          <a:sym typeface="Century Schoolbook"/>
                        </a:rPr>
                        <a:t>- linéaire</a:t>
                      </a:r>
                      <a:endParaRPr b="0" i="0" sz="1200" u="none" cap="none" strike="noStrike">
                        <a:solidFill>
                          <a:schemeClr val="dk1"/>
                        </a:solidFill>
                        <a:latin typeface="Century Schoolbook"/>
                        <a:ea typeface="Century Schoolbook"/>
                        <a:cs typeface="Century Schoolbook"/>
                        <a:sym typeface="Century Schoolbook"/>
                      </a:endParaRPr>
                    </a:p>
                    <a:p>
                      <a:pPr indent="0" lvl="0" marL="0" marR="0" rtl="0" algn="l">
                        <a:lnSpc>
                          <a:spcPct val="115000"/>
                        </a:lnSpc>
                        <a:spcBef>
                          <a:spcPts val="0"/>
                        </a:spcBef>
                        <a:spcAft>
                          <a:spcPts val="0"/>
                        </a:spcAft>
                        <a:buClr>
                          <a:schemeClr val="dk1"/>
                        </a:buClr>
                        <a:buSzPts val="1200"/>
                        <a:buFont typeface="Century Schoolbook"/>
                        <a:buNone/>
                      </a:pPr>
                      <a:r>
                        <a:rPr b="0" i="0" lang="en-US" sz="1200" u="none" cap="none" strike="noStrike">
                          <a:solidFill>
                            <a:schemeClr val="dk1"/>
                          </a:solidFill>
                          <a:latin typeface="Century Schoolbook"/>
                          <a:ea typeface="Century Schoolbook"/>
                          <a:cs typeface="Century Schoolbook"/>
                          <a:sym typeface="Century Schoolbook"/>
                        </a:rPr>
                        <a:t>- circulaire</a:t>
                      </a:r>
                      <a:endParaRPr b="0" i="0" sz="1200" u="none" cap="none" strike="noStrike">
                        <a:solidFill>
                          <a:schemeClr val="dk1"/>
                        </a:solidFill>
                        <a:latin typeface="Century Schoolbook"/>
                        <a:ea typeface="Century Schoolbook"/>
                        <a:cs typeface="Century Schoolbook"/>
                        <a:sym typeface="Century Schoolbook"/>
                      </a:endParaRPr>
                    </a:p>
                    <a:p>
                      <a:pPr indent="0" lvl="0" marL="0" marR="0" rtl="0" algn="l">
                        <a:lnSpc>
                          <a:spcPct val="115000"/>
                        </a:lnSpc>
                        <a:spcBef>
                          <a:spcPts val="0"/>
                        </a:spcBef>
                        <a:spcAft>
                          <a:spcPts val="0"/>
                        </a:spcAft>
                        <a:buClr>
                          <a:schemeClr val="dk1"/>
                        </a:buClr>
                        <a:buSzPts val="1200"/>
                        <a:buFont typeface="Century Schoolbook"/>
                        <a:buNone/>
                      </a:pPr>
                      <a:r>
                        <a:rPr b="0" i="0" lang="en-US" sz="1200" u="none" cap="none" strike="noStrike">
                          <a:solidFill>
                            <a:schemeClr val="dk1"/>
                          </a:solidFill>
                          <a:latin typeface="Century Schoolbook"/>
                          <a:ea typeface="Century Schoolbook"/>
                          <a:cs typeface="Century Schoolbook"/>
                          <a:sym typeface="Century Schoolbook"/>
                        </a:rPr>
                        <a:t>- non segmenté</a:t>
                      </a:r>
                      <a:endParaRPr b="0" i="0" sz="1200" u="none" cap="none" strike="noStrike">
                        <a:solidFill>
                          <a:schemeClr val="dk1"/>
                        </a:solidFill>
                        <a:latin typeface="Century Schoolbook"/>
                        <a:ea typeface="Century Schoolbook"/>
                        <a:cs typeface="Century Schoolbook"/>
                        <a:sym typeface="Century Schoolbook"/>
                      </a:endParaRPr>
                    </a:p>
                    <a:p>
                      <a:pPr indent="0" lvl="0" marL="0" marR="0" rtl="0" algn="l">
                        <a:lnSpc>
                          <a:spcPct val="115000"/>
                        </a:lnSpc>
                        <a:spcBef>
                          <a:spcPts val="0"/>
                        </a:spcBef>
                        <a:spcAft>
                          <a:spcPts val="0"/>
                        </a:spcAft>
                        <a:buClr>
                          <a:schemeClr val="dk1"/>
                        </a:buClr>
                        <a:buSzPts val="1200"/>
                        <a:buFont typeface="Century Schoolbook"/>
                        <a:buNone/>
                      </a:pPr>
                      <a:r>
                        <a:rPr b="0" i="0" lang="en-US" sz="1200" u="none" cap="none" strike="noStrike">
                          <a:solidFill>
                            <a:schemeClr val="dk1"/>
                          </a:solidFill>
                          <a:latin typeface="Century Schoolbook"/>
                          <a:ea typeface="Century Schoolbook"/>
                          <a:cs typeface="Century Schoolbook"/>
                          <a:sym typeface="Century Schoolbook"/>
                        </a:rPr>
                        <a:t>- segmenté</a:t>
                      </a:r>
                      <a:endParaRPr/>
                    </a:p>
                  </a:txBody>
                  <a:tcPr marT="0" marB="0" marR="0" marL="0" anchor="ctr"/>
                </a:tc>
                <a:tc>
                  <a:txBody>
                    <a:bodyPr/>
                    <a:lstStyle/>
                    <a:p>
                      <a:pPr indent="0" lvl="0" marL="252411" marR="0" rtl="0" algn="l">
                        <a:lnSpc>
                          <a:spcPct val="115000"/>
                        </a:lnSpc>
                        <a:spcBef>
                          <a:spcPts val="0"/>
                        </a:spcBef>
                        <a:spcAft>
                          <a:spcPts val="0"/>
                        </a:spcAft>
                        <a:buClr>
                          <a:schemeClr val="dk1"/>
                        </a:buClr>
                        <a:buSzPts val="1200"/>
                        <a:buFont typeface="Century Schoolbook"/>
                        <a:buNone/>
                      </a:pPr>
                      <a:r>
                        <a:rPr b="0" i="0" lang="en-US" sz="1200" u="none" cap="none" strike="noStrike">
                          <a:solidFill>
                            <a:schemeClr val="dk1"/>
                          </a:solidFill>
                          <a:latin typeface="Century Schoolbook"/>
                          <a:ea typeface="Century Schoolbook"/>
                          <a:cs typeface="Century Schoolbook"/>
                          <a:sym typeface="Century Schoolbook"/>
                        </a:rPr>
                        <a:t>- virus nus (N)</a:t>
                      </a:r>
                      <a:endParaRPr b="0" i="0" sz="1200" u="none" cap="none" strike="noStrike">
                        <a:solidFill>
                          <a:schemeClr val="dk1"/>
                        </a:solidFill>
                        <a:latin typeface="Century Schoolbook"/>
                        <a:ea typeface="Century Schoolbook"/>
                        <a:cs typeface="Century Schoolbook"/>
                        <a:sym typeface="Century Schoolbook"/>
                      </a:endParaRPr>
                    </a:p>
                    <a:p>
                      <a:pPr indent="0" lvl="0" marL="252411" marR="0" rtl="0" algn="l">
                        <a:lnSpc>
                          <a:spcPct val="115000"/>
                        </a:lnSpc>
                        <a:spcBef>
                          <a:spcPts val="0"/>
                        </a:spcBef>
                        <a:spcAft>
                          <a:spcPts val="0"/>
                        </a:spcAft>
                        <a:buClr>
                          <a:schemeClr val="dk1"/>
                        </a:buClr>
                        <a:buSzPts val="1200"/>
                        <a:buFont typeface="Century Schoolbook"/>
                        <a:buNone/>
                      </a:pPr>
                      <a:r>
                        <a:rPr b="0" i="0" lang="en-US" sz="1200" u="none" cap="none" strike="noStrike">
                          <a:solidFill>
                            <a:schemeClr val="dk1"/>
                          </a:solidFill>
                          <a:latin typeface="Century Schoolbook"/>
                          <a:ea typeface="Century Schoolbook"/>
                          <a:cs typeface="Century Schoolbook"/>
                          <a:sym typeface="Century Schoolbook"/>
                        </a:rPr>
                        <a:t> </a:t>
                      </a:r>
                      <a:endParaRPr b="0" i="0" sz="1200" u="none" cap="none" strike="noStrike">
                        <a:solidFill>
                          <a:schemeClr val="dk1"/>
                        </a:solidFill>
                        <a:latin typeface="Century Schoolbook"/>
                        <a:ea typeface="Century Schoolbook"/>
                        <a:cs typeface="Century Schoolbook"/>
                        <a:sym typeface="Century Schoolbook"/>
                      </a:endParaRPr>
                    </a:p>
                    <a:p>
                      <a:pPr indent="0" lvl="0" marL="252411" marR="0" rtl="0" algn="l">
                        <a:lnSpc>
                          <a:spcPct val="115000"/>
                        </a:lnSpc>
                        <a:spcBef>
                          <a:spcPts val="0"/>
                        </a:spcBef>
                        <a:spcAft>
                          <a:spcPts val="0"/>
                        </a:spcAft>
                        <a:buClr>
                          <a:schemeClr val="dk1"/>
                        </a:buClr>
                        <a:buSzPts val="1200"/>
                        <a:buFont typeface="Century Schoolbook"/>
                        <a:buNone/>
                      </a:pPr>
                      <a:r>
                        <a:rPr b="0" i="0" lang="en-US" sz="1200" u="none" cap="none" strike="noStrike">
                          <a:solidFill>
                            <a:schemeClr val="dk1"/>
                          </a:solidFill>
                          <a:latin typeface="Century Schoolbook"/>
                          <a:ea typeface="Century Schoolbook"/>
                          <a:cs typeface="Century Schoolbook"/>
                          <a:sym typeface="Century Schoolbook"/>
                        </a:rPr>
                        <a:t> </a:t>
                      </a:r>
                      <a:endParaRPr b="0" i="0" sz="1200" u="none" cap="none" strike="noStrike">
                        <a:solidFill>
                          <a:schemeClr val="dk1"/>
                        </a:solidFill>
                        <a:latin typeface="Century Schoolbook"/>
                        <a:ea typeface="Century Schoolbook"/>
                        <a:cs typeface="Century Schoolbook"/>
                        <a:sym typeface="Century Schoolbook"/>
                      </a:endParaRPr>
                    </a:p>
                    <a:p>
                      <a:pPr indent="0" lvl="0" marL="252411" marR="0" rtl="0" algn="l">
                        <a:lnSpc>
                          <a:spcPct val="115000"/>
                        </a:lnSpc>
                        <a:spcBef>
                          <a:spcPts val="0"/>
                        </a:spcBef>
                        <a:spcAft>
                          <a:spcPts val="0"/>
                        </a:spcAft>
                        <a:buClr>
                          <a:schemeClr val="dk1"/>
                        </a:buClr>
                        <a:buSzPts val="1200"/>
                        <a:buFont typeface="Century Schoolbook"/>
                        <a:buNone/>
                      </a:pPr>
                      <a:r>
                        <a:rPr b="0" i="0" lang="en-US" sz="1200" u="none" cap="none" strike="noStrike">
                          <a:solidFill>
                            <a:schemeClr val="dk1"/>
                          </a:solidFill>
                          <a:latin typeface="Century Schoolbook"/>
                          <a:ea typeface="Century Schoolbook"/>
                          <a:cs typeface="Century Schoolbook"/>
                          <a:sym typeface="Century Schoolbook"/>
                        </a:rPr>
                        <a:t> </a:t>
                      </a:r>
                      <a:endParaRPr b="0" i="0" sz="1200" u="none" cap="none" strike="noStrike">
                        <a:solidFill>
                          <a:schemeClr val="dk1"/>
                        </a:solidFill>
                        <a:latin typeface="Century Schoolbook"/>
                        <a:ea typeface="Century Schoolbook"/>
                        <a:cs typeface="Century Schoolbook"/>
                        <a:sym typeface="Century Schoolbook"/>
                      </a:endParaRPr>
                    </a:p>
                    <a:p>
                      <a:pPr indent="0" lvl="0" marL="252411" marR="0" rtl="0" algn="l">
                        <a:lnSpc>
                          <a:spcPct val="115000"/>
                        </a:lnSpc>
                        <a:spcBef>
                          <a:spcPts val="0"/>
                        </a:spcBef>
                        <a:spcAft>
                          <a:spcPts val="0"/>
                        </a:spcAft>
                        <a:buClr>
                          <a:schemeClr val="dk1"/>
                        </a:buClr>
                        <a:buSzPts val="1200"/>
                        <a:buFont typeface="Century Schoolbook"/>
                        <a:buNone/>
                      </a:pPr>
                      <a:r>
                        <a:rPr b="0" i="0" lang="en-US" sz="1200" u="none" cap="none" strike="noStrike">
                          <a:solidFill>
                            <a:schemeClr val="dk1"/>
                          </a:solidFill>
                          <a:latin typeface="Century Schoolbook"/>
                          <a:ea typeface="Century Schoolbook"/>
                          <a:cs typeface="Century Schoolbook"/>
                          <a:sym typeface="Century Schoolbook"/>
                        </a:rPr>
                        <a:t> </a:t>
                      </a:r>
                      <a:endParaRPr b="0" i="0" sz="1200" u="none" cap="none" strike="noStrike">
                        <a:solidFill>
                          <a:schemeClr val="dk1"/>
                        </a:solidFill>
                        <a:latin typeface="Century Schoolbook"/>
                        <a:ea typeface="Century Schoolbook"/>
                        <a:cs typeface="Century Schoolbook"/>
                        <a:sym typeface="Century Schoolbook"/>
                      </a:endParaRPr>
                    </a:p>
                    <a:p>
                      <a:pPr indent="0" lvl="0" marL="252411" marR="0" rtl="0" algn="l">
                        <a:lnSpc>
                          <a:spcPct val="115000"/>
                        </a:lnSpc>
                        <a:spcBef>
                          <a:spcPts val="0"/>
                        </a:spcBef>
                        <a:spcAft>
                          <a:spcPts val="0"/>
                        </a:spcAft>
                        <a:buClr>
                          <a:schemeClr val="dk1"/>
                        </a:buClr>
                        <a:buSzPts val="1200"/>
                        <a:buFont typeface="Century Schoolbook"/>
                        <a:buNone/>
                      </a:pPr>
                      <a:r>
                        <a:rPr b="0" i="0" lang="en-US" sz="1200" u="none" cap="none" strike="noStrike">
                          <a:solidFill>
                            <a:schemeClr val="dk1"/>
                          </a:solidFill>
                          <a:latin typeface="Century Schoolbook"/>
                          <a:ea typeface="Century Schoolbook"/>
                          <a:cs typeface="Century Schoolbook"/>
                          <a:sym typeface="Century Schoolbook"/>
                        </a:rPr>
                        <a:t> </a:t>
                      </a:r>
                      <a:endParaRPr b="0" i="0" sz="1200" u="none" cap="none" strike="noStrike">
                        <a:solidFill>
                          <a:schemeClr val="dk1"/>
                        </a:solidFill>
                        <a:latin typeface="Century Schoolbook"/>
                        <a:ea typeface="Century Schoolbook"/>
                        <a:cs typeface="Century Schoolbook"/>
                        <a:sym typeface="Century Schoolbook"/>
                      </a:endParaRPr>
                    </a:p>
                    <a:p>
                      <a:pPr indent="0" lvl="0" marL="252411" marR="0" rtl="0" algn="l">
                        <a:lnSpc>
                          <a:spcPct val="115000"/>
                        </a:lnSpc>
                        <a:spcBef>
                          <a:spcPts val="0"/>
                        </a:spcBef>
                        <a:spcAft>
                          <a:spcPts val="0"/>
                        </a:spcAft>
                        <a:buClr>
                          <a:schemeClr val="dk1"/>
                        </a:buClr>
                        <a:buSzPts val="1200"/>
                        <a:buFont typeface="Century Schoolbook"/>
                        <a:buNone/>
                      </a:pPr>
                      <a:r>
                        <a:rPr b="0" i="0" lang="en-US" sz="1200" u="none" cap="none" strike="noStrike">
                          <a:solidFill>
                            <a:schemeClr val="dk1"/>
                          </a:solidFill>
                          <a:latin typeface="Century Schoolbook"/>
                          <a:ea typeface="Century Schoolbook"/>
                          <a:cs typeface="Century Schoolbook"/>
                          <a:sym typeface="Century Schoolbook"/>
                        </a:rPr>
                        <a:t> </a:t>
                      </a:r>
                      <a:endParaRPr b="0" i="0" sz="1200" u="none" cap="none" strike="noStrike">
                        <a:solidFill>
                          <a:schemeClr val="dk1"/>
                        </a:solidFill>
                        <a:latin typeface="Century Schoolbook"/>
                        <a:ea typeface="Century Schoolbook"/>
                        <a:cs typeface="Century Schoolbook"/>
                        <a:sym typeface="Century Schoolbook"/>
                      </a:endParaRPr>
                    </a:p>
                    <a:p>
                      <a:pPr indent="0" lvl="0" marL="252411" marR="0" rtl="0" algn="l">
                        <a:lnSpc>
                          <a:spcPct val="115000"/>
                        </a:lnSpc>
                        <a:spcBef>
                          <a:spcPts val="0"/>
                        </a:spcBef>
                        <a:spcAft>
                          <a:spcPts val="0"/>
                        </a:spcAft>
                        <a:buClr>
                          <a:schemeClr val="dk1"/>
                        </a:buClr>
                        <a:buSzPts val="1200"/>
                        <a:buFont typeface="Century Schoolbook"/>
                        <a:buNone/>
                      </a:pPr>
                      <a:r>
                        <a:rPr b="0" i="0" lang="en-US" sz="1200" u="none" cap="none" strike="noStrike">
                          <a:solidFill>
                            <a:schemeClr val="dk1"/>
                          </a:solidFill>
                          <a:latin typeface="Century Schoolbook"/>
                          <a:ea typeface="Century Schoolbook"/>
                          <a:cs typeface="Century Schoolbook"/>
                          <a:sym typeface="Century Schoolbook"/>
                        </a:rPr>
                        <a:t> </a:t>
                      </a:r>
                      <a:endParaRPr b="0" i="0" sz="1200" u="none" cap="none" strike="noStrike">
                        <a:solidFill>
                          <a:schemeClr val="dk1"/>
                        </a:solidFill>
                        <a:latin typeface="Century Schoolbook"/>
                        <a:ea typeface="Century Schoolbook"/>
                        <a:cs typeface="Century Schoolbook"/>
                        <a:sym typeface="Century Schoolbook"/>
                      </a:endParaRPr>
                    </a:p>
                    <a:p>
                      <a:pPr indent="0" lvl="0" marL="252411" marR="0" rtl="0" algn="l">
                        <a:lnSpc>
                          <a:spcPct val="115000"/>
                        </a:lnSpc>
                        <a:spcBef>
                          <a:spcPts val="0"/>
                        </a:spcBef>
                        <a:spcAft>
                          <a:spcPts val="0"/>
                        </a:spcAft>
                        <a:buClr>
                          <a:schemeClr val="dk1"/>
                        </a:buClr>
                        <a:buSzPts val="1200"/>
                        <a:buFont typeface="Century Schoolbook"/>
                        <a:buNone/>
                      </a:pPr>
                      <a:r>
                        <a:rPr b="0" i="0" lang="en-US" sz="1200" u="none" cap="none" strike="noStrike">
                          <a:solidFill>
                            <a:schemeClr val="dk1"/>
                          </a:solidFill>
                          <a:latin typeface="Century Schoolbook"/>
                          <a:ea typeface="Century Schoolbook"/>
                          <a:cs typeface="Century Schoolbook"/>
                          <a:sym typeface="Century Schoolbook"/>
                        </a:rPr>
                        <a:t>- virus enveloppés (E)</a:t>
                      </a:r>
                      <a:endParaRPr b="0" i="0" sz="1200" u="none" cap="none" strike="noStrike">
                        <a:solidFill>
                          <a:schemeClr val="dk1"/>
                        </a:solidFill>
                        <a:latin typeface="Century Schoolbook"/>
                        <a:ea typeface="Century Schoolbook"/>
                        <a:cs typeface="Century Schoolbook"/>
                        <a:sym typeface="Century Schoolbook"/>
                      </a:endParaRPr>
                    </a:p>
                    <a:p>
                      <a:pPr indent="0" lvl="0" marL="252411" marR="0" rtl="0" algn="l">
                        <a:lnSpc>
                          <a:spcPct val="115000"/>
                        </a:lnSpc>
                        <a:spcBef>
                          <a:spcPts val="0"/>
                        </a:spcBef>
                        <a:spcAft>
                          <a:spcPts val="0"/>
                        </a:spcAft>
                        <a:buClr>
                          <a:schemeClr val="dk1"/>
                        </a:buClr>
                        <a:buSzPts val="1200"/>
                        <a:buFont typeface="Century Schoolbook"/>
                        <a:buNone/>
                      </a:pPr>
                      <a:r>
                        <a:rPr b="0" i="0" lang="en-US" sz="1200" u="none" cap="none" strike="noStrike">
                          <a:solidFill>
                            <a:schemeClr val="dk1"/>
                          </a:solidFill>
                          <a:latin typeface="Century Schoolbook"/>
                          <a:ea typeface="Century Schoolbook"/>
                          <a:cs typeface="Century Schoolbook"/>
                          <a:sym typeface="Century Schoolbook"/>
                        </a:rPr>
                        <a:t> </a:t>
                      </a:r>
                      <a:endParaRPr/>
                    </a:p>
                  </a:txBody>
                  <a:tcPr marT="0" marB="0" marR="0" marL="0" anchor="ctr"/>
                </a:tc>
                <a:tc>
                  <a:txBody>
                    <a:bodyPr/>
                    <a:lstStyle/>
                    <a:p>
                      <a:pPr indent="0" lvl="0" marL="146050" marR="0" rtl="0" algn="l">
                        <a:lnSpc>
                          <a:spcPct val="115000"/>
                        </a:lnSpc>
                        <a:spcBef>
                          <a:spcPts val="0"/>
                        </a:spcBef>
                        <a:spcAft>
                          <a:spcPts val="0"/>
                        </a:spcAft>
                        <a:buClr>
                          <a:schemeClr val="dk1"/>
                        </a:buClr>
                        <a:buSzPts val="1200"/>
                        <a:buFont typeface="Century Schoolbook"/>
                        <a:buNone/>
                      </a:pPr>
                      <a:r>
                        <a:rPr b="0" i="0" lang="en-US" sz="1200" u="none" cap="none" strike="noStrike">
                          <a:solidFill>
                            <a:schemeClr val="dk1"/>
                          </a:solidFill>
                          <a:latin typeface="Century Schoolbook"/>
                          <a:ea typeface="Century Schoolbook"/>
                          <a:cs typeface="Century Schoolbook"/>
                          <a:sym typeface="Century Schoolbook"/>
                        </a:rPr>
                        <a:t>- symétrie hélicoïdale (H)</a:t>
                      </a:r>
                      <a:endParaRPr b="0" i="0" sz="1200" u="none" cap="none" strike="noStrike">
                        <a:solidFill>
                          <a:schemeClr val="dk1"/>
                        </a:solidFill>
                        <a:latin typeface="Century Schoolbook"/>
                        <a:ea typeface="Century Schoolbook"/>
                        <a:cs typeface="Century Schoolbook"/>
                        <a:sym typeface="Century Schoolbook"/>
                      </a:endParaRPr>
                    </a:p>
                    <a:p>
                      <a:pPr indent="0" lvl="0" marL="146050" marR="0" rtl="0" algn="l">
                        <a:lnSpc>
                          <a:spcPct val="115000"/>
                        </a:lnSpc>
                        <a:spcBef>
                          <a:spcPts val="0"/>
                        </a:spcBef>
                        <a:spcAft>
                          <a:spcPts val="0"/>
                        </a:spcAft>
                        <a:buClr>
                          <a:schemeClr val="dk1"/>
                        </a:buClr>
                        <a:buSzPts val="1200"/>
                        <a:buFont typeface="Century Schoolbook"/>
                        <a:buNone/>
                      </a:pPr>
                      <a:r>
                        <a:rPr b="0" i="0" lang="en-US" sz="1200" u="none" cap="none" strike="noStrike">
                          <a:solidFill>
                            <a:schemeClr val="dk1"/>
                          </a:solidFill>
                          <a:latin typeface="Century Schoolbook"/>
                          <a:ea typeface="Century Schoolbook"/>
                          <a:cs typeface="Century Schoolbook"/>
                          <a:sym typeface="Century Schoolbook"/>
                        </a:rPr>
                        <a:t> </a:t>
                      </a:r>
                      <a:endParaRPr b="0" i="0" sz="1200" u="none" cap="none" strike="noStrike">
                        <a:solidFill>
                          <a:schemeClr val="dk1"/>
                        </a:solidFill>
                        <a:latin typeface="Century Schoolbook"/>
                        <a:ea typeface="Century Schoolbook"/>
                        <a:cs typeface="Century Schoolbook"/>
                        <a:sym typeface="Century Schoolbook"/>
                      </a:endParaRPr>
                    </a:p>
                    <a:p>
                      <a:pPr indent="0" lvl="0" marL="146050" marR="0" rtl="0" algn="l">
                        <a:lnSpc>
                          <a:spcPct val="115000"/>
                        </a:lnSpc>
                        <a:spcBef>
                          <a:spcPts val="0"/>
                        </a:spcBef>
                        <a:spcAft>
                          <a:spcPts val="0"/>
                        </a:spcAft>
                        <a:buClr>
                          <a:schemeClr val="dk1"/>
                        </a:buClr>
                        <a:buSzPts val="1200"/>
                        <a:buFont typeface="Century Schoolbook"/>
                        <a:buNone/>
                      </a:pPr>
                      <a:r>
                        <a:rPr b="0" i="0" lang="en-US" sz="1200" u="none" cap="none" strike="noStrike">
                          <a:solidFill>
                            <a:schemeClr val="dk1"/>
                          </a:solidFill>
                          <a:latin typeface="Century Schoolbook"/>
                          <a:ea typeface="Century Schoolbook"/>
                          <a:cs typeface="Century Schoolbook"/>
                          <a:sym typeface="Century Schoolbook"/>
                        </a:rPr>
                        <a:t> </a:t>
                      </a:r>
                      <a:endParaRPr b="0" i="0" sz="1200" u="none" cap="none" strike="noStrike">
                        <a:solidFill>
                          <a:schemeClr val="dk1"/>
                        </a:solidFill>
                        <a:latin typeface="Century Schoolbook"/>
                        <a:ea typeface="Century Schoolbook"/>
                        <a:cs typeface="Century Schoolbook"/>
                        <a:sym typeface="Century Schoolbook"/>
                      </a:endParaRPr>
                    </a:p>
                    <a:p>
                      <a:pPr indent="0" lvl="0" marL="146050" marR="0" rtl="0" algn="l">
                        <a:lnSpc>
                          <a:spcPct val="115000"/>
                        </a:lnSpc>
                        <a:spcBef>
                          <a:spcPts val="0"/>
                        </a:spcBef>
                        <a:spcAft>
                          <a:spcPts val="0"/>
                        </a:spcAft>
                        <a:buClr>
                          <a:schemeClr val="dk1"/>
                        </a:buClr>
                        <a:buSzPts val="1200"/>
                        <a:buFont typeface="Century Schoolbook"/>
                        <a:buNone/>
                      </a:pPr>
                      <a:r>
                        <a:rPr b="0" i="0" lang="en-US" sz="1200" u="none" cap="none" strike="noStrike">
                          <a:solidFill>
                            <a:schemeClr val="dk1"/>
                          </a:solidFill>
                          <a:latin typeface="Century Schoolbook"/>
                          <a:ea typeface="Century Schoolbook"/>
                          <a:cs typeface="Century Schoolbook"/>
                          <a:sym typeface="Century Schoolbook"/>
                        </a:rPr>
                        <a:t> </a:t>
                      </a:r>
                      <a:endParaRPr b="0" i="0" sz="1200" u="none" cap="none" strike="noStrike">
                        <a:solidFill>
                          <a:schemeClr val="dk1"/>
                        </a:solidFill>
                        <a:latin typeface="Century Schoolbook"/>
                        <a:ea typeface="Century Schoolbook"/>
                        <a:cs typeface="Century Schoolbook"/>
                        <a:sym typeface="Century Schoolbook"/>
                      </a:endParaRPr>
                    </a:p>
                    <a:p>
                      <a:pPr indent="0" lvl="0" marL="146050" marR="0" rtl="0" algn="l">
                        <a:lnSpc>
                          <a:spcPct val="115000"/>
                        </a:lnSpc>
                        <a:spcBef>
                          <a:spcPts val="0"/>
                        </a:spcBef>
                        <a:spcAft>
                          <a:spcPts val="0"/>
                        </a:spcAft>
                        <a:buClr>
                          <a:schemeClr val="dk1"/>
                        </a:buClr>
                        <a:buSzPts val="1200"/>
                        <a:buFont typeface="Century Schoolbook"/>
                        <a:buNone/>
                      </a:pPr>
                      <a:r>
                        <a:rPr b="0" i="0" lang="en-US" sz="1200" u="none" cap="none" strike="noStrike">
                          <a:solidFill>
                            <a:schemeClr val="dk1"/>
                          </a:solidFill>
                          <a:latin typeface="Century Schoolbook"/>
                          <a:ea typeface="Century Schoolbook"/>
                          <a:cs typeface="Century Schoolbook"/>
                          <a:sym typeface="Century Schoolbook"/>
                        </a:rPr>
                        <a:t>- symétrie icosaédrale (I)</a:t>
                      </a:r>
                      <a:endParaRPr b="0" i="0" sz="1200" u="none" cap="none" strike="noStrike">
                        <a:solidFill>
                          <a:schemeClr val="dk1"/>
                        </a:solidFill>
                        <a:latin typeface="Century Schoolbook"/>
                        <a:ea typeface="Century Schoolbook"/>
                        <a:cs typeface="Century Schoolbook"/>
                        <a:sym typeface="Century Schoolbook"/>
                      </a:endParaRPr>
                    </a:p>
                    <a:p>
                      <a:pPr indent="0" lvl="0" marL="146050" marR="0" rtl="0" algn="l">
                        <a:lnSpc>
                          <a:spcPct val="115000"/>
                        </a:lnSpc>
                        <a:spcBef>
                          <a:spcPts val="0"/>
                        </a:spcBef>
                        <a:spcAft>
                          <a:spcPts val="0"/>
                        </a:spcAft>
                        <a:buClr>
                          <a:schemeClr val="dk1"/>
                        </a:buClr>
                        <a:buSzPts val="1200"/>
                        <a:buFont typeface="Century Schoolbook"/>
                        <a:buNone/>
                      </a:pPr>
                      <a:r>
                        <a:rPr b="0" i="0" lang="en-US" sz="1200" u="none" cap="none" strike="noStrike">
                          <a:solidFill>
                            <a:schemeClr val="dk1"/>
                          </a:solidFill>
                          <a:latin typeface="Century Schoolbook"/>
                          <a:ea typeface="Century Schoolbook"/>
                          <a:cs typeface="Century Schoolbook"/>
                          <a:sym typeface="Century Schoolbook"/>
                        </a:rPr>
                        <a:t> </a:t>
                      </a:r>
                      <a:endParaRPr b="0" i="0" sz="1200" u="none" cap="none" strike="noStrike">
                        <a:solidFill>
                          <a:schemeClr val="dk1"/>
                        </a:solidFill>
                        <a:latin typeface="Century Schoolbook"/>
                        <a:ea typeface="Century Schoolbook"/>
                        <a:cs typeface="Century Schoolbook"/>
                        <a:sym typeface="Century Schoolbook"/>
                      </a:endParaRPr>
                    </a:p>
                    <a:p>
                      <a:pPr indent="0" lvl="0" marL="146050" marR="0" rtl="0" algn="l">
                        <a:lnSpc>
                          <a:spcPct val="115000"/>
                        </a:lnSpc>
                        <a:spcBef>
                          <a:spcPts val="0"/>
                        </a:spcBef>
                        <a:spcAft>
                          <a:spcPts val="0"/>
                        </a:spcAft>
                        <a:buClr>
                          <a:schemeClr val="dk1"/>
                        </a:buClr>
                        <a:buSzPts val="1200"/>
                        <a:buFont typeface="Century Schoolbook"/>
                        <a:buNone/>
                      </a:pPr>
                      <a:r>
                        <a:rPr b="0" i="0" lang="en-US" sz="1200" u="none" cap="none" strike="noStrike">
                          <a:solidFill>
                            <a:schemeClr val="dk1"/>
                          </a:solidFill>
                          <a:latin typeface="Century Schoolbook"/>
                          <a:ea typeface="Century Schoolbook"/>
                          <a:cs typeface="Century Schoolbook"/>
                          <a:sym typeface="Century Schoolbook"/>
                        </a:rPr>
                        <a:t> </a:t>
                      </a:r>
                      <a:endParaRPr b="0" i="0" sz="1200" u="none" cap="none" strike="noStrike">
                        <a:solidFill>
                          <a:schemeClr val="dk1"/>
                        </a:solidFill>
                        <a:latin typeface="Century Schoolbook"/>
                        <a:ea typeface="Century Schoolbook"/>
                        <a:cs typeface="Century Schoolbook"/>
                        <a:sym typeface="Century Schoolbook"/>
                      </a:endParaRPr>
                    </a:p>
                    <a:p>
                      <a:pPr indent="0" lvl="0" marL="146050" marR="0" rtl="0" algn="l">
                        <a:lnSpc>
                          <a:spcPct val="115000"/>
                        </a:lnSpc>
                        <a:spcBef>
                          <a:spcPts val="0"/>
                        </a:spcBef>
                        <a:spcAft>
                          <a:spcPts val="0"/>
                        </a:spcAft>
                        <a:buClr>
                          <a:schemeClr val="dk1"/>
                        </a:buClr>
                        <a:buSzPts val="1200"/>
                        <a:buFont typeface="Century Schoolbook"/>
                        <a:buNone/>
                      </a:pPr>
                      <a:r>
                        <a:rPr b="0" i="0" lang="en-US" sz="1200" u="none" cap="none" strike="noStrike">
                          <a:solidFill>
                            <a:schemeClr val="dk1"/>
                          </a:solidFill>
                          <a:latin typeface="Century Schoolbook"/>
                          <a:ea typeface="Century Schoolbook"/>
                          <a:cs typeface="Century Schoolbook"/>
                          <a:sym typeface="Century Schoolbook"/>
                        </a:rPr>
                        <a:t> </a:t>
                      </a:r>
                      <a:endParaRPr b="0" i="0" sz="1200" u="none" cap="none" strike="noStrike">
                        <a:solidFill>
                          <a:schemeClr val="dk1"/>
                        </a:solidFill>
                        <a:latin typeface="Century Schoolbook"/>
                        <a:ea typeface="Century Schoolbook"/>
                        <a:cs typeface="Century Schoolbook"/>
                        <a:sym typeface="Century Schoolbook"/>
                      </a:endParaRPr>
                    </a:p>
                    <a:p>
                      <a:pPr indent="0" lvl="0" marL="146050" marR="0" rtl="0" algn="l">
                        <a:lnSpc>
                          <a:spcPct val="115000"/>
                        </a:lnSpc>
                        <a:spcBef>
                          <a:spcPts val="0"/>
                        </a:spcBef>
                        <a:spcAft>
                          <a:spcPts val="0"/>
                        </a:spcAft>
                        <a:buClr>
                          <a:schemeClr val="dk1"/>
                        </a:buClr>
                        <a:buSzPts val="1200"/>
                        <a:buFont typeface="Century Schoolbook"/>
                        <a:buNone/>
                      </a:pPr>
                      <a:r>
                        <a:rPr b="0" i="0" lang="en-US" sz="1200" u="none" cap="none" strike="noStrike">
                          <a:solidFill>
                            <a:schemeClr val="dk1"/>
                          </a:solidFill>
                          <a:latin typeface="Century Schoolbook"/>
                          <a:ea typeface="Century Schoolbook"/>
                          <a:cs typeface="Century Schoolbook"/>
                          <a:sym typeface="Century Schoolbook"/>
                        </a:rPr>
                        <a:t>- Symétrie complexe</a:t>
                      </a:r>
                      <a:endParaRPr b="0" i="0" sz="1200" u="none" cap="none" strike="noStrike">
                        <a:solidFill>
                          <a:schemeClr val="dk1"/>
                        </a:solidFill>
                        <a:latin typeface="Century Schoolbook"/>
                        <a:ea typeface="Century Schoolbook"/>
                        <a:cs typeface="Century Schoolbook"/>
                        <a:sym typeface="Century Schoolbook"/>
                      </a:endParaRPr>
                    </a:p>
                    <a:p>
                      <a:pPr indent="0" lvl="0" marL="146050" marR="0" rtl="0" algn="l">
                        <a:lnSpc>
                          <a:spcPct val="115000"/>
                        </a:lnSpc>
                        <a:spcBef>
                          <a:spcPts val="0"/>
                        </a:spcBef>
                        <a:spcAft>
                          <a:spcPts val="0"/>
                        </a:spcAft>
                        <a:buClr>
                          <a:schemeClr val="dk1"/>
                        </a:buClr>
                        <a:buSzPts val="1200"/>
                        <a:buFont typeface="Century Schoolbook"/>
                        <a:buNone/>
                      </a:pPr>
                      <a:r>
                        <a:rPr b="0" i="0" lang="en-US" sz="1200" u="none" cap="none" strike="noStrike">
                          <a:solidFill>
                            <a:schemeClr val="dk1"/>
                          </a:solidFill>
                          <a:latin typeface="Century Schoolbook"/>
                          <a:ea typeface="Century Schoolbook"/>
                          <a:cs typeface="Century Schoolbook"/>
                          <a:sym typeface="Century Schoolbook"/>
                        </a:rPr>
                        <a:t> </a:t>
                      </a:r>
                      <a:endParaRPr/>
                    </a:p>
                  </a:txBody>
                  <a:tcPr marT="0" marB="0" marR="0" marL="0" anchor="ct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19"/>
          <p:cNvSpPr txBox="1"/>
          <p:nvPr/>
        </p:nvSpPr>
        <p:spPr>
          <a:xfrm>
            <a:off x="-323850" y="-242887"/>
            <a:ext cx="9144000" cy="3630612"/>
          </a:xfrm>
          <a:prstGeom prst="rect">
            <a:avLst/>
          </a:prstGeom>
          <a:noFill/>
          <a:ln>
            <a:noFill/>
          </a:ln>
        </p:spPr>
        <p:txBody>
          <a:bodyPr anchorCtr="0" anchor="ctr" bIns="0" lIns="457050" spcFirstLastPara="1" rIns="91425" wrap="square" tIns="304700">
            <a:spAutoFit/>
          </a:bodyPr>
          <a:lstStyle/>
          <a:p>
            <a:pPr indent="-114300" lvl="0" marL="0" marR="0" rtl="0" algn="l">
              <a:lnSpc>
                <a:spcPct val="100000"/>
              </a:lnSpc>
              <a:spcBef>
                <a:spcPts val="0"/>
              </a:spcBef>
              <a:spcAft>
                <a:spcPts val="0"/>
              </a:spcAft>
              <a:buClr>
                <a:schemeClr val="dk1"/>
              </a:buClr>
              <a:buSzPts val="1800"/>
              <a:buFont typeface="Century Schoolbook"/>
              <a:buChar char="•"/>
            </a:pPr>
            <a:r>
              <a:rPr b="1" i="0" lang="en-US" sz="1800" u="sng">
                <a:solidFill>
                  <a:schemeClr val="dk1"/>
                </a:solidFill>
                <a:latin typeface="Century Schoolbook"/>
                <a:ea typeface="Century Schoolbook"/>
                <a:cs typeface="Century Schoolbook"/>
                <a:sym typeface="Century Schoolbook"/>
              </a:rPr>
              <a:t>L’enveloppe virale</a:t>
            </a:r>
            <a:endParaRPr b="1" i="0" sz="1800" u="none">
              <a:solidFill>
                <a:srgbClr val="365F91"/>
              </a:solidFill>
              <a:latin typeface="Century Schoolbook"/>
              <a:ea typeface="Century Schoolbook"/>
              <a:cs typeface="Century Schoolbook"/>
              <a:sym typeface="Century Schoolbook"/>
            </a:endParaRPr>
          </a:p>
          <a:p>
            <a:pPr indent="0" lvl="0" marL="0" marR="0" rtl="0" algn="l">
              <a:lnSpc>
                <a:spcPct val="100000"/>
              </a:lnSpc>
              <a:spcBef>
                <a:spcPts val="0"/>
              </a:spcBef>
              <a:spcAft>
                <a:spcPts val="0"/>
              </a:spcAft>
              <a:buClr>
                <a:schemeClr val="dk1"/>
              </a:buClr>
              <a:buSzPts val="1800"/>
              <a:buFont typeface="Century Schoolbook"/>
              <a:buNone/>
            </a:pPr>
            <a:r>
              <a:rPr b="0" i="0" lang="en-US" sz="1800" u="none">
                <a:solidFill>
                  <a:schemeClr val="dk1"/>
                </a:solidFill>
                <a:latin typeface="Century Schoolbook"/>
                <a:ea typeface="Century Schoolbook"/>
                <a:cs typeface="Century Schoolbook"/>
                <a:sym typeface="Century Schoolbook"/>
              </a:rPr>
              <a:t>C'est une structure glucido-lipido-protéique qui entoure la capside virale, pour les virus enveloppés. Elle est constituée de :</a:t>
            </a:r>
            <a:endParaRPr b="0" i="0" sz="1800" u="none">
              <a:solidFill>
                <a:schemeClr val="dk1"/>
              </a:solidFill>
              <a:latin typeface="Century Schoolbook"/>
              <a:ea typeface="Century Schoolbook"/>
              <a:cs typeface="Century Schoolbook"/>
              <a:sym typeface="Century Schoolbook"/>
            </a:endParaRPr>
          </a:p>
          <a:p>
            <a:pPr indent="-114300" lvl="0" marL="0" marR="0" rtl="0" algn="l">
              <a:lnSpc>
                <a:spcPct val="100000"/>
              </a:lnSpc>
              <a:spcBef>
                <a:spcPts val="0"/>
              </a:spcBef>
              <a:spcAft>
                <a:spcPts val="0"/>
              </a:spcAft>
              <a:buClr>
                <a:schemeClr val="dk1"/>
              </a:buClr>
              <a:buSzPts val="1800"/>
              <a:buFont typeface="Century Schoolbook"/>
              <a:buChar char="•"/>
            </a:pPr>
            <a:r>
              <a:rPr b="0" i="0" lang="en-US" sz="1800" u="none">
                <a:solidFill>
                  <a:schemeClr val="dk1"/>
                </a:solidFill>
                <a:latin typeface="Century Schoolbook"/>
                <a:ea typeface="Century Schoolbook"/>
                <a:cs typeface="Century Schoolbook"/>
                <a:sym typeface="Century Schoolbook"/>
              </a:rPr>
              <a:t> Double couche lipidique provenant du bourgeonnement du virus à travers l'une des membranes de la cellule infectée (membrane nucléaire, m.cytoplasmique, RE et AG).</a:t>
            </a:r>
            <a:endParaRPr b="0" i="0" sz="1800" u="none">
              <a:solidFill>
                <a:schemeClr val="dk1"/>
              </a:solidFill>
              <a:latin typeface="Century Schoolbook"/>
              <a:ea typeface="Century Schoolbook"/>
              <a:cs typeface="Century Schoolbook"/>
              <a:sym typeface="Century Schoolbook"/>
            </a:endParaRPr>
          </a:p>
          <a:p>
            <a:pPr indent="-114300" lvl="0" marL="0" marR="0" rtl="0" algn="l">
              <a:lnSpc>
                <a:spcPct val="100000"/>
              </a:lnSpc>
              <a:spcBef>
                <a:spcPts val="0"/>
              </a:spcBef>
              <a:spcAft>
                <a:spcPts val="0"/>
              </a:spcAft>
              <a:buClr>
                <a:schemeClr val="dk1"/>
              </a:buClr>
              <a:buSzPts val="1800"/>
              <a:buFont typeface="Century Schoolbook"/>
              <a:buChar char="•"/>
            </a:pPr>
            <a:r>
              <a:rPr b="0" i="0" lang="en-US" sz="1800" u="none">
                <a:solidFill>
                  <a:schemeClr val="dk1"/>
                </a:solidFill>
                <a:latin typeface="Century Schoolbook"/>
                <a:ea typeface="Century Schoolbook"/>
                <a:cs typeface="Century Schoolbook"/>
                <a:sym typeface="Century Schoolbook"/>
              </a:rPr>
              <a:t>Glycoprotéines d'origine virale ancrées à la face externe de la couche lipidique et formant des </a:t>
            </a:r>
            <a:r>
              <a:rPr b="1" i="0" lang="en-US" sz="1800" u="sng">
                <a:solidFill>
                  <a:schemeClr val="dk1"/>
                </a:solidFill>
                <a:latin typeface="Century Schoolbook"/>
                <a:ea typeface="Century Schoolbook"/>
                <a:cs typeface="Century Schoolbook"/>
                <a:sym typeface="Century Schoolbook"/>
              </a:rPr>
              <a:t>spicules</a:t>
            </a:r>
            <a:r>
              <a:rPr b="0" i="0" lang="en-US" sz="1800" u="none">
                <a:solidFill>
                  <a:schemeClr val="dk1"/>
                </a:solidFill>
                <a:latin typeface="Century Schoolbook"/>
                <a:ea typeface="Century Schoolbook"/>
                <a:cs typeface="Century Schoolbook"/>
                <a:sym typeface="Century Schoolbook"/>
              </a:rPr>
              <a:t> à la surface de la particule virale. Ces spicules jouent un rôle très important pour les virus enveloppés : ils servent à reconnaitre la cellule hôte, à la fixation du virus à la surface cellulaire.</a:t>
            </a:r>
            <a:endParaRPr b="0" i="0" sz="1800" u="none">
              <a:solidFill>
                <a:schemeClr val="dk1"/>
              </a:solidFill>
              <a:latin typeface="Century Schoolbook"/>
              <a:ea typeface="Century Schoolbook"/>
              <a:cs typeface="Century Schoolbook"/>
              <a:sym typeface="Century Schoolbook"/>
            </a:endParaRPr>
          </a:p>
          <a:p>
            <a:pPr indent="-114300" lvl="0" marL="0" marR="0" rtl="0" algn="l">
              <a:lnSpc>
                <a:spcPct val="100000"/>
              </a:lnSpc>
              <a:spcBef>
                <a:spcPts val="0"/>
              </a:spcBef>
              <a:spcAft>
                <a:spcPts val="0"/>
              </a:spcAft>
              <a:buClr>
                <a:schemeClr val="dk1"/>
              </a:buClr>
              <a:buSzPts val="1800"/>
              <a:buFont typeface="Century Schoolbook"/>
              <a:buChar char="•"/>
            </a:pPr>
            <a:r>
              <a:rPr b="0" i="0" lang="en-US" sz="1800" u="none">
                <a:solidFill>
                  <a:schemeClr val="dk1"/>
                </a:solidFill>
                <a:latin typeface="Century Schoolbook"/>
                <a:ea typeface="Century Schoolbook"/>
                <a:cs typeface="Century Schoolbook"/>
                <a:sym typeface="Century Schoolbook"/>
              </a:rPr>
              <a:t>Pour certains virus, la face interne de l'enveloppe est tapissée d'une couche protéique virale supplémentaire appelée matrice.</a:t>
            </a:r>
            <a:endParaRPr/>
          </a:p>
        </p:txBody>
      </p:sp>
      <p:pic>
        <p:nvPicPr>
          <p:cNvPr id="233" name="Google Shape;233;p19"/>
          <p:cNvPicPr preferRelativeResize="0"/>
          <p:nvPr/>
        </p:nvPicPr>
        <p:blipFill rotWithShape="1">
          <a:blip r:embed="rId3">
            <a:alphaModFix/>
          </a:blip>
          <a:srcRect b="27531" l="58384" r="19479" t="21281"/>
          <a:stretch/>
        </p:blipFill>
        <p:spPr>
          <a:xfrm>
            <a:off x="1835150" y="3573462"/>
            <a:ext cx="5257800" cy="31686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20"/>
          <p:cNvSpPr txBox="1"/>
          <p:nvPr/>
        </p:nvSpPr>
        <p:spPr>
          <a:xfrm>
            <a:off x="107950" y="68262"/>
            <a:ext cx="8785225" cy="147796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1800"/>
              <a:buFont typeface="Century Schoolbook"/>
              <a:buNone/>
            </a:pPr>
            <a:r>
              <a:rPr b="1" i="0" lang="en-US" sz="1800" u="none">
                <a:solidFill>
                  <a:schemeClr val="dk1"/>
                </a:solidFill>
                <a:latin typeface="Century Schoolbook"/>
                <a:ea typeface="Century Schoolbook"/>
                <a:cs typeface="Century Schoolbook"/>
                <a:sym typeface="Century Schoolbook"/>
              </a:rPr>
              <a:t>EXEMPLE: </a:t>
            </a:r>
            <a:r>
              <a:rPr b="0" i="0" lang="en-US" sz="1800" u="none">
                <a:solidFill>
                  <a:schemeClr val="dk1"/>
                </a:solidFill>
                <a:latin typeface="Century Schoolbook"/>
                <a:ea typeface="Century Schoolbook"/>
                <a:cs typeface="Century Schoolbook"/>
                <a:sym typeface="Century Schoolbook"/>
              </a:rPr>
              <a:t>Le virus de la grippe (Influenza virus) possède une architecture complexe, comportant jusqu’à 8 nucléocapsides distinctes au sein d’une enveloppe lipoprotéique complexe, hérissée de spicules constituées de deux glycoprotéines d’origine virale, l’hémagglutinine et la neuraminidase qui jouent un rôle important comme déterminants antigéniques.</a:t>
            </a:r>
            <a:endParaRPr/>
          </a:p>
        </p:txBody>
      </p:sp>
      <p:pic>
        <p:nvPicPr>
          <p:cNvPr id="239" name="Google Shape;239;p20"/>
          <p:cNvPicPr preferRelativeResize="0"/>
          <p:nvPr/>
        </p:nvPicPr>
        <p:blipFill rotWithShape="1">
          <a:blip r:embed="rId3">
            <a:alphaModFix/>
          </a:blip>
          <a:srcRect b="43281" l="58937" r="20033" t="24235"/>
          <a:stretch/>
        </p:blipFill>
        <p:spPr>
          <a:xfrm>
            <a:off x="5940425" y="2133600"/>
            <a:ext cx="2879725" cy="3598862"/>
          </a:xfrm>
          <a:prstGeom prst="rect">
            <a:avLst/>
          </a:prstGeom>
          <a:noFill/>
          <a:ln>
            <a:noFill/>
          </a:ln>
        </p:spPr>
      </p:pic>
      <p:pic>
        <p:nvPicPr>
          <p:cNvPr id="240" name="Google Shape;240;p20"/>
          <p:cNvPicPr preferRelativeResize="0"/>
          <p:nvPr/>
        </p:nvPicPr>
        <p:blipFill rotWithShape="1">
          <a:blip r:embed="rId4">
            <a:alphaModFix/>
          </a:blip>
          <a:srcRect b="5703" l="19560" r="19559" t="17692"/>
          <a:stretch/>
        </p:blipFill>
        <p:spPr>
          <a:xfrm>
            <a:off x="107950" y="1628775"/>
            <a:ext cx="5688012" cy="49688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1"/>
          <p:cNvSpPr txBox="1"/>
          <p:nvPr/>
        </p:nvSpPr>
        <p:spPr>
          <a:xfrm>
            <a:off x="179387" y="20637"/>
            <a:ext cx="8496300" cy="17843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LA MULTIPLICATION VIRALE</a:t>
            </a:r>
            <a:endParaRPr/>
          </a:p>
          <a:p>
            <a:pPr indent="0" lvl="0" marL="0" marR="0" rtl="0" algn="l">
              <a:lnSpc>
                <a:spcPct val="100000"/>
              </a:lnSpc>
              <a:spcBef>
                <a:spcPts val="0"/>
              </a:spcBef>
              <a:spcAft>
                <a:spcPts val="0"/>
              </a:spcAft>
              <a:buClr>
                <a:schemeClr val="dk1"/>
              </a:buClr>
              <a:buSzPts val="1800"/>
              <a:buFont typeface="Arial"/>
              <a:buNone/>
            </a:pPr>
            <a:r>
              <a:t/>
            </a:r>
            <a:endParaRPr b="0" i="0" sz="1800" u="non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Le cycle de réplication d'un virus comporte six étapes : 1. Attachement </a:t>
            </a:r>
            <a:endParaRPr/>
          </a:p>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2. Pénétration 3. Décapsidation 4. Réplication 5. Encapsidation 6. Libération.</a:t>
            </a:r>
            <a:endParaRPr/>
          </a:p>
          <a:p>
            <a:pPr indent="0" lvl="0" marL="0" marR="0" rtl="0" algn="l">
              <a:lnSpc>
                <a:spcPct val="100000"/>
              </a:lnSpc>
              <a:spcBef>
                <a:spcPts val="0"/>
              </a:spcBef>
              <a:spcAft>
                <a:spcPts val="0"/>
              </a:spcAft>
              <a:buClr>
                <a:schemeClr val="dk1"/>
              </a:buClr>
              <a:buSzPts val="1800"/>
              <a:buFont typeface="Arial"/>
              <a:buNone/>
            </a:pPr>
            <a:r>
              <a:t/>
            </a:r>
            <a:endParaRPr b="0" i="0" sz="1800" u="non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1. </a:t>
            </a:r>
            <a:r>
              <a:rPr b="1" i="0" lang="en-US" sz="1800" u="none">
                <a:solidFill>
                  <a:schemeClr val="dk1"/>
                </a:solidFill>
                <a:latin typeface="Arial"/>
                <a:ea typeface="Arial"/>
                <a:cs typeface="Arial"/>
                <a:sym typeface="Arial"/>
              </a:rPr>
              <a:t>Attachement des virus sur les surfaces cellulaires</a:t>
            </a:r>
            <a:r>
              <a:rPr b="0" i="0" lang="en-US" sz="1800" u="none">
                <a:solidFill>
                  <a:schemeClr val="dk1"/>
                </a:solidFill>
                <a:latin typeface="Arial"/>
                <a:ea typeface="Arial"/>
                <a:cs typeface="Arial"/>
                <a:sym typeface="Arial"/>
              </a:rPr>
              <a:t>. </a:t>
            </a:r>
            <a:endParaRPr/>
          </a:p>
        </p:txBody>
      </p:sp>
      <p:pic>
        <p:nvPicPr>
          <p:cNvPr id="246" name="Google Shape;246;p21"/>
          <p:cNvPicPr preferRelativeResize="0"/>
          <p:nvPr/>
        </p:nvPicPr>
        <p:blipFill rotWithShape="1">
          <a:blip r:embed="rId3">
            <a:alphaModFix/>
          </a:blip>
          <a:srcRect b="0" l="0" r="0" t="0"/>
          <a:stretch/>
        </p:blipFill>
        <p:spPr>
          <a:xfrm>
            <a:off x="900112" y="1922462"/>
            <a:ext cx="3151187" cy="3249612"/>
          </a:xfrm>
          <a:prstGeom prst="rect">
            <a:avLst/>
          </a:prstGeom>
          <a:noFill/>
          <a:ln cap="flat" cmpd="sng" w="19050">
            <a:solidFill>
              <a:schemeClr val="dk1"/>
            </a:solidFill>
            <a:prstDash val="solid"/>
            <a:miter lim="800000"/>
            <a:headEnd len="sm" w="sm" type="none"/>
            <a:tailEnd len="sm" w="sm" type="none"/>
          </a:ln>
        </p:spPr>
      </p:pic>
      <p:pic>
        <p:nvPicPr>
          <p:cNvPr id="247" name="Google Shape;247;p21"/>
          <p:cNvPicPr preferRelativeResize="0"/>
          <p:nvPr/>
        </p:nvPicPr>
        <p:blipFill rotWithShape="1">
          <a:blip r:embed="rId4">
            <a:alphaModFix/>
          </a:blip>
          <a:srcRect b="0" l="0" r="0" t="0"/>
          <a:stretch/>
        </p:blipFill>
        <p:spPr>
          <a:xfrm>
            <a:off x="5076825" y="1919287"/>
            <a:ext cx="3028950" cy="3249612"/>
          </a:xfrm>
          <a:prstGeom prst="rect">
            <a:avLst/>
          </a:prstGeom>
          <a:noFill/>
          <a:ln cap="flat" cmpd="sng" w="19050">
            <a:solidFill>
              <a:schemeClr val="dk1"/>
            </a:solidFill>
            <a:prstDash val="solid"/>
            <a:miter lim="800000"/>
            <a:headEnd len="sm" w="sm" type="none"/>
            <a:tailEnd len="sm" w="sm" type="none"/>
          </a:ln>
        </p:spPr>
      </p:pic>
      <p:sp>
        <p:nvSpPr>
          <p:cNvPr id="248" name="Google Shape;248;p21"/>
          <p:cNvSpPr txBox="1"/>
          <p:nvPr/>
        </p:nvSpPr>
        <p:spPr>
          <a:xfrm>
            <a:off x="287337" y="5516562"/>
            <a:ext cx="8856662" cy="9239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L’attachement commence par l’entrée en contact du virus et de la cellule. Il se fait donc par des protéines de la capside pour les virus nus, et par des glycoprotéines de l’enveloppe pour les virus enveloppés.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22"/>
          <p:cNvSpPr txBox="1"/>
          <p:nvPr/>
        </p:nvSpPr>
        <p:spPr>
          <a:xfrm>
            <a:off x="539750" y="0"/>
            <a:ext cx="8208962" cy="368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2</a:t>
            </a:r>
            <a:r>
              <a:rPr b="0" i="0" lang="en-US" sz="1800" u="none">
                <a:solidFill>
                  <a:schemeClr val="dk1"/>
                </a:solidFill>
                <a:latin typeface="Arial"/>
                <a:ea typeface="Arial"/>
                <a:cs typeface="Arial"/>
                <a:sym typeface="Arial"/>
              </a:rPr>
              <a:t>. </a:t>
            </a:r>
            <a:r>
              <a:rPr b="1" i="0" lang="en-US" sz="1800" u="none">
                <a:solidFill>
                  <a:schemeClr val="dk1"/>
                </a:solidFill>
                <a:latin typeface="Arial"/>
                <a:ea typeface="Arial"/>
                <a:cs typeface="Arial"/>
                <a:sym typeface="Arial"/>
              </a:rPr>
              <a:t>Pénétration des virus nus dans les cellules</a:t>
            </a:r>
            <a:endParaRPr/>
          </a:p>
        </p:txBody>
      </p:sp>
      <p:pic>
        <p:nvPicPr>
          <p:cNvPr id="254" name="Google Shape;254;p22"/>
          <p:cNvPicPr preferRelativeResize="0"/>
          <p:nvPr/>
        </p:nvPicPr>
        <p:blipFill rotWithShape="1">
          <a:blip r:embed="rId3">
            <a:alphaModFix/>
          </a:blip>
          <a:srcRect b="0" l="0" r="0" t="0"/>
          <a:stretch/>
        </p:blipFill>
        <p:spPr>
          <a:xfrm>
            <a:off x="130175" y="422275"/>
            <a:ext cx="7991475" cy="4378325"/>
          </a:xfrm>
          <a:prstGeom prst="rect">
            <a:avLst/>
          </a:prstGeom>
          <a:noFill/>
          <a:ln>
            <a:noFill/>
          </a:ln>
        </p:spPr>
      </p:pic>
      <p:sp>
        <p:nvSpPr>
          <p:cNvPr id="255" name="Google Shape;255;p22"/>
          <p:cNvSpPr txBox="1"/>
          <p:nvPr/>
        </p:nvSpPr>
        <p:spPr>
          <a:xfrm>
            <a:off x="130175" y="4941887"/>
            <a:ext cx="8891587" cy="175418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Les protéines de la capside virale interagissent avec le récepteur de la cellule cible. Pour certains virus (1), cela déclenche un phénomène “d’altération” de la capside qui “injecte” le génome à travers la membrane plasmique. Pour d’autres (2 et 3), l’altération se produit après endocytose du complexe virus-récepteur. L’altération de la capside conduit soit à l’injection du génome du virus à travers la membrane de l’endosome (2), soit à une perméabilisation de la capside virale et de l’endosome(3).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23"/>
          <p:cNvSpPr txBox="1"/>
          <p:nvPr/>
        </p:nvSpPr>
        <p:spPr>
          <a:xfrm>
            <a:off x="1331912" y="260350"/>
            <a:ext cx="6389687"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Pénétration des virus enveloppés dans les cellules</a:t>
            </a:r>
            <a:endParaRPr/>
          </a:p>
        </p:txBody>
      </p:sp>
      <p:pic>
        <p:nvPicPr>
          <p:cNvPr id="261" name="Google Shape;261;p23"/>
          <p:cNvPicPr preferRelativeResize="0"/>
          <p:nvPr/>
        </p:nvPicPr>
        <p:blipFill rotWithShape="1">
          <a:blip r:embed="rId3">
            <a:alphaModFix/>
          </a:blip>
          <a:srcRect b="0" l="0" r="0" t="0"/>
          <a:stretch/>
        </p:blipFill>
        <p:spPr>
          <a:xfrm>
            <a:off x="971550" y="765175"/>
            <a:ext cx="7272337" cy="3600450"/>
          </a:xfrm>
          <a:prstGeom prst="rect">
            <a:avLst/>
          </a:prstGeom>
          <a:noFill/>
          <a:ln>
            <a:noFill/>
          </a:ln>
        </p:spPr>
      </p:pic>
      <p:sp>
        <p:nvSpPr>
          <p:cNvPr id="262" name="Google Shape;262;p23"/>
          <p:cNvSpPr txBox="1"/>
          <p:nvPr/>
        </p:nvSpPr>
        <p:spPr>
          <a:xfrm>
            <a:off x="63500" y="4537075"/>
            <a:ext cx="9036050" cy="230822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L’entrée des virus enveloppés nécessite une étape de fusion entre l’enveloppe du virus et la membrane cellulaire (1), comme c’est le cas pour le virus du sida où l’étape de fusion survient directement au niveau de la membrane plasmique de la cellule.</a:t>
            </a:r>
            <a:endParaRPr/>
          </a:p>
          <a:p>
            <a:pPr indent="0" lvl="0" marL="0" marR="0" rtl="0" algn="just">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D’autres virus (2) utilisent la voie de l’endocytose. En général, la baisse de pH des endosomes engendre une modification de la conformation de la glycoprotéine virale qui déclenche alors la fusion de la membrane du virus (enveloppe) et de celle de la vésicule d’endocytose. Suite à la fusion des membranes, la nucléocapside se retrouve libérée dans le cytoplasme de la cellule.</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24"/>
          <p:cNvSpPr txBox="1"/>
          <p:nvPr/>
        </p:nvSpPr>
        <p:spPr>
          <a:xfrm>
            <a:off x="165100" y="1341437"/>
            <a:ext cx="8856662" cy="147637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Que ce soit dans le cas des virus nus ou dans le cas des virus enveloppés, il faut souvent deux signaux distincts et l'intervention de plusieurs protéines virales et cellulaires pour assurer l'entrée et la décapsidation du génome. Le premier signal est l'interaction du virus avec le récepteur. Le deuxième signal peut être la baisse de pH, la température, ou encore l'interaction avec un co récepteur.</a:t>
            </a:r>
            <a:endParaRPr/>
          </a:p>
        </p:txBody>
      </p:sp>
      <p:sp>
        <p:nvSpPr>
          <p:cNvPr id="268" name="Google Shape;268;p24"/>
          <p:cNvSpPr txBox="1"/>
          <p:nvPr/>
        </p:nvSpPr>
        <p:spPr>
          <a:xfrm>
            <a:off x="1187450" y="404812"/>
            <a:ext cx="7602537" cy="4619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La décapsidation et  la réplication du génome</a:t>
            </a:r>
            <a:endParaRPr/>
          </a:p>
        </p:txBody>
      </p:sp>
      <p:sp>
        <p:nvSpPr>
          <p:cNvPr id="269" name="Google Shape;269;p24"/>
          <p:cNvSpPr txBox="1"/>
          <p:nvPr/>
        </p:nvSpPr>
        <p:spPr>
          <a:xfrm>
            <a:off x="165100" y="3271837"/>
            <a:ext cx="8856662" cy="230822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 Au sein de la cellule, le génome viral joue deux rôles distincts. D'une part, il est utilisé pour assurer l'expression des protéines virales, nécessaires à la réplication du virus et ensuite à la formation de nouvelles particules virales. D'autre part, il est multiplié ("réplication") avant d'être encapsidé pour former de nouvelles particules virales.</a:t>
            </a:r>
            <a:endParaRPr/>
          </a:p>
          <a:p>
            <a:pPr indent="0" lvl="0" marL="0" marR="0" rtl="0" algn="just">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 La nature du génome viral détermine la stratégie qui sera suivie par chaque virus pour exploiter au mieux la machinerie cellulaire, en vue d'assurer l'expression des gènes viraux et la réplication du génome.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pic>
        <p:nvPicPr>
          <p:cNvPr id="274" name="Google Shape;274;p25"/>
          <p:cNvPicPr preferRelativeResize="0"/>
          <p:nvPr/>
        </p:nvPicPr>
        <p:blipFill rotWithShape="1">
          <a:blip r:embed="rId3">
            <a:alphaModFix/>
          </a:blip>
          <a:srcRect b="0" l="0" r="0" t="0"/>
          <a:stretch/>
        </p:blipFill>
        <p:spPr>
          <a:xfrm>
            <a:off x="198437" y="1016000"/>
            <a:ext cx="8820150" cy="3521075"/>
          </a:xfrm>
          <a:prstGeom prst="rect">
            <a:avLst/>
          </a:prstGeom>
          <a:noFill/>
          <a:ln>
            <a:noFill/>
          </a:ln>
        </p:spPr>
      </p:pic>
      <p:sp>
        <p:nvSpPr>
          <p:cNvPr id="275" name="Google Shape;275;p25"/>
          <p:cNvSpPr txBox="1"/>
          <p:nvPr/>
        </p:nvSpPr>
        <p:spPr>
          <a:xfrm>
            <a:off x="198437" y="92075"/>
            <a:ext cx="8999537" cy="9239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Libération des virus enveloppés par bourgeonnement à partir de la membrane cytoplasmique.</a:t>
            </a:r>
            <a:endParaRPr/>
          </a:p>
          <a:p>
            <a:pPr indent="0" lvl="0" marL="0" marR="0" rtl="0" algn="l">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                             </a:t>
            </a:r>
            <a:r>
              <a:rPr b="1" i="0" lang="en-US" sz="1800" u="none">
                <a:solidFill>
                  <a:srgbClr val="FF0000"/>
                </a:solidFill>
                <a:latin typeface="Arial"/>
                <a:ea typeface="Arial"/>
                <a:cs typeface="Arial"/>
                <a:sym typeface="Arial"/>
              </a:rPr>
              <a:t>Exemple : Virus du SIDA (VIH) / Virus de la rougeole </a:t>
            </a:r>
            <a:endParaRPr/>
          </a:p>
        </p:txBody>
      </p:sp>
      <p:sp>
        <p:nvSpPr>
          <p:cNvPr id="276" name="Google Shape;276;p25"/>
          <p:cNvSpPr txBox="1"/>
          <p:nvPr/>
        </p:nvSpPr>
        <p:spPr>
          <a:xfrm>
            <a:off x="314325" y="4652962"/>
            <a:ext cx="8586787" cy="20320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Des protéines virales vont se déposer sur la face interne de la membrane cellulaire, future enveloppe virale. Les spicules (glycoprotéines) traversent la membrane tandis que les protéines coat (protéines M) forment une couche intermédiaire, la matrice. Le bourgeonnement s'initie alors et aboutit à la libération de nucléocapsides entourées d'une enveloppe correspondant à la membrane plasmique de la cellule productrice, dans laquelle sont insérées les glycoprotéines virales.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26"/>
          <p:cNvSpPr txBox="1"/>
          <p:nvPr/>
        </p:nvSpPr>
        <p:spPr>
          <a:xfrm>
            <a:off x="684212" y="115887"/>
            <a:ext cx="6119812" cy="9858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Lyse cellulaire et libération des virus nus</a:t>
            </a:r>
            <a:endParaRPr/>
          </a:p>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 </a:t>
            </a:r>
            <a:endParaRPr/>
          </a:p>
          <a:p>
            <a:pPr indent="0" lvl="0" marL="0" marR="0" rtl="0" algn="ctr">
              <a:lnSpc>
                <a:spcPct val="100000"/>
              </a:lnSpc>
              <a:spcBef>
                <a:spcPts val="0"/>
              </a:spcBef>
              <a:spcAft>
                <a:spcPts val="0"/>
              </a:spcAft>
              <a:buClr>
                <a:srgbClr val="FF0000"/>
              </a:buClr>
              <a:buSzPts val="1800"/>
              <a:buFont typeface="Arial"/>
              <a:buNone/>
            </a:pPr>
            <a:r>
              <a:rPr b="1" i="0" lang="en-US" sz="1800" u="none">
                <a:solidFill>
                  <a:srgbClr val="FF0000"/>
                </a:solidFill>
                <a:latin typeface="Arial"/>
                <a:ea typeface="Arial"/>
                <a:cs typeface="Arial"/>
                <a:sym typeface="Arial"/>
              </a:rPr>
              <a:t>Exemple : Les Rotavirus</a:t>
            </a:r>
            <a:endParaRPr/>
          </a:p>
        </p:txBody>
      </p:sp>
      <p:pic>
        <p:nvPicPr>
          <p:cNvPr id="282" name="Google Shape;282;p26"/>
          <p:cNvPicPr preferRelativeResize="0"/>
          <p:nvPr/>
        </p:nvPicPr>
        <p:blipFill rotWithShape="1">
          <a:blip r:embed="rId3">
            <a:alphaModFix/>
          </a:blip>
          <a:srcRect b="0" l="0" r="0" t="10858"/>
          <a:stretch/>
        </p:blipFill>
        <p:spPr>
          <a:xfrm>
            <a:off x="1476375" y="1127125"/>
            <a:ext cx="6221412" cy="3422650"/>
          </a:xfrm>
          <a:prstGeom prst="rect">
            <a:avLst/>
          </a:prstGeom>
          <a:noFill/>
          <a:ln>
            <a:noFill/>
          </a:ln>
        </p:spPr>
      </p:pic>
      <p:sp>
        <p:nvSpPr>
          <p:cNvPr id="283" name="Google Shape;283;p26"/>
          <p:cNvSpPr txBox="1"/>
          <p:nvPr/>
        </p:nvSpPr>
        <p:spPr>
          <a:xfrm>
            <a:off x="107950" y="4519612"/>
            <a:ext cx="9036050" cy="230822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L'assemblage des virus non-enveloppés résulte d'un processus très efficace d'auto-assemblage associant le génome viral et les protéines de capside. Les virus matures s'accumulent dans le noyau ou le cytoplasme de la cellule infectée puis sont le plus souvent libérés par lyse cellulaire.</a:t>
            </a:r>
            <a:endParaRPr/>
          </a:p>
          <a:p>
            <a:pPr indent="0" lvl="0" marL="0" marR="0" rtl="0" algn="just">
              <a:lnSpc>
                <a:spcPct val="100000"/>
              </a:lnSpc>
              <a:spcBef>
                <a:spcPts val="0"/>
              </a:spcBef>
              <a:spcAft>
                <a:spcPts val="0"/>
              </a:spcAft>
              <a:buClr>
                <a:schemeClr val="dk1"/>
              </a:buClr>
              <a:buSzPts val="1800"/>
              <a:buFont typeface="Arial"/>
              <a:buNone/>
            </a:pPr>
            <a:r>
              <a:t/>
            </a:r>
            <a:endParaRPr b="0" i="0" sz="1800" u="none">
              <a:solidFill>
                <a:schemeClr val="dk1"/>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Cette lyse survient suite à la désorganisation structurale et métabolique de la cellule infectée causée par la production massive des éléments viraux au détriment des protéines cellulaires.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27"/>
          <p:cNvSpPr txBox="1"/>
          <p:nvPr/>
        </p:nvSpPr>
        <p:spPr>
          <a:xfrm>
            <a:off x="2771775" y="242887"/>
            <a:ext cx="2852737"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D’où viennent les virus?</a:t>
            </a:r>
            <a:endParaRPr/>
          </a:p>
        </p:txBody>
      </p:sp>
      <p:pic>
        <p:nvPicPr>
          <p:cNvPr id="289" name="Google Shape;289;p27"/>
          <p:cNvPicPr preferRelativeResize="0"/>
          <p:nvPr/>
        </p:nvPicPr>
        <p:blipFill rotWithShape="1">
          <a:blip r:embed="rId3">
            <a:alphaModFix/>
          </a:blip>
          <a:srcRect b="9776" l="0" r="0" t="0"/>
          <a:stretch/>
        </p:blipFill>
        <p:spPr>
          <a:xfrm>
            <a:off x="1042987" y="3500437"/>
            <a:ext cx="7620000" cy="3206750"/>
          </a:xfrm>
          <a:prstGeom prst="rect">
            <a:avLst/>
          </a:prstGeom>
          <a:noFill/>
          <a:ln>
            <a:noFill/>
          </a:ln>
        </p:spPr>
      </p:pic>
      <p:sp>
        <p:nvSpPr>
          <p:cNvPr id="290" name="Google Shape;290;p27"/>
          <p:cNvSpPr txBox="1"/>
          <p:nvPr/>
        </p:nvSpPr>
        <p:spPr>
          <a:xfrm>
            <a:off x="0" y="612775"/>
            <a:ext cx="9144000" cy="31400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1. L’hypothèse de la réduction, aussi appelée l’hypothèse de la régression.</a:t>
            </a:r>
            <a:endParaRPr/>
          </a:p>
          <a:p>
            <a:pPr indent="0" lvl="0" marL="0" marR="0" rtl="0" algn="l">
              <a:lnSpc>
                <a:spcPct val="100000"/>
              </a:lnSpc>
              <a:spcBef>
                <a:spcPts val="0"/>
              </a:spcBef>
              <a:spcAft>
                <a:spcPts val="0"/>
              </a:spcAft>
              <a:buClr>
                <a:schemeClr val="dk1"/>
              </a:buClr>
              <a:buSzPts val="1800"/>
              <a:buFont typeface="Arial"/>
              <a:buNone/>
            </a:pPr>
            <a:r>
              <a:t/>
            </a:r>
            <a:endParaRPr b="0" i="0" sz="1800" u="non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Les virus pourraient descendre d’organismes plus complexes. Ils pourraient être issus d’une relation mutualiste ou coopérative entre deux organismes unicellulaires.</a:t>
            </a:r>
            <a:endParaRPr/>
          </a:p>
          <a:p>
            <a:pPr indent="0" lvl="0" marL="0" marR="0" rtl="0" algn="l">
              <a:lnSpc>
                <a:spcPct val="100000"/>
              </a:lnSpc>
              <a:spcBef>
                <a:spcPts val="0"/>
              </a:spcBef>
              <a:spcAft>
                <a:spcPts val="0"/>
              </a:spcAft>
              <a:buClr>
                <a:schemeClr val="dk1"/>
              </a:buClr>
              <a:buSzPts val="1800"/>
              <a:buFont typeface="Arial"/>
              <a:buNone/>
            </a:pPr>
            <a:r>
              <a:t/>
            </a:r>
            <a:endParaRPr b="0" i="0" sz="1800" u="non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À un moment donné, cette relation est devenue parasitaire. C’est le cas lorsqu’un organisme commence à dépendre de l’autre organisme pour assurer sa survie. À mesure que le petit organisme accroît sa dépendance envers le gros organisme, il perd ses structures de fabrication des protéines. Cependant, il peut toujours se répliquer. Ce nouvel organisme serait capable d’infecter de nouveaux organismes. C’est maintenant un virus.</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pic>
        <p:nvPicPr>
          <p:cNvPr descr="Résultat de recherche d'images pour &quot;Les virus&quot;" id="295" name="Google Shape;295;p28"/>
          <p:cNvPicPr preferRelativeResize="0"/>
          <p:nvPr/>
        </p:nvPicPr>
        <p:blipFill rotWithShape="1">
          <a:blip r:embed="rId3">
            <a:alphaModFix/>
          </a:blip>
          <a:srcRect b="0" l="0" r="0" t="0"/>
          <a:stretch/>
        </p:blipFill>
        <p:spPr>
          <a:xfrm>
            <a:off x="755650" y="908050"/>
            <a:ext cx="7920037" cy="4897437"/>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Thème Offi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2018-10-16T08:45:30Z</dcterms:created>
  <dc:creator>user</dc:creator>
</cp:coreProperties>
</file>

<file path=docProps/custom.xml><?xml version="1.0" encoding="utf-8"?>
<Properties xmlns="http://schemas.openxmlformats.org/officeDocument/2006/custom-properties" xmlns:vt="http://schemas.openxmlformats.org/officeDocument/2006/docPropsVTypes"/>
</file>