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9144000"/>
  <p:notesSz cx="6858000" cy="9144000"/>
  <p:embeddedFontLst>
    <p:embeddedFont>
      <p:font typeface="Arial Narrow"/>
      <p:regular r:id="rId45"/>
      <p:bold r:id="rId46"/>
      <p:italic r:id="rId47"/>
      <p:boldItalic r:id="rId48"/>
    </p:embeddedFont>
    <p:embeddedFont>
      <p:font typeface="Tahoma"/>
      <p:regular r:id="rId49"/>
      <p:bold r:id="rId50"/>
    </p:embeddedFont>
    <p:embeddedFont>
      <p:font typeface="Century Schoolbook"/>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5" roundtripDataSignature="AMtx7mgRyCLSRwzJPmdL+vkDfukGqNYh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860169-8947-41A0-ABDD-7744832E3397}">
  <a:tblStyle styleId="{C8860169-8947-41A0-ABDD-7744832E339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ArialNarrow-bold.fntdata"/><Relationship Id="rId45" Type="http://schemas.openxmlformats.org/officeDocument/2006/relationships/font" Target="fonts/ArialNarrow-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ArialNarrow-boldItalic.fntdata"/><Relationship Id="rId47" Type="http://schemas.openxmlformats.org/officeDocument/2006/relationships/font" Target="fonts/ArialNarrow-italic.fntdata"/><Relationship Id="rId49" Type="http://schemas.openxmlformats.org/officeDocument/2006/relationships/font" Target="fonts/Tahom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CenturySchoolbook-regular.fntdata"/><Relationship Id="rId50" Type="http://schemas.openxmlformats.org/officeDocument/2006/relationships/font" Target="fonts/Tahoma-bold.fntdata"/><Relationship Id="rId53" Type="http://schemas.openxmlformats.org/officeDocument/2006/relationships/font" Target="fonts/CenturySchoolbook-italic.fntdata"/><Relationship Id="rId52" Type="http://schemas.openxmlformats.org/officeDocument/2006/relationships/font" Target="fonts/CenturySchoolbook-bold.fntdata"/><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font" Target="fonts/CenturySchoolbook-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179" name="Google Shape;17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305" name="Google Shape;30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325" name="Google Shape;32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342" name="Google Shape;34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362" name="Google Shape;36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416" name="Google Shape;41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483" name="Google Shape;48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566" name="Google Shape;56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
        <p:nvSpPr>
          <p:cNvPr id="644" name="Google Shape;64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4_1_">
  <p:cSld name="74_1_">
    <p:bg>
      <p:bgPr>
        <a:solidFill>
          <a:schemeClr val="lt1">
            <a:alpha val="0"/>
          </a:schemeClr>
        </a:solidFill>
      </p:bgPr>
    </p:bg>
    <p:spTree>
      <p:nvGrpSpPr>
        <p:cNvPr id="21" name="Shape 21"/>
        <p:cNvGrpSpPr/>
        <p:nvPr/>
      </p:nvGrpSpPr>
      <p:grpSpPr>
        <a:xfrm>
          <a:off x="0" y="0"/>
          <a:ext cx="0" cy="0"/>
          <a:chOff x="0" y="0"/>
          <a:chExt cx="0" cy="0"/>
        </a:xfrm>
      </p:grpSpPr>
      <p:sp>
        <p:nvSpPr>
          <p:cNvPr id="22" name="Google Shape;22;p41"/>
          <p:cNvSpPr txBox="1"/>
          <p:nvPr>
            <p:ph idx="1" type="body"/>
          </p:nvPr>
        </p:nvSpPr>
        <p:spPr>
          <a:xfrm>
            <a:off x="698728" y="573180"/>
            <a:ext cx="7418896" cy="4798008"/>
          </a:xfrm>
          <a:prstGeom prst="rect">
            <a:avLst/>
          </a:prstGeom>
          <a:noFill/>
          <a:ln>
            <a:noFill/>
          </a:ln>
        </p:spPr>
        <p:txBody>
          <a:bodyPr anchorCtr="0" anchor="t" bIns="0" lIns="0" spcFirstLastPara="1" rIns="0" wrap="square" tIns="0">
            <a:normAutofit/>
          </a:bodyPr>
          <a:lstStyle>
            <a:lvl1pPr indent="-431800" lvl="0" marL="457200" marR="0" algn="l">
              <a:lnSpc>
                <a:spcPct val="95999"/>
              </a:lnSpc>
              <a:spcBef>
                <a:spcPts val="0"/>
              </a:spcBef>
              <a:spcAft>
                <a:spcPts val="0"/>
              </a:spcAft>
              <a:buClr>
                <a:schemeClr val="dk1"/>
              </a:buClr>
              <a:buSzPts val="3200"/>
              <a:buFont typeface="Noto Sans Symbols"/>
              <a:buChar char="∙"/>
              <a:defRPr/>
            </a:lvl1pPr>
            <a:lvl2pPr indent="-342900" lvl="1" marL="914400" algn="l">
              <a:spcBef>
                <a:spcPts val="1104"/>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1_">
  <p:cSld name="28_1_">
    <p:bg>
      <p:bgPr>
        <a:solidFill>
          <a:schemeClr val="lt1">
            <a:alpha val="0"/>
          </a:schemeClr>
        </a:solidFill>
      </p:bgPr>
    </p:bg>
    <p:spTree>
      <p:nvGrpSpPr>
        <p:cNvPr id="23" name="Shape 2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24" name="Shape 24"/>
        <p:cNvGrpSpPr/>
        <p:nvPr/>
      </p:nvGrpSpPr>
      <p:grpSpPr>
        <a:xfrm>
          <a:off x="0" y="0"/>
          <a:ext cx="0" cy="0"/>
          <a:chOff x="0" y="0"/>
          <a:chExt cx="0" cy="0"/>
        </a:xfrm>
      </p:grpSpPr>
      <p:sp>
        <p:nvSpPr>
          <p:cNvPr id="25" name="Google Shape;25;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29" name="Shape 29"/>
        <p:cNvGrpSpPr/>
        <p:nvPr/>
      </p:nvGrpSpPr>
      <p:grpSpPr>
        <a:xfrm>
          <a:off x="0" y="0"/>
          <a:ext cx="0" cy="0"/>
          <a:chOff x="0" y="0"/>
          <a:chExt cx="0" cy="0"/>
        </a:xfrm>
      </p:grpSpPr>
      <p:sp>
        <p:nvSpPr>
          <p:cNvPr id="30" name="Google Shape;3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3" name="Shape 33"/>
        <p:cNvGrpSpPr/>
        <p:nvPr/>
      </p:nvGrpSpPr>
      <p:grpSpPr>
        <a:xfrm>
          <a:off x="0" y="0"/>
          <a:ext cx="0" cy="0"/>
          <a:chOff x="0" y="0"/>
          <a:chExt cx="0" cy="0"/>
        </a:xfrm>
      </p:grpSpPr>
      <p:sp>
        <p:nvSpPr>
          <p:cNvPr id="34" name="Google Shape;34;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1_1_">
  <p:cSld name="81_1_">
    <p:bg>
      <p:bgPr>
        <a:solidFill>
          <a:schemeClr val="lt1">
            <a:alpha val="0"/>
          </a:schemeClr>
        </a:solidFill>
      </p:bgPr>
    </p:bg>
    <p:spTree>
      <p:nvGrpSpPr>
        <p:cNvPr id="39" name="Shape 39"/>
        <p:cNvGrpSpPr/>
        <p:nvPr/>
      </p:nvGrpSpPr>
      <p:grpSpPr>
        <a:xfrm>
          <a:off x="0" y="0"/>
          <a:ext cx="0" cy="0"/>
          <a:chOff x="0" y="0"/>
          <a:chExt cx="0" cy="0"/>
        </a:xfrm>
      </p:grpSpPr>
      <p:sp>
        <p:nvSpPr>
          <p:cNvPr id="40" name="Google Shape;40;p46"/>
          <p:cNvSpPr txBox="1"/>
          <p:nvPr>
            <p:ph idx="1" type="body"/>
          </p:nvPr>
        </p:nvSpPr>
        <p:spPr>
          <a:xfrm>
            <a:off x="857259" y="308193"/>
            <a:ext cx="7343974" cy="2117022"/>
          </a:xfrm>
          <a:prstGeom prst="rect">
            <a:avLst/>
          </a:prstGeom>
          <a:noFill/>
          <a:ln>
            <a:noFill/>
          </a:ln>
        </p:spPr>
        <p:txBody>
          <a:bodyPr anchorCtr="0" anchor="t" bIns="0" lIns="0" spcFirstLastPara="1" rIns="0" wrap="square" tIns="0">
            <a:normAutofit/>
          </a:bodyPr>
          <a:lstStyle>
            <a:lvl1pPr indent="-431800" lvl="0" marL="457200" marR="0" algn="l">
              <a:lnSpc>
                <a:spcPct val="95999"/>
              </a:lnSpc>
              <a:spcBef>
                <a:spcPts val="0"/>
              </a:spcBef>
              <a:spcAft>
                <a:spcPts val="0"/>
              </a:spcAft>
              <a:buClr>
                <a:schemeClr val="dk1"/>
              </a:buClr>
              <a:buSzPts val="3200"/>
              <a:buChar char="•"/>
              <a:defRPr/>
            </a:lvl1pPr>
            <a:lvl2pPr indent="-342900" lvl="1" marL="914400" algn="l">
              <a:spcBef>
                <a:spcPts val="7731"/>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46"/>
          <p:cNvSpPr txBox="1"/>
          <p:nvPr>
            <p:ph idx="2" type="body"/>
          </p:nvPr>
        </p:nvSpPr>
        <p:spPr>
          <a:xfrm>
            <a:off x="857258" y="5339505"/>
            <a:ext cx="3028365" cy="798996"/>
          </a:xfrm>
          <a:prstGeom prst="rect">
            <a:avLst/>
          </a:prstGeom>
          <a:noFill/>
          <a:ln>
            <a:noFill/>
          </a:ln>
        </p:spPr>
        <p:txBody>
          <a:bodyPr anchorCtr="0" anchor="t" bIns="0" lIns="0" spcFirstLastPara="1" rIns="0" wrap="square" tIns="0">
            <a:normAutofit/>
          </a:bodyPr>
          <a:lstStyle>
            <a:lvl1pPr indent="-431800" lvl="0" marL="457200" marR="0" algn="ctr">
              <a:lnSpc>
                <a:spcPct val="52031"/>
              </a:lnSpc>
              <a:spcBef>
                <a:spcPts val="0"/>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 name="Google Shape;42;p46"/>
          <p:cNvSpPr txBox="1"/>
          <p:nvPr>
            <p:ph idx="3" type="body"/>
          </p:nvPr>
        </p:nvSpPr>
        <p:spPr>
          <a:xfrm>
            <a:off x="4753197" y="2425215"/>
            <a:ext cx="3448036" cy="399210"/>
          </a:xfrm>
          <a:prstGeom prst="rect">
            <a:avLst/>
          </a:prstGeom>
          <a:noFill/>
          <a:ln>
            <a:noFill/>
          </a:ln>
        </p:spPr>
        <p:txBody>
          <a:bodyPr anchorCtr="0" anchor="t" bIns="0" lIns="0" spcFirstLastPara="1" rIns="0" wrap="square" tIns="0">
            <a:normAutofit/>
          </a:bodyPr>
          <a:lstStyle>
            <a:lvl1pPr indent="-431800" lvl="0" marL="457200" marR="0" algn="l">
              <a:lnSpc>
                <a:spcPct val="130559"/>
              </a:lnSpc>
              <a:spcBef>
                <a:spcPts val="0"/>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 name="Google Shape;43;p46"/>
          <p:cNvSpPr txBox="1"/>
          <p:nvPr>
            <p:ph idx="4" type="body"/>
          </p:nvPr>
        </p:nvSpPr>
        <p:spPr>
          <a:xfrm>
            <a:off x="6785861" y="2824425"/>
            <a:ext cx="453332" cy="793235"/>
          </a:xfrm>
          <a:prstGeom prst="rect">
            <a:avLst/>
          </a:prstGeom>
          <a:noFill/>
          <a:ln>
            <a:noFill/>
          </a:ln>
        </p:spPr>
        <p:txBody>
          <a:bodyPr anchorCtr="0" anchor="t" bIns="0" lIns="0" spcFirstLastPara="1" rIns="0" wrap="square" tIns="561025">
            <a:normAutofit/>
          </a:bodyPr>
          <a:lstStyle>
            <a:lvl1pPr indent="-431800" lvl="0" marL="457200" marR="0" algn="l">
              <a:lnSpc>
                <a:spcPct val="84479"/>
              </a:lnSpc>
              <a:spcBef>
                <a:spcPts val="640"/>
              </a:spcBef>
              <a:spcAft>
                <a:spcPts val="0"/>
              </a:spcAft>
              <a:buClr>
                <a:schemeClr val="dk1"/>
              </a:buClr>
              <a:buSzPts val="3200"/>
              <a:buChar char="•"/>
              <a:defRPr/>
            </a:lvl1pPr>
            <a:lvl2pPr indent="-342900" lvl="1" marL="914400" algn="l">
              <a:spcBef>
                <a:spcPts val="473"/>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46"/>
          <p:cNvSpPr txBox="1"/>
          <p:nvPr>
            <p:ph idx="5" type="body"/>
          </p:nvPr>
        </p:nvSpPr>
        <p:spPr>
          <a:xfrm>
            <a:off x="6713111" y="3617660"/>
            <a:ext cx="1488122" cy="72008"/>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46"/>
          <p:cNvSpPr txBox="1"/>
          <p:nvPr>
            <p:ph idx="6" type="body"/>
          </p:nvPr>
        </p:nvSpPr>
        <p:spPr>
          <a:xfrm>
            <a:off x="5430751" y="3689667"/>
            <a:ext cx="208478" cy="710859"/>
          </a:xfrm>
          <a:prstGeom prst="rect">
            <a:avLst/>
          </a:prstGeom>
          <a:noFill/>
          <a:ln>
            <a:noFill/>
          </a:ln>
        </p:spPr>
        <p:txBody>
          <a:bodyPr anchorCtr="0" anchor="t" bIns="0" lIns="0" spcFirstLastPara="1" rIns="0" wrap="square" tIns="500900">
            <a:normAutofit/>
          </a:bodyPr>
          <a:lstStyle>
            <a:lvl1pPr indent="-431800" lvl="0" marL="457200" marR="0" algn="l">
              <a:lnSpc>
                <a:spcPct val="82559"/>
              </a:lnSpc>
              <a:spcBef>
                <a:spcPts val="640"/>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46"/>
          <p:cNvSpPr txBox="1"/>
          <p:nvPr>
            <p:ph idx="7" type="body"/>
          </p:nvPr>
        </p:nvSpPr>
        <p:spPr>
          <a:xfrm>
            <a:off x="6728855" y="4400526"/>
            <a:ext cx="208478" cy="668230"/>
          </a:xfrm>
          <a:prstGeom prst="rect">
            <a:avLst/>
          </a:prstGeom>
          <a:noFill/>
          <a:ln>
            <a:noFill/>
          </a:ln>
        </p:spPr>
        <p:txBody>
          <a:bodyPr anchorCtr="0" anchor="t" bIns="0" lIns="0" spcFirstLastPara="1" rIns="0" wrap="square" tIns="20025">
            <a:normAutofit/>
          </a:bodyPr>
          <a:lstStyle>
            <a:lvl1pPr indent="-431800" lvl="0" marL="457200" marR="0" algn="l">
              <a:lnSpc>
                <a:spcPct val="79679"/>
              </a:lnSpc>
              <a:spcBef>
                <a:spcPts val="640"/>
              </a:spcBef>
              <a:spcAft>
                <a:spcPts val="0"/>
              </a:spcAft>
              <a:buClr>
                <a:schemeClr val="dk1"/>
              </a:buClr>
              <a:buSzPts val="3200"/>
              <a:buChar char="•"/>
              <a:defRPr/>
            </a:lvl1pPr>
            <a:lvl2pPr indent="-342900" lvl="1" marL="914400" algn="l">
              <a:spcBef>
                <a:spcPts val="3471"/>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46"/>
          <p:cNvSpPr txBox="1"/>
          <p:nvPr>
            <p:ph idx="8" type="body"/>
          </p:nvPr>
        </p:nvSpPr>
        <p:spPr>
          <a:xfrm>
            <a:off x="4753197" y="5068756"/>
            <a:ext cx="3448036" cy="809941"/>
          </a:xfrm>
          <a:prstGeom prst="rect">
            <a:avLst/>
          </a:prstGeom>
          <a:noFill/>
          <a:ln>
            <a:noFill/>
          </a:ln>
        </p:spPr>
        <p:txBody>
          <a:bodyPr anchorCtr="0" anchor="t" bIns="0" lIns="0" spcFirstLastPara="1" rIns="0" wrap="square" tIns="0">
            <a:normAutofit/>
          </a:bodyPr>
          <a:lstStyle>
            <a:lvl1pPr indent="-431800" lvl="0" marL="457200" marR="0" algn="l">
              <a:lnSpc>
                <a:spcPct val="54781"/>
              </a:lnSpc>
              <a:spcBef>
                <a:spcPts val="0"/>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8" name="Google Shape;48;p46"/>
          <p:cNvSpPr txBox="1"/>
          <p:nvPr>
            <p:ph idx="9" type="body"/>
          </p:nvPr>
        </p:nvSpPr>
        <p:spPr>
          <a:xfrm>
            <a:off x="771478" y="2520265"/>
            <a:ext cx="854544" cy="2594000"/>
          </a:xfrm>
          <a:prstGeom prst="rect">
            <a:avLst/>
          </a:prstGeom>
          <a:noFill/>
          <a:ln>
            <a:noFill/>
          </a:ln>
        </p:spPr>
        <p:txBody>
          <a:bodyPr anchorCtr="0" anchor="t" bIns="0" lIns="0" spcFirstLastPara="1" rIns="0" wrap="square" tIns="260475">
            <a:normAutofit/>
          </a:bodyPr>
          <a:lstStyle>
            <a:lvl1pPr indent="-431800" lvl="0" marL="457200" marR="0" algn="l">
              <a:lnSpc>
                <a:spcPct val="95999"/>
              </a:lnSpc>
              <a:spcBef>
                <a:spcPts val="640"/>
              </a:spcBef>
              <a:spcAft>
                <a:spcPts val="0"/>
              </a:spcAft>
              <a:buClr>
                <a:schemeClr val="dk1"/>
              </a:buClr>
              <a:buSzPts val="3200"/>
              <a:buChar char="•"/>
              <a:defRPr/>
            </a:lvl1pPr>
            <a:lvl2pPr indent="-342900" lvl="1" marL="914400" algn="l">
              <a:spcBef>
                <a:spcPts val="1625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 name="Google Shape;49;p46"/>
          <p:cNvSpPr txBox="1"/>
          <p:nvPr>
            <p:ph idx="13" type="body"/>
          </p:nvPr>
        </p:nvSpPr>
        <p:spPr>
          <a:xfrm>
            <a:off x="4753197" y="3417767"/>
            <a:ext cx="634122" cy="957413"/>
          </a:xfrm>
          <a:prstGeom prst="rect">
            <a:avLst/>
          </a:prstGeom>
          <a:noFill/>
          <a:ln>
            <a:noFill/>
          </a:ln>
        </p:spPr>
        <p:txBody>
          <a:bodyPr anchorCtr="0" anchor="t" bIns="0" lIns="0" spcFirstLastPara="1" rIns="0" wrap="square" tIns="0">
            <a:normAutofit/>
          </a:bodyPr>
          <a:lstStyle>
            <a:lvl1pPr indent="-431800" lvl="0" marL="457200" marR="0" algn="l">
              <a:lnSpc>
                <a:spcPct val="119999"/>
              </a:lnSpc>
              <a:spcBef>
                <a:spcPts val="4418"/>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 name="Google Shape;50;p46"/>
          <p:cNvSpPr txBox="1"/>
          <p:nvPr>
            <p:ph idx="14" type="body"/>
          </p:nvPr>
        </p:nvSpPr>
        <p:spPr>
          <a:xfrm>
            <a:off x="5387318" y="3138378"/>
            <a:ext cx="421300" cy="551290"/>
          </a:xfrm>
          <a:prstGeom prst="rect">
            <a:avLst/>
          </a:prstGeom>
          <a:noFill/>
          <a:ln>
            <a:noFill/>
          </a:ln>
        </p:spPr>
        <p:txBody>
          <a:bodyPr anchorCtr="0" anchor="t" bIns="0" lIns="0" spcFirstLastPara="1" rIns="0" wrap="square" tIns="260475">
            <a:normAutofit/>
          </a:bodyPr>
          <a:lstStyle>
            <a:lvl1pPr indent="-431800" lvl="0" marL="457200" marR="0" algn="ctr">
              <a:lnSpc>
                <a:spcPct val="77759"/>
              </a:lnSpc>
              <a:spcBef>
                <a:spcPts val="640"/>
              </a:spcBef>
              <a:spcAft>
                <a:spcPts val="0"/>
              </a:spcAft>
              <a:buClr>
                <a:schemeClr val="dk1"/>
              </a:buClr>
              <a:buSzPts val="3200"/>
              <a:buChar char="•"/>
              <a:defRPr/>
            </a:lvl1pPr>
            <a:lvl2pPr indent="-342900" lvl="1" marL="914400" algn="l">
              <a:spcBef>
                <a:spcPts val="789"/>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 name="Google Shape;51;p46"/>
          <p:cNvSpPr txBox="1"/>
          <p:nvPr>
            <p:ph idx="15" type="body"/>
          </p:nvPr>
        </p:nvSpPr>
        <p:spPr>
          <a:xfrm>
            <a:off x="5808618" y="2875694"/>
            <a:ext cx="904492" cy="1703987"/>
          </a:xfrm>
          <a:prstGeom prst="rect">
            <a:avLst/>
          </a:prstGeom>
          <a:noFill/>
          <a:ln>
            <a:noFill/>
          </a:ln>
        </p:spPr>
        <p:txBody>
          <a:bodyPr anchorCtr="0" anchor="t" bIns="0" lIns="0" spcFirstLastPara="1" rIns="0" wrap="square" tIns="160275">
            <a:normAutofit/>
          </a:bodyPr>
          <a:lstStyle>
            <a:lvl1pPr indent="-431800" lvl="0" marL="457200" marR="0" algn="ctr">
              <a:lnSpc>
                <a:spcPct val="134218"/>
              </a:lnSpc>
              <a:spcBef>
                <a:spcPts val="640"/>
              </a:spcBef>
              <a:spcAft>
                <a:spcPts val="0"/>
              </a:spcAft>
              <a:buClr>
                <a:schemeClr val="dk1"/>
              </a:buClr>
              <a:buSzPts val="3200"/>
              <a:buChar char="•"/>
              <a:defRPr/>
            </a:lvl1pPr>
            <a:lvl2pPr indent="-342900" lvl="1" marL="914400" algn="l">
              <a:spcBef>
                <a:spcPts val="2367"/>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46"/>
          <p:cNvSpPr txBox="1"/>
          <p:nvPr>
            <p:ph idx="16" type="body"/>
          </p:nvPr>
        </p:nvSpPr>
        <p:spPr>
          <a:xfrm>
            <a:off x="7810336" y="2875694"/>
            <a:ext cx="390897" cy="690697"/>
          </a:xfrm>
          <a:prstGeom prst="rect">
            <a:avLst/>
          </a:prstGeom>
          <a:noFill/>
          <a:ln>
            <a:noFill/>
          </a:ln>
        </p:spPr>
        <p:txBody>
          <a:bodyPr anchorCtr="0" anchor="t" bIns="0" lIns="0" spcFirstLastPara="1" rIns="0" wrap="square" tIns="80125">
            <a:normAutofit/>
          </a:bodyPr>
          <a:lstStyle>
            <a:lvl1pPr indent="-431800" lvl="0" marL="457200" marR="0" algn="ctr">
              <a:lnSpc>
                <a:spcPct val="191999"/>
              </a:lnSpc>
              <a:spcBef>
                <a:spcPts val="640"/>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9_1_">
  <p:cSld name="79_1_">
    <p:bg>
      <p:bgPr>
        <a:solidFill>
          <a:schemeClr val="lt1">
            <a:alpha val="0"/>
          </a:schemeClr>
        </a:solidFill>
      </p:bgPr>
    </p:bg>
    <p:spTree>
      <p:nvGrpSpPr>
        <p:cNvPr id="53" name="Shape 53"/>
        <p:cNvGrpSpPr/>
        <p:nvPr/>
      </p:nvGrpSpPr>
      <p:grpSpPr>
        <a:xfrm>
          <a:off x="0" y="0"/>
          <a:ext cx="0" cy="0"/>
          <a:chOff x="0" y="0"/>
          <a:chExt cx="0" cy="0"/>
        </a:xfrm>
      </p:grpSpPr>
      <p:sp>
        <p:nvSpPr>
          <p:cNvPr id="54" name="Google Shape;54;p47"/>
          <p:cNvSpPr txBox="1"/>
          <p:nvPr>
            <p:ph idx="1" type="body"/>
          </p:nvPr>
        </p:nvSpPr>
        <p:spPr>
          <a:xfrm>
            <a:off x="1014160" y="5953009"/>
            <a:ext cx="7089348" cy="306464"/>
          </a:xfrm>
          <a:prstGeom prst="rect">
            <a:avLst/>
          </a:prstGeom>
          <a:noFill/>
          <a:ln cap="flat" cmpd="sng" w="28575">
            <a:solidFill>
              <a:srgbClr val="807E4C"/>
            </a:solidFill>
            <a:prstDash val="solid"/>
            <a:round/>
            <a:headEnd len="sm" w="sm" type="none"/>
            <a:tailEnd len="sm" w="sm" type="none"/>
          </a:ln>
        </p:spPr>
        <p:txBody>
          <a:bodyPr anchorCtr="0" anchor="t" bIns="0" lIns="0" spcFirstLastPara="1" rIns="0" wrap="square" tIns="0">
            <a:normAutofit/>
          </a:bodyPr>
          <a:lstStyle>
            <a:lvl1pPr indent="-431800" lvl="0" marL="457200" marR="0" algn="r">
              <a:lnSpc>
                <a:spcPct val="60250"/>
              </a:lnSpc>
              <a:spcBef>
                <a:spcPts val="640"/>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 name="Google Shape;55;p47"/>
          <p:cNvSpPr txBox="1"/>
          <p:nvPr>
            <p:ph idx="2" type="body"/>
          </p:nvPr>
        </p:nvSpPr>
        <p:spPr>
          <a:xfrm>
            <a:off x="1042392" y="573180"/>
            <a:ext cx="7072518" cy="1538658"/>
          </a:xfrm>
          <a:prstGeom prst="rect">
            <a:avLst/>
          </a:prstGeom>
          <a:noFill/>
          <a:ln>
            <a:noFill/>
          </a:ln>
        </p:spPr>
        <p:txBody>
          <a:bodyPr anchorCtr="0" anchor="t" bIns="0" lIns="0" spcFirstLastPara="1" rIns="0" wrap="square" tIns="0">
            <a:normAutofit/>
          </a:bodyPr>
          <a:lstStyle>
            <a:lvl1pPr indent="-431800" lvl="0" marL="457200" marR="0" algn="ctr">
              <a:lnSpc>
                <a:spcPct val="95999"/>
              </a:lnSpc>
              <a:spcBef>
                <a:spcPts val="640"/>
              </a:spcBef>
              <a:spcAft>
                <a:spcPts val="0"/>
              </a:spcAft>
              <a:buClr>
                <a:schemeClr val="dk1"/>
              </a:buClr>
              <a:buSzPts val="3200"/>
              <a:buChar char="•"/>
              <a:defRPr/>
            </a:lvl1pPr>
            <a:lvl2pPr indent="-342900" lvl="1" marL="914400" algn="l">
              <a:spcBef>
                <a:spcPts val="7415"/>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 name="Google Shape;56;p47"/>
          <p:cNvSpPr txBox="1"/>
          <p:nvPr>
            <p:ph idx="3" type="body"/>
          </p:nvPr>
        </p:nvSpPr>
        <p:spPr>
          <a:xfrm>
            <a:off x="1140116" y="2111838"/>
            <a:ext cx="7343974" cy="1255812"/>
          </a:xfrm>
          <a:prstGeom prst="rect">
            <a:avLst/>
          </a:prstGeom>
          <a:noFill/>
          <a:ln>
            <a:noFill/>
          </a:ln>
        </p:spPr>
        <p:txBody>
          <a:bodyPr anchorCtr="0" anchor="t" bIns="0" lIns="0" spcFirstLastPara="1" rIns="0" wrap="square" tIns="0">
            <a:normAutofit/>
          </a:bodyPr>
          <a:lstStyle>
            <a:lvl1pPr indent="-431800" lvl="0" marL="457200" marR="0" algn="l">
              <a:lnSpc>
                <a:spcPct val="95999"/>
              </a:lnSpc>
              <a:spcBef>
                <a:spcPts val="789"/>
              </a:spcBef>
              <a:spcAft>
                <a:spcPts val="0"/>
              </a:spcAft>
              <a:buClr>
                <a:schemeClr val="dk1"/>
              </a:buClr>
              <a:buSzPts val="3200"/>
              <a:buFont typeface="Noto Sans Symbols"/>
              <a:buChar char="∙"/>
              <a:defRPr/>
            </a:lvl1pPr>
            <a:lvl2pPr indent="-342900" lvl="1" marL="914400" algn="l">
              <a:spcBef>
                <a:spcPts val="1578"/>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7" name="Google Shape;57;p47"/>
          <p:cNvSpPr txBox="1"/>
          <p:nvPr>
            <p:ph idx="4" type="body"/>
          </p:nvPr>
        </p:nvSpPr>
        <p:spPr>
          <a:xfrm>
            <a:off x="4795001" y="5488705"/>
            <a:ext cx="3937200" cy="875036"/>
          </a:xfrm>
          <a:prstGeom prst="rect">
            <a:avLst/>
          </a:prstGeom>
          <a:noFill/>
          <a:ln>
            <a:noFill/>
          </a:ln>
        </p:spPr>
        <p:txBody>
          <a:bodyPr anchorCtr="0" anchor="t" bIns="0" lIns="0" spcFirstLastPara="1" rIns="0" wrap="square" tIns="0">
            <a:normAutofit/>
          </a:bodyPr>
          <a:lstStyle>
            <a:lvl1pPr indent="-431800" lvl="0" marL="457200" marR="641177" algn="l">
              <a:lnSpc>
                <a:spcPct val="95999"/>
              </a:lnSpc>
              <a:spcBef>
                <a:spcPts val="947"/>
              </a:spcBef>
              <a:spcAft>
                <a:spcPts val="0"/>
              </a:spcAft>
              <a:buClr>
                <a:schemeClr val="dk1"/>
              </a:buClr>
              <a:buSzPts val="3200"/>
              <a:buChar char="•"/>
              <a:defRPr/>
            </a:lvl1pPr>
            <a:lvl2pPr indent="-342900" lvl="1" marL="914400" algn="l">
              <a:spcBef>
                <a:spcPts val="473"/>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8" name="Google Shape;58;p47"/>
          <p:cNvSpPr txBox="1"/>
          <p:nvPr>
            <p:ph idx="5" type="body"/>
          </p:nvPr>
        </p:nvSpPr>
        <p:spPr>
          <a:xfrm>
            <a:off x="526625" y="3367650"/>
            <a:ext cx="638465" cy="1866436"/>
          </a:xfrm>
          <a:prstGeom prst="rect">
            <a:avLst/>
          </a:prstGeom>
          <a:noFill/>
          <a:ln>
            <a:noFill/>
          </a:ln>
        </p:spPr>
        <p:txBody>
          <a:bodyPr anchorCtr="0" anchor="t" bIns="0" lIns="0" spcFirstLastPara="1" rIns="0" wrap="square" tIns="1302375">
            <a:normAutofit/>
          </a:bodyPr>
          <a:lstStyle>
            <a:lvl1pPr indent="-431800" lvl="0" marL="457200" marR="0" algn="r">
              <a:lnSpc>
                <a:spcPct val="95999"/>
              </a:lnSpc>
              <a:spcBef>
                <a:spcPts val="640"/>
              </a:spcBef>
              <a:spcAft>
                <a:spcPts val="0"/>
              </a:spcAft>
              <a:buClr>
                <a:schemeClr val="dk1"/>
              </a:buClr>
              <a:buSzPts val="3200"/>
              <a:buChar char="•"/>
              <a:defRPr/>
            </a:lvl1pPr>
            <a:lvl2pPr indent="-342900" lvl="1" marL="914400" algn="l">
              <a:spcBef>
                <a:spcPts val="2051"/>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9" name="Google Shape;59;p47"/>
          <p:cNvSpPr txBox="1"/>
          <p:nvPr>
            <p:ph idx="6" type="body"/>
          </p:nvPr>
        </p:nvSpPr>
        <p:spPr>
          <a:xfrm>
            <a:off x="526625" y="5234086"/>
            <a:ext cx="1052707" cy="718923"/>
          </a:xfrm>
          <a:prstGeom prst="rect">
            <a:avLst/>
          </a:prstGeom>
          <a:noFill/>
          <a:ln>
            <a:noFill/>
          </a:ln>
        </p:spPr>
        <p:txBody>
          <a:bodyPr anchorCtr="0" anchor="t" bIns="0" lIns="0" spcFirstLastPara="1" rIns="0" wrap="square" tIns="0">
            <a:normAutofit/>
          </a:bodyPr>
          <a:lstStyle>
            <a:lvl1pPr indent="-431800" lvl="0" marL="457200" marR="0" algn="l">
              <a:lnSpc>
                <a:spcPct val="95999"/>
              </a:lnSpc>
              <a:spcBef>
                <a:spcPts val="640"/>
              </a:spcBef>
              <a:spcAft>
                <a:spcPts val="0"/>
              </a:spcAft>
              <a:buClr>
                <a:schemeClr val="dk1"/>
              </a:buClr>
              <a:buSzPts val="3200"/>
              <a:buChar char="•"/>
              <a:defRPr/>
            </a:lvl1pPr>
            <a:lvl2pPr indent="-342900" lvl="1" marL="914400" algn="l">
              <a:spcBef>
                <a:spcPts val="3471"/>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0" name="Google Shape;60;p47"/>
          <p:cNvSpPr txBox="1"/>
          <p:nvPr>
            <p:ph idx="7" type="body"/>
          </p:nvPr>
        </p:nvSpPr>
        <p:spPr>
          <a:xfrm>
            <a:off x="5970407" y="3367650"/>
            <a:ext cx="362122" cy="113484"/>
          </a:xfrm>
          <a:prstGeom prst="rect">
            <a:avLst/>
          </a:prstGeom>
          <a:solidFill>
            <a:srgbClr val="FFFFFF"/>
          </a:solidFill>
          <a:ln>
            <a:noFill/>
          </a:ln>
        </p:spPr>
        <p:txBody>
          <a:bodyPr anchorCtr="0" anchor="t" bIns="0" lIns="0" spcFirstLastPara="1" rIns="0" wrap="square" tIns="0">
            <a:normAutofit/>
          </a:bodyPr>
          <a:lstStyle>
            <a:lvl1pPr indent="-431800" lvl="0" marL="457200" marR="0" algn="l">
              <a:lnSpc>
                <a:spcPct val="30125"/>
              </a:lnSpc>
              <a:spcBef>
                <a:spcPts val="640"/>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_1_">
  <p:cSld name="46_1_">
    <p:bg>
      <p:bgPr>
        <a:solidFill>
          <a:schemeClr val="lt1">
            <a:alpha val="0"/>
          </a:schemeClr>
        </a:solidFill>
      </p:bgPr>
    </p:bg>
    <p:spTree>
      <p:nvGrpSpPr>
        <p:cNvPr id="61" name="Shape 61"/>
        <p:cNvGrpSpPr/>
        <p:nvPr/>
      </p:nvGrpSpPr>
      <p:grpSpPr>
        <a:xfrm>
          <a:off x="0" y="0"/>
          <a:ext cx="0" cy="0"/>
          <a:chOff x="0" y="0"/>
          <a:chExt cx="0" cy="0"/>
        </a:xfrm>
      </p:grpSpPr>
      <p:sp>
        <p:nvSpPr>
          <p:cNvPr id="62" name="Google Shape;62;p48"/>
          <p:cNvSpPr txBox="1"/>
          <p:nvPr>
            <p:ph idx="1" type="body"/>
          </p:nvPr>
        </p:nvSpPr>
        <p:spPr>
          <a:xfrm>
            <a:off x="723265" y="266065"/>
            <a:ext cx="7423785" cy="573405"/>
          </a:xfrm>
          <a:prstGeom prst="rect">
            <a:avLst/>
          </a:prstGeom>
          <a:noFill/>
          <a:ln cap="flat" cmpd="sng" w="19675">
            <a:solidFill>
              <a:srgbClr val="40E2BD"/>
            </a:solidFill>
            <a:prstDash val="solid"/>
            <a:round/>
            <a:headEnd len="sm" w="sm" type="none"/>
            <a:tailEnd len="sm" w="sm" type="none"/>
          </a:ln>
        </p:spPr>
        <p:txBody>
          <a:bodyPr anchorCtr="0" anchor="t" bIns="0" lIns="0" spcFirstLastPara="1" rIns="0" wrap="square" tIns="914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 name="Google Shape;63;p48"/>
          <p:cNvSpPr txBox="1"/>
          <p:nvPr>
            <p:ph idx="2" type="body"/>
          </p:nvPr>
        </p:nvSpPr>
        <p:spPr>
          <a:xfrm>
            <a:off x="723265" y="266065"/>
            <a:ext cx="7423785" cy="573405"/>
          </a:xfrm>
          <a:prstGeom prst="rect">
            <a:avLst/>
          </a:prstGeom>
          <a:noFill/>
          <a:ln cap="flat" cmpd="sng" w="19675">
            <a:solidFill>
              <a:srgbClr val="40E2BD"/>
            </a:solidFill>
            <a:prstDash val="solid"/>
            <a:round/>
            <a:headEnd len="sm" w="sm" type="none"/>
            <a:tailEnd len="sm" w="sm" type="none"/>
          </a:ln>
        </p:spPr>
        <p:txBody>
          <a:bodyPr anchorCtr="0" anchor="t" bIns="0" lIns="0" spcFirstLastPara="1" rIns="0" wrap="square" tIns="914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 name="Google Shape;64;p48"/>
          <p:cNvSpPr txBox="1"/>
          <p:nvPr>
            <p:ph idx="3" type="body"/>
          </p:nvPr>
        </p:nvSpPr>
        <p:spPr>
          <a:xfrm>
            <a:off x="395605" y="1106170"/>
            <a:ext cx="7429500" cy="2258695"/>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p48"/>
          <p:cNvSpPr txBox="1"/>
          <p:nvPr>
            <p:ph idx="4" type="body"/>
          </p:nvPr>
        </p:nvSpPr>
        <p:spPr>
          <a:xfrm>
            <a:off x="395605" y="6122035"/>
            <a:ext cx="7429500" cy="370840"/>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6" name="Google Shape;66;p48"/>
          <p:cNvSpPr txBox="1"/>
          <p:nvPr>
            <p:ph idx="5" type="body"/>
          </p:nvPr>
        </p:nvSpPr>
        <p:spPr>
          <a:xfrm>
            <a:off x="6129655" y="3462655"/>
            <a:ext cx="481330" cy="127635"/>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 name="Google Shape;67;p48"/>
          <p:cNvSpPr txBox="1"/>
          <p:nvPr>
            <p:ph idx="6" type="body"/>
          </p:nvPr>
        </p:nvSpPr>
        <p:spPr>
          <a:xfrm>
            <a:off x="1459865" y="4166870"/>
            <a:ext cx="512445" cy="127635"/>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8" name="Google Shape;68;p48"/>
          <p:cNvSpPr txBox="1"/>
          <p:nvPr>
            <p:ph idx="7" type="body"/>
          </p:nvPr>
        </p:nvSpPr>
        <p:spPr>
          <a:xfrm>
            <a:off x="1371600" y="5736590"/>
            <a:ext cx="1743710" cy="203835"/>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48"/>
          <p:cNvSpPr txBox="1"/>
          <p:nvPr>
            <p:ph idx="8" type="body"/>
          </p:nvPr>
        </p:nvSpPr>
        <p:spPr>
          <a:xfrm>
            <a:off x="4206240" y="5727065"/>
            <a:ext cx="511810" cy="128270"/>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_1_">
  <p:cSld name="47_1_">
    <p:bg>
      <p:bgPr>
        <a:solidFill>
          <a:schemeClr val="lt1">
            <a:alpha val="0"/>
          </a:schemeClr>
        </a:solidFill>
      </p:bgPr>
    </p:bg>
    <p:spTree>
      <p:nvGrpSpPr>
        <p:cNvPr id="70" name="Shape 70"/>
        <p:cNvGrpSpPr/>
        <p:nvPr/>
      </p:nvGrpSpPr>
      <p:grpSpPr>
        <a:xfrm>
          <a:off x="0" y="0"/>
          <a:ext cx="0" cy="0"/>
          <a:chOff x="0" y="0"/>
          <a:chExt cx="0" cy="0"/>
        </a:xfrm>
      </p:grpSpPr>
      <p:sp>
        <p:nvSpPr>
          <p:cNvPr id="71" name="Google Shape;71;p49"/>
          <p:cNvSpPr txBox="1"/>
          <p:nvPr>
            <p:ph idx="1" type="body"/>
          </p:nvPr>
        </p:nvSpPr>
        <p:spPr>
          <a:xfrm>
            <a:off x="38100" y="266065"/>
            <a:ext cx="7836535" cy="573405"/>
          </a:xfrm>
          <a:prstGeom prst="rect">
            <a:avLst/>
          </a:prstGeom>
          <a:noFill/>
          <a:ln cap="flat" cmpd="sng" w="23475">
            <a:solidFill>
              <a:srgbClr val="78E3BD"/>
            </a:solidFill>
            <a:prstDash val="solid"/>
            <a:round/>
            <a:headEnd len="sm" w="sm" type="none"/>
            <a:tailEnd len="sm" w="sm" type="none"/>
          </a:ln>
        </p:spPr>
        <p:txBody>
          <a:bodyPr anchorCtr="0" anchor="t" bIns="0" lIns="0" spcFirstLastPara="1" rIns="0" wrap="square" tIns="914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 name="Google Shape;72;p49"/>
          <p:cNvSpPr txBox="1"/>
          <p:nvPr>
            <p:ph idx="2" type="body"/>
          </p:nvPr>
        </p:nvSpPr>
        <p:spPr>
          <a:xfrm>
            <a:off x="399415" y="1106170"/>
            <a:ext cx="7848600" cy="1163955"/>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 name="Google Shape;73;p49"/>
          <p:cNvSpPr txBox="1"/>
          <p:nvPr>
            <p:ph idx="3" type="body"/>
          </p:nvPr>
        </p:nvSpPr>
        <p:spPr>
          <a:xfrm>
            <a:off x="399415" y="2270125"/>
            <a:ext cx="7848600" cy="629920"/>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49"/>
          <p:cNvSpPr txBox="1"/>
          <p:nvPr>
            <p:ph idx="4" type="body"/>
          </p:nvPr>
        </p:nvSpPr>
        <p:spPr>
          <a:xfrm>
            <a:off x="399415" y="2900045"/>
            <a:ext cx="7848600" cy="3351530"/>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9_1_">
  <p:cSld name="49_1_">
    <p:bg>
      <p:bgPr>
        <a:solidFill>
          <a:schemeClr val="lt1">
            <a:alpha val="0"/>
          </a:schemeClr>
        </a:solidFill>
      </p:bgPr>
    </p:bg>
    <p:spTree>
      <p:nvGrpSpPr>
        <p:cNvPr id="75" name="Shape 75"/>
        <p:cNvGrpSpPr/>
        <p:nvPr/>
      </p:nvGrpSpPr>
      <p:grpSpPr>
        <a:xfrm>
          <a:off x="0" y="0"/>
          <a:ext cx="0" cy="0"/>
          <a:chOff x="0" y="0"/>
          <a:chExt cx="0" cy="0"/>
        </a:xfrm>
      </p:grpSpPr>
      <p:sp>
        <p:nvSpPr>
          <p:cNvPr id="76" name="Google Shape;76;p50"/>
          <p:cNvSpPr txBox="1"/>
          <p:nvPr>
            <p:ph idx="1" type="body"/>
          </p:nvPr>
        </p:nvSpPr>
        <p:spPr>
          <a:xfrm>
            <a:off x="151765" y="266065"/>
            <a:ext cx="7884795" cy="1329055"/>
          </a:xfrm>
          <a:prstGeom prst="rect">
            <a:avLst/>
          </a:prstGeom>
          <a:noFill/>
          <a:ln cap="flat" cmpd="sng" w="39350">
            <a:solidFill>
              <a:srgbClr val="109193"/>
            </a:solidFill>
            <a:prstDash val="solid"/>
            <a:round/>
            <a:headEnd len="sm" w="sm" type="none"/>
            <a:tailEnd len="sm" w="sm" type="none"/>
          </a:ln>
        </p:spPr>
        <p:txBody>
          <a:bodyPr anchorCtr="0" anchor="t" bIns="0" lIns="0" spcFirstLastPara="1" rIns="0" wrap="square" tIns="914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0"/>
          <p:cNvSpPr txBox="1"/>
          <p:nvPr>
            <p:ph idx="2" type="body"/>
          </p:nvPr>
        </p:nvSpPr>
        <p:spPr>
          <a:xfrm>
            <a:off x="2321560" y="295275"/>
            <a:ext cx="4020185" cy="573405"/>
          </a:xfrm>
          <a:prstGeom prst="rect">
            <a:avLst/>
          </a:prstGeom>
          <a:noFill/>
          <a:ln cap="flat" cmpd="sng" w="34925">
            <a:solidFill>
              <a:srgbClr val="20E7BD"/>
            </a:solidFill>
            <a:prstDash val="solid"/>
            <a:round/>
            <a:headEnd len="sm" w="sm" type="none"/>
            <a:tailEnd len="sm" w="sm" type="none"/>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50"/>
          <p:cNvSpPr txBox="1"/>
          <p:nvPr>
            <p:ph idx="3" type="body"/>
          </p:nvPr>
        </p:nvSpPr>
        <p:spPr>
          <a:xfrm>
            <a:off x="2321560" y="295275"/>
            <a:ext cx="4020185" cy="573405"/>
          </a:xfrm>
          <a:prstGeom prst="rect">
            <a:avLst/>
          </a:prstGeom>
          <a:noFill/>
          <a:ln cap="flat" cmpd="sng" w="34925">
            <a:solidFill>
              <a:srgbClr val="20E7BD"/>
            </a:solidFill>
            <a:prstDash val="solid"/>
            <a:round/>
            <a:headEnd len="sm" w="sm" type="none"/>
            <a:tailEnd len="sm" w="sm" type="none"/>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50"/>
          <p:cNvSpPr txBox="1"/>
          <p:nvPr>
            <p:ph idx="4" type="body"/>
          </p:nvPr>
        </p:nvSpPr>
        <p:spPr>
          <a:xfrm>
            <a:off x="363220" y="1114425"/>
            <a:ext cx="7848600" cy="1732280"/>
          </a:xfrm>
          <a:prstGeom prst="rect">
            <a:avLst/>
          </a:prstGeom>
          <a:noFill/>
          <a:ln>
            <a:noFill/>
          </a:ln>
        </p:spPr>
        <p:txBody>
          <a:bodyPr anchorCtr="0" anchor="t" bIns="0" lIns="0" spcFirstLastPara="1" rIns="0" wrap="square" tIns="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6_1_">
  <p:cSld name="76_1_">
    <p:bg>
      <p:bgPr>
        <a:solidFill>
          <a:schemeClr val="lt1">
            <a:alpha val="0"/>
          </a:schemeClr>
        </a:solidFill>
      </p:bgPr>
    </p:bg>
    <p:spTree>
      <p:nvGrpSpPr>
        <p:cNvPr id="80" name="Shape 80"/>
        <p:cNvGrpSpPr/>
        <p:nvPr/>
      </p:nvGrpSpPr>
      <p:grpSpPr>
        <a:xfrm>
          <a:off x="0" y="0"/>
          <a:ext cx="0" cy="0"/>
          <a:chOff x="0" y="0"/>
          <a:chExt cx="0" cy="0"/>
        </a:xfrm>
      </p:grpSpPr>
      <p:sp>
        <p:nvSpPr>
          <p:cNvPr id="81" name="Google Shape;81;p51"/>
          <p:cNvSpPr txBox="1"/>
          <p:nvPr>
            <p:ph idx="1" type="body"/>
          </p:nvPr>
        </p:nvSpPr>
        <p:spPr>
          <a:xfrm>
            <a:off x="836628" y="308193"/>
            <a:ext cx="7481331" cy="1370448"/>
          </a:xfrm>
          <a:prstGeom prst="rect">
            <a:avLst/>
          </a:prstGeom>
          <a:noFill/>
          <a:ln>
            <a:noFill/>
          </a:ln>
        </p:spPr>
        <p:txBody>
          <a:bodyPr anchorCtr="0" anchor="t" bIns="0" lIns="0" spcFirstLastPara="1" rIns="0" wrap="square" tIns="0">
            <a:normAutofit/>
          </a:bodyPr>
          <a:lstStyle>
            <a:lvl1pPr indent="-431800" lvl="0" marL="457200" marR="0" algn="ctr">
              <a:lnSpc>
                <a:spcPct val="95999"/>
              </a:lnSpc>
              <a:spcBef>
                <a:spcPts val="0"/>
              </a:spcBef>
              <a:spcAft>
                <a:spcPts val="0"/>
              </a:spcAft>
              <a:buClr>
                <a:schemeClr val="dk1"/>
              </a:buClr>
              <a:buSzPts val="3200"/>
              <a:buChar char="•"/>
              <a:defRPr/>
            </a:lvl1pPr>
            <a:lvl2pPr indent="-342900" lvl="1" marL="914400" algn="l">
              <a:spcBef>
                <a:spcPts val="2051"/>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51"/>
          <p:cNvSpPr txBox="1"/>
          <p:nvPr>
            <p:ph idx="2" type="body"/>
          </p:nvPr>
        </p:nvSpPr>
        <p:spPr>
          <a:xfrm>
            <a:off x="3028365" y="1678641"/>
            <a:ext cx="2261772" cy="1530593"/>
          </a:xfrm>
          <a:prstGeom prst="rect">
            <a:avLst/>
          </a:prstGeom>
          <a:noFill/>
          <a:ln>
            <a:noFill/>
          </a:ln>
        </p:spPr>
        <p:txBody>
          <a:bodyPr anchorCtr="0" anchor="t" bIns="0" lIns="0" spcFirstLastPara="1" rIns="0" wrap="square" tIns="380675">
            <a:normAutofit/>
          </a:bodyPr>
          <a:lstStyle>
            <a:lvl1pPr indent="-431800" lvl="0" marL="457200" marR="0" algn="l">
              <a:lnSpc>
                <a:spcPct val="95999"/>
              </a:lnSpc>
              <a:spcBef>
                <a:spcPts val="158"/>
              </a:spcBef>
              <a:spcAft>
                <a:spcPts val="0"/>
              </a:spcAft>
              <a:buClr>
                <a:schemeClr val="dk1"/>
              </a:buClr>
              <a:buSzPts val="3200"/>
              <a:buChar char="•"/>
              <a:defRPr/>
            </a:lvl1pPr>
            <a:lvl2pPr indent="-342900" lvl="1" marL="914400" algn="l">
              <a:spcBef>
                <a:spcPts val="9151"/>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51"/>
          <p:cNvSpPr txBox="1"/>
          <p:nvPr>
            <p:ph idx="3" type="body"/>
          </p:nvPr>
        </p:nvSpPr>
        <p:spPr>
          <a:xfrm>
            <a:off x="3028365" y="4407439"/>
            <a:ext cx="2306291" cy="1020203"/>
          </a:xfrm>
          <a:prstGeom prst="rect">
            <a:avLst/>
          </a:prstGeom>
          <a:noFill/>
          <a:ln>
            <a:noFill/>
          </a:ln>
        </p:spPr>
        <p:txBody>
          <a:bodyPr anchorCtr="0" anchor="t" bIns="0" lIns="0" spcFirstLastPara="1" rIns="0" wrap="square" tIns="0">
            <a:normAutofit/>
          </a:bodyPr>
          <a:lstStyle>
            <a:lvl1pPr indent="-431800" lvl="0" marL="457200" marR="0" algn="l">
              <a:lnSpc>
                <a:spcPct val="80639"/>
              </a:lnSpc>
              <a:spcBef>
                <a:spcPts val="158"/>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1_">
  <p:cSld name="36_1_">
    <p:bg>
      <p:bgPr>
        <a:solidFill>
          <a:schemeClr val="lt1">
            <a:alpha val="0"/>
          </a:schemeClr>
        </a:solidFill>
      </p:bgPr>
    </p:bg>
    <p:spTree>
      <p:nvGrpSpPr>
        <p:cNvPr id="84" name="Shape 84"/>
        <p:cNvGrpSpPr/>
        <p:nvPr/>
      </p:nvGrpSpPr>
      <p:grpSpPr>
        <a:xfrm>
          <a:off x="0" y="0"/>
          <a:ext cx="0" cy="0"/>
          <a:chOff x="0" y="0"/>
          <a:chExt cx="0" cy="0"/>
        </a:xfrm>
      </p:grpSpPr>
      <p:sp>
        <p:nvSpPr>
          <p:cNvPr id="85" name="Google Shape;85;p52"/>
          <p:cNvSpPr txBox="1"/>
          <p:nvPr>
            <p:ph idx="1" type="body"/>
          </p:nvPr>
        </p:nvSpPr>
        <p:spPr>
          <a:xfrm>
            <a:off x="1944169" y="608896"/>
            <a:ext cx="5316197" cy="995433"/>
          </a:xfrm>
          <a:prstGeom prst="rect">
            <a:avLst/>
          </a:prstGeom>
          <a:noFill/>
          <a:ln>
            <a:noFill/>
          </a:ln>
        </p:spPr>
        <p:txBody>
          <a:bodyPr anchorCtr="0" anchor="t" bIns="0" lIns="0" spcFirstLastPara="1" rIns="0" wrap="square" tIns="0">
            <a:normAutofit/>
          </a:bodyPr>
          <a:lstStyle>
            <a:lvl1pPr indent="-431800" lvl="0" marL="457200" marR="0" algn="ctr">
              <a:lnSpc>
                <a:spcPct val="82559"/>
              </a:lnSpc>
              <a:spcBef>
                <a:spcPts val="640"/>
              </a:spcBef>
              <a:spcAft>
                <a:spcPts val="0"/>
              </a:spcAft>
              <a:buClr>
                <a:schemeClr val="dk1"/>
              </a:buClr>
              <a:buSzPts val="3200"/>
              <a:buChar char="•"/>
              <a:defRPr/>
            </a:lvl1pPr>
            <a:lvl2pPr indent="-342900" lvl="1" marL="914400" algn="l">
              <a:spcBef>
                <a:spcPts val="4102"/>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52"/>
          <p:cNvSpPr txBox="1"/>
          <p:nvPr>
            <p:ph idx="2" type="body"/>
          </p:nvPr>
        </p:nvSpPr>
        <p:spPr>
          <a:xfrm>
            <a:off x="1282359" y="1604329"/>
            <a:ext cx="6732112" cy="1666543"/>
          </a:xfrm>
          <a:prstGeom prst="rect">
            <a:avLst/>
          </a:prstGeom>
          <a:noFill/>
          <a:ln>
            <a:noFill/>
          </a:ln>
        </p:spPr>
        <p:txBody>
          <a:bodyPr anchorCtr="0" anchor="t" bIns="0" lIns="0" spcFirstLastPara="1" rIns="0" wrap="square" tIns="0">
            <a:normAutofit/>
          </a:bodyPr>
          <a:lstStyle>
            <a:lvl1pPr indent="-431800" lvl="0" marL="457200" marR="0" algn="l">
              <a:lnSpc>
                <a:spcPct val="95999"/>
              </a:lnSpc>
              <a:spcBef>
                <a:spcPts val="0"/>
              </a:spcBef>
              <a:spcAft>
                <a:spcPts val="0"/>
              </a:spcAft>
              <a:buClr>
                <a:schemeClr val="dk1"/>
              </a:buClr>
              <a:buSzPts val="3200"/>
              <a:buChar char="•"/>
              <a:defRPr/>
            </a:lvl1pPr>
            <a:lvl2pPr indent="-342900" lvl="1" marL="914400" algn="l">
              <a:spcBef>
                <a:spcPts val="3786"/>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8_1_">
  <p:cSld name="78_1_">
    <p:bg>
      <p:bgPr>
        <a:solidFill>
          <a:schemeClr val="lt1">
            <a:alpha val="0"/>
          </a:schemeClr>
        </a:solidFill>
      </p:bgPr>
    </p:bg>
    <p:spTree>
      <p:nvGrpSpPr>
        <p:cNvPr id="87" name="Shape 87"/>
        <p:cNvGrpSpPr/>
        <p:nvPr/>
      </p:nvGrpSpPr>
      <p:grpSpPr>
        <a:xfrm>
          <a:off x="0" y="0"/>
          <a:ext cx="0" cy="0"/>
          <a:chOff x="0" y="0"/>
          <a:chExt cx="0" cy="0"/>
        </a:xfrm>
      </p:grpSpPr>
      <p:sp>
        <p:nvSpPr>
          <p:cNvPr id="88" name="Google Shape;88;p53"/>
          <p:cNvSpPr txBox="1"/>
          <p:nvPr>
            <p:ph idx="1" type="body"/>
          </p:nvPr>
        </p:nvSpPr>
        <p:spPr>
          <a:xfrm>
            <a:off x="1014160" y="5953009"/>
            <a:ext cx="7089348" cy="306464"/>
          </a:xfrm>
          <a:prstGeom prst="rect">
            <a:avLst/>
          </a:prstGeom>
          <a:noFill/>
          <a:ln cap="flat" cmpd="sng" w="28575">
            <a:solidFill>
              <a:srgbClr val="807E4C"/>
            </a:solidFill>
            <a:prstDash val="solid"/>
            <a:round/>
            <a:headEnd len="sm" w="sm" type="none"/>
            <a:tailEnd len="sm" w="sm" type="none"/>
          </a:ln>
        </p:spPr>
        <p:txBody>
          <a:bodyPr anchorCtr="0" anchor="t" bIns="0" lIns="0" spcFirstLastPara="1" rIns="0" wrap="square" tIns="0">
            <a:normAutofit/>
          </a:bodyPr>
          <a:lstStyle>
            <a:lvl1pPr indent="-431800" lvl="0" marL="457200" marR="0" algn="r">
              <a:lnSpc>
                <a:spcPct val="60250"/>
              </a:lnSpc>
              <a:spcBef>
                <a:spcPts val="640"/>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9" name="Google Shape;89;p53"/>
          <p:cNvSpPr txBox="1"/>
          <p:nvPr>
            <p:ph idx="2" type="body"/>
          </p:nvPr>
        </p:nvSpPr>
        <p:spPr>
          <a:xfrm>
            <a:off x="1019047" y="573180"/>
            <a:ext cx="7072518" cy="1605481"/>
          </a:xfrm>
          <a:prstGeom prst="rect">
            <a:avLst/>
          </a:prstGeom>
          <a:noFill/>
          <a:ln>
            <a:noFill/>
          </a:ln>
        </p:spPr>
        <p:txBody>
          <a:bodyPr anchorCtr="0" anchor="t" bIns="0" lIns="0" spcFirstLastPara="1" rIns="0" wrap="square" tIns="0">
            <a:normAutofit/>
          </a:bodyPr>
          <a:lstStyle>
            <a:lvl1pPr indent="-431800" lvl="0" marL="457200" marR="0" algn="ctr">
              <a:lnSpc>
                <a:spcPct val="95999"/>
              </a:lnSpc>
              <a:spcBef>
                <a:spcPts val="640"/>
              </a:spcBef>
              <a:spcAft>
                <a:spcPts val="0"/>
              </a:spcAft>
              <a:buClr>
                <a:schemeClr val="dk1"/>
              </a:buClr>
              <a:buSzPts val="3200"/>
              <a:buChar char="•"/>
              <a:defRPr/>
            </a:lvl1pPr>
            <a:lvl2pPr indent="-342900" lvl="1" marL="914400" algn="l">
              <a:spcBef>
                <a:spcPts val="7889"/>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0" name="Google Shape;90;p53"/>
          <p:cNvSpPr txBox="1"/>
          <p:nvPr>
            <p:ph idx="3" type="body"/>
          </p:nvPr>
        </p:nvSpPr>
        <p:spPr>
          <a:xfrm>
            <a:off x="2509341" y="2339382"/>
            <a:ext cx="1167804" cy="417644"/>
          </a:xfrm>
          <a:prstGeom prst="rect">
            <a:avLst/>
          </a:prstGeom>
          <a:solidFill>
            <a:srgbClr val="FFFFFF"/>
          </a:solidFill>
          <a:ln>
            <a:noFill/>
          </a:ln>
        </p:spPr>
        <p:txBody>
          <a:bodyPr anchorCtr="0" anchor="t" bIns="0" lIns="0" spcFirstLastPara="1" rIns="0" wrap="square" tIns="0">
            <a:normAutofit/>
          </a:bodyPr>
          <a:lstStyle>
            <a:lvl1pPr indent="-431800" lvl="0" marL="457200" marR="0" algn="ctr">
              <a:lnSpc>
                <a:spcPct val="46562"/>
              </a:lnSpc>
              <a:spcBef>
                <a:spcPts val="316"/>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1" name="Google Shape;91;p53"/>
          <p:cNvSpPr txBox="1"/>
          <p:nvPr>
            <p:ph idx="4" type="body"/>
          </p:nvPr>
        </p:nvSpPr>
        <p:spPr>
          <a:xfrm>
            <a:off x="4294436" y="2178660"/>
            <a:ext cx="2647783" cy="309921"/>
          </a:xfrm>
          <a:prstGeom prst="rect">
            <a:avLst/>
          </a:prstGeom>
          <a:solidFill>
            <a:srgbClr val="FFFE00"/>
          </a:solidFill>
          <a:ln>
            <a:noFill/>
          </a:ln>
        </p:spPr>
        <p:txBody>
          <a:bodyPr anchorCtr="0" anchor="t" bIns="0" lIns="0" spcFirstLastPara="1" rIns="0" wrap="square" tIns="60100">
            <a:normAutofit/>
          </a:bodyPr>
          <a:lstStyle>
            <a:lvl1pPr indent="-431800" lvl="0" marL="457200" marR="0" algn="l">
              <a:lnSpc>
                <a:spcPct val="81599"/>
              </a:lnSpc>
              <a:spcBef>
                <a:spcPts val="640"/>
              </a:spcBef>
              <a:spcAft>
                <a:spcPts val="0"/>
              </a:spcAft>
              <a:buClr>
                <a:schemeClr val="dk1"/>
              </a:buClr>
              <a:buSzPts val="3200"/>
              <a:buChar char="•"/>
              <a:defRPr/>
            </a:lvl1pPr>
            <a:lvl2pPr indent="-342900" lvl="1" marL="914400" algn="l">
              <a:spcBef>
                <a:spcPts val="473"/>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53"/>
          <p:cNvSpPr txBox="1"/>
          <p:nvPr>
            <p:ph idx="5" type="body"/>
          </p:nvPr>
        </p:nvSpPr>
        <p:spPr>
          <a:xfrm>
            <a:off x="6423738" y="4233468"/>
            <a:ext cx="1036962" cy="912480"/>
          </a:xfrm>
          <a:prstGeom prst="rect">
            <a:avLst/>
          </a:prstGeom>
          <a:solidFill>
            <a:srgbClr val="FFFFFF"/>
          </a:solidFill>
          <a:ln>
            <a:noFill/>
          </a:ln>
        </p:spPr>
        <p:txBody>
          <a:bodyPr anchorCtr="0" anchor="t" bIns="0" lIns="0" spcFirstLastPara="1" rIns="0" wrap="square" tIns="0">
            <a:normAutofit/>
          </a:bodyPr>
          <a:lstStyle>
            <a:lvl1pPr indent="-431800" lvl="0" marL="457200" marR="0" algn="ctr">
              <a:lnSpc>
                <a:spcPct val="43812"/>
              </a:lnSpc>
              <a:spcBef>
                <a:spcPts val="473"/>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53"/>
          <p:cNvSpPr txBox="1"/>
          <p:nvPr>
            <p:ph idx="6" type="body"/>
          </p:nvPr>
        </p:nvSpPr>
        <p:spPr>
          <a:xfrm>
            <a:off x="1805727" y="4244414"/>
            <a:ext cx="829027" cy="666502"/>
          </a:xfrm>
          <a:prstGeom prst="rect">
            <a:avLst/>
          </a:prstGeom>
          <a:solidFill>
            <a:srgbClr val="FFFFFF"/>
          </a:solidFill>
          <a:ln>
            <a:noFill/>
          </a:ln>
        </p:spPr>
        <p:txBody>
          <a:bodyPr anchorCtr="0" anchor="t" bIns="0" lIns="0" spcFirstLastPara="1" rIns="0" wrap="square" tIns="0">
            <a:normAutofit/>
          </a:bodyPr>
          <a:lstStyle>
            <a:lvl1pPr indent="-431800" lvl="0" marL="457200" marR="0" algn="l">
              <a:lnSpc>
                <a:spcPct val="41093"/>
              </a:lnSpc>
              <a:spcBef>
                <a:spcPts val="473"/>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53"/>
          <p:cNvSpPr txBox="1"/>
          <p:nvPr>
            <p:ph idx="7" type="body"/>
          </p:nvPr>
        </p:nvSpPr>
        <p:spPr>
          <a:xfrm>
            <a:off x="3221099" y="4628646"/>
            <a:ext cx="807853" cy="425709"/>
          </a:xfrm>
          <a:prstGeom prst="rect">
            <a:avLst/>
          </a:prstGeom>
          <a:solidFill>
            <a:srgbClr val="FFFFFF"/>
          </a:solidFill>
          <a:ln>
            <a:noFill/>
          </a:ln>
        </p:spPr>
        <p:txBody>
          <a:bodyPr anchorCtr="0" anchor="t" bIns="0" lIns="0" spcFirstLastPara="1" rIns="0" wrap="square" tIns="0">
            <a:normAutofit/>
          </a:bodyPr>
          <a:lstStyle>
            <a:lvl1pPr indent="-431800" lvl="0" marL="457200" marR="0" algn="ctr">
              <a:lnSpc>
                <a:spcPct val="46562"/>
              </a:lnSpc>
              <a:spcBef>
                <a:spcPts val="316"/>
              </a:spcBef>
              <a:spcAft>
                <a:spcPts val="0"/>
              </a:spcAft>
              <a:buClr>
                <a:schemeClr val="dk1"/>
              </a:buClr>
              <a:buSzPts val="32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53"/>
          <p:cNvSpPr txBox="1"/>
          <p:nvPr>
            <p:ph idx="8" type="body"/>
          </p:nvPr>
        </p:nvSpPr>
        <p:spPr>
          <a:xfrm>
            <a:off x="4771656" y="5291692"/>
            <a:ext cx="1237840" cy="661317"/>
          </a:xfrm>
          <a:prstGeom prst="rect">
            <a:avLst/>
          </a:prstGeom>
          <a:noFill/>
          <a:ln>
            <a:noFill/>
          </a:ln>
        </p:spPr>
        <p:txBody>
          <a:bodyPr anchorCtr="0" anchor="t" bIns="0" lIns="0" spcFirstLastPara="1" rIns="0" wrap="square" tIns="0">
            <a:normAutofit/>
          </a:bodyPr>
          <a:lstStyle>
            <a:lvl1pPr indent="-431800" lvl="0" marL="457200" marR="0" algn="l">
              <a:lnSpc>
                <a:spcPct val="95999"/>
              </a:lnSpc>
              <a:spcBef>
                <a:spcPts val="640"/>
              </a:spcBef>
              <a:spcAft>
                <a:spcPts val="0"/>
              </a:spcAft>
              <a:buClr>
                <a:schemeClr val="dk1"/>
              </a:buClr>
              <a:buSzPts val="3200"/>
              <a:buChar char="•"/>
              <a:defRPr/>
            </a:lvl1pPr>
            <a:lvl2pPr indent="-342900" lvl="1" marL="914400" algn="l">
              <a:spcBef>
                <a:spcPts val="284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96" name="Shape 96"/>
        <p:cNvGrpSpPr/>
        <p:nvPr/>
      </p:nvGrpSpPr>
      <p:grpSpPr>
        <a:xfrm>
          <a:off x="0" y="0"/>
          <a:ext cx="0" cy="0"/>
          <a:chOff x="0" y="0"/>
          <a:chExt cx="0" cy="0"/>
        </a:xfrm>
      </p:grpSpPr>
      <p:sp>
        <p:nvSpPr>
          <p:cNvPr id="97" name="Google Shape;97;p5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5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99" name="Google Shape;99;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102" name="Shape 102"/>
        <p:cNvGrpSpPr/>
        <p:nvPr/>
      </p:nvGrpSpPr>
      <p:grpSpPr>
        <a:xfrm>
          <a:off x="0" y="0"/>
          <a:ext cx="0" cy="0"/>
          <a:chOff x="0" y="0"/>
          <a:chExt cx="0" cy="0"/>
        </a:xfrm>
      </p:grpSpPr>
      <p:sp>
        <p:nvSpPr>
          <p:cNvPr id="103" name="Google Shape;103;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5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05" name="Google Shape;105;p5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06" name="Google Shape;106;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109" name="Shape 109"/>
        <p:cNvGrpSpPr/>
        <p:nvPr/>
      </p:nvGrpSpPr>
      <p:grpSpPr>
        <a:xfrm>
          <a:off x="0" y="0"/>
          <a:ext cx="0" cy="0"/>
          <a:chOff x="0" y="0"/>
          <a:chExt cx="0" cy="0"/>
        </a:xfrm>
      </p:grpSpPr>
      <p:sp>
        <p:nvSpPr>
          <p:cNvPr id="110" name="Google Shape;110;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5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2" name="Google Shape;112;p5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3" name="Google Shape;113;p5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4" name="Google Shape;114;p5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5" name="Google Shape;11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118" name="Shape 118"/>
        <p:cNvGrpSpPr/>
        <p:nvPr/>
      </p:nvGrpSpPr>
      <p:grpSpPr>
        <a:xfrm>
          <a:off x="0" y="0"/>
          <a:ext cx="0" cy="0"/>
          <a:chOff x="0" y="0"/>
          <a:chExt cx="0" cy="0"/>
        </a:xfrm>
      </p:grpSpPr>
      <p:sp>
        <p:nvSpPr>
          <p:cNvPr id="119" name="Google Shape;119;p5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5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21" name="Google Shape;121;p5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22" name="Google Shape;122;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125" name="Shape 125"/>
        <p:cNvGrpSpPr/>
        <p:nvPr/>
      </p:nvGrpSpPr>
      <p:grpSpPr>
        <a:xfrm>
          <a:off x="0" y="0"/>
          <a:ext cx="0" cy="0"/>
          <a:chOff x="0" y="0"/>
          <a:chExt cx="0" cy="0"/>
        </a:xfrm>
      </p:grpSpPr>
      <p:sp>
        <p:nvSpPr>
          <p:cNvPr id="126" name="Google Shape;126;p5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58"/>
          <p:cNvSpPr/>
          <p:nvPr>
            <p:ph idx="2" type="pic"/>
          </p:nvPr>
        </p:nvSpPr>
        <p:spPr>
          <a:xfrm>
            <a:off x="1792288" y="612775"/>
            <a:ext cx="5486400" cy="4114800"/>
          </a:xfrm>
          <a:prstGeom prst="rect">
            <a:avLst/>
          </a:prstGeom>
          <a:noFill/>
          <a:ln>
            <a:noFill/>
          </a:ln>
        </p:spPr>
      </p:sp>
      <p:sp>
        <p:nvSpPr>
          <p:cNvPr id="128" name="Google Shape;128;p5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29" name="Google Shape;129;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32" name="Shape 132"/>
        <p:cNvGrpSpPr/>
        <p:nvPr/>
      </p:nvGrpSpPr>
      <p:grpSpPr>
        <a:xfrm>
          <a:off x="0" y="0"/>
          <a:ext cx="0" cy="0"/>
          <a:chOff x="0" y="0"/>
          <a:chExt cx="0" cy="0"/>
        </a:xfrm>
      </p:grpSpPr>
      <p:sp>
        <p:nvSpPr>
          <p:cNvPr id="133" name="Google Shape;133;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5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5" name="Google Shape;135;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38" name="Shape 138"/>
        <p:cNvGrpSpPr/>
        <p:nvPr/>
      </p:nvGrpSpPr>
      <p:grpSpPr>
        <a:xfrm>
          <a:off x="0" y="0"/>
          <a:ext cx="0" cy="0"/>
          <a:chOff x="0" y="0"/>
          <a:chExt cx="0" cy="0"/>
        </a:xfrm>
      </p:grpSpPr>
      <p:sp>
        <p:nvSpPr>
          <p:cNvPr id="139" name="Google Shape;139;p6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6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1" name="Google Shape;141;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www.aquaportail.com/pictures1305/spectrine.jpg" TargetMode="Externa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36.png"/><Relationship Id="rId5" Type="http://schemas.openxmlformats.org/officeDocument/2006/relationships/image" Target="../media/image14.png"/><Relationship Id="rId6" Type="http://schemas.openxmlformats.org/officeDocument/2006/relationships/image" Target="../media/image6.jpg"/><Relationship Id="rId7"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21.png"/><Relationship Id="rId4" Type="http://schemas.openxmlformats.org/officeDocument/2006/relationships/image" Target="../media/image3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4.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2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idx="1" type="subTitle"/>
          </p:nvPr>
        </p:nvSpPr>
        <p:spPr>
          <a:xfrm>
            <a:off x="467544" y="0"/>
            <a:ext cx="8215370" cy="2016224"/>
          </a:xfrm>
          <a:prstGeom prst="rect">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None/>
            </a:pPr>
            <a:r>
              <a:rPr lang="fr-FR" sz="4400">
                <a:solidFill>
                  <a:schemeClr val="dk1"/>
                </a:solidFill>
                <a:latin typeface="Century Schoolbook"/>
                <a:ea typeface="Century Schoolbook"/>
                <a:cs typeface="Century Schoolbook"/>
                <a:sym typeface="Century Schoolbook"/>
              </a:rPr>
              <a:t>La membrane plasmique</a:t>
            </a:r>
            <a:endParaRPr/>
          </a:p>
          <a:p>
            <a:pPr indent="0" lvl="0" marL="0" rtl="0" algn="ctr">
              <a:spcBef>
                <a:spcPts val="880"/>
              </a:spcBef>
              <a:spcAft>
                <a:spcPts val="0"/>
              </a:spcAft>
              <a:buClr>
                <a:schemeClr val="dk1"/>
              </a:buClr>
              <a:buSzPts val="4400"/>
              <a:buNone/>
            </a:pPr>
            <a:r>
              <a:rPr lang="fr-FR" sz="4400">
                <a:solidFill>
                  <a:schemeClr val="dk1"/>
                </a:solidFill>
                <a:latin typeface="Century Schoolbook"/>
                <a:ea typeface="Century Schoolbook"/>
                <a:cs typeface="Century Schoolbook"/>
                <a:sym typeface="Century Schoolbook"/>
              </a:rPr>
              <a:t>Aspect ultra-structural</a:t>
            </a:r>
            <a:endParaRPr/>
          </a:p>
        </p:txBody>
      </p:sp>
      <p:pic>
        <p:nvPicPr>
          <p:cNvPr id="149" name="Google Shape;149;p1"/>
          <p:cNvPicPr preferRelativeResize="0"/>
          <p:nvPr/>
        </p:nvPicPr>
        <p:blipFill rotWithShape="1">
          <a:blip r:embed="rId3">
            <a:alphaModFix/>
          </a:blip>
          <a:srcRect b="0" l="0" r="0" t="0"/>
          <a:stretch/>
        </p:blipFill>
        <p:spPr>
          <a:xfrm>
            <a:off x="1022404" y="2276872"/>
            <a:ext cx="7105650" cy="3867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
          <p:cNvSpPr txBox="1"/>
          <p:nvPr>
            <p:ph idx="1" type="body"/>
          </p:nvPr>
        </p:nvSpPr>
        <p:spPr>
          <a:xfrm>
            <a:off x="966788" y="620687"/>
            <a:ext cx="7481887" cy="720081"/>
          </a:xfrm>
          <a:prstGeom prst="rect">
            <a:avLst/>
          </a:prstGeom>
          <a:noFill/>
          <a:ln>
            <a:noFill/>
          </a:ln>
        </p:spPr>
        <p:txBody>
          <a:bodyPr anchorCtr="0" anchor="t" bIns="0" lIns="0" spcFirstLastPara="1" rIns="0" wrap="square" tIns="0">
            <a:normAutofit/>
          </a:bodyPr>
          <a:lstStyle/>
          <a:p>
            <a:pPr indent="0" lvl="0" marL="80147" rtl="0" algn="l">
              <a:lnSpc>
                <a:spcPct val="95999"/>
              </a:lnSpc>
              <a:spcBef>
                <a:spcPts val="0"/>
              </a:spcBef>
              <a:spcAft>
                <a:spcPts val="0"/>
              </a:spcAft>
              <a:buClr>
                <a:srgbClr val="D83804"/>
              </a:buClr>
              <a:buSzPts val="3200"/>
              <a:buNone/>
            </a:pPr>
            <a:r>
              <a:rPr b="1" lang="fr-FR">
                <a:solidFill>
                  <a:srgbClr val="D83804"/>
                </a:solidFill>
                <a:latin typeface="Arial"/>
                <a:ea typeface="Arial"/>
                <a:cs typeface="Arial"/>
                <a:sym typeface="Arial"/>
              </a:rPr>
              <a:t>Structure de la membrane plasmique</a:t>
            </a:r>
            <a:endParaRPr/>
          </a:p>
        </p:txBody>
      </p:sp>
      <p:sp>
        <p:nvSpPr>
          <p:cNvPr id="155" name="Google Shape;155;p2"/>
          <p:cNvSpPr/>
          <p:nvPr/>
        </p:nvSpPr>
        <p:spPr>
          <a:xfrm>
            <a:off x="180118" y="2564904"/>
            <a:ext cx="3671802" cy="2123787"/>
          </a:xfrm>
          <a:prstGeom prst="rect">
            <a:avLst/>
          </a:prstGeom>
          <a:noFill/>
          <a:ln>
            <a:noFill/>
          </a:ln>
        </p:spPr>
        <p:txBody>
          <a:bodyPr anchorCtr="0" anchor="t" bIns="45700" lIns="91425" spcFirstLastPara="1" rIns="91425" wrap="square" tIns="45700">
            <a:spAutoFit/>
          </a:bodyPr>
          <a:lstStyle/>
          <a:p>
            <a:pPr indent="-273049" lvl="0" marL="477838" marR="0" rtl="0" algn="just">
              <a:lnSpc>
                <a:spcPct val="96000"/>
              </a:lnSpc>
              <a:spcBef>
                <a:spcPts val="0"/>
              </a:spcBef>
              <a:spcAft>
                <a:spcPts val="0"/>
              </a:spcAft>
              <a:buClr>
                <a:schemeClr val="dk1"/>
              </a:buClr>
              <a:buSzPts val="1800"/>
              <a:buFont typeface="Noto Sans Symbols"/>
              <a:buChar char="∙"/>
            </a:pPr>
            <a:r>
              <a:rPr b="0" i="0" lang="fr-FR" sz="1800" u="none" cap="none" strike="noStrike">
                <a:solidFill>
                  <a:schemeClr val="dk1"/>
                </a:solidFill>
                <a:latin typeface="Arial"/>
                <a:ea typeface="Arial"/>
                <a:cs typeface="Arial"/>
                <a:sym typeface="Arial"/>
              </a:rPr>
              <a:t>L’observation de la membrane plasmique au microscope optique ; fait apparaitre une fine bordure entourant un contenu cellulaire</a:t>
            </a:r>
            <a:endParaRPr/>
          </a:p>
          <a:p>
            <a:pPr indent="-273049" lvl="0" marL="477838" marR="0" rtl="0" algn="just">
              <a:lnSpc>
                <a:spcPct val="96000"/>
              </a:lnSpc>
              <a:spcBef>
                <a:spcPts val="3425"/>
              </a:spcBef>
              <a:spcAft>
                <a:spcPts val="0"/>
              </a:spcAft>
              <a:buClr>
                <a:srgbClr val="000000"/>
              </a:buClr>
              <a:buSzPts val="1800"/>
              <a:buFont typeface="Noto Sans Symbols"/>
              <a:buChar char="∙"/>
            </a:pPr>
            <a:r>
              <a:rPr b="0" i="0" lang="fr-FR" sz="1800" u="none" cap="none" strike="noStrike">
                <a:solidFill>
                  <a:srgbClr val="000000"/>
                </a:solidFill>
                <a:latin typeface="Arial"/>
                <a:ea typeface="Arial"/>
                <a:cs typeface="Arial"/>
                <a:sym typeface="Arial"/>
              </a:rPr>
              <a:t>Épaisseur : 7 à 8 nm</a:t>
            </a:r>
            <a:endParaRPr/>
          </a:p>
        </p:txBody>
      </p:sp>
      <p:pic>
        <p:nvPicPr>
          <p:cNvPr id="156" name="Google Shape;156;p2"/>
          <p:cNvPicPr preferRelativeResize="0"/>
          <p:nvPr/>
        </p:nvPicPr>
        <p:blipFill rotWithShape="1">
          <a:blip r:embed="rId3">
            <a:alphaModFix/>
          </a:blip>
          <a:srcRect b="24721" l="37698" r="16004" t="21466"/>
          <a:stretch/>
        </p:blipFill>
        <p:spPr>
          <a:xfrm>
            <a:off x="4067944" y="1844824"/>
            <a:ext cx="4824535" cy="46085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graphicFrame>
        <p:nvGraphicFramePr>
          <p:cNvPr id="161" name="Google Shape;161;p3"/>
          <p:cNvGraphicFramePr/>
          <p:nvPr/>
        </p:nvGraphicFramePr>
        <p:xfrm>
          <a:off x="-108520" y="2150894"/>
          <a:ext cx="3000000" cy="3000000"/>
        </p:xfrm>
        <a:graphic>
          <a:graphicData uri="http://schemas.openxmlformats.org/drawingml/2006/table">
            <a:tbl>
              <a:tblPr>
                <a:noFill/>
                <a:tableStyleId>{C8860169-8947-41A0-ABDD-7744832E3397}</a:tableStyleId>
              </a:tblPr>
              <a:tblGrid>
                <a:gridCol w="5407450"/>
                <a:gridCol w="204375"/>
                <a:gridCol w="3141575"/>
              </a:tblGrid>
              <a:tr h="413725">
                <a:tc rowSpan="2">
                  <a:txBody>
                    <a:bodyPr/>
                    <a:lstStyle/>
                    <a:p>
                      <a:pPr indent="-120649" lvl="0" marL="477838" marR="0" rtl="0" algn="l">
                        <a:lnSpc>
                          <a:spcPct val="96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96000"/>
                        </a:lnSpc>
                        <a:spcBef>
                          <a:spcPts val="0"/>
                        </a:spcBef>
                        <a:spcAft>
                          <a:spcPts val="0"/>
                        </a:spcAft>
                        <a:buClr>
                          <a:schemeClr val="dk1"/>
                        </a:buClr>
                        <a:buSzPts val="1600"/>
                        <a:buFont typeface="Calibri"/>
                        <a:buNone/>
                      </a:pPr>
                      <a:r>
                        <a:rPr b="0" i="0" lang="fr-FR" sz="1600" u="none" cap="none" strike="noStrike">
                          <a:solidFill>
                            <a:schemeClr val="dk1"/>
                          </a:solidFill>
                          <a:latin typeface="Calibri"/>
                          <a:ea typeface="Calibri"/>
                          <a:cs typeface="Calibri"/>
                          <a:sym typeface="Calibri"/>
                        </a:rPr>
                        <a:t> </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4E2E2"/>
                    </a:solidFill>
                  </a:tcPr>
                </a:tc>
                <a:tc>
                  <a:txBody>
                    <a:bodyPr/>
                    <a:lstStyle/>
                    <a:p>
                      <a:pPr indent="0" lvl="0" marL="0" marR="0" rtl="0" algn="r">
                        <a:lnSpc>
                          <a:spcPct val="96000"/>
                        </a:lnSpc>
                        <a:spcBef>
                          <a:spcPts val="0"/>
                        </a:spcBef>
                        <a:spcAft>
                          <a:spcPts val="0"/>
                        </a:spcAft>
                        <a:buClr>
                          <a:srgbClr val="D83804"/>
                        </a:buClr>
                        <a:buSzPts val="2000"/>
                        <a:buFont typeface="Arial"/>
                        <a:buNone/>
                      </a:pPr>
                      <a:r>
                        <a:rPr b="1" i="0" lang="fr-FR" sz="2000" u="none" cap="none" strike="noStrike">
                          <a:solidFill>
                            <a:srgbClr val="D83804"/>
                          </a:solidFill>
                          <a:latin typeface="Arial"/>
                          <a:ea typeface="Arial"/>
                          <a:cs typeface="Arial"/>
                          <a:sym typeface="Arial"/>
                        </a:rPr>
                        <a:t>Membrane</a:t>
                      </a:r>
                      <a:r>
                        <a:rPr b="1" i="0" lang="fr-FR" sz="2000" u="none" cap="none" strike="noStrike">
                          <a:solidFill>
                            <a:srgbClr val="C8252D"/>
                          </a:solidFill>
                          <a:latin typeface="Arial"/>
                          <a:ea typeface="Arial"/>
                          <a:cs typeface="Arial"/>
                          <a:sym typeface="Arial"/>
                        </a:rPr>
                        <a:t> plasmique</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4E2E2"/>
                    </a:solidFill>
                  </a:tcPr>
                </a:tc>
              </a:tr>
              <a:tr h="2358800">
                <a:tc vMerge="1"/>
                <a:tc>
                  <a:txBody>
                    <a:bodyPr/>
                    <a:lstStyle/>
                    <a:p>
                      <a:pPr indent="0" lvl="0" marL="0" marR="0" rtl="0" algn="l">
                        <a:lnSpc>
                          <a:spcPct val="100000"/>
                        </a:lnSpc>
                        <a:spcBef>
                          <a:spcPts val="0"/>
                        </a:spcBef>
                        <a:spcAft>
                          <a:spcPts val="0"/>
                        </a:spcAft>
                        <a:buClr>
                          <a:schemeClr val="dk1"/>
                        </a:buClr>
                        <a:buSzPts val="100"/>
                        <a:buFont typeface="Calibri"/>
                        <a:buNone/>
                      </a:pPr>
                      <a:r>
                        <a:rPr b="0" i="0" lang="fr-FR" sz="100" u="none" cap="none" strike="noStrike">
                          <a:solidFill>
                            <a:schemeClr val="dk1"/>
                          </a:solidFill>
                          <a:latin typeface="Calibri"/>
                          <a:ea typeface="Calibri"/>
                          <a:cs typeface="Calibri"/>
                          <a:sym typeface="Calibri"/>
                        </a:rPr>
                        <a:t> </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
                        <a:buFont typeface="Calibri"/>
                        <a:buNone/>
                      </a:pPr>
                      <a:r>
                        <a:rPr b="0" i="0" lang="fr-FR" sz="100" u="none" cap="none" strike="noStrike">
                          <a:solidFill>
                            <a:schemeClr val="dk1"/>
                          </a:solidFill>
                          <a:latin typeface="Calibri"/>
                          <a:ea typeface="Calibri"/>
                          <a:cs typeface="Calibri"/>
                          <a:sym typeface="Calibri"/>
                        </a:rPr>
                        <a:t> </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4E2E2"/>
                    </a:solidFill>
                  </a:tcPr>
                </a:tc>
              </a:tr>
            </a:tbl>
          </a:graphicData>
        </a:graphic>
      </p:graphicFrame>
      <p:pic>
        <p:nvPicPr>
          <p:cNvPr id="162" name="Google Shape;162;p3"/>
          <p:cNvPicPr preferRelativeResize="0"/>
          <p:nvPr/>
        </p:nvPicPr>
        <p:blipFill rotWithShape="1">
          <a:blip r:embed="rId3">
            <a:alphaModFix/>
          </a:blip>
          <a:srcRect b="0" l="0" r="0" t="0"/>
          <a:stretch/>
        </p:blipFill>
        <p:spPr>
          <a:xfrm>
            <a:off x="5292080" y="2492896"/>
            <a:ext cx="3352800" cy="3463231"/>
          </a:xfrm>
          <a:prstGeom prst="rect">
            <a:avLst/>
          </a:prstGeom>
          <a:noFill/>
          <a:ln>
            <a:noFill/>
          </a:ln>
        </p:spPr>
      </p:pic>
      <p:sp>
        <p:nvSpPr>
          <p:cNvPr id="163" name="Google Shape;163;p3"/>
          <p:cNvSpPr/>
          <p:nvPr/>
        </p:nvSpPr>
        <p:spPr>
          <a:xfrm>
            <a:off x="0" y="0"/>
            <a:ext cx="5037584" cy="682321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fr-FR" sz="1800" u="none" cap="none" strike="noStrike">
                <a:solidFill>
                  <a:schemeClr val="dk1"/>
                </a:solidFill>
                <a:latin typeface="Arial"/>
                <a:ea typeface="Arial"/>
                <a:cs typeface="Arial"/>
                <a:sym typeface="Arial"/>
              </a:rPr>
              <a:t>Pour étudier l’ultrastructure de la membrane plasmique, deux techniques sont utilisées.</a:t>
            </a:r>
            <a:endParaRPr/>
          </a:p>
          <a:p>
            <a:pPr indent="-342900" lvl="0" marL="342900" marR="0" rtl="0" algn="just">
              <a:lnSpc>
                <a:spcPct val="150000"/>
              </a:lnSpc>
              <a:spcBef>
                <a:spcPts val="1000"/>
              </a:spcBef>
              <a:spcAft>
                <a:spcPts val="0"/>
              </a:spcAft>
              <a:buClr>
                <a:schemeClr val="dk1"/>
              </a:buClr>
              <a:buSzPts val="1800"/>
              <a:buFont typeface="Arial"/>
              <a:buChar char="-"/>
            </a:pPr>
            <a:r>
              <a:rPr b="1" i="0" lang="fr-FR" sz="1800" u="none" cap="none" strike="noStrike">
                <a:solidFill>
                  <a:schemeClr val="dk1"/>
                </a:solidFill>
                <a:latin typeface="Century Schoolbook"/>
                <a:ea typeface="Century Schoolbook"/>
                <a:cs typeface="Century Schoolbook"/>
                <a:sym typeface="Century Schoolbook"/>
              </a:rPr>
              <a:t>la technique des coupes minces </a:t>
            </a:r>
            <a:r>
              <a:rPr b="0" i="0" lang="fr-FR" sz="1800" u="none" cap="none" strike="noStrike">
                <a:solidFill>
                  <a:schemeClr val="dk1"/>
                </a:solidFill>
                <a:latin typeface="Century Schoolbook"/>
                <a:ea typeface="Century Schoolbook"/>
                <a:cs typeface="Century Schoolbook"/>
                <a:sym typeface="Century Schoolbook"/>
              </a:rPr>
              <a:t>qui après une fixation au tétroxyde d’osmium fait apparaitre une structure tri lamellaire d’une épaisseur atteignant les 75A° formée de trois feuillets ; deux feuillets sombres séparés par un feuillet clair. Le feuillet dense externe apparait garni d’un mince film glycoprotéique </a:t>
            </a:r>
            <a:endParaRPr b="0" i="0" sz="1800" u="none" cap="none" strike="noStrike">
              <a:solidFill>
                <a:schemeClr val="dk1"/>
              </a:solidFill>
              <a:latin typeface="Century Schoolbook"/>
              <a:ea typeface="Century Schoolbook"/>
              <a:cs typeface="Century Schoolbook"/>
              <a:sym typeface="Century Schoolbook"/>
            </a:endParaRPr>
          </a:p>
          <a:p>
            <a:pPr indent="-342900" lvl="0" marL="342900" marR="0" rtl="0" algn="just">
              <a:lnSpc>
                <a:spcPct val="150000"/>
              </a:lnSpc>
              <a:spcBef>
                <a:spcPts val="0"/>
              </a:spcBef>
              <a:spcAft>
                <a:spcPts val="0"/>
              </a:spcAft>
              <a:buClr>
                <a:schemeClr val="dk1"/>
              </a:buClr>
              <a:buSzPts val="1800"/>
              <a:buFont typeface="Arial"/>
              <a:buChar char="-"/>
            </a:pPr>
            <a:r>
              <a:rPr b="1" i="0" lang="fr-FR" sz="1800" u="none" cap="none" strike="noStrike">
                <a:solidFill>
                  <a:schemeClr val="dk1"/>
                </a:solidFill>
                <a:latin typeface="Century Schoolbook"/>
                <a:ea typeface="Century Schoolbook"/>
                <a:cs typeface="Century Schoolbook"/>
                <a:sym typeface="Century Schoolbook"/>
              </a:rPr>
              <a:t>la technique des répliques</a:t>
            </a:r>
            <a:r>
              <a:rPr b="0" i="0" lang="fr-FR" sz="1800" u="none" cap="none" strike="noStrike">
                <a:solidFill>
                  <a:schemeClr val="dk1"/>
                </a:solidFill>
                <a:latin typeface="Century Schoolbook"/>
                <a:ea typeface="Century Schoolbook"/>
                <a:cs typeface="Century Schoolbook"/>
                <a:sym typeface="Century Schoolbook"/>
              </a:rPr>
              <a:t> qui après cryodécapage montre la membrane plasmique fracturé en deux hémi membrane : une hémi membrane externe exoplasmique et une hémi membrane interne du côté hyaloplasmique.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p:nvPr/>
        </p:nvSpPr>
        <p:spPr>
          <a:xfrm>
            <a:off x="-225388" y="0"/>
            <a:ext cx="9289032" cy="1314719"/>
          </a:xfrm>
          <a:prstGeom prst="rect">
            <a:avLst/>
          </a:prstGeom>
          <a:noFill/>
          <a:ln>
            <a:noFill/>
          </a:ln>
        </p:spPr>
        <p:txBody>
          <a:bodyPr anchorCtr="0" anchor="t" bIns="45700" lIns="91425" spcFirstLastPara="1" rIns="91425" wrap="square" tIns="45700">
            <a:spAutoFit/>
          </a:bodyPr>
          <a:lstStyle/>
          <a:p>
            <a:pPr indent="0" lvl="1" marL="457200" marR="0" rtl="0" algn="ctr">
              <a:lnSpc>
                <a:spcPct val="150000"/>
              </a:lnSpc>
              <a:spcBef>
                <a:spcPts val="0"/>
              </a:spcBef>
              <a:spcAft>
                <a:spcPts val="0"/>
              </a:spcAft>
              <a:buNone/>
            </a:pPr>
            <a:r>
              <a:rPr b="1" i="0" lang="fr-FR" sz="2800" u="none" cap="none" strike="noStrike">
                <a:solidFill>
                  <a:schemeClr val="dk1"/>
                </a:solidFill>
                <a:latin typeface="Century Schoolbook"/>
                <a:ea typeface="Century Schoolbook"/>
                <a:cs typeface="Century Schoolbook"/>
                <a:sym typeface="Century Schoolbook"/>
              </a:rPr>
              <a:t>Les composants chimiques de la membrane plasmique</a:t>
            </a:r>
            <a:endParaRPr b="1" i="0" sz="2800" u="none" cap="none" strike="noStrike">
              <a:solidFill>
                <a:schemeClr val="dk1"/>
              </a:solidFill>
              <a:latin typeface="Calibri"/>
              <a:ea typeface="Calibri"/>
              <a:cs typeface="Calibri"/>
              <a:sym typeface="Calibri"/>
            </a:endParaRPr>
          </a:p>
        </p:txBody>
      </p:sp>
      <p:sp>
        <p:nvSpPr>
          <p:cNvPr id="169" name="Google Shape;169;p4"/>
          <p:cNvSpPr/>
          <p:nvPr/>
        </p:nvSpPr>
        <p:spPr>
          <a:xfrm>
            <a:off x="251519" y="1470622"/>
            <a:ext cx="4304617" cy="498155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fr-FR" sz="1600" u="none" cap="none" strike="noStrike">
                <a:solidFill>
                  <a:schemeClr val="dk1"/>
                </a:solidFill>
                <a:latin typeface="Century Schoolbook"/>
                <a:ea typeface="Century Schoolbook"/>
                <a:cs typeface="Century Schoolbook"/>
                <a:sym typeface="Century Schoolbook"/>
              </a:rPr>
              <a:t>La connaissance de la composition chimique globale des membranes est ancienne tandis que celle de son architecture détaillée et du fonctionnement des diverses familles de molécules qui les constituent est relativement récente. </a:t>
            </a:r>
            <a:endParaRPr b="0" i="0" sz="1600" u="none" cap="none" strike="noStrike">
              <a:solidFill>
                <a:schemeClr val="dk1"/>
              </a:solidFill>
              <a:latin typeface="Century Schoolbook"/>
              <a:ea typeface="Century Schoolbook"/>
              <a:cs typeface="Century Schoolbook"/>
              <a:sym typeface="Century Schoolbook"/>
            </a:endParaRPr>
          </a:p>
          <a:p>
            <a:pPr indent="0" lvl="0" marL="0" marR="0" rtl="0" algn="just">
              <a:lnSpc>
                <a:spcPct val="150000"/>
              </a:lnSpc>
              <a:spcBef>
                <a:spcPts val="1000"/>
              </a:spcBef>
              <a:spcAft>
                <a:spcPts val="0"/>
              </a:spcAft>
              <a:buNone/>
            </a:pPr>
            <a:r>
              <a:rPr b="0" i="0" lang="fr-FR" sz="1600" u="none" cap="none" strike="noStrike">
                <a:solidFill>
                  <a:schemeClr val="dk1"/>
                </a:solidFill>
                <a:latin typeface="Century Schoolbook"/>
                <a:ea typeface="Century Schoolbook"/>
                <a:cs typeface="Century Schoolbook"/>
                <a:sym typeface="Century Schoolbook"/>
              </a:rPr>
              <a:t>La mise au point des techniques de fractionnement cellulaire et la puissance de méthodes analytiques telles que l’électrophorèse ont permis, ces dernières années, de se faire une idée très précise de l’organisation fonctionnelle des membranes.</a:t>
            </a:r>
            <a:endParaRPr b="0" i="0" sz="1600" u="none" cap="none" strike="noStrike">
              <a:solidFill>
                <a:schemeClr val="dk1"/>
              </a:solidFill>
              <a:latin typeface="Calibri"/>
              <a:ea typeface="Calibri"/>
              <a:cs typeface="Calibri"/>
              <a:sym typeface="Calibri"/>
            </a:endParaRPr>
          </a:p>
        </p:txBody>
      </p:sp>
      <p:pic>
        <p:nvPicPr>
          <p:cNvPr id="170" name="Google Shape;170;p4"/>
          <p:cNvPicPr preferRelativeResize="0"/>
          <p:nvPr/>
        </p:nvPicPr>
        <p:blipFill rotWithShape="1">
          <a:blip r:embed="rId3">
            <a:alphaModFix/>
          </a:blip>
          <a:srcRect b="24770" l="41463" r="1579" t="19490"/>
          <a:stretch/>
        </p:blipFill>
        <p:spPr>
          <a:xfrm>
            <a:off x="4556137" y="1772816"/>
            <a:ext cx="4336343" cy="38164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5"/>
          <p:cNvPicPr preferRelativeResize="0"/>
          <p:nvPr/>
        </p:nvPicPr>
        <p:blipFill rotWithShape="1">
          <a:blip r:embed="rId3">
            <a:alphaModFix/>
          </a:blip>
          <a:srcRect b="0" l="0" r="0" t="0"/>
          <a:stretch/>
        </p:blipFill>
        <p:spPr>
          <a:xfrm>
            <a:off x="144016" y="188640"/>
            <a:ext cx="8820472" cy="5256584"/>
          </a:xfrm>
          <a:prstGeom prst="rect">
            <a:avLst/>
          </a:prstGeom>
          <a:noFill/>
          <a:ln>
            <a:noFill/>
          </a:ln>
        </p:spPr>
      </p:pic>
      <p:sp>
        <p:nvSpPr>
          <p:cNvPr id="176" name="Google Shape;176;p5"/>
          <p:cNvSpPr/>
          <p:nvPr/>
        </p:nvSpPr>
        <p:spPr>
          <a:xfrm>
            <a:off x="449796" y="5301208"/>
            <a:ext cx="8208912"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fr-FR" sz="1800" u="none" cap="none" strike="noStrike">
                <a:solidFill>
                  <a:schemeClr val="dk1"/>
                </a:solidFill>
                <a:latin typeface="Calibri"/>
                <a:ea typeface="Calibri"/>
                <a:cs typeface="Calibri"/>
                <a:sym typeface="Calibri"/>
              </a:rPr>
              <a:t>Sans oublier le glycocalyx ou cell-coat, est un revêtement d'oligosaccharides portés par les glycoprotéines et glycolipides ainsi que de glycoprotéines spécifiques. Ce manteau moléculaire joue un rôle dans l'adhésion et l'ancrage de la cellule dans son milieu.</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6"/>
          <p:cNvSpPr txBox="1"/>
          <p:nvPr>
            <p:ph type="title"/>
          </p:nvPr>
        </p:nvSpPr>
        <p:spPr>
          <a:xfrm>
            <a:off x="19050" y="0"/>
            <a:ext cx="9144000" cy="1143000"/>
          </a:xfrm>
          <a:prstGeom prst="rect">
            <a:avLst/>
          </a:prstGeom>
          <a:solidFill>
            <a:schemeClr val="lt1"/>
          </a:solid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lang="fr-FR" sz="3600">
                <a:latin typeface="Arial"/>
                <a:ea typeface="Arial"/>
                <a:cs typeface="Arial"/>
                <a:sym typeface="Arial"/>
              </a:rPr>
              <a:t>Les membranes biologiques sont constituées majoritairement de lipides et de protéines</a:t>
            </a:r>
            <a:endParaRPr>
              <a:latin typeface="Arial"/>
              <a:ea typeface="Arial"/>
              <a:cs typeface="Arial"/>
              <a:sym typeface="Arial"/>
            </a:endParaRPr>
          </a:p>
        </p:txBody>
      </p:sp>
      <p:sp>
        <p:nvSpPr>
          <p:cNvPr id="183" name="Google Shape;183;p6"/>
          <p:cNvSpPr txBox="1"/>
          <p:nvPr/>
        </p:nvSpPr>
        <p:spPr>
          <a:xfrm>
            <a:off x="38100" y="5354065"/>
            <a:ext cx="9105900" cy="646331"/>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chemeClr val="dk1"/>
              </a:buClr>
              <a:buSzPts val="1800"/>
              <a:buFont typeface="Noto Sans Symbols"/>
              <a:buChar char="⮚"/>
            </a:pPr>
            <a:r>
              <a:rPr b="0" i="1" lang="fr-FR" sz="1800" u="none" cap="none" strike="noStrike">
                <a:solidFill>
                  <a:schemeClr val="dk1"/>
                </a:solidFill>
                <a:latin typeface="Calibri"/>
                <a:ea typeface="Calibri"/>
                <a:cs typeface="Calibri"/>
                <a:sym typeface="Calibri"/>
              </a:rPr>
              <a:t>Les protéines membranaires constituent 20% de la masse protéique des cellules</a:t>
            </a:r>
            <a:endParaRPr/>
          </a:p>
          <a:p>
            <a:pPr indent="-114300" lvl="0" marL="0" marR="0" rtl="0" algn="l">
              <a:spcBef>
                <a:spcPts val="0"/>
              </a:spcBef>
              <a:spcAft>
                <a:spcPts val="0"/>
              </a:spcAft>
              <a:buClr>
                <a:schemeClr val="dk1"/>
              </a:buClr>
              <a:buSzPts val="1800"/>
              <a:buFont typeface="Noto Sans Symbols"/>
              <a:buChar char="⮚"/>
            </a:pPr>
            <a:r>
              <a:rPr b="0" i="1" lang="fr-FR" sz="1800" u="none" cap="none" strike="noStrike">
                <a:solidFill>
                  <a:schemeClr val="dk1"/>
                </a:solidFill>
                <a:latin typeface="Calibri"/>
                <a:ea typeface="Calibri"/>
                <a:cs typeface="Calibri"/>
                <a:sym typeface="Calibri"/>
              </a:rPr>
              <a:t>Les protéines membranaires constituent </a:t>
            </a:r>
            <a:r>
              <a:rPr b="0" i="0" lang="fr-FR" sz="1800" u="none" cap="none" strike="noStrike">
                <a:solidFill>
                  <a:schemeClr val="dk1"/>
                </a:solidFill>
                <a:latin typeface="Calibri"/>
                <a:ea typeface="Calibri"/>
                <a:cs typeface="Calibri"/>
                <a:sym typeface="Calibri"/>
              </a:rPr>
              <a:t>a peu prés </a:t>
            </a:r>
            <a:r>
              <a:rPr b="0" i="1" lang="fr-FR" sz="1800" u="none" cap="none" strike="noStrike">
                <a:solidFill>
                  <a:schemeClr val="dk1"/>
                </a:solidFill>
                <a:latin typeface="Calibri"/>
                <a:ea typeface="Calibri"/>
                <a:cs typeface="Calibri"/>
                <a:sym typeface="Calibri"/>
              </a:rPr>
              <a:t>40% de la masse  des membranes</a:t>
            </a:r>
            <a:endParaRPr/>
          </a:p>
        </p:txBody>
      </p:sp>
      <p:pic>
        <p:nvPicPr>
          <p:cNvPr id="184" name="Google Shape;184;p6"/>
          <p:cNvPicPr preferRelativeResize="0"/>
          <p:nvPr/>
        </p:nvPicPr>
        <p:blipFill rotWithShape="1">
          <a:blip r:embed="rId3">
            <a:alphaModFix/>
          </a:blip>
          <a:srcRect b="29312" l="13651" r="16032" t="16295"/>
          <a:stretch/>
        </p:blipFill>
        <p:spPr>
          <a:xfrm>
            <a:off x="755576" y="1143000"/>
            <a:ext cx="7416824" cy="41764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7"/>
          <p:cNvPicPr preferRelativeResize="0"/>
          <p:nvPr/>
        </p:nvPicPr>
        <p:blipFill rotWithShape="1">
          <a:blip r:embed="rId3">
            <a:alphaModFix/>
          </a:blip>
          <a:srcRect b="0" l="0" r="0" t="0"/>
          <a:stretch/>
        </p:blipFill>
        <p:spPr>
          <a:xfrm>
            <a:off x="971600" y="1628800"/>
            <a:ext cx="6984776" cy="33843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8"/>
          <p:cNvPicPr preferRelativeResize="0"/>
          <p:nvPr/>
        </p:nvPicPr>
        <p:blipFill rotWithShape="1">
          <a:blip r:embed="rId3">
            <a:alphaModFix/>
          </a:blip>
          <a:srcRect b="34908" l="0" r="0" t="34386"/>
          <a:stretch/>
        </p:blipFill>
        <p:spPr>
          <a:xfrm>
            <a:off x="611560" y="404664"/>
            <a:ext cx="7776863" cy="2880320"/>
          </a:xfrm>
          <a:prstGeom prst="rect">
            <a:avLst/>
          </a:prstGeom>
          <a:noFill/>
          <a:ln>
            <a:noFill/>
          </a:ln>
        </p:spPr>
      </p:pic>
      <p:sp>
        <p:nvSpPr>
          <p:cNvPr id="195" name="Google Shape;195;p8"/>
          <p:cNvSpPr/>
          <p:nvPr/>
        </p:nvSpPr>
        <p:spPr>
          <a:xfrm>
            <a:off x="251519" y="3429000"/>
            <a:ext cx="8496944"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fr-FR" sz="1800" u="none" cap="none" strike="noStrike">
                <a:solidFill>
                  <a:schemeClr val="dk1"/>
                </a:solidFill>
                <a:latin typeface="Century Schoolbook"/>
                <a:ea typeface="Century Schoolbook"/>
                <a:cs typeface="Century Schoolbook"/>
                <a:sym typeface="Century Schoolbook"/>
              </a:rPr>
              <a:t>La membrane érythrocytaire assure au globule rouge sa forme biconcave, sa plasticité et sa déformabilité. Elle porte également des déterminants de groupes sanguins et représente un modèle idéal pour l'étude de la structure et des fonctions des membranes cellulaires. Les composants glucidiques, lipidiques et protéiques ne se répartissent pas d'une manière équivalente sur les faces externes et internes de la membrane.</a:t>
            </a:r>
            <a:endParaRPr/>
          </a:p>
          <a:p>
            <a:pPr indent="0" lvl="0" marL="0" marR="0" rtl="0" algn="just">
              <a:spcBef>
                <a:spcPts val="0"/>
              </a:spcBef>
              <a:spcAft>
                <a:spcPts val="0"/>
              </a:spcAft>
              <a:buNone/>
            </a:pPr>
            <a:r>
              <a:rPr b="0" i="0" lang="fr-FR" sz="1800" u="none" cap="none" strike="noStrike">
                <a:solidFill>
                  <a:schemeClr val="dk1"/>
                </a:solidFill>
                <a:latin typeface="Century Schoolbook"/>
                <a:ea typeface="Century Schoolbook"/>
                <a:cs typeface="Century Schoolbook"/>
                <a:sym typeface="Century Schoolbook"/>
              </a:rPr>
              <a:t>La membrane plasmique des hématies par exemple est composée de deux principaux constituants distribués selon les proportions suivantes ; 40% de lipides, 52% de protéines sans oublier les glucides qui représentent 8% des constituants membranaires érythrocytaires.</a:t>
            </a:r>
            <a:endParaRPr/>
          </a:p>
          <a:p>
            <a:pPr indent="0" lvl="0" marL="0" marR="0" rtl="0" algn="just">
              <a:spcBef>
                <a:spcPts val="0"/>
              </a:spcBef>
              <a:spcAft>
                <a:spcPts val="0"/>
              </a:spcAft>
              <a:buNone/>
            </a:pPr>
            <a:r>
              <a:t/>
            </a:r>
            <a:endParaRPr b="1" i="0" sz="1800" u="none" cap="none" strike="noStrike">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fr-FR"/>
              <a:t>Face intracellulaire de l’érythrocyte</a:t>
            </a:r>
            <a:endParaRPr/>
          </a:p>
        </p:txBody>
      </p:sp>
      <p:pic>
        <p:nvPicPr>
          <p:cNvPr descr="http://monde.ccdmd.qc.ca/media/image1024/55912.jpg" id="201" name="Google Shape;201;p9"/>
          <p:cNvPicPr preferRelativeResize="0"/>
          <p:nvPr/>
        </p:nvPicPr>
        <p:blipFill rotWithShape="1">
          <a:blip r:embed="rId3">
            <a:alphaModFix/>
          </a:blip>
          <a:srcRect b="0" l="0" r="0" t="0"/>
          <a:stretch/>
        </p:blipFill>
        <p:spPr>
          <a:xfrm>
            <a:off x="581025" y="1398588"/>
            <a:ext cx="8316913" cy="47259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p:nvPr/>
        </p:nvSpPr>
        <p:spPr>
          <a:xfrm>
            <a:off x="960041" y="76369"/>
            <a:ext cx="6950942" cy="286232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Localisation de la spectrine dans la membrane érythrocytaire </a:t>
            </a:r>
            <a:endParaRPr/>
          </a:p>
          <a:p>
            <a:pPr indent="0" lvl="0" marL="0" marR="0" rtl="0" algn="l">
              <a:lnSpc>
                <a:spcPct val="100000"/>
              </a:lnSpc>
              <a:spcBef>
                <a:spcPts val="0"/>
              </a:spcBef>
              <a:spcAft>
                <a:spcPts val="0"/>
              </a:spcAft>
              <a:buClr>
                <a:schemeClr val="dk1"/>
              </a:buClr>
              <a:buSzPts val="1800"/>
              <a:buFont typeface="Arial"/>
              <a:buNone/>
            </a:pPr>
            <a:br>
              <a:rPr b="0" i="0" lang="fr-FR" sz="1800" u="none" cap="none" strike="noStrike">
                <a:solidFill>
                  <a:schemeClr val="dk1"/>
                </a:solidFill>
                <a:latin typeface="Arial"/>
                <a:ea typeface="Arial"/>
                <a:cs typeface="Arial"/>
                <a:sym typeface="Arial"/>
              </a:rPr>
            </a:br>
            <a:r>
              <a:rPr b="0" i="0" lang="fr-FR" sz="144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descr="Spectrine dans une membrane plasmique" id="207" name="Google Shape;207;p10">
            <a:hlinkClick r:id="rId3"/>
          </p:cNvPr>
          <p:cNvPicPr preferRelativeResize="0"/>
          <p:nvPr/>
        </p:nvPicPr>
        <p:blipFill rotWithShape="1">
          <a:blip r:embed="rId4">
            <a:alphaModFix/>
          </a:blip>
          <a:srcRect b="0" l="0" r="0" t="0"/>
          <a:stretch/>
        </p:blipFill>
        <p:spPr>
          <a:xfrm>
            <a:off x="3059832" y="652691"/>
            <a:ext cx="3048000" cy="2286000"/>
          </a:xfrm>
          <a:prstGeom prst="rect">
            <a:avLst/>
          </a:prstGeom>
          <a:noFill/>
          <a:ln>
            <a:noFill/>
          </a:ln>
        </p:spPr>
      </p:pic>
      <p:sp>
        <p:nvSpPr>
          <p:cNvPr id="208" name="Google Shape;208;p10"/>
          <p:cNvSpPr/>
          <p:nvPr/>
        </p:nvSpPr>
        <p:spPr>
          <a:xfrm>
            <a:off x="683568" y="1786466"/>
            <a:ext cx="87129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800" u="none" cap="none" strike="noStrike">
                <a:solidFill>
                  <a:schemeClr val="dk1"/>
                </a:solidFill>
                <a:latin typeface="Calibri"/>
                <a:ea typeface="Calibri"/>
                <a:cs typeface="Calibri"/>
                <a:sym typeface="Calibri"/>
              </a:rPr>
              <a:t>La spectrine est en vert. </a:t>
            </a:r>
            <a:endParaRPr/>
          </a:p>
        </p:txBody>
      </p:sp>
      <p:sp>
        <p:nvSpPr>
          <p:cNvPr id="209" name="Google Shape;209;p10"/>
          <p:cNvSpPr/>
          <p:nvPr/>
        </p:nvSpPr>
        <p:spPr>
          <a:xfrm>
            <a:off x="27296" y="3213917"/>
            <a:ext cx="9036496"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1800">
                <a:solidFill>
                  <a:schemeClr val="dk1"/>
                </a:solidFill>
                <a:latin typeface="Calibri"/>
                <a:ea typeface="Calibri"/>
                <a:cs typeface="Calibri"/>
                <a:sym typeface="Calibri"/>
              </a:rPr>
              <a:t>La spectrine est une protéine fibreuse qui représente 30% des protéines de la membrane des hématies. Plus globalement, les spectrines tapissent la zone latérale intracellulaire de la membrane plasmatique dans des cellules eucaryotes.</a:t>
            </a:r>
            <a:endParaRPr/>
          </a:p>
        </p:txBody>
      </p:sp>
      <p:sp>
        <p:nvSpPr>
          <p:cNvPr id="210" name="Google Shape;210;p10"/>
          <p:cNvSpPr/>
          <p:nvPr/>
        </p:nvSpPr>
        <p:spPr>
          <a:xfrm>
            <a:off x="0" y="5218449"/>
            <a:ext cx="909108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En raison de sa forme, l'érythrocyte est très élastique et peut s'adapter pour traverser les capillaires sanguins même avec des diamètres inférieurs à celui-ci.</a:t>
            </a:r>
            <a:endParaRPr/>
          </a:p>
        </p:txBody>
      </p:sp>
      <p:sp>
        <p:nvSpPr>
          <p:cNvPr id="211" name="Google Shape;211;p10"/>
          <p:cNvSpPr/>
          <p:nvPr/>
        </p:nvSpPr>
        <p:spPr>
          <a:xfrm>
            <a:off x="52912" y="4282204"/>
            <a:ext cx="8911576"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1800">
                <a:solidFill>
                  <a:schemeClr val="dk1"/>
                </a:solidFill>
                <a:latin typeface="Calibri"/>
                <a:ea typeface="Calibri"/>
                <a:cs typeface="Calibri"/>
                <a:sym typeface="Calibri"/>
              </a:rPr>
              <a:t>Les spectrines sont liées à des filaments d'actine et à la bande 4, l'ensemble forment un réseau protéique offrant une flexibilité suffisante pour avoir une forme biconcave.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txBox="1"/>
          <p:nvPr>
            <p:ph idx="1" type="body"/>
          </p:nvPr>
        </p:nvSpPr>
        <p:spPr>
          <a:xfrm>
            <a:off x="179512" y="322263"/>
            <a:ext cx="9139113" cy="592137"/>
          </a:xfrm>
          <a:prstGeom prst="rect">
            <a:avLst/>
          </a:prstGeom>
          <a:noFill/>
          <a:ln>
            <a:noFill/>
          </a:ln>
        </p:spPr>
        <p:txBody>
          <a:bodyPr anchorCtr="0" anchor="t" bIns="0" lIns="0" spcFirstLastPara="1" rIns="0" wrap="square" tIns="0">
            <a:normAutofit fontScale="92500"/>
          </a:bodyPr>
          <a:lstStyle/>
          <a:p>
            <a:pPr indent="0" lvl="0" marL="160294" rtl="0" algn="l">
              <a:lnSpc>
                <a:spcPct val="95999"/>
              </a:lnSpc>
              <a:spcBef>
                <a:spcPts val="0"/>
              </a:spcBef>
              <a:spcAft>
                <a:spcPts val="0"/>
              </a:spcAft>
              <a:buClr>
                <a:schemeClr val="dk1"/>
              </a:buClr>
              <a:buSzPct val="100000"/>
              <a:buFont typeface="Arial"/>
              <a:buNone/>
            </a:pPr>
            <a:r>
              <a:rPr b="1" lang="fr-FR" sz="2800">
                <a:latin typeface="Arial"/>
                <a:ea typeface="Arial"/>
                <a:cs typeface="Arial"/>
                <a:sym typeface="Arial"/>
              </a:rPr>
              <a:t>Exemples de 2 protéines intrinsèques de l'érythrocyte</a:t>
            </a:r>
            <a:endParaRPr/>
          </a:p>
        </p:txBody>
      </p:sp>
      <p:pic>
        <p:nvPicPr>
          <p:cNvPr id="217" name="Google Shape;217;p11"/>
          <p:cNvPicPr preferRelativeResize="0"/>
          <p:nvPr/>
        </p:nvPicPr>
        <p:blipFill rotWithShape="1">
          <a:blip r:embed="rId3">
            <a:alphaModFix/>
          </a:blip>
          <a:srcRect b="0" l="0" r="0" t="0"/>
          <a:stretch/>
        </p:blipFill>
        <p:spPr>
          <a:xfrm>
            <a:off x="652463" y="1538288"/>
            <a:ext cx="3165475" cy="3279775"/>
          </a:xfrm>
          <a:prstGeom prst="rect">
            <a:avLst/>
          </a:prstGeom>
          <a:noFill/>
          <a:ln cap="flat" cmpd="sng" w="19050">
            <a:solidFill>
              <a:schemeClr val="dk1"/>
            </a:solidFill>
            <a:prstDash val="solid"/>
            <a:miter lim="800000"/>
            <a:headEnd len="sm" w="sm" type="none"/>
            <a:tailEnd len="sm" w="sm" type="none"/>
          </a:ln>
        </p:spPr>
      </p:pic>
      <p:sp>
        <p:nvSpPr>
          <p:cNvPr id="218" name="Google Shape;218;p11"/>
          <p:cNvSpPr txBox="1"/>
          <p:nvPr>
            <p:ph idx="1" type="body"/>
          </p:nvPr>
        </p:nvSpPr>
        <p:spPr>
          <a:xfrm>
            <a:off x="261938" y="5092700"/>
            <a:ext cx="4295775" cy="798513"/>
          </a:xfrm>
          <a:prstGeom prst="rect">
            <a:avLst/>
          </a:prstGeom>
          <a:noFill/>
          <a:ln>
            <a:noFill/>
          </a:ln>
        </p:spPr>
        <p:txBody>
          <a:bodyPr anchorCtr="0" anchor="t" bIns="0" lIns="0" spcFirstLastPara="1" rIns="0" wrap="square" tIns="0">
            <a:normAutofit fontScale="92500"/>
          </a:bodyPr>
          <a:lstStyle/>
          <a:p>
            <a:pPr indent="0" lvl="0" marL="0" rtl="0" algn="l">
              <a:lnSpc>
                <a:spcPct val="116888"/>
              </a:lnSpc>
              <a:spcBef>
                <a:spcPts val="0"/>
              </a:spcBef>
              <a:spcAft>
                <a:spcPts val="0"/>
              </a:spcAft>
              <a:buClr>
                <a:schemeClr val="dk1"/>
              </a:buClr>
              <a:buSzPct val="100000"/>
              <a:buFont typeface="Arial"/>
              <a:buNone/>
            </a:pPr>
            <a:r>
              <a:rPr b="1" lang="fr-FR" sz="1800">
                <a:latin typeface="Tahoma"/>
                <a:ea typeface="Tahoma"/>
                <a:cs typeface="Tahoma"/>
                <a:sym typeface="Tahoma"/>
              </a:rPr>
              <a:t>La glycophorine A ne comporte qu'une seule hélice </a:t>
            </a:r>
            <a:r>
              <a:rPr b="1" lang="fr-FR" sz="1800">
                <a:latin typeface="Arial"/>
                <a:ea typeface="Arial"/>
                <a:cs typeface="Arial"/>
                <a:sym typeface="Arial"/>
              </a:rPr>
              <a:t> α</a:t>
            </a:r>
            <a:r>
              <a:rPr b="1" lang="fr-FR" sz="1800">
                <a:latin typeface="Tahoma"/>
                <a:ea typeface="Tahoma"/>
                <a:cs typeface="Tahoma"/>
                <a:sym typeface="Tahoma"/>
              </a:rPr>
              <a:t> transmembranaire</a:t>
            </a:r>
            <a:endParaRPr/>
          </a:p>
        </p:txBody>
      </p:sp>
      <p:sp>
        <p:nvSpPr>
          <p:cNvPr id="219" name="Google Shape;219;p11"/>
          <p:cNvSpPr txBox="1"/>
          <p:nvPr>
            <p:ph idx="1" type="body"/>
          </p:nvPr>
        </p:nvSpPr>
        <p:spPr>
          <a:xfrm>
            <a:off x="4876800" y="5751513"/>
            <a:ext cx="4151313" cy="809625"/>
          </a:xfrm>
          <a:prstGeom prst="rect">
            <a:avLst/>
          </a:prstGeom>
          <a:noFill/>
          <a:ln>
            <a:noFill/>
          </a:ln>
        </p:spPr>
        <p:txBody>
          <a:bodyPr anchorCtr="0" anchor="t" bIns="0" lIns="0" spcFirstLastPara="1" rIns="0" wrap="square" tIns="0">
            <a:normAutofit/>
          </a:bodyPr>
          <a:lstStyle/>
          <a:p>
            <a:pPr indent="0" lvl="0" marL="0" rtl="0" algn="l">
              <a:lnSpc>
                <a:spcPct val="109400"/>
              </a:lnSpc>
              <a:spcBef>
                <a:spcPts val="0"/>
              </a:spcBef>
              <a:spcAft>
                <a:spcPts val="0"/>
              </a:spcAft>
              <a:buClr>
                <a:schemeClr val="dk1"/>
              </a:buClr>
              <a:buSzPts val="1900"/>
              <a:buFont typeface="Arial"/>
              <a:buNone/>
            </a:pPr>
            <a:r>
              <a:rPr b="1" lang="fr-FR" sz="1900">
                <a:latin typeface="Arial"/>
                <a:ea typeface="Arial"/>
                <a:cs typeface="Arial"/>
                <a:sym typeface="Arial"/>
              </a:rPr>
              <a:t>La protéine de la bande 3 comporte 14 hélice </a:t>
            </a:r>
            <a:r>
              <a:rPr b="1" lang="fr-FR" sz="2000">
                <a:latin typeface="Arial"/>
                <a:ea typeface="Arial"/>
                <a:cs typeface="Arial"/>
                <a:sym typeface="Arial"/>
              </a:rPr>
              <a:t> α</a:t>
            </a:r>
            <a:r>
              <a:rPr b="1" lang="fr-FR" sz="1900">
                <a:latin typeface="Arial"/>
                <a:ea typeface="Arial"/>
                <a:cs typeface="Arial"/>
                <a:sym typeface="Arial"/>
              </a:rPr>
              <a:t> transmembranaire</a:t>
            </a:r>
            <a:endParaRPr/>
          </a:p>
        </p:txBody>
      </p:sp>
      <p:pic>
        <p:nvPicPr>
          <p:cNvPr descr="http://www.jle.com/e-docs/00/00/C4/87/texte_alt_fig5.gif" id="220" name="Google Shape;220;p11"/>
          <p:cNvPicPr preferRelativeResize="0"/>
          <p:nvPr/>
        </p:nvPicPr>
        <p:blipFill rotWithShape="1">
          <a:blip r:embed="rId4">
            <a:alphaModFix/>
          </a:blip>
          <a:srcRect b="0" l="0" r="0" t="0"/>
          <a:stretch/>
        </p:blipFill>
        <p:spPr>
          <a:xfrm>
            <a:off x="4849813" y="1887538"/>
            <a:ext cx="3810000" cy="3744912"/>
          </a:xfrm>
          <a:prstGeom prst="rect">
            <a:avLst/>
          </a:prstGeom>
          <a:noFill/>
          <a:ln cap="flat" cmpd="sng" w="12700">
            <a:solidFill>
              <a:schemeClr val="dk1"/>
            </a:solidFill>
            <a:prstDash val="solid"/>
            <a:miter lim="800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p:nvPr/>
        </p:nvSpPr>
        <p:spPr>
          <a:xfrm>
            <a:off x="251520" y="764704"/>
            <a:ext cx="8640960" cy="480131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fr-FR" sz="1800">
                <a:solidFill>
                  <a:schemeClr val="dk1"/>
                </a:solidFill>
                <a:latin typeface="Calibri"/>
                <a:ea typeface="Calibri"/>
                <a:cs typeface="Calibri"/>
                <a:sym typeface="Calibri"/>
              </a:rPr>
              <a:t>Le</a:t>
            </a:r>
            <a:r>
              <a:rPr lang="fr-FR" sz="1800">
                <a:solidFill>
                  <a:schemeClr val="dk1"/>
                </a:solidFill>
                <a:latin typeface="Calibri"/>
                <a:ea typeface="Calibri"/>
                <a:cs typeface="Calibri"/>
                <a:sym typeface="Calibri"/>
              </a:rPr>
              <a:t> </a:t>
            </a:r>
            <a:r>
              <a:rPr b="1" lang="fr-FR" sz="1800">
                <a:solidFill>
                  <a:schemeClr val="dk1"/>
                </a:solidFill>
                <a:latin typeface="Calibri"/>
                <a:ea typeface="Calibri"/>
                <a:cs typeface="Calibri"/>
                <a:sym typeface="Calibri"/>
              </a:rPr>
              <a:t>canal anionique de la membrane du globule rouge (bande 3) </a:t>
            </a:r>
            <a:r>
              <a:rPr lang="fr-FR" sz="1800">
                <a:solidFill>
                  <a:schemeClr val="dk1"/>
                </a:solidFill>
                <a:latin typeface="Calibri"/>
                <a:ea typeface="Calibri"/>
                <a:cs typeface="Calibri"/>
                <a:sym typeface="Calibri"/>
              </a:rPr>
              <a:t>est une protéine transmembranaire qui représente 25% environ de la masse totale des protéines du globule rouge. Cette molécule traverse 14 fois la membrane. L'intérêt de cette protéine tient à ses fonctions biologiques, car elle assure le transport des anions (Cl-, HCO3-) à travers la membrane. Il s'agit d'un rôle clé dans le mécanisme général de transport du CO2 des tissus vers les poumons car il permet l'élimination du HCO3 intracellulaire (hydration du CO2).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fr-FR" sz="1800">
                <a:solidFill>
                  <a:schemeClr val="dk1"/>
                </a:solidFill>
                <a:latin typeface="Calibri"/>
                <a:ea typeface="Calibri"/>
                <a:cs typeface="Calibri"/>
                <a:sym typeface="Calibri"/>
              </a:rPr>
              <a:t>Lorsque le sang circule dans les tissus, le CO2 se dissous dans le liquide du flux sanguin ( le plasma) et se dissocie comme ceci: H2O+ CO2= HCO3- +</a:t>
            </a:r>
            <a:r>
              <a:rPr lang="fr-FR" sz="1600">
                <a:solidFill>
                  <a:schemeClr val="dk1"/>
                </a:solidFill>
                <a:latin typeface="Calibri"/>
                <a:ea typeface="Calibri"/>
                <a:cs typeface="Calibri"/>
                <a:sym typeface="Calibri"/>
              </a:rPr>
              <a:t>  H</a:t>
            </a:r>
            <a:r>
              <a:rPr lang="fr-FR" sz="1200">
                <a:solidFill>
                  <a:schemeClr val="dk1"/>
                </a:solidFill>
                <a:latin typeface="Calibri"/>
                <a:ea typeface="Calibri"/>
                <a:cs typeface="Calibri"/>
                <a:sym typeface="Calibri"/>
              </a:rPr>
              <a:t>+.</a:t>
            </a:r>
            <a:endParaRPr/>
          </a:p>
          <a:p>
            <a:pPr indent="0" lvl="0" marL="0" marR="0" rtl="0" algn="just">
              <a:spcBef>
                <a:spcPts val="0"/>
              </a:spcBef>
              <a:spcAft>
                <a:spcPts val="0"/>
              </a:spcAft>
              <a:buNone/>
            </a:pPr>
            <a:r>
              <a:rPr lang="fr-FR" sz="1800">
                <a:solidFill>
                  <a:schemeClr val="dk1"/>
                </a:solidFill>
                <a:latin typeface="Calibri"/>
                <a:ea typeface="Calibri"/>
                <a:cs typeface="Calibri"/>
                <a:sym typeface="Calibri"/>
              </a:rPr>
              <a:t>Les ions bicarbonate pénètrent dans les hématies en échange des ions de chlorure qui quittent la cellule. Dans le poumon, ou le CO2 est libéré, s’effectue la réaction inverse et les ions de bicarbonate quittent les hématies en échange des ions chlorure. Les ions HCO3- et cl- passent par un canal situé au centre de chaque dimère de Bande 3.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lang="fr-FR" sz="1800">
                <a:solidFill>
                  <a:schemeClr val="dk1"/>
                </a:solidFill>
                <a:latin typeface="Calibri"/>
                <a:ea typeface="Calibri"/>
                <a:cs typeface="Calibri"/>
                <a:sym typeface="Calibri"/>
              </a:rPr>
              <a:t>La</a:t>
            </a:r>
            <a:r>
              <a:rPr lang="fr-FR" sz="1800">
                <a:solidFill>
                  <a:schemeClr val="dk1"/>
                </a:solidFill>
                <a:latin typeface="Calibri"/>
                <a:ea typeface="Calibri"/>
                <a:cs typeface="Calibri"/>
                <a:sym typeface="Calibri"/>
              </a:rPr>
              <a:t> </a:t>
            </a:r>
            <a:r>
              <a:rPr b="1" lang="fr-FR" sz="1800">
                <a:solidFill>
                  <a:schemeClr val="dk1"/>
                </a:solidFill>
                <a:latin typeface="Calibri"/>
                <a:ea typeface="Calibri"/>
                <a:cs typeface="Calibri"/>
                <a:sym typeface="Calibri"/>
              </a:rPr>
              <a:t>glycophorine A</a:t>
            </a:r>
            <a:r>
              <a:rPr lang="fr-FR" sz="1800">
                <a:solidFill>
                  <a:schemeClr val="dk1"/>
                </a:solidFill>
                <a:latin typeface="Calibri"/>
                <a:ea typeface="Calibri"/>
                <a:cs typeface="Calibri"/>
                <a:sym typeface="Calibri"/>
              </a:rPr>
              <a:t> est la protéine qui possède la plus grande partie de saccharides (80%) et de ce fait, la charge électrique négative du globule rouge. L'intérêt de cette protéine tient à ses fonctions biologiques, car elle assure un rôle de répulsion entre les globules rouge à l’intérieur des capillaire et veinules.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13"/>
          <p:cNvPicPr preferRelativeResize="0"/>
          <p:nvPr/>
        </p:nvPicPr>
        <p:blipFill rotWithShape="1">
          <a:blip r:embed="rId3">
            <a:alphaModFix/>
          </a:blip>
          <a:srcRect b="0" l="26477" r="0" t="0"/>
          <a:stretch/>
        </p:blipFill>
        <p:spPr>
          <a:xfrm>
            <a:off x="304800" y="1117600"/>
            <a:ext cx="8709025" cy="5080000"/>
          </a:xfrm>
          <a:prstGeom prst="rect">
            <a:avLst/>
          </a:prstGeom>
          <a:noFill/>
          <a:ln>
            <a:noFill/>
          </a:ln>
        </p:spPr>
      </p:pic>
      <p:sp>
        <p:nvSpPr>
          <p:cNvPr id="231" name="Google Shape;231;p13"/>
          <p:cNvSpPr/>
          <p:nvPr/>
        </p:nvSpPr>
        <p:spPr>
          <a:xfrm>
            <a:off x="-406400" y="233363"/>
            <a:ext cx="8418513" cy="554037"/>
          </a:xfrm>
          <a:prstGeom prst="rect">
            <a:avLst/>
          </a:prstGeom>
          <a:noFill/>
          <a:ln>
            <a:noFill/>
          </a:ln>
        </p:spPr>
        <p:txBody>
          <a:bodyPr anchorCtr="0" anchor="t" bIns="45700" lIns="91425" spcFirstLastPara="1" rIns="91425" wrap="square" tIns="45700">
            <a:spAutoFit/>
          </a:bodyPr>
          <a:lstStyle/>
          <a:p>
            <a:pPr indent="0" lvl="0" marL="2147888" marR="0" rtl="0" algn="l">
              <a:lnSpc>
                <a:spcPct val="85000"/>
              </a:lnSpc>
              <a:spcBef>
                <a:spcPts val="0"/>
              </a:spcBef>
              <a:spcAft>
                <a:spcPts val="0"/>
              </a:spcAft>
              <a:buNone/>
            </a:pPr>
            <a:r>
              <a:rPr lang="fr-FR" sz="4000">
                <a:solidFill>
                  <a:srgbClr val="000000"/>
                </a:solidFill>
                <a:latin typeface="Calibri"/>
                <a:ea typeface="Calibri"/>
                <a:cs typeface="Calibri"/>
                <a:sym typeface="Calibri"/>
              </a:rPr>
              <a:t>Les Protéines membranaires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4"/>
          <p:cNvSpPr txBox="1"/>
          <p:nvPr>
            <p:ph idx="1" type="body"/>
          </p:nvPr>
        </p:nvSpPr>
        <p:spPr>
          <a:xfrm>
            <a:off x="157163" y="266700"/>
            <a:ext cx="7423150" cy="573088"/>
          </a:xfrm>
          <a:prstGeom prst="rect">
            <a:avLst/>
          </a:prstGeom>
          <a:noFill/>
          <a:ln>
            <a:noFill/>
          </a:ln>
        </p:spPr>
        <p:txBody>
          <a:bodyPr anchorCtr="0" anchor="t" bIns="0" lIns="0" spcFirstLastPara="1" rIns="0" wrap="square" tIns="91425">
            <a:normAutofit/>
          </a:bodyPr>
          <a:lstStyle/>
          <a:p>
            <a:pPr indent="0" lvl="0" marL="2147888" rtl="0" algn="l">
              <a:lnSpc>
                <a:spcPct val="85000"/>
              </a:lnSpc>
              <a:spcBef>
                <a:spcPts val="0"/>
              </a:spcBef>
              <a:spcAft>
                <a:spcPts val="0"/>
              </a:spcAft>
              <a:buClr>
                <a:srgbClr val="000000"/>
              </a:buClr>
              <a:buSzPts val="4000"/>
              <a:buFont typeface="Arial"/>
              <a:buNone/>
            </a:pPr>
            <a:r>
              <a:rPr lang="fr-FR" sz="4000">
                <a:solidFill>
                  <a:srgbClr val="000000"/>
                </a:solidFill>
              </a:rPr>
              <a:t>Protéines membranaires</a:t>
            </a:r>
            <a:endParaRPr/>
          </a:p>
        </p:txBody>
      </p:sp>
      <p:sp>
        <p:nvSpPr>
          <p:cNvPr id="237" name="Google Shape;237;p14"/>
          <p:cNvSpPr txBox="1"/>
          <p:nvPr>
            <p:ph idx="1" type="body"/>
          </p:nvPr>
        </p:nvSpPr>
        <p:spPr>
          <a:xfrm>
            <a:off x="-315913" y="1106488"/>
            <a:ext cx="8559801" cy="2259012"/>
          </a:xfrm>
          <a:prstGeom prst="rect">
            <a:avLst/>
          </a:prstGeom>
          <a:noFill/>
          <a:ln>
            <a:noFill/>
          </a:ln>
        </p:spPr>
        <p:txBody>
          <a:bodyPr anchorCtr="0" anchor="t" bIns="0" lIns="0" spcFirstLastPara="1" rIns="0" wrap="square" tIns="0">
            <a:normAutofit/>
          </a:bodyPr>
          <a:lstStyle/>
          <a:p>
            <a:pPr indent="0" lvl="0" marL="1737360" rtl="0" algn="l">
              <a:lnSpc>
                <a:spcPct val="105599"/>
              </a:lnSpc>
              <a:spcBef>
                <a:spcPts val="0"/>
              </a:spcBef>
              <a:spcAft>
                <a:spcPts val="0"/>
              </a:spcAft>
              <a:buClr>
                <a:srgbClr val="FF0000"/>
              </a:buClr>
              <a:buSzPts val="2800"/>
              <a:buFont typeface="Arial"/>
              <a:buNone/>
            </a:pPr>
            <a:r>
              <a:rPr b="1" lang="fr-FR" sz="2800">
                <a:solidFill>
                  <a:srgbClr val="FF0000"/>
                </a:solidFill>
              </a:rPr>
              <a:t>Protéines transmembranaires (intrinsèques)</a:t>
            </a:r>
            <a:endParaRPr/>
          </a:p>
        </p:txBody>
      </p:sp>
      <p:sp>
        <p:nvSpPr>
          <p:cNvPr id="238" name="Google Shape;238;p14"/>
          <p:cNvSpPr txBox="1"/>
          <p:nvPr>
            <p:ph idx="1" type="body"/>
          </p:nvPr>
        </p:nvSpPr>
        <p:spPr>
          <a:xfrm>
            <a:off x="1247775" y="5076825"/>
            <a:ext cx="9739313" cy="371475"/>
          </a:xfrm>
          <a:prstGeom prst="rect">
            <a:avLst/>
          </a:prstGeom>
          <a:noFill/>
          <a:ln>
            <a:noFill/>
          </a:ln>
        </p:spPr>
        <p:txBody>
          <a:bodyPr anchorCtr="0" anchor="t" bIns="0" lIns="0" spcFirstLastPara="1" rIns="0" wrap="square" tIns="0">
            <a:normAutofit fontScale="25000" lnSpcReduction="20000"/>
          </a:bodyPr>
          <a:lstStyle/>
          <a:p>
            <a:pPr indent="0" lvl="0" marL="3291840" rtl="0" algn="l">
              <a:lnSpc>
                <a:spcPct val="105599"/>
              </a:lnSpc>
              <a:spcBef>
                <a:spcPts val="0"/>
              </a:spcBef>
              <a:spcAft>
                <a:spcPts val="0"/>
              </a:spcAft>
              <a:buClr>
                <a:srgbClr val="FF0000"/>
              </a:buClr>
              <a:buSzPct val="100000"/>
              <a:buFont typeface="Arial"/>
              <a:buNone/>
            </a:pPr>
            <a:r>
              <a:rPr b="1" lang="fr-FR" sz="4800">
                <a:solidFill>
                  <a:srgbClr val="FF0000"/>
                </a:solidFill>
                <a:latin typeface="Arial"/>
                <a:ea typeface="Arial"/>
                <a:cs typeface="Arial"/>
                <a:sym typeface="Arial"/>
              </a:rPr>
              <a:t>            polytopique</a:t>
            </a:r>
            <a:endParaRPr b="1" sz="4800">
              <a:solidFill>
                <a:srgbClr val="FF0000"/>
              </a:solidFill>
              <a:latin typeface="Arial"/>
              <a:ea typeface="Arial"/>
              <a:cs typeface="Arial"/>
              <a:sym typeface="Arial"/>
            </a:endParaRPr>
          </a:p>
          <a:p>
            <a:pPr indent="0" lvl="0" marL="3291840" rtl="0" algn="l">
              <a:lnSpc>
                <a:spcPct val="105599"/>
              </a:lnSpc>
              <a:spcBef>
                <a:spcPts val="600"/>
              </a:spcBef>
              <a:spcAft>
                <a:spcPts val="0"/>
              </a:spcAft>
              <a:buClr>
                <a:srgbClr val="FF0000"/>
              </a:buClr>
              <a:buSzPct val="100000"/>
              <a:buFont typeface="Arial"/>
              <a:buNone/>
            </a:pPr>
            <a:r>
              <a:rPr b="1" lang="fr-FR" sz="4800">
                <a:solidFill>
                  <a:srgbClr val="FF0000"/>
                </a:solidFill>
                <a:latin typeface="Arial"/>
                <a:ea typeface="Arial"/>
                <a:cs typeface="Arial"/>
                <a:sym typeface="Arial"/>
              </a:rPr>
              <a:t>Plusieurs segments (3hélice α)</a:t>
            </a:r>
            <a:endParaRPr/>
          </a:p>
          <a:p>
            <a:pPr indent="0" lvl="0" marL="3291840" rtl="0" algn="l">
              <a:lnSpc>
                <a:spcPct val="105599"/>
              </a:lnSpc>
              <a:spcBef>
                <a:spcPts val="600"/>
              </a:spcBef>
              <a:spcAft>
                <a:spcPts val="0"/>
              </a:spcAft>
              <a:buClr>
                <a:srgbClr val="FF0000"/>
              </a:buClr>
              <a:buSzPct val="100000"/>
              <a:buFont typeface="Arial"/>
              <a:buNone/>
            </a:pPr>
            <a:r>
              <a:rPr b="1" lang="fr-FR" sz="4800">
                <a:solidFill>
                  <a:srgbClr val="FF0000"/>
                </a:solidFill>
                <a:latin typeface="Arial"/>
                <a:ea typeface="Arial"/>
                <a:cs typeface="Arial"/>
                <a:sym typeface="Arial"/>
              </a:rPr>
              <a:t>Un domaine de chaque coté de la membrane</a:t>
            </a:r>
            <a:endParaRPr/>
          </a:p>
          <a:p>
            <a:pPr indent="0" lvl="0" marL="3291840" rtl="0" algn="l">
              <a:lnSpc>
                <a:spcPct val="105599"/>
              </a:lnSpc>
              <a:spcBef>
                <a:spcPts val="450"/>
              </a:spcBef>
              <a:spcAft>
                <a:spcPts val="0"/>
              </a:spcAft>
              <a:buClr>
                <a:schemeClr val="dk1"/>
              </a:buClr>
              <a:buSzPct val="100000"/>
              <a:buFont typeface="Arial"/>
              <a:buNone/>
            </a:pPr>
            <a:r>
              <a:t/>
            </a:r>
            <a:endParaRPr b="1" sz="1800">
              <a:solidFill>
                <a:srgbClr val="FF0000"/>
              </a:solidFill>
              <a:latin typeface="Arial"/>
              <a:ea typeface="Arial"/>
              <a:cs typeface="Arial"/>
              <a:sym typeface="Arial"/>
            </a:endParaRPr>
          </a:p>
          <a:p>
            <a:pPr indent="0" lvl="0" marL="3291840" rtl="0" algn="l">
              <a:lnSpc>
                <a:spcPct val="105599"/>
              </a:lnSpc>
              <a:spcBef>
                <a:spcPts val="450"/>
              </a:spcBef>
              <a:spcAft>
                <a:spcPts val="0"/>
              </a:spcAft>
              <a:buClr>
                <a:srgbClr val="FF0000"/>
              </a:buClr>
              <a:buSzPct val="100000"/>
              <a:buFont typeface="Arial"/>
              <a:buNone/>
            </a:pPr>
            <a:r>
              <a:rPr b="1" lang="fr-FR" sz="1800">
                <a:solidFill>
                  <a:srgbClr val="FF0000"/>
                </a:solidFill>
                <a:latin typeface="Arial"/>
                <a:ea typeface="Arial"/>
                <a:cs typeface="Arial"/>
                <a:sym typeface="Arial"/>
              </a:rPr>
              <a:t>               </a:t>
            </a:r>
            <a:endParaRPr b="1" sz="1800">
              <a:solidFill>
                <a:srgbClr val="FF0000"/>
              </a:solidFill>
              <a:latin typeface="Arial"/>
              <a:ea typeface="Arial"/>
              <a:cs typeface="Arial"/>
              <a:sym typeface="Arial"/>
            </a:endParaRPr>
          </a:p>
        </p:txBody>
      </p:sp>
      <p:sp>
        <p:nvSpPr>
          <p:cNvPr id="239" name="Google Shape;239;p14"/>
          <p:cNvSpPr txBox="1"/>
          <p:nvPr>
            <p:ph idx="1" type="body"/>
          </p:nvPr>
        </p:nvSpPr>
        <p:spPr>
          <a:xfrm>
            <a:off x="50725" y="4712100"/>
            <a:ext cx="4695900" cy="736200"/>
          </a:xfrm>
          <a:prstGeom prst="rect">
            <a:avLst/>
          </a:prstGeom>
          <a:noFill/>
          <a:ln>
            <a:noFill/>
          </a:ln>
        </p:spPr>
        <p:txBody>
          <a:bodyPr anchorCtr="0" anchor="t" bIns="0" lIns="0" spcFirstLastPara="1" rIns="0" wrap="square" tIns="0">
            <a:normAutofit fontScale="55000" lnSpcReduction="20000"/>
          </a:bodyPr>
          <a:lstStyle/>
          <a:p>
            <a:pPr indent="0" lvl="0" marL="0" rtl="0" algn="l">
              <a:lnSpc>
                <a:spcPct val="62068"/>
              </a:lnSpc>
              <a:spcBef>
                <a:spcPts val="0"/>
              </a:spcBef>
              <a:spcAft>
                <a:spcPts val="0"/>
              </a:spcAft>
              <a:buClr>
                <a:srgbClr val="FF0000"/>
              </a:buClr>
              <a:buSzPct val="100000"/>
              <a:buFont typeface="Arial"/>
              <a:buNone/>
            </a:pPr>
            <a:r>
              <a:rPr b="1" lang="fr-FR" sz="2900">
                <a:solidFill>
                  <a:srgbClr val="FF0000"/>
                </a:solidFill>
                <a:latin typeface="Arial"/>
                <a:ea typeface="Arial"/>
                <a:cs typeface="Arial"/>
                <a:sym typeface="Arial"/>
              </a:rPr>
              <a:t>                      monotopique</a:t>
            </a:r>
            <a:endParaRPr b="1" sz="2900">
              <a:solidFill>
                <a:srgbClr val="FF0000"/>
              </a:solidFill>
              <a:latin typeface="Arial"/>
              <a:ea typeface="Arial"/>
              <a:cs typeface="Arial"/>
              <a:sym typeface="Arial"/>
            </a:endParaRPr>
          </a:p>
          <a:p>
            <a:pPr indent="0" lvl="0" marL="0" rtl="0" algn="l">
              <a:lnSpc>
                <a:spcPct val="62069"/>
              </a:lnSpc>
              <a:spcBef>
                <a:spcPts val="232"/>
              </a:spcBef>
              <a:spcAft>
                <a:spcPts val="0"/>
              </a:spcAft>
              <a:buClr>
                <a:srgbClr val="FF0000"/>
              </a:buClr>
              <a:buSzPct val="100000"/>
              <a:buFont typeface="Arial"/>
              <a:buNone/>
            </a:pPr>
            <a:r>
              <a:rPr b="1" lang="fr-FR" sz="2900">
                <a:solidFill>
                  <a:srgbClr val="FF0000"/>
                </a:solidFill>
                <a:latin typeface="Arial"/>
                <a:ea typeface="Arial"/>
                <a:cs typeface="Arial"/>
                <a:sym typeface="Arial"/>
              </a:rPr>
              <a:t>Un seul segment (1hélice α)</a:t>
            </a:r>
            <a:endParaRPr b="1" sz="2900">
              <a:solidFill>
                <a:srgbClr val="FF0000"/>
              </a:solidFill>
              <a:latin typeface="Arial"/>
              <a:ea typeface="Arial"/>
              <a:cs typeface="Arial"/>
              <a:sym typeface="Arial"/>
            </a:endParaRPr>
          </a:p>
          <a:p>
            <a:pPr indent="0" lvl="0" marL="0" rtl="0" algn="l">
              <a:lnSpc>
                <a:spcPct val="62068"/>
              </a:lnSpc>
              <a:spcBef>
                <a:spcPts val="232"/>
              </a:spcBef>
              <a:spcAft>
                <a:spcPts val="0"/>
              </a:spcAft>
              <a:buClr>
                <a:srgbClr val="FF0000"/>
              </a:buClr>
              <a:buSzPct val="100000"/>
              <a:buFont typeface="Arial"/>
              <a:buNone/>
            </a:pPr>
            <a:r>
              <a:t/>
            </a:r>
            <a:endParaRPr b="1" sz="2900">
              <a:solidFill>
                <a:srgbClr val="FF0000"/>
              </a:solidFill>
              <a:latin typeface="Arial"/>
              <a:ea typeface="Arial"/>
              <a:cs typeface="Arial"/>
              <a:sym typeface="Arial"/>
            </a:endParaRPr>
          </a:p>
          <a:p>
            <a:pPr indent="0" lvl="0" marL="0" rtl="0" algn="l">
              <a:lnSpc>
                <a:spcPct val="62068"/>
              </a:lnSpc>
              <a:spcBef>
                <a:spcPts val="232"/>
              </a:spcBef>
              <a:spcAft>
                <a:spcPts val="0"/>
              </a:spcAft>
              <a:buClr>
                <a:srgbClr val="FF0000"/>
              </a:buClr>
              <a:buSzPct val="100000"/>
              <a:buFont typeface="Arial"/>
              <a:buNone/>
            </a:pPr>
            <a:r>
              <a:rPr b="1" lang="fr-FR" sz="2900">
                <a:solidFill>
                  <a:srgbClr val="FF0000"/>
                </a:solidFill>
                <a:latin typeface="Arial"/>
                <a:ea typeface="Arial"/>
                <a:cs typeface="Arial"/>
                <a:sym typeface="Arial"/>
              </a:rPr>
              <a:t>Un domaine de chaque coté de la membrane       </a:t>
            </a:r>
            <a:endParaRPr/>
          </a:p>
          <a:p>
            <a:pPr indent="0" lvl="0" marL="0" rtl="0" algn="l">
              <a:lnSpc>
                <a:spcPct val="100000"/>
              </a:lnSpc>
              <a:spcBef>
                <a:spcPts val="144"/>
              </a:spcBef>
              <a:spcAft>
                <a:spcPts val="0"/>
              </a:spcAft>
              <a:buClr>
                <a:srgbClr val="FF0000"/>
              </a:buClr>
              <a:buSzPct val="100000"/>
              <a:buFont typeface="Arial"/>
              <a:buNone/>
            </a:pPr>
            <a:r>
              <a:rPr b="1" lang="fr-FR" sz="1800">
                <a:solidFill>
                  <a:srgbClr val="FF0000"/>
                </a:solidFill>
                <a:latin typeface="Arial"/>
                <a:ea typeface="Arial"/>
                <a:cs typeface="Arial"/>
                <a:sym typeface="Arial"/>
              </a:rPr>
              <a:t> </a:t>
            </a:r>
            <a:endParaRPr b="1" sz="1800">
              <a:solidFill>
                <a:srgbClr val="FF0000"/>
              </a:solidFill>
              <a:latin typeface="Arial"/>
              <a:ea typeface="Arial"/>
              <a:cs typeface="Arial"/>
              <a:sym typeface="Arial"/>
            </a:endParaRPr>
          </a:p>
        </p:txBody>
      </p:sp>
      <p:cxnSp>
        <p:nvCxnSpPr>
          <p:cNvPr id="240" name="Google Shape;240;p14"/>
          <p:cNvCxnSpPr/>
          <p:nvPr/>
        </p:nvCxnSpPr>
        <p:spPr>
          <a:xfrm rot="-5400000">
            <a:off x="5196682" y="4629943"/>
            <a:ext cx="609600" cy="290513"/>
          </a:xfrm>
          <a:prstGeom prst="straightConnector1">
            <a:avLst/>
          </a:prstGeom>
          <a:noFill/>
          <a:ln cap="flat" cmpd="sng" w="25400">
            <a:solidFill>
              <a:schemeClr val="dk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241" name="Google Shape;241;p14"/>
          <p:cNvCxnSpPr/>
          <p:nvPr/>
        </p:nvCxnSpPr>
        <p:spPr>
          <a:xfrm rot="-5400000">
            <a:off x="5660231" y="4587082"/>
            <a:ext cx="581025" cy="319088"/>
          </a:xfrm>
          <a:prstGeom prst="straightConnector1">
            <a:avLst/>
          </a:prstGeom>
          <a:noFill/>
          <a:ln cap="flat" cmpd="sng" w="25400">
            <a:solidFill>
              <a:schemeClr val="dk1"/>
            </a:solidFill>
            <a:prstDash val="solid"/>
            <a:round/>
            <a:headEnd len="sm" w="sm" type="none"/>
            <a:tailEnd len="med" w="med" type="stealth"/>
          </a:ln>
          <a:effectLst>
            <a:outerShdw blurRad="40000" rotWithShape="0" dir="5400000" dist="20000">
              <a:srgbClr val="000000">
                <a:alpha val="37647"/>
              </a:srgbClr>
            </a:outerShdw>
          </a:effectLst>
        </p:spPr>
      </p:cxnSp>
      <p:pic>
        <p:nvPicPr>
          <p:cNvPr id="242" name="Google Shape;242;p14"/>
          <p:cNvPicPr preferRelativeResize="0"/>
          <p:nvPr/>
        </p:nvPicPr>
        <p:blipFill rotWithShape="1">
          <a:blip r:embed="rId3">
            <a:alphaModFix/>
          </a:blip>
          <a:srcRect b="7246" l="43877" r="17769" t="15459"/>
          <a:stretch/>
        </p:blipFill>
        <p:spPr>
          <a:xfrm>
            <a:off x="2497138" y="2133600"/>
            <a:ext cx="4541837" cy="2322513"/>
          </a:xfrm>
          <a:prstGeom prst="rect">
            <a:avLst/>
          </a:prstGeom>
          <a:noFill/>
          <a:ln>
            <a:noFill/>
          </a:ln>
        </p:spPr>
      </p:pic>
      <p:sp>
        <p:nvSpPr>
          <p:cNvPr id="243" name="Google Shape;243;p14"/>
          <p:cNvSpPr txBox="1"/>
          <p:nvPr/>
        </p:nvSpPr>
        <p:spPr>
          <a:xfrm>
            <a:off x="5297488" y="1785938"/>
            <a:ext cx="2728912"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Protéine extrinsèque</a:t>
            </a:r>
            <a:endParaRPr/>
          </a:p>
        </p:txBody>
      </p:sp>
      <p:cxnSp>
        <p:nvCxnSpPr>
          <p:cNvPr id="244" name="Google Shape;244;p14"/>
          <p:cNvCxnSpPr/>
          <p:nvPr/>
        </p:nvCxnSpPr>
        <p:spPr>
          <a:xfrm rot="-5400000">
            <a:off x="6139657" y="4579144"/>
            <a:ext cx="588962" cy="355600"/>
          </a:xfrm>
          <a:prstGeom prst="straightConnector1">
            <a:avLst/>
          </a:prstGeom>
          <a:noFill/>
          <a:ln cap="flat" cmpd="sng" w="25400">
            <a:solidFill>
              <a:schemeClr val="dk1"/>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5"/>
          <p:cNvSpPr txBox="1"/>
          <p:nvPr>
            <p:ph idx="1" type="body"/>
          </p:nvPr>
        </p:nvSpPr>
        <p:spPr>
          <a:xfrm>
            <a:off x="611560" y="548680"/>
            <a:ext cx="7848600" cy="629920"/>
          </a:xfrm>
          <a:prstGeom prst="rect">
            <a:avLst/>
          </a:prstGeom>
          <a:noFill/>
          <a:ln>
            <a:noFill/>
          </a:ln>
        </p:spPr>
        <p:txBody>
          <a:bodyPr anchorCtr="0" anchor="t" bIns="0" lIns="0" spcFirstLastPara="1" rIns="0" wrap="square" tIns="0">
            <a:normAutofit/>
          </a:bodyPr>
          <a:lstStyle/>
          <a:p>
            <a:pPr indent="0" lvl="0" marL="1371600" marR="0" rtl="0" algn="l">
              <a:lnSpc>
                <a:spcPct val="107519"/>
              </a:lnSpc>
              <a:spcBef>
                <a:spcPts val="0"/>
              </a:spcBef>
              <a:spcAft>
                <a:spcPts val="0"/>
              </a:spcAft>
              <a:buClr>
                <a:schemeClr val="dk1"/>
              </a:buClr>
              <a:buSzPts val="3600"/>
              <a:buNone/>
            </a:pPr>
            <a:r>
              <a:rPr lang="fr-FR" sz="3600">
                <a:latin typeface="Calibri"/>
                <a:ea typeface="Calibri"/>
                <a:cs typeface="Calibri"/>
                <a:sym typeface="Calibri"/>
              </a:rPr>
              <a:t>Ancrage par un lipide</a:t>
            </a:r>
            <a:endParaRPr/>
          </a:p>
        </p:txBody>
      </p:sp>
      <p:sp>
        <p:nvSpPr>
          <p:cNvPr id="250" name="Google Shape;250;p15"/>
          <p:cNvSpPr txBox="1"/>
          <p:nvPr>
            <p:ph idx="1" type="body"/>
          </p:nvPr>
        </p:nvSpPr>
        <p:spPr>
          <a:xfrm>
            <a:off x="-1044624" y="1556792"/>
            <a:ext cx="10188624" cy="3351530"/>
          </a:xfrm>
          <a:prstGeom prst="rect">
            <a:avLst/>
          </a:prstGeom>
          <a:noFill/>
          <a:ln>
            <a:noFill/>
          </a:ln>
        </p:spPr>
        <p:txBody>
          <a:bodyPr anchorCtr="0" anchor="t" bIns="0" lIns="0" spcFirstLastPara="1" rIns="0" wrap="square" tIns="0">
            <a:noAutofit/>
          </a:bodyPr>
          <a:lstStyle/>
          <a:p>
            <a:pPr indent="-114300" lvl="0" marL="1371600" marR="0" rtl="0" algn="l">
              <a:lnSpc>
                <a:spcPct val="116666"/>
              </a:lnSpc>
              <a:spcBef>
                <a:spcPts val="0"/>
              </a:spcBef>
              <a:spcAft>
                <a:spcPts val="0"/>
              </a:spcAft>
              <a:buClr>
                <a:schemeClr val="dk1"/>
              </a:buClr>
              <a:buSzPts val="1800"/>
              <a:buChar char="•"/>
            </a:pPr>
            <a:r>
              <a:rPr lang="fr-FR" sz="1800">
                <a:latin typeface="Arial"/>
                <a:ea typeface="Arial"/>
                <a:cs typeface="Arial"/>
                <a:sym typeface="Arial"/>
              </a:rPr>
              <a:t>Liaison covalente entre la protéine et un élément lipidique</a:t>
            </a:r>
            <a:endParaRPr/>
          </a:p>
          <a:p>
            <a:pPr indent="-114300" lvl="0" marL="1371600" marR="0" rtl="0" algn="l">
              <a:lnSpc>
                <a:spcPct val="133333"/>
              </a:lnSpc>
              <a:spcBef>
                <a:spcPts val="540"/>
              </a:spcBef>
              <a:spcAft>
                <a:spcPts val="0"/>
              </a:spcAft>
              <a:buClr>
                <a:schemeClr val="dk1"/>
              </a:buClr>
              <a:buSzPts val="1800"/>
              <a:buChar char="•"/>
            </a:pPr>
            <a:r>
              <a:rPr b="1" lang="fr-FR" sz="1800">
                <a:latin typeface="Arial"/>
                <a:ea typeface="Arial"/>
                <a:cs typeface="Arial"/>
                <a:sym typeface="Arial"/>
              </a:rPr>
              <a:t>4 modifications les plus courantes:</a:t>
            </a:r>
            <a:endParaRPr/>
          </a:p>
          <a:p>
            <a:pPr indent="-114300" lvl="0" marL="1371600" marR="0" rtl="0" algn="l">
              <a:lnSpc>
                <a:spcPct val="133333"/>
              </a:lnSpc>
              <a:spcBef>
                <a:spcPts val="540"/>
              </a:spcBef>
              <a:spcAft>
                <a:spcPts val="0"/>
              </a:spcAft>
              <a:buClr>
                <a:schemeClr val="dk1"/>
              </a:buClr>
              <a:buSzPts val="1800"/>
              <a:buChar char="•"/>
            </a:pPr>
            <a:r>
              <a:rPr b="1" lang="fr-FR" sz="1800">
                <a:latin typeface="Arial"/>
                <a:ea typeface="Arial"/>
                <a:cs typeface="Arial"/>
                <a:sym typeface="Arial"/>
              </a:rPr>
              <a:t>Isoprénylation : farnesyl ou géranylgéranyl, liaison thioester, sur une cystéine en position C-terminale ou proche de cette extrémité</a:t>
            </a:r>
            <a:endParaRPr/>
          </a:p>
          <a:p>
            <a:pPr indent="0" lvl="0" marL="1371600" marR="0" rtl="0" algn="l">
              <a:lnSpc>
                <a:spcPct val="133333"/>
              </a:lnSpc>
              <a:spcBef>
                <a:spcPts val="540"/>
              </a:spcBef>
              <a:spcAft>
                <a:spcPts val="0"/>
              </a:spcAft>
              <a:buClr>
                <a:schemeClr val="dk1"/>
              </a:buClr>
              <a:buSzPts val="1800"/>
              <a:buNone/>
            </a:pPr>
            <a:r>
              <a:t/>
            </a:r>
            <a:endParaRPr b="1" sz="1800">
              <a:latin typeface="Arial"/>
              <a:ea typeface="Arial"/>
              <a:cs typeface="Arial"/>
              <a:sym typeface="Arial"/>
            </a:endParaRPr>
          </a:p>
          <a:p>
            <a:pPr indent="-114300" lvl="0" marL="1371600" marR="0" rtl="0" algn="l">
              <a:lnSpc>
                <a:spcPct val="133333"/>
              </a:lnSpc>
              <a:spcBef>
                <a:spcPts val="540"/>
              </a:spcBef>
              <a:spcAft>
                <a:spcPts val="0"/>
              </a:spcAft>
              <a:buClr>
                <a:schemeClr val="dk1"/>
              </a:buClr>
              <a:buSzPts val="1800"/>
              <a:buChar char="•"/>
            </a:pPr>
            <a:r>
              <a:rPr b="1" lang="fr-FR" sz="1800">
                <a:latin typeface="Arial"/>
                <a:ea typeface="Arial"/>
                <a:cs typeface="Arial"/>
                <a:sym typeface="Arial"/>
              </a:rPr>
              <a:t>myristoylation: acide myristique N‐myristoylation: acide myristique sur une glycine en position N-terminale.</a:t>
            </a:r>
            <a:endParaRPr/>
          </a:p>
          <a:p>
            <a:pPr indent="0" lvl="0" marL="1371600" marR="0" rtl="0" algn="l">
              <a:lnSpc>
                <a:spcPct val="133333"/>
              </a:lnSpc>
              <a:spcBef>
                <a:spcPts val="540"/>
              </a:spcBef>
              <a:spcAft>
                <a:spcPts val="0"/>
              </a:spcAft>
              <a:buClr>
                <a:schemeClr val="dk1"/>
              </a:buClr>
              <a:buSzPts val="1800"/>
              <a:buNone/>
            </a:pPr>
            <a:r>
              <a:t/>
            </a:r>
            <a:endParaRPr b="1" sz="1800">
              <a:latin typeface="Arial"/>
              <a:ea typeface="Arial"/>
              <a:cs typeface="Arial"/>
              <a:sym typeface="Arial"/>
            </a:endParaRPr>
          </a:p>
          <a:p>
            <a:pPr indent="-114300" lvl="0" marL="1371600" marR="0" rtl="0" algn="l">
              <a:lnSpc>
                <a:spcPct val="133333"/>
              </a:lnSpc>
              <a:spcBef>
                <a:spcPts val="540"/>
              </a:spcBef>
              <a:spcAft>
                <a:spcPts val="0"/>
              </a:spcAft>
              <a:buClr>
                <a:schemeClr val="dk1"/>
              </a:buClr>
              <a:buSzPts val="1800"/>
              <a:buChar char="•"/>
            </a:pPr>
            <a:r>
              <a:rPr b="1" lang="fr-FR" sz="1800">
                <a:latin typeface="Arial"/>
                <a:ea typeface="Arial"/>
                <a:cs typeface="Arial"/>
                <a:sym typeface="Arial"/>
              </a:rPr>
              <a:t>Palmitoylation: acide palmitique via une liaison thioester, sur une cystéine interne ou C-terminal.</a:t>
            </a:r>
            <a:endParaRPr/>
          </a:p>
          <a:p>
            <a:pPr indent="0" lvl="0" marL="1371600" marR="0" rtl="0" algn="l">
              <a:lnSpc>
                <a:spcPct val="133333"/>
              </a:lnSpc>
              <a:spcBef>
                <a:spcPts val="540"/>
              </a:spcBef>
              <a:spcAft>
                <a:spcPts val="0"/>
              </a:spcAft>
              <a:buClr>
                <a:schemeClr val="dk1"/>
              </a:buClr>
              <a:buSzPts val="1800"/>
              <a:buNone/>
            </a:pPr>
            <a:r>
              <a:t/>
            </a:r>
            <a:endParaRPr b="1" sz="1800">
              <a:latin typeface="Arial"/>
              <a:ea typeface="Arial"/>
              <a:cs typeface="Arial"/>
              <a:sym typeface="Arial"/>
            </a:endParaRPr>
          </a:p>
          <a:p>
            <a:pPr indent="-114300" lvl="0" marL="1371600" marR="0" rtl="0" algn="l">
              <a:lnSpc>
                <a:spcPct val="133333"/>
              </a:lnSpc>
              <a:spcBef>
                <a:spcPts val="540"/>
              </a:spcBef>
              <a:spcAft>
                <a:spcPts val="0"/>
              </a:spcAft>
              <a:buClr>
                <a:schemeClr val="dk1"/>
              </a:buClr>
              <a:buSzPts val="1800"/>
              <a:buChar char="•"/>
            </a:pPr>
            <a:r>
              <a:rPr b="1" lang="fr-FR" sz="1800">
                <a:latin typeface="Arial"/>
                <a:ea typeface="Arial"/>
                <a:cs typeface="Arial"/>
                <a:sym typeface="Arial"/>
              </a:rPr>
              <a:t>Glypiation: glycosyl-phosphatidylinositol ou GPI ou ancre GPI sur un acide aminé en position C-terminale.</a:t>
            </a:r>
            <a:endParaRPr b="1" sz="18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16"/>
          <p:cNvPicPr preferRelativeResize="0"/>
          <p:nvPr/>
        </p:nvPicPr>
        <p:blipFill rotWithShape="1">
          <a:blip r:embed="rId3">
            <a:alphaModFix/>
          </a:blip>
          <a:srcRect b="0" l="0" r="0" t="0"/>
          <a:stretch/>
        </p:blipFill>
        <p:spPr>
          <a:xfrm>
            <a:off x="755576" y="890588"/>
            <a:ext cx="7560840" cy="527471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idx="1" type="body"/>
          </p:nvPr>
        </p:nvSpPr>
        <p:spPr>
          <a:xfrm>
            <a:off x="1335088" y="533400"/>
            <a:ext cx="7848600" cy="1731963"/>
          </a:xfrm>
          <a:prstGeom prst="rect">
            <a:avLst/>
          </a:prstGeom>
          <a:noFill/>
          <a:ln>
            <a:noFill/>
          </a:ln>
        </p:spPr>
        <p:txBody>
          <a:bodyPr anchorCtr="0" anchor="t" bIns="0" lIns="0" spcFirstLastPara="1" rIns="0" wrap="square" tIns="0">
            <a:normAutofit/>
          </a:bodyPr>
          <a:lstStyle/>
          <a:p>
            <a:pPr indent="411480" lvl="0" marL="0" rtl="0" algn="l">
              <a:lnSpc>
                <a:spcPct val="95999"/>
              </a:lnSpc>
              <a:spcBef>
                <a:spcPts val="0"/>
              </a:spcBef>
              <a:spcAft>
                <a:spcPts val="0"/>
              </a:spcAft>
              <a:buClr>
                <a:srgbClr val="000000"/>
              </a:buClr>
              <a:buSzPts val="3200"/>
              <a:buFont typeface="Arial"/>
              <a:buNone/>
            </a:pPr>
            <a:r>
              <a:rPr lang="fr-FR">
                <a:solidFill>
                  <a:srgbClr val="000000"/>
                </a:solidFill>
              </a:rPr>
              <a:t>Protéines:</a:t>
            </a:r>
            <a:r>
              <a:rPr lang="fr-FR" sz="2400">
                <a:solidFill>
                  <a:srgbClr val="FF0000"/>
                </a:solidFill>
              </a:rPr>
              <a:t> Extrinsèque, périphérique</a:t>
            </a:r>
            <a:endParaRPr/>
          </a:p>
        </p:txBody>
      </p:sp>
      <p:pic>
        <p:nvPicPr>
          <p:cNvPr id="261" name="Google Shape;261;p17"/>
          <p:cNvPicPr preferRelativeResize="0"/>
          <p:nvPr/>
        </p:nvPicPr>
        <p:blipFill rotWithShape="1">
          <a:blip r:embed="rId3">
            <a:alphaModFix/>
          </a:blip>
          <a:srcRect b="0" l="0" r="0" t="0"/>
          <a:stretch/>
        </p:blipFill>
        <p:spPr>
          <a:xfrm>
            <a:off x="479425" y="1700213"/>
            <a:ext cx="4643438" cy="3756025"/>
          </a:xfrm>
          <a:prstGeom prst="rect">
            <a:avLst/>
          </a:prstGeom>
          <a:noFill/>
          <a:ln>
            <a:noFill/>
          </a:ln>
        </p:spPr>
      </p:pic>
      <p:sp>
        <p:nvSpPr>
          <p:cNvPr id="262" name="Google Shape;262;p17"/>
          <p:cNvSpPr txBox="1"/>
          <p:nvPr/>
        </p:nvSpPr>
        <p:spPr>
          <a:xfrm>
            <a:off x="5443538" y="3411538"/>
            <a:ext cx="3468687" cy="12001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1800">
                <a:solidFill>
                  <a:schemeClr val="dk1"/>
                </a:solidFill>
                <a:latin typeface="Calibri"/>
                <a:ea typeface="Calibri"/>
                <a:cs typeface="Calibri"/>
                <a:sym typeface="Calibri"/>
              </a:rPr>
              <a:t>Elles se lient soit aux groupements de tête hydrophile, soit aux portions hydrophiles des protéines  </a:t>
            </a:r>
            <a:endParaRPr/>
          </a:p>
        </p:txBody>
      </p:sp>
      <p:sp>
        <p:nvSpPr>
          <p:cNvPr id="263" name="Google Shape;263;p17"/>
          <p:cNvSpPr/>
          <p:nvPr/>
        </p:nvSpPr>
        <p:spPr>
          <a:xfrm>
            <a:off x="2941638" y="4441825"/>
            <a:ext cx="488950" cy="541338"/>
          </a:xfrm>
          <a:custGeom>
            <a:rect b="b" l="l" r="r" t="t"/>
            <a:pathLst>
              <a:path extrusionOk="0" h="541604" w="488684">
                <a:moveTo>
                  <a:pt x="106219" y="333829"/>
                </a:moveTo>
                <a:cubicBezTo>
                  <a:pt x="77065" y="290098"/>
                  <a:pt x="70260" y="283792"/>
                  <a:pt x="48162" y="232229"/>
                </a:cubicBezTo>
                <a:cubicBezTo>
                  <a:pt x="35670" y="203081"/>
                  <a:pt x="26497" y="160085"/>
                  <a:pt x="19133" y="130629"/>
                </a:cubicBezTo>
                <a:cubicBezTo>
                  <a:pt x="26988" y="67790"/>
                  <a:pt x="0" y="0"/>
                  <a:pt x="77190" y="0"/>
                </a:cubicBezTo>
                <a:cubicBezTo>
                  <a:pt x="106619" y="0"/>
                  <a:pt x="135726" y="7377"/>
                  <a:pt x="164276" y="14515"/>
                </a:cubicBezTo>
                <a:cubicBezTo>
                  <a:pt x="193961" y="21936"/>
                  <a:pt x="251362" y="43543"/>
                  <a:pt x="251362" y="43543"/>
                </a:cubicBezTo>
                <a:cubicBezTo>
                  <a:pt x="270606" y="72409"/>
                  <a:pt x="301931" y="94574"/>
                  <a:pt x="265876" y="130629"/>
                </a:cubicBezTo>
                <a:cubicBezTo>
                  <a:pt x="255058" y="141447"/>
                  <a:pt x="236847" y="140305"/>
                  <a:pt x="222333" y="145143"/>
                </a:cubicBezTo>
                <a:cubicBezTo>
                  <a:pt x="227171" y="188686"/>
                  <a:pt x="220577" y="235095"/>
                  <a:pt x="236848" y="275772"/>
                </a:cubicBezTo>
                <a:cubicBezTo>
                  <a:pt x="242530" y="289977"/>
                  <a:pt x="266185" y="295968"/>
                  <a:pt x="280390" y="290286"/>
                </a:cubicBezTo>
                <a:cubicBezTo>
                  <a:pt x="296586" y="283807"/>
                  <a:pt x="299743" y="261257"/>
                  <a:pt x="309419" y="246743"/>
                </a:cubicBezTo>
                <a:cubicBezTo>
                  <a:pt x="314257" y="227391"/>
                  <a:pt x="312868" y="205284"/>
                  <a:pt x="323933" y="188686"/>
                </a:cubicBezTo>
                <a:cubicBezTo>
                  <a:pt x="356595" y="139693"/>
                  <a:pt x="394788" y="165120"/>
                  <a:pt x="440048" y="174172"/>
                </a:cubicBezTo>
                <a:cubicBezTo>
                  <a:pt x="456691" y="224101"/>
                  <a:pt x="488684" y="268133"/>
                  <a:pt x="454562" y="319315"/>
                </a:cubicBezTo>
                <a:cubicBezTo>
                  <a:pt x="433766" y="350509"/>
                  <a:pt x="396452" y="348370"/>
                  <a:pt x="367476" y="362858"/>
                </a:cubicBezTo>
                <a:cubicBezTo>
                  <a:pt x="314353" y="389419"/>
                  <a:pt x="337719" y="395976"/>
                  <a:pt x="280390" y="406400"/>
                </a:cubicBezTo>
                <a:cubicBezTo>
                  <a:pt x="242013" y="413378"/>
                  <a:pt x="202828" y="414984"/>
                  <a:pt x="164276" y="420915"/>
                </a:cubicBezTo>
                <a:cubicBezTo>
                  <a:pt x="139893" y="424666"/>
                  <a:pt x="115895" y="430591"/>
                  <a:pt x="91705" y="435429"/>
                </a:cubicBezTo>
                <a:cubicBezTo>
                  <a:pt x="109400" y="541604"/>
                  <a:pt x="76790" y="522515"/>
                  <a:pt x="164276" y="522515"/>
                </a:cubicBezTo>
              </a:path>
            </a:pathLst>
          </a:custGeom>
          <a:noFill/>
          <a:ln cap="flat" cmpd="sng" w="38100">
            <a:solidFill>
              <a:srgbClr val="0000F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p:nvPr/>
        </p:nvSpPr>
        <p:spPr>
          <a:xfrm>
            <a:off x="467544" y="1628800"/>
            <a:ext cx="8391848" cy="1957074"/>
          </a:xfrm>
          <a:prstGeom prst="rect">
            <a:avLst/>
          </a:prstGeom>
          <a:noFill/>
          <a:ln>
            <a:noFill/>
          </a:ln>
        </p:spPr>
        <p:txBody>
          <a:bodyPr anchorCtr="0" anchor="t" bIns="45700" lIns="91425" spcFirstLastPara="1" rIns="91425" wrap="square" tIns="45700">
            <a:spAutoFit/>
          </a:bodyPr>
          <a:lstStyle/>
          <a:p>
            <a:pPr indent="-411163" lvl="0" marL="639763" marR="0" rtl="0" algn="l">
              <a:lnSpc>
                <a:spcPct val="96000"/>
              </a:lnSpc>
              <a:spcBef>
                <a:spcPts val="0"/>
              </a:spcBef>
              <a:spcAft>
                <a:spcPts val="0"/>
              </a:spcAft>
              <a:buClr>
                <a:srgbClr val="000000"/>
              </a:buClr>
              <a:buSzPts val="1800"/>
              <a:buFont typeface="Noto Sans Symbols"/>
              <a:buChar char="∙"/>
            </a:pPr>
            <a:r>
              <a:rPr b="1" i="1" lang="fr-FR" sz="1800">
                <a:solidFill>
                  <a:srgbClr val="000000"/>
                </a:solidFill>
                <a:latin typeface="Calibri"/>
                <a:ea typeface="Calibri"/>
                <a:cs typeface="Calibri"/>
                <a:sym typeface="Calibri"/>
              </a:rPr>
              <a:t>du grec lipos (graisse) </a:t>
            </a:r>
            <a:r>
              <a:rPr b="1" lang="fr-FR" sz="1800">
                <a:solidFill>
                  <a:srgbClr val="000000"/>
                </a:solidFill>
                <a:latin typeface="Calibri"/>
                <a:ea typeface="Calibri"/>
                <a:cs typeface="Calibri"/>
                <a:sym typeface="Calibri"/>
              </a:rPr>
              <a:t>sont caractérisés par une propriété physique,</a:t>
            </a:r>
            <a:r>
              <a:rPr b="1" lang="fr-FR" sz="1800">
                <a:solidFill>
                  <a:srgbClr val="C00000"/>
                </a:solidFill>
                <a:latin typeface="Calibri"/>
                <a:ea typeface="Calibri"/>
                <a:cs typeface="Calibri"/>
                <a:sym typeface="Calibri"/>
              </a:rPr>
              <a:t> insolubilité en milieux aqueux</a:t>
            </a:r>
            <a:endParaRPr/>
          </a:p>
          <a:p>
            <a:pPr indent="411163" lvl="0" marL="228600" marR="0" rtl="0" algn="r">
              <a:lnSpc>
                <a:spcPct val="96000"/>
              </a:lnSpc>
              <a:spcBef>
                <a:spcPts val="725"/>
              </a:spcBef>
              <a:spcAft>
                <a:spcPts val="0"/>
              </a:spcAft>
              <a:buNone/>
            </a:pPr>
            <a:r>
              <a:rPr b="1" lang="fr-FR" sz="1800">
                <a:solidFill>
                  <a:srgbClr val="000000"/>
                </a:solidFill>
                <a:latin typeface="Calibri"/>
                <a:ea typeface="Calibri"/>
                <a:cs typeface="Calibri"/>
                <a:sym typeface="Calibri"/>
              </a:rPr>
              <a:t>— Mais solubles dans les solvants organiques non polaires</a:t>
            </a:r>
            <a:r>
              <a:rPr b="1" i="1" lang="fr-FR" sz="1800">
                <a:solidFill>
                  <a:srgbClr val="5F5F5F"/>
                </a:solidFill>
                <a:latin typeface="Calibri"/>
                <a:ea typeface="Calibri"/>
                <a:cs typeface="Calibri"/>
                <a:sym typeface="Calibri"/>
              </a:rPr>
              <a:t>       (méthanol,</a:t>
            </a:r>
            <a:endParaRPr/>
          </a:p>
          <a:p>
            <a:pPr indent="411163" lvl="0" marL="228600" marR="0" rtl="0" algn="l">
              <a:lnSpc>
                <a:spcPct val="96000"/>
              </a:lnSpc>
              <a:spcBef>
                <a:spcPts val="0"/>
              </a:spcBef>
              <a:spcAft>
                <a:spcPts val="0"/>
              </a:spcAft>
              <a:buNone/>
            </a:pPr>
            <a:r>
              <a:rPr b="1" i="1" lang="fr-FR" sz="1800">
                <a:solidFill>
                  <a:srgbClr val="5F5F5F"/>
                </a:solidFill>
                <a:latin typeface="Calibri"/>
                <a:ea typeface="Calibri"/>
                <a:cs typeface="Calibri"/>
                <a:sym typeface="Calibri"/>
              </a:rPr>
              <a:t>chloroforme, cyclohexane, éther éthylique, acétone...)</a:t>
            </a:r>
            <a:endParaRPr/>
          </a:p>
          <a:p>
            <a:pPr indent="-411163" lvl="0" marL="639763" marR="0" rtl="0" algn="l">
              <a:lnSpc>
                <a:spcPct val="96000"/>
              </a:lnSpc>
              <a:spcBef>
                <a:spcPts val="725"/>
              </a:spcBef>
              <a:spcAft>
                <a:spcPts val="0"/>
              </a:spcAft>
              <a:buClr>
                <a:srgbClr val="000000"/>
              </a:buClr>
              <a:buSzPts val="1800"/>
              <a:buFont typeface="Noto Sans Symbols"/>
              <a:buChar char="∙"/>
            </a:pPr>
            <a:r>
              <a:rPr b="1" lang="fr-FR" sz="1800">
                <a:solidFill>
                  <a:srgbClr val="000000"/>
                </a:solidFill>
                <a:latin typeface="Calibri"/>
                <a:ea typeface="Calibri"/>
                <a:cs typeface="Calibri"/>
                <a:sym typeface="Calibri"/>
              </a:rPr>
              <a:t>Ce sont des molécules organiques (C,H</a:t>
            </a:r>
            <a:r>
              <a:rPr b="1" baseline="-25000" lang="fr-FR" sz="1800">
                <a:solidFill>
                  <a:srgbClr val="000000"/>
                </a:solidFill>
                <a:latin typeface="Calibri"/>
                <a:ea typeface="Calibri"/>
                <a:cs typeface="Calibri"/>
                <a:sym typeface="Calibri"/>
              </a:rPr>
              <a:t>,</a:t>
            </a:r>
            <a:r>
              <a:rPr b="1" lang="fr-FR" sz="1800">
                <a:solidFill>
                  <a:srgbClr val="000000"/>
                </a:solidFill>
                <a:latin typeface="Calibri"/>
                <a:ea typeface="Calibri"/>
                <a:cs typeface="Calibri"/>
                <a:sym typeface="Calibri"/>
              </a:rPr>
              <a:t>O)</a:t>
            </a:r>
            <a:endParaRPr/>
          </a:p>
          <a:p>
            <a:pPr indent="-411163" lvl="0" marL="639763" marR="0" rtl="0" algn="l">
              <a:lnSpc>
                <a:spcPct val="96000"/>
              </a:lnSpc>
              <a:spcBef>
                <a:spcPts val="725"/>
              </a:spcBef>
              <a:spcAft>
                <a:spcPts val="0"/>
              </a:spcAft>
              <a:buClr>
                <a:srgbClr val="000000"/>
              </a:buClr>
              <a:buSzPts val="1800"/>
              <a:buFont typeface="Noto Sans Symbols"/>
              <a:buChar char="∙"/>
            </a:pPr>
            <a:r>
              <a:rPr b="1" lang="fr-FR" sz="1800">
                <a:solidFill>
                  <a:srgbClr val="000000"/>
                </a:solidFill>
                <a:latin typeface="Calibri"/>
                <a:ea typeface="Calibri"/>
                <a:cs typeface="Calibri"/>
                <a:sym typeface="Calibri"/>
              </a:rPr>
              <a:t>Ils sont caractérisés par la</a:t>
            </a:r>
            <a:r>
              <a:rPr b="1" lang="fr-FR" sz="1800">
                <a:solidFill>
                  <a:srgbClr val="C00000"/>
                </a:solidFill>
                <a:latin typeface="Calibri"/>
                <a:ea typeface="Calibri"/>
                <a:cs typeface="Calibri"/>
                <a:sym typeface="Calibri"/>
              </a:rPr>
              <a:t> présence dans la molécule d'au moins un acide gras</a:t>
            </a:r>
            <a:endParaRPr b="1" sz="1800">
              <a:solidFill>
                <a:srgbClr val="C00000"/>
              </a:solidFill>
              <a:latin typeface="Calibri"/>
              <a:ea typeface="Calibri"/>
              <a:cs typeface="Calibri"/>
              <a:sym typeface="Calibri"/>
            </a:endParaRPr>
          </a:p>
        </p:txBody>
      </p:sp>
      <p:sp>
        <p:nvSpPr>
          <p:cNvPr id="269" name="Google Shape;269;p18"/>
          <p:cNvSpPr/>
          <p:nvPr/>
        </p:nvSpPr>
        <p:spPr>
          <a:xfrm>
            <a:off x="1714500" y="560735"/>
            <a:ext cx="4786313"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4000">
                <a:solidFill>
                  <a:schemeClr val="dk1"/>
                </a:solidFill>
                <a:latin typeface="Arial Narrow"/>
                <a:ea typeface="Arial Narrow"/>
                <a:cs typeface="Arial Narrow"/>
                <a:sym typeface="Arial Narrow"/>
              </a:rPr>
              <a:t>LES LIPIDES</a:t>
            </a:r>
            <a:endParaRPr sz="4000">
              <a:solidFill>
                <a:schemeClr val="dk1"/>
              </a:solidFill>
              <a:latin typeface="Calibri"/>
              <a:ea typeface="Calibri"/>
              <a:cs typeface="Calibri"/>
              <a:sym typeface="Calibri"/>
            </a:endParaRPr>
          </a:p>
        </p:txBody>
      </p:sp>
      <p:sp>
        <p:nvSpPr>
          <p:cNvPr id="270" name="Google Shape;270;p18"/>
          <p:cNvSpPr/>
          <p:nvPr/>
        </p:nvSpPr>
        <p:spPr>
          <a:xfrm>
            <a:off x="827584" y="4149080"/>
            <a:ext cx="7500938" cy="2576512"/>
          </a:xfrm>
          <a:prstGeom prst="rect">
            <a:avLst/>
          </a:prstGeom>
          <a:noFill/>
          <a:ln>
            <a:noFill/>
          </a:ln>
        </p:spPr>
        <p:txBody>
          <a:bodyPr anchorCtr="0" anchor="t" bIns="45700" lIns="91425" spcFirstLastPara="1" rIns="91425" wrap="square" tIns="45700">
            <a:spAutoFit/>
          </a:bodyPr>
          <a:lstStyle/>
          <a:p>
            <a:pPr indent="0" lvl="0" marL="0" marR="0" rtl="0" algn="l">
              <a:lnSpc>
                <a:spcPct val="95999"/>
              </a:lnSpc>
              <a:spcBef>
                <a:spcPts val="0"/>
              </a:spcBef>
              <a:spcAft>
                <a:spcPts val="0"/>
              </a:spcAft>
              <a:buNone/>
            </a:pPr>
            <a:r>
              <a:rPr b="1" lang="fr-FR" sz="2800">
                <a:solidFill>
                  <a:srgbClr val="C00000"/>
                </a:solidFill>
                <a:latin typeface="Arial Narrow"/>
                <a:ea typeface="Arial Narrow"/>
                <a:cs typeface="Arial Narrow"/>
                <a:sym typeface="Arial Narrow"/>
              </a:rPr>
              <a:t>Classification des lipides</a:t>
            </a:r>
            <a:endParaRPr/>
          </a:p>
          <a:p>
            <a:pPr indent="0" lvl="0" marL="0" marR="0" rtl="0" algn="l">
              <a:lnSpc>
                <a:spcPct val="95999"/>
              </a:lnSpc>
              <a:spcBef>
                <a:spcPts val="1980"/>
              </a:spcBef>
              <a:spcAft>
                <a:spcPts val="0"/>
              </a:spcAft>
              <a:buNone/>
            </a:pPr>
            <a:r>
              <a:rPr b="1" lang="fr-FR" sz="2000">
                <a:solidFill>
                  <a:srgbClr val="269E0A"/>
                </a:solidFill>
                <a:latin typeface="Arial"/>
                <a:ea typeface="Arial"/>
                <a:cs typeface="Arial"/>
                <a:sym typeface="Arial"/>
              </a:rPr>
              <a:t>➢ </a:t>
            </a:r>
            <a:r>
              <a:rPr b="1" lang="fr-FR" sz="2000">
                <a:solidFill>
                  <a:schemeClr val="dk1"/>
                </a:solidFill>
                <a:latin typeface="Arial"/>
                <a:ea typeface="Arial"/>
                <a:cs typeface="Arial"/>
                <a:sym typeface="Arial"/>
              </a:rPr>
              <a:t>Lipides simples</a:t>
            </a:r>
            <a:endParaRPr/>
          </a:p>
          <a:p>
            <a:pPr indent="0" lvl="0" marL="0" marR="0" rtl="0" algn="l">
              <a:lnSpc>
                <a:spcPct val="95999"/>
              </a:lnSpc>
              <a:spcBef>
                <a:spcPts val="1980"/>
              </a:spcBef>
              <a:spcAft>
                <a:spcPts val="0"/>
              </a:spcAft>
              <a:buNone/>
            </a:pPr>
            <a:r>
              <a:rPr b="1" lang="fr-FR" sz="2000">
                <a:solidFill>
                  <a:srgbClr val="269E0A"/>
                </a:solidFill>
                <a:latin typeface="Arial"/>
                <a:ea typeface="Arial"/>
                <a:cs typeface="Arial"/>
                <a:sym typeface="Arial"/>
              </a:rPr>
              <a:t>➢ </a:t>
            </a:r>
            <a:r>
              <a:rPr b="1" lang="fr-FR" sz="2000">
                <a:solidFill>
                  <a:schemeClr val="dk1"/>
                </a:solidFill>
                <a:latin typeface="Arial"/>
                <a:ea typeface="Arial"/>
                <a:cs typeface="Arial"/>
                <a:sym typeface="Arial"/>
              </a:rPr>
              <a:t>Lipides complexes (</a:t>
            </a:r>
            <a:r>
              <a:rPr b="1" lang="fr-FR" sz="2000">
                <a:solidFill>
                  <a:srgbClr val="000000"/>
                </a:solidFill>
                <a:latin typeface="Arial"/>
                <a:ea typeface="Arial"/>
                <a:cs typeface="Arial"/>
                <a:sym typeface="Arial"/>
              </a:rPr>
              <a:t>polaires)</a:t>
            </a:r>
            <a:endParaRPr/>
          </a:p>
          <a:p>
            <a:pPr indent="0" lvl="0" marL="0" marR="0" rtl="0" algn="l">
              <a:lnSpc>
                <a:spcPct val="95999"/>
              </a:lnSpc>
              <a:spcBef>
                <a:spcPts val="1980"/>
              </a:spcBef>
              <a:spcAft>
                <a:spcPts val="0"/>
              </a:spcAft>
              <a:buNone/>
            </a:pPr>
            <a:r>
              <a:t/>
            </a:r>
            <a:endParaRPr b="1" sz="2000">
              <a:solidFill>
                <a:srgbClr val="000000"/>
              </a:solidFill>
              <a:latin typeface="Arial"/>
              <a:ea typeface="Arial"/>
              <a:cs typeface="Arial"/>
              <a:sym typeface="Arial"/>
            </a:endParaRPr>
          </a:p>
          <a:p>
            <a:pPr indent="0" lvl="0" marL="91440" marR="0" rtl="0" algn="l">
              <a:lnSpc>
                <a:spcPct val="95999"/>
              </a:lnSpc>
              <a:spcBef>
                <a:spcPts val="0"/>
              </a:spcBef>
              <a:spcAft>
                <a:spcPts val="0"/>
              </a:spcAft>
              <a:buNone/>
            </a:pPr>
            <a:r>
              <a:t/>
            </a:r>
            <a:endParaRPr b="1" sz="1800">
              <a:solidFill>
                <a:srgbClr val="C00000"/>
              </a:solidFill>
              <a:latin typeface="Tahoma"/>
              <a:ea typeface="Tahoma"/>
              <a:cs typeface="Tahoma"/>
              <a:sym typeface="Tahoma"/>
            </a:endParaRPr>
          </a:p>
        </p:txBody>
      </p:sp>
      <p:sp>
        <p:nvSpPr>
          <p:cNvPr id="271" name="Google Shape;271;p18"/>
          <p:cNvSpPr/>
          <p:nvPr/>
        </p:nvSpPr>
        <p:spPr>
          <a:xfrm>
            <a:off x="500063" y="5500688"/>
            <a:ext cx="2211387"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rgbClr val="269E0A"/>
                </a:solidFill>
                <a:latin typeface="Arial"/>
                <a:ea typeface="Arial"/>
                <a:cs typeface="Arial"/>
                <a:sym typeface="Arial"/>
              </a:rPr>
              <a:t>                     </a:t>
            </a:r>
            <a:endParaRPr sz="1800">
              <a:solidFill>
                <a:schemeClr val="dk1"/>
              </a:solidFill>
              <a:latin typeface="Calibri"/>
              <a:ea typeface="Calibri"/>
              <a:cs typeface="Calibri"/>
              <a:sym typeface="Calibri"/>
            </a:endParaRPr>
          </a:p>
        </p:txBody>
      </p:sp>
      <p:sp>
        <p:nvSpPr>
          <p:cNvPr id="272" name="Google Shape;272;p18"/>
          <p:cNvSpPr/>
          <p:nvPr/>
        </p:nvSpPr>
        <p:spPr>
          <a:xfrm>
            <a:off x="827584" y="5965016"/>
            <a:ext cx="34798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rgbClr val="269E0A"/>
                </a:solidFill>
                <a:latin typeface="Arial"/>
                <a:ea typeface="Arial"/>
                <a:cs typeface="Arial"/>
                <a:sym typeface="Arial"/>
              </a:rPr>
              <a:t>➢</a:t>
            </a:r>
            <a:r>
              <a:rPr b="1" lang="fr-FR" sz="2000">
                <a:solidFill>
                  <a:srgbClr val="000000"/>
                </a:solidFill>
                <a:latin typeface="Arial"/>
                <a:ea typeface="Arial"/>
                <a:cs typeface="Arial"/>
                <a:sym typeface="Arial"/>
              </a:rPr>
              <a:t> Dérivés du cholestérol</a:t>
            </a:r>
            <a:endParaRPr sz="20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19"/>
          <p:cNvPicPr preferRelativeResize="0"/>
          <p:nvPr/>
        </p:nvPicPr>
        <p:blipFill rotWithShape="1">
          <a:blip r:embed="rId3">
            <a:alphaModFix/>
          </a:blip>
          <a:srcRect b="0" l="0" r="0" t="0"/>
          <a:stretch/>
        </p:blipFill>
        <p:spPr>
          <a:xfrm>
            <a:off x="5681663" y="2344738"/>
            <a:ext cx="3462337" cy="3959225"/>
          </a:xfrm>
          <a:prstGeom prst="rect">
            <a:avLst/>
          </a:prstGeom>
          <a:noFill/>
          <a:ln>
            <a:noFill/>
          </a:ln>
        </p:spPr>
      </p:pic>
      <p:pic>
        <p:nvPicPr>
          <p:cNvPr id="278" name="Google Shape;278;p19"/>
          <p:cNvPicPr preferRelativeResize="0"/>
          <p:nvPr/>
        </p:nvPicPr>
        <p:blipFill rotWithShape="1">
          <a:blip r:embed="rId4">
            <a:alphaModFix/>
          </a:blip>
          <a:srcRect b="0" l="0" r="0" t="0"/>
          <a:stretch/>
        </p:blipFill>
        <p:spPr>
          <a:xfrm>
            <a:off x="752475" y="1677988"/>
            <a:ext cx="2187575" cy="4781550"/>
          </a:xfrm>
          <a:prstGeom prst="rect">
            <a:avLst/>
          </a:prstGeom>
          <a:noFill/>
          <a:ln>
            <a:noFill/>
          </a:ln>
        </p:spPr>
      </p:pic>
      <p:sp>
        <p:nvSpPr>
          <p:cNvPr id="279" name="Google Shape;279;p19"/>
          <p:cNvSpPr txBox="1"/>
          <p:nvPr>
            <p:ph idx="1" type="body"/>
          </p:nvPr>
        </p:nvSpPr>
        <p:spPr>
          <a:xfrm>
            <a:off x="3040063" y="1687513"/>
            <a:ext cx="2595562" cy="1370012"/>
          </a:xfrm>
          <a:prstGeom prst="rect">
            <a:avLst/>
          </a:prstGeom>
          <a:noFill/>
          <a:ln>
            <a:noFill/>
          </a:ln>
        </p:spPr>
        <p:txBody>
          <a:bodyPr anchorCtr="0" anchor="t" bIns="0" lIns="0" spcFirstLastPara="1" rIns="0" wrap="square" tIns="380675">
            <a:normAutofit lnSpcReduction="10000"/>
          </a:bodyPr>
          <a:lstStyle/>
          <a:p>
            <a:pPr indent="0" lvl="0" marL="0" rtl="0" algn="l">
              <a:lnSpc>
                <a:spcPct val="95999"/>
              </a:lnSpc>
              <a:spcBef>
                <a:spcPts val="0"/>
              </a:spcBef>
              <a:spcAft>
                <a:spcPts val="0"/>
              </a:spcAft>
              <a:buClr>
                <a:srgbClr val="00339A"/>
              </a:buClr>
              <a:buSzPts val="2300"/>
              <a:buFont typeface="Arial"/>
              <a:buNone/>
            </a:pPr>
            <a:r>
              <a:rPr b="1" lang="fr-FR" sz="2300">
                <a:solidFill>
                  <a:srgbClr val="00339A"/>
                </a:solidFill>
                <a:latin typeface="Arial"/>
                <a:ea typeface="Arial"/>
                <a:cs typeface="Arial"/>
                <a:sym typeface="Arial"/>
              </a:rPr>
              <a:t>Groupement    phosphate polaire</a:t>
            </a:r>
            <a:endParaRPr/>
          </a:p>
          <a:p>
            <a:pPr indent="0" lvl="0" marL="0" rtl="0" algn="l">
              <a:lnSpc>
                <a:spcPct val="95999"/>
              </a:lnSpc>
              <a:spcBef>
                <a:spcPts val="158"/>
              </a:spcBef>
              <a:spcAft>
                <a:spcPts val="0"/>
              </a:spcAft>
              <a:buClr>
                <a:srgbClr val="00339A"/>
              </a:buClr>
              <a:buSzPts val="2300"/>
              <a:buFont typeface="Arial"/>
              <a:buNone/>
            </a:pPr>
            <a:r>
              <a:rPr b="1" lang="fr-FR" sz="2300">
                <a:solidFill>
                  <a:srgbClr val="00339A"/>
                </a:solidFill>
                <a:latin typeface="Arial"/>
                <a:ea typeface="Arial"/>
                <a:cs typeface="Arial"/>
                <a:sym typeface="Arial"/>
              </a:rPr>
              <a:t> hydrophile</a:t>
            </a:r>
            <a:endParaRPr b="1" sz="2300">
              <a:solidFill>
                <a:srgbClr val="00339A"/>
              </a:solidFill>
              <a:latin typeface="Arial"/>
              <a:ea typeface="Arial"/>
              <a:cs typeface="Arial"/>
              <a:sym typeface="Arial"/>
            </a:endParaRPr>
          </a:p>
        </p:txBody>
      </p:sp>
      <p:sp>
        <p:nvSpPr>
          <p:cNvPr id="280" name="Google Shape;280;p19"/>
          <p:cNvSpPr txBox="1"/>
          <p:nvPr>
            <p:ph idx="1" type="body"/>
          </p:nvPr>
        </p:nvSpPr>
        <p:spPr>
          <a:xfrm>
            <a:off x="3379788" y="4106863"/>
            <a:ext cx="2436812" cy="1370012"/>
          </a:xfrm>
          <a:prstGeom prst="rect">
            <a:avLst/>
          </a:prstGeom>
          <a:noFill/>
          <a:ln>
            <a:noFill/>
          </a:ln>
        </p:spPr>
        <p:txBody>
          <a:bodyPr anchorCtr="0" anchor="t" bIns="0" lIns="0" spcFirstLastPara="1" rIns="0" wrap="square" tIns="0">
            <a:normAutofit/>
          </a:bodyPr>
          <a:lstStyle/>
          <a:p>
            <a:pPr indent="0" lvl="0" marL="0" rtl="0" algn="just">
              <a:lnSpc>
                <a:spcPct val="95999"/>
              </a:lnSpc>
              <a:spcBef>
                <a:spcPts val="0"/>
              </a:spcBef>
              <a:spcAft>
                <a:spcPts val="0"/>
              </a:spcAft>
              <a:buClr>
                <a:srgbClr val="00339A"/>
              </a:buClr>
              <a:buSzPts val="2300"/>
              <a:buFont typeface="Arial"/>
              <a:buNone/>
            </a:pPr>
            <a:r>
              <a:rPr b="1" lang="fr-FR" sz="2300">
                <a:solidFill>
                  <a:srgbClr val="00339A"/>
                </a:solidFill>
                <a:latin typeface="Arial"/>
                <a:ea typeface="Arial"/>
                <a:cs typeface="Arial"/>
                <a:sym typeface="Arial"/>
              </a:rPr>
              <a:t>Acides gras non polaires</a:t>
            </a:r>
            <a:endParaRPr/>
          </a:p>
          <a:p>
            <a:pPr indent="0" lvl="0" marL="0" rtl="0" algn="just">
              <a:lnSpc>
                <a:spcPct val="95999"/>
              </a:lnSpc>
              <a:spcBef>
                <a:spcPts val="158"/>
              </a:spcBef>
              <a:spcAft>
                <a:spcPts val="0"/>
              </a:spcAft>
              <a:buClr>
                <a:srgbClr val="00339A"/>
              </a:buClr>
              <a:buSzPts val="2300"/>
              <a:buFont typeface="Arial"/>
              <a:buNone/>
            </a:pPr>
            <a:r>
              <a:rPr b="1" lang="fr-FR" sz="2300">
                <a:solidFill>
                  <a:srgbClr val="00339A"/>
                </a:solidFill>
                <a:latin typeface="Arial"/>
                <a:ea typeface="Arial"/>
                <a:cs typeface="Arial"/>
                <a:sym typeface="Arial"/>
              </a:rPr>
              <a:t>hydrophobes</a:t>
            </a:r>
            <a:endParaRPr b="1" sz="2300">
              <a:solidFill>
                <a:srgbClr val="00339A"/>
              </a:solidFill>
              <a:latin typeface="Arial"/>
              <a:ea typeface="Arial"/>
              <a:cs typeface="Arial"/>
              <a:sym typeface="Arial"/>
            </a:endParaRPr>
          </a:p>
        </p:txBody>
      </p:sp>
      <p:sp>
        <p:nvSpPr>
          <p:cNvPr id="281" name="Google Shape;281;p19"/>
          <p:cNvSpPr txBox="1"/>
          <p:nvPr>
            <p:ph idx="1" type="body"/>
          </p:nvPr>
        </p:nvSpPr>
        <p:spPr>
          <a:xfrm>
            <a:off x="936625" y="203200"/>
            <a:ext cx="7481888" cy="1370013"/>
          </a:xfrm>
          <a:prstGeom prst="rect">
            <a:avLst/>
          </a:prstGeom>
          <a:noFill/>
          <a:ln>
            <a:noFill/>
          </a:ln>
        </p:spPr>
        <p:txBody>
          <a:bodyPr anchorCtr="0" anchor="t" bIns="0" lIns="0" spcFirstLastPara="1" rIns="0" wrap="square" tIns="0">
            <a:normAutofit/>
          </a:bodyPr>
          <a:lstStyle/>
          <a:p>
            <a:pPr indent="0" lvl="0" marL="0" rtl="0" algn="ctr">
              <a:lnSpc>
                <a:spcPct val="96000"/>
              </a:lnSpc>
              <a:spcBef>
                <a:spcPts val="0"/>
              </a:spcBef>
              <a:spcAft>
                <a:spcPts val="0"/>
              </a:spcAft>
              <a:buClr>
                <a:srgbClr val="D83804"/>
              </a:buClr>
              <a:buSzPts val="3500"/>
              <a:buFont typeface="Arial"/>
              <a:buNone/>
            </a:pPr>
            <a:r>
              <a:rPr b="1" lang="fr-FR" sz="3500">
                <a:solidFill>
                  <a:srgbClr val="D83804"/>
                </a:solidFill>
                <a:latin typeface="Arial"/>
                <a:ea typeface="Arial"/>
                <a:cs typeface="Arial"/>
                <a:sym typeface="Arial"/>
              </a:rPr>
              <a:t>Les lipides membranaires sont des</a:t>
            </a:r>
            <a:endParaRPr/>
          </a:p>
          <a:p>
            <a:pPr indent="0" lvl="0" marL="0" rtl="0" algn="ctr">
              <a:lnSpc>
                <a:spcPct val="96000"/>
              </a:lnSpc>
              <a:spcBef>
                <a:spcPts val="0"/>
              </a:spcBef>
              <a:spcAft>
                <a:spcPts val="0"/>
              </a:spcAft>
              <a:buClr>
                <a:srgbClr val="D83804"/>
              </a:buClr>
              <a:buSzPts val="3500"/>
              <a:buFont typeface="Arial"/>
              <a:buNone/>
            </a:pPr>
            <a:r>
              <a:rPr b="1" lang="fr-FR" sz="3500">
                <a:solidFill>
                  <a:srgbClr val="D83804"/>
                </a:solidFill>
                <a:latin typeface="Arial"/>
                <a:ea typeface="Arial"/>
                <a:cs typeface="Arial"/>
                <a:sym typeface="Arial"/>
              </a:rPr>
              <a:t>molécules amphipathiques</a:t>
            </a:r>
            <a:endParaRPr/>
          </a:p>
        </p:txBody>
      </p:sp>
      <p:cxnSp>
        <p:nvCxnSpPr>
          <p:cNvPr id="282" name="Google Shape;282;p19"/>
          <p:cNvCxnSpPr/>
          <p:nvPr/>
        </p:nvCxnSpPr>
        <p:spPr>
          <a:xfrm>
            <a:off x="2940050" y="4741863"/>
            <a:ext cx="276225" cy="0"/>
          </a:xfrm>
          <a:prstGeom prst="straightConnector1">
            <a:avLst/>
          </a:prstGeom>
          <a:noFill/>
          <a:ln cap="flat" cmpd="sng" w="45700">
            <a:solidFill>
              <a:srgbClr val="CC3300"/>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0"/>
          <p:cNvSpPr/>
          <p:nvPr/>
        </p:nvSpPr>
        <p:spPr>
          <a:xfrm>
            <a:off x="285750" y="173038"/>
            <a:ext cx="8643938" cy="5357812"/>
          </a:xfrm>
          <a:prstGeom prst="rect">
            <a:avLst/>
          </a:prstGeom>
          <a:noFill/>
          <a:ln>
            <a:noFill/>
          </a:ln>
        </p:spPr>
        <p:txBody>
          <a:bodyPr anchorCtr="0" anchor="t" bIns="45700" lIns="91425" spcFirstLastPara="1" rIns="91425" wrap="square" tIns="45700">
            <a:spAutoFit/>
          </a:bodyPr>
          <a:lstStyle/>
          <a:p>
            <a:pPr indent="0" lvl="0" marL="1965960" marR="0" rtl="0" algn="l">
              <a:lnSpc>
                <a:spcPct val="95999"/>
              </a:lnSpc>
              <a:spcBef>
                <a:spcPts val="0"/>
              </a:spcBef>
              <a:spcAft>
                <a:spcPts val="0"/>
              </a:spcAft>
              <a:buNone/>
            </a:pPr>
            <a:r>
              <a:rPr b="1" lang="fr-FR" sz="1800">
                <a:solidFill>
                  <a:srgbClr val="D83804"/>
                </a:solidFill>
                <a:latin typeface="Arial"/>
                <a:ea typeface="Arial"/>
                <a:cs typeface="Arial"/>
                <a:sym typeface="Arial"/>
              </a:rPr>
              <a:t> </a:t>
            </a:r>
            <a:r>
              <a:rPr b="1" lang="fr-FR" sz="3200">
                <a:solidFill>
                  <a:srgbClr val="D83804"/>
                </a:solidFill>
                <a:latin typeface="Arial"/>
                <a:ea typeface="Arial"/>
                <a:cs typeface="Arial"/>
                <a:sym typeface="Arial"/>
              </a:rPr>
              <a:t>Les acides gras</a:t>
            </a:r>
            <a:endParaRPr/>
          </a:p>
          <a:p>
            <a:pPr indent="-457200" lvl="0" marL="502919" marR="0" rtl="0" algn="l">
              <a:spcBef>
                <a:spcPts val="4320"/>
              </a:spcBef>
              <a:spcAft>
                <a:spcPts val="0"/>
              </a:spcAft>
              <a:buClr>
                <a:srgbClr val="000000"/>
              </a:buClr>
              <a:buSzPts val="1800"/>
              <a:buFont typeface="Noto Sans Symbols"/>
              <a:buChar char="∙"/>
            </a:pPr>
            <a:r>
              <a:rPr b="1" lang="fr-FR" sz="1800">
                <a:solidFill>
                  <a:srgbClr val="000000"/>
                </a:solidFill>
                <a:latin typeface="Arial"/>
                <a:ea typeface="Arial"/>
                <a:cs typeface="Arial"/>
                <a:sym typeface="Arial"/>
              </a:rPr>
              <a:t>Chaînes hydrocarbonées de longueur et de degrés d'insaturation variables comportant un groupement carboxylique</a:t>
            </a:r>
            <a:r>
              <a:rPr b="1" lang="fr-FR" sz="1800">
                <a:solidFill>
                  <a:srgbClr val="C00000"/>
                </a:solidFill>
                <a:latin typeface="Arial"/>
                <a:ea typeface="Arial"/>
                <a:cs typeface="Arial"/>
                <a:sym typeface="Arial"/>
              </a:rPr>
              <a:t> -COOH</a:t>
            </a:r>
            <a:r>
              <a:rPr b="1" lang="fr-FR" sz="1800">
                <a:solidFill>
                  <a:srgbClr val="000000"/>
                </a:solidFill>
                <a:latin typeface="Arial"/>
                <a:ea typeface="Arial"/>
                <a:cs typeface="Arial"/>
                <a:sym typeface="Arial"/>
              </a:rPr>
              <a:t> à une extrémité.</a:t>
            </a:r>
            <a:endParaRPr/>
          </a:p>
          <a:p>
            <a:pPr indent="-457200" lvl="0" marL="502919" marR="0" rtl="0" algn="l">
              <a:spcBef>
                <a:spcPts val="4320"/>
              </a:spcBef>
              <a:spcAft>
                <a:spcPts val="0"/>
              </a:spcAft>
              <a:buClr>
                <a:srgbClr val="000000"/>
              </a:buClr>
              <a:buSzPts val="1800"/>
              <a:buFont typeface="Noto Sans Symbols"/>
              <a:buChar char="∙"/>
            </a:pPr>
            <a:r>
              <a:rPr b="1" lang="fr-FR" sz="1800">
                <a:solidFill>
                  <a:srgbClr val="000000"/>
                </a:solidFill>
                <a:latin typeface="Arial"/>
                <a:ea typeface="Arial"/>
                <a:cs typeface="Arial"/>
                <a:sym typeface="Arial"/>
              </a:rPr>
              <a:t>Les deux extrémités d’une molécule d’acide gras ont des propriétés différentes :                                                                                                                                               	- La chaine glucidique est hydrophobe                                                                	- Le groupement carboxyle est hydrophile</a:t>
            </a:r>
            <a:endParaRPr/>
          </a:p>
          <a:p>
            <a:pPr indent="457200" lvl="0" marL="45720" marR="0" rtl="0" algn="l">
              <a:lnSpc>
                <a:spcPct val="150000"/>
              </a:lnSpc>
              <a:spcBef>
                <a:spcPts val="4320"/>
              </a:spcBef>
              <a:spcAft>
                <a:spcPts val="0"/>
              </a:spcAft>
              <a:buNone/>
            </a:pPr>
            <a:r>
              <a:t/>
            </a:r>
            <a:endParaRPr b="1" sz="1800">
              <a:solidFill>
                <a:srgbClr val="000000"/>
              </a:solidFill>
              <a:latin typeface="Arial"/>
              <a:ea typeface="Arial"/>
              <a:cs typeface="Arial"/>
              <a:sym typeface="Arial"/>
            </a:endParaRPr>
          </a:p>
        </p:txBody>
      </p:sp>
      <p:pic>
        <p:nvPicPr>
          <p:cNvPr descr="http://fr.cdn.v5.futura-sciences.com/builds/images/thumbs/7/7a4d7fa7d1_acgras2_03.gif" id="288" name="Google Shape;288;p20"/>
          <p:cNvPicPr preferRelativeResize="0"/>
          <p:nvPr/>
        </p:nvPicPr>
        <p:blipFill rotWithShape="1">
          <a:blip r:embed="rId3">
            <a:alphaModFix/>
          </a:blip>
          <a:srcRect b="0" l="0" r="0" t="0"/>
          <a:stretch/>
        </p:blipFill>
        <p:spPr>
          <a:xfrm>
            <a:off x="642938" y="4897438"/>
            <a:ext cx="7858125" cy="1857375"/>
          </a:xfrm>
          <a:prstGeom prst="rect">
            <a:avLst/>
          </a:prstGeom>
          <a:noFill/>
          <a:ln>
            <a:noFill/>
          </a:ln>
        </p:spPr>
      </p:pic>
      <p:sp>
        <p:nvSpPr>
          <p:cNvPr id="289" name="Google Shape;289;p20"/>
          <p:cNvSpPr txBox="1"/>
          <p:nvPr/>
        </p:nvSpPr>
        <p:spPr>
          <a:xfrm>
            <a:off x="7480300" y="4232275"/>
            <a:ext cx="1730375" cy="8318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Région Hydrophile</a:t>
            </a:r>
            <a:endParaRPr/>
          </a:p>
        </p:txBody>
      </p:sp>
      <p:sp>
        <p:nvSpPr>
          <p:cNvPr id="290" name="Google Shape;290;p20"/>
          <p:cNvSpPr/>
          <p:nvPr/>
        </p:nvSpPr>
        <p:spPr>
          <a:xfrm>
            <a:off x="0" y="4483100"/>
            <a:ext cx="1949450" cy="8318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Région Hydrophobe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descr="http://www.chups.jussieu.fr/polys/biochimie/STbioch/ST_27_PICT.gif" id="295" name="Google Shape;295;p21"/>
          <p:cNvPicPr preferRelativeResize="0"/>
          <p:nvPr/>
        </p:nvPicPr>
        <p:blipFill rotWithShape="1">
          <a:blip r:embed="rId3">
            <a:alphaModFix/>
          </a:blip>
          <a:srcRect b="25000" l="0" r="0" t="21428"/>
          <a:stretch/>
        </p:blipFill>
        <p:spPr>
          <a:xfrm>
            <a:off x="1285875" y="357188"/>
            <a:ext cx="6572250" cy="1127596"/>
          </a:xfrm>
          <a:prstGeom prst="rect">
            <a:avLst/>
          </a:prstGeom>
          <a:noFill/>
          <a:ln>
            <a:noFill/>
          </a:ln>
        </p:spPr>
      </p:pic>
      <p:sp>
        <p:nvSpPr>
          <p:cNvPr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id="296" name="Google Shape;296;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id="297" name="Google Shape;297;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jpeg;base64,/9j/4AAQSkZJRgABAQAAAQABAAD/2wCEAAkGBxQTEhUREhIWFBUWGRcYFxgVERcWGBcXFRgWGBccGBkeHiggGBwxGxgYIjEhJSkrMS4uGR8zODMsNygtLiwBCgoKDA0OGg8PGisfHBwtLCsuKyw3NyssNywsLTctLCw1LCwsLCwsLC8sNy8tKywxLCwsLCs2KywsLyssLywrLP/AABEIALgBBAMBIgACEQEDEQH/xAAcAAEAAgMBAQEAAAAAAAAAAAAABQYBAwQHAgj/xABHEAACAQIDBAQKCAQFAgcAAAABAgMAEQQSIQUTMVEGIkGUBxYXMjVTYXHS0xQjc5GTsrPRQlJigRUzgqGxJJIlQ2NkpcHw/8QAGQEBAQEBAQEAAAAAAAAAAAAAAAECAwUE/8QAIBEBAAICAwEAAwEAAAAAAAAAAAERAgMSEyFSQUJRIv/aAAwDAQACEQMRAD8A4OgnRTDYnCiWWMs2ZxcOw0BsNAasPk/wXqj+I/719eCaO+AH2kn5que5rxd+W3smspYm7Uryf4L1R/Ef96eT/BeqP4j/AL1ddzTc1y5bvqT1SvJ/gvVH8R/3p5P8F6o/iP8AvV13NNzTlu+pPVK8n+C9UfxH/enk/wAF6o/iP+9XXc03NOW76k9UiToFgVF2jsBxJlYAf3vWuPoVs5tFCk8NJydTf+r2H7qvEuEVxldQyniGUMD7wdKo2yOjo/wtvqTFOpklS0OWTPE7vFpYE8AAO0H210w7Jj3OT1mToVs5fOAGttZyNRa487jqPvFZl6E7OXRlCnj1pyNP7mtLdHJCcAFjRmaPFSTtiIGdBLOIGOcC2Vr5gAT/AA27Kjtp9HmgnhiIZ0jwqRiU7LfGKzB2JAVTZDb2nSusas587JX1LnoRs8MFKjMwuq783YcwL3I91Zm6D7PS2dQt+Gacrf7zUftbBsJ3eGFpC7QMsM2BfrZVTKYZ1P1IFtVa2Ug341OdKYFGOwsksDzQrFiA2XDPOAzGLLdVU2OhtWevZcRzn1PXL4hYG9t2b2v/AJrcOfHhWPEXAZc+Tq2vm3zZbc73tatEWyp4tmnJC4xMy7iNbEmKKWVzGHsDlCq+pPC1c0GzJYoxhpcNJuMPikkKAGYNh5FcgAgfW5ZbEgDQAaVY17PuT13J0I2eQGCghvNInJB9xvrSPoRs9gSqhgNTacmw9tjpWrG4EO0L4bCyxx/SJ2P1TANfDOu8CW+rUtYC4Fzr26xuzdmM0GHEWFljkiwmIXEM2GeLMXiAVNVG9YuL6X4e2rGvZP7yvqWj6FbOa+UBrC5tOTYczZtBX1B0GwDjMiZ15rMzD7waiNmbMBwkkTxzZjFGDu9jvCy5Sma5Y2xFja6jVgDYVY+hsMh+ldRFvkyTJhnw6ysVYG8TcCvU6w0N7dlTPXsxiaznw9ca9B9nligUFxxUTksPeL3FYh6E7Pc2RQx5LOT/AMGuPo/CyHAxjB/WxtbEs+GlEiOcweTfCyupPvve/ZXN0e2RNh12dNJBcIkxYRYV0mUhLgTEXL31ABAubVerZ7/uT1ML0CwJuBHe2htKxsfbrpXzB0H2e4JRQ4BsSs5ax5Gx41E7J2ViYxNv8PNbHYeR5TCczCYEsLAgCI5ZSoVj/Da+lTfQfDuJpBkVkEUY3wwT4QkhiBG6NozAXNxw4HjWcte2Imec+J6x5P8ABeqP4j/vTyf4L1R/Ef8AerruabmuHLd9SeqV5P8ABeqP4j/vTyf4L1R/Ef8AerruabmnLd9SeqV5P8F6o/iP+9PJ/gvVH8R/3q67mm5py3fUnqleT/BeqP4j/vTyf4L1R/Ef96uu5puact31J6/PHSrBJDi5oYxZEYBRe9gVU8T7TSurp+P/ABHFD+tf00pXua74Rf8AIdIeq+B2O+zl+0l/NV33NVLwKR32Yv2sv5qvu6r5s9N5TLMwj9zTc1Ibqm6rPQUj9zXJj5t2Y1Au0rhFvw4FmP8A2qam91XFtHZxdoXUjNFIHAJsCCrIw/7WJ94pGgpDRbdhYFlzkAgKRGfrCzMgyHgTmU6aW4nSudekMZky2OXICOqd5vTK0RTLzuP/AMK6W6DxEuzSOzPlsSkOhRi6llyWla5tdwTbTmTuTohGLMsjq6gBWVYlykO0lwgQLxYi1rW9utb6MSnHL0lw63vvOqpd/qj9WquY2L8rMP8A7rftXaYgmjjcdRo5nJ1LAxNAqqqjziTNw5gVsfobEySo0kpM0bRyNdLnO7SMw6tg12PZYADSuzbXRyPEkNIWGVJEGXLb61omJsQbkGFbdmpuDU6MSnEdqxCKaZsyrBm3oK9Zcqhzp29Ug6c6+BtmPhlkz5wgTdEOSU3gsvLLrc8udda9F0+jTYUscs4cOyJFGRnXKcqqgUacwf71txfR8PIZ1keOUsrBlyHLZDGQFZSCCp1vfXlToxKQ/jNhz5u8bSLVYWIBmJEYP9RIIt2Ea2rU/SeMSEFX3axNIzBCShjlaOTOBwAy/wDNSmG6IxIuUPJxga5ZSScOxZSer2kkt/tatUvQxCXtPMokWRJADHZkmlaV1vkuurkAggge3Wr04lNUe3YmvlEjHePGAIjd2jzZ8l/OUZT1uHDnXQdpRbqOZSXWUqIwq3ZywJAA52BvfhY19YjohEyKtzdJJZFLJHJYzEl1yspUrrppcWGtdU2wFMUUauyGEho3ATMGAKkkZcpuGYEW7dLVOjEpBYPpNEyZ3DLYsXshtGm8eNGlvql8p0PCx5V1dIdrrhkkOVnkWKSUKqlrCMcWtwXNYffyNB0GhBDZ3LHR2dIXZwHeTi0fUN3YXW1wfYCO/bfRtcQWO9kiLxPC+7ydeN9bdZWsQb2I/mPHsvTjZSOk2/CoJYsAoe7ZCULRoZHVT/EwUH7iOIr42jt1Y5Y4lRnZpERgFJIEsUsiFew/5fbwrsm6IRsCjSSbomRhGMgAeVGjdg2XMdGY2Jtc+6vgdDxmEpxUxlDRuHtDxijkiUZd3YrlkJI521FTpxKcWF6RxvI6gEqBBu7Kd47zb7MhQ2ykbo3vw1vwrpg27C7KiF2LAEgRklLuyDOOK9dWB5W1tWW6DQG5zOWJjbM4jfrx77rFWTKS2+fNcW4WtW1uh8ZMR3j2iKsAEhHWRi91IQGO5NiFsCABbnejEpzzbUy4lsOQAFEBB6xJ330m4sOFhCLe80i25G7Ki5la8V1kjZWCzCQobdl923HhY3qTxnRuOSVpi7hmEYOVgAN0JwttLg/XtrfsW1tbx+yuhEUDh1lc2EQsFiQEwb0Ieog1tK9z2mxp04lPjD7fhdFdBIQ5URjdm8mdS6lOxhlVjx0travmLpHh2YKuc6xgndMApmJVAxPA5gQR2Ea1vwvQxY7us8gkzIwfLELNGrpcoqBGYrI2YkXOnCwrdh+iESBgHkOZoXYlluXgcyAnq/xMTm/2tU6MSnE+34zG8qBikeUszKQpjLlGZW4GxBJHGw9oqbMNREvQ1bTfWM+/CxyZgi/VBy7XyKM72JXM1zb+97MYqk6I/BSP3NNzUhuqbqp0FI/c03NSG6puqdBT8zeEUW2nix/6i/px1itnhLFtq4z7Rf0o6V9uMVEQ09R8GnRDDTbOhlkWTM2YnJiZkF8xHmq4H+1WnxCwfKfvuI+ZXL4I/RWH9zfmNXGqi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CseIWD5T99xHzKeIWD5T99xHzKs9KD8sdP8GsO0sVCl8iOoXM7ObGOM6sxJOpPE0ro8J3pbGfaL+lFSivbvBH6Kw/ub8xq41TvBH6Kw/ub8xq40QpSuPE7TijljhdwJJb5Fsdctr68BxHHj2UHZSlKBSuPZe04sQm8hcOtytxfivv7O0HgQQRoa7KBSuPae1IsOqtM4QMwQE385uH9u0ngACToK7KBSlaY8UjO0aupdLZ1DAsuYXXMOIuAbX5UG6lKUClKUClKUClKUClKUClKUClKUClKUClKUClKUH5g8J3pbGfaL+lFSnhO9LYz7Rf0oqUV7d4I/RWH9zfmNXGqd4I/RWH9zfnNXGiNOMxSxI0sjBUQFmJ7ANTUHhdjmeKWScMkuICn+qBUJMCryZScx/qJ7K3YwHE4gQ2+pgKvKbaPLxjjHMDz29uT21OUEbsPHNJGRKAJozu5QOGdbaj+kghh7GFc/SCQyFMGhIaa+8IuCkC2EhuPNJuEB5sSOBrXts/R5BjuEYXJifshcrJbmhJv/SzcbCt3R+BjnxUqlZJ7HK3GOJb7pPYbEsf6nag042MYWZZ1AWFwkUygdVbdWGQD+G18h9hX+Wp6tWJw6yI0bqGRwVZTwIIsQaq5lkYf4WzOX4PLqCcIOD5h/G3+XprcMaDt2fEuLd8S4DwlWigU6q0baSye3OQAP6VFvONb9gTFC+EkYs8IGVm4yQtcRsT/ABMLFWPNb9oqWjiCgKoAUAAACwAGgAHKovb2Gay4mJS0sFyFFryRtbeR/wBwAR/Uq0HTtnH7mIuq53JCxp/PI2iL7BfiewAnsqFm2acIiYpSZJIwxxJA1mRzmlOUcSrdZR2C6jjXRsmUYuUYtTeBBlw/YHZh9ZLb7kF+Fn/mqftQfMcgYBlIZSAQQbgg6gg9ormxG1YEcRPPGkjeajSKrG/JSbmo/ZH/AE8pwZ0jIMmH5Zb/AFkf+kkED+VhbzTVW28iD/EWD4eWMljiMPilMchO6VQIplNwrKBlOU9a9iKD0WsA15t0l2/Ipklimli3C4aySSxooaTKzKUYM85KsASbDQ2Nwa37LxRgmyjEsQ+0ZUkEjobKcPK6g6DLchT7bCg9Dr4EyligYZgAStxcA3sSOwaH7q892RtebEz4ZVxLmNpNpsd2UtKuGxMKwrmKnqZWIuLXB41w7A2viLR4hpskuIilkmDssgDRxE5lgRM6CNsqlSeBsbsRQep0qmdBtoO0rwyzPK25hluZo54jmLAvHIoVlDEeYyjzbjtrG1ulEsEbSKA7k4p8jcBHhSqWBJVVvddSb3bQN2BdKVWMf0p3aFhkJDSDKXsciR5wx5C5W7W0BrRtDpQ8Cy7xsOxjhnkzI5ClojFZSCeqfrNRc9nOgt1Kp+I6UzRli0aMp+kbsITmH0eeOEF7mxBEgJ4Wy8ddOzDbXlkwzOw3brNHGSpXUb2IE2DNluGIIJoLJSqbF0qcPCgVSpZFkuTcGaV0XrMw7BewDf6a5k6ZSRxRuyIVMMRBzliZHhSTruCTGBe5zr5vWv2UF7pVSxPSDEKTGogZ13xZ+vkYRRxSdUXuD9ZlOpta/sqX2FjmkMt72BjZb62EsaPlv22JP9iKCWpSlApSlB+YPCd6Wxn2i/pRUp4TvS2M+0X9KKlFe3eCP0Vh/c35zVxqneCP0Vh/c35jVxojFqzStMuKRWVGdVZ75FLAFsouco7bDlQbWUEWIuDxBrIFKUCvnIL3trwv22r6rTNiUVlRnVWckICwBYgXIUdumulBupSsGgIoAsBYcgLVmtOExSSoJI3V0bgyMGU+4jQ1uoMFRobcOHs91aZcFGzB2jRmHBigJHuNtK30oOebAxuSzxoxIyksgJK8rkcPZR8BEQwMSEMQWuinMRwJ01ropQa0gUWsoFr2sALX42r5jwkaszqihm85goBb3ntrdSg04bCRx33aKlzc5VC3PttxrX/h0VyTGrXYv1hmAYgAkX4cOyuqlBoTBRg3EaA2AuEF7AWA91tK+Rs+Kyrukst8oyLZb8bC2ldNKDW0KnQqDx7B/Fx++kWHVVCKqqo4AKAB28K2UoOd8FGSCY0JGgJQXAvfTTnrWfocebNu0zWy3yC+Xlfl7K30oNMWFRQFVFUC9gFAAvx0ph8MqZsotmOY+02A/wCABb2VupQKUpQKUpQfmDwnelsZ9ov6UVKeE70tjPtF/SipRXt3gj9FYf3N+c1cap3gj9FYf3N+Y1caIwzAanQDnVYg2f8ATFfFElGcD6K1tYo0OaNwD2s1mIPFcqnhXft5DMyYQBskgLTMBYblbApfmxOXTszcNKmAKDh2LjzNHmZcsikpKl75JF84DmO0HtBBrvqD2kpw8wxSglHATEKAW0H+XIAATcElTbirC/mio3xml/8Ab/fiPlUFtJ7arEGz/pqvimZlzgDCsALxIpzJKoPazANrxUKCONfDY58YowptZyd80W8CiAWuuZlU5mJy2HZmNxarUosLDQDhagj9iY8yx/WALKhySqDcK4te3NSCGB5EVy7dkMrLgkJBkBaZlJBSDgdR5rMeqP8AWf4a+dtg4d/psaM4C5J0jXM0iDVGVf4nUk25hm5CunYOCZFaWYDfzEPJY3C6WWMH+VRp77ntoORIxhJwFGXDzkAADSKe1gAOxXAA5Bl/rqfrm2hgkmjaKQXVxY2NiORB7CDqD2EVzbDnkKGObWWI5GbKQJLAFXXs1BBIHA3HZQSVROzekMU2JxGETMJMNkz5lAB3guChv1hz5XFS1edbU2JjFlxWIwyESyzvEpzADcYiDDJveOuSSPMBx0bnQWrYnSnD4mJ5kfLGkjRZpLIGZe1ddVIII5jsqUmxkaavIig2tmcC9+HE1QsLsR8LijIcI82GUypGiBXKkx4VUfISMwKxul+y3JjX1szovIMomw6nLgJIgDlcRvJKzCIE8bIQt/ZQXyTForKrOoZvNBYAt7h21jF4jIAcpa7KtltpmIFzcjQXue32GvOZdjT/AEeaB8I8k+Iw+GSKXq5YikKpld8148kueS41OfS50qw9ItjYhwCJ3nU4jCOIjHEqxrFPE7sGChj1VJ6xPsoLMuLjLZBIpfU5QwzWGh041iHGRvmyyI2Xzsrg5ffbhVIh6PSKIGWCz/T8ZLIQQpMUoxYUsw1sc0fuuNNKjMHsnECGREwbOn0dIiMTDEsgAkW8SmNguJATOQWtcjzjmIoPQMTtzDoiyNMmRnWMMrBhnchQNPaR7q7hKv8AMONuI4jiPfodK8yXZE18Q74WaRTPgZlzwQKzqjWlKollBCjUHrWtepHBYKdZYYDhpLJj8RiHl6u7EUpxDIVN7sTvFBAGmt+y4XDHbXiiieYuGVOOVlJJNrKNbXNxxPbW98dGoUu6pn83M6i/sGuv9q85wvRyeHCbMyxOghif6QkUMUriaRIwrmNuq5GV1JFyM4tpe2nF9H5khQDDzuxhmRUMeHmjIkkd1gmjuBCNVsY2AA0v1RQepswGpNh7fbWahdpq2TDZwABJFvQDcDQganiBJl191QeGixkm7jcYhAqxJK28y5mE15CrBrkbsecOw6G/ALtXwZlvlzC+mlxfW9tP7H7jVGkwuOEqDNNlVlERzMwyid8++OcBvqsmsgbTzetepPa2FxAxUksKMQUhAysFzFExvVudB1nj4i2ooLOXAIBIueA5242r6qgYOHGWkUfSQoDFGJbP14bdXeyMSc6nRiLE6AAisrHiyCAuJHVthmEslhLnbM2IDsXyW3dlkLaB+0igvjMBxNuzXmeFfVUbamCxCpKxaZjImMADSlgJTMn0LIt7IRc2Kgacb2FXmg/MHhO9LYz7Rf0oqU8J3pbGfaL+lFSivbvBH6Kw/ub8xq41TvBH6Kw/ub8xq40QpSovHbcjimjgbMWe1yBdY8xyx7w30zNdV5kGglKUpQKUqL2jtyOGWOFsxL2uVF1jDHKhkN+qGc5RzN+RoJSlKUClK4cbtWKKSKKR8rykhBYm9rcSNFFyBc21YDiaDupSlApSlApSlApSlApSlApSlBgis0pQKUpQKUpQYIrNKUH5g8J3pbGfaL+lFSnhO9LYz7Rf0oqUV7d4I/RWH9zfnNXGqd4I/RWH9zfmNXGiObaWNWGNpXvlUXsBdjyCjtYmwA7SRUbgdjZ4JBiVvJidZrNfLcWVFbkosAR2gntrZi8K82JTOtoIQHFyPrZjfLpfzUAvrxZh/LUvQRWwMWzI0UpvNCckhtbNpdXA5Mtj77jsqVqF2xC0cqYuJGcgbuZEtmkjJ6pAJALKxuLkaM/Ooz/E8V6vE9zh+dQWXH4tYo3lc2VFLHtNhyHafZUZs3ZOeGQ4lAXxIvKt75VIskYP9Kns/iLEca48Gk+JkRZ0dYojvDvY0Qyyf+WoVWbqqQXJPbktwNWegiej+JYq0EzZpoCFc9rqf8uT/UBr/UGHZUtUNtmBkdMXGpZo+pIqi5khY6i3aynrD/UB51Rv+NTes/8Ai8V8VBZ8RMqKzuwVVBZiTYAAXJP9qgcBsv6THLNiFYNiVACk2eKEXMSj+RwTnNuDH2CtEbS4tlhkuYVIeVjh5IA9vMiCuSXBYFm7LADXNVpoIvYONZ0McpG/hOSWwtmNrq4HYGHW9mo7KYjpHhUkMT4mJXBClWkAIJtYHkdR99adsxGKRMZGpOUbuZVFy8JOhsNSyN1h7GcDjUL/AIJPiGx8W9EUMsrKwOHzOyNDErFHY25gHKbEUFykcAFibAC5J7AONYilDKGUgqwBBHAg6gj+1ef4/Od6A0/0veyru88xi+jdYL1L7vLugCGtfP230psw4gPBgVaQZ0w+KBZ3GSOKILJFcaqu+SK69olceygv++XNkuM1s1u217X++tlUXbi4t5RG7SJmXDBvoskoQA4oh8raEHd6E8bVH7VgkRpIt9OsSSzbtZJ8WqODFhyB9IjJkBDNIUBzAktpdRYPSq+Y5AwupBB4EG4++vN4MdK88Uj7+FjJAjRvLiGcI6KrZ1S0CLc+drdu0EWGjYeLOGw0kebEj/o2WNT9IkP0hJMTnCXvlfrR8LaWtoNA9QJrXhsQsiLIjBlYAqw1BB4EeyvP8Xhp9yzl5iHmjSbeSTlVw+5S4VVIKqZLZmXXVrm164MY0oiX6+ZkUYjdJmxsIYBo8u7mUtIzizBBIrBg2mgNw9UpVZ6RY2RY4nAKHdTSENa4ljgLIrW0OuY8rpUQNqzl45A7yxpkYybkrbOo3ylbcFWx4XGYjUigvtKpeO29PvEaNiYzI4yiIh3AkRVyBkyuLFzbMp4MLivvpG0kspw5kkRTJGgRI/OjdevJnAuLEkcbDKOdBcaVTZtsYjMIIywcPMrHclgqiaJYiTa3mMTx1AJ7K0bV2tjYm3aHNlzZGdSu+bOQFIWJr2XL5uU9a+tjYLzSqhtvESxYqaREdgIoiLR5hcJjb5b6Xvkvr2ioyDbOKOe7KCisolKMQVL4cj6wQgahn62TLpfW16D0KlULD7fxTRs+ZxKBIFiOHHWRI2Ky3FwbsBYg2OgsCak8PNOJo1kcuwlUBt2EzJLAzyLYaFQyg+ywvQeFeE70tjPtF/SipTwnelsZ9ov6UVKK9u8EforD+5vzGrjVO8EforD+5vzGrjRClKUClKUClKUClKUClKUClKUCuSDZ0aSvMATJIFDMzs1lW9lUEkItyTZbC5vXXSgUpSgUpSgUpSg04rDJIpSRQym+hF+IIP8AsSP71tVbCw4Cs0oFKUoFKUoFKUoFfDRKWDlQWUEA21Aa17HsvYfdX3Sg/MHhO9LYz7Rf0oqU8J3pbGfaL+lFSivbvBF6Kw/ub8zVcap3gj9FYf3N+Y1caIUpSgUpSgUpSgUpSgUpSgUpSgUpSgUpSgUpSgUpSgUpSgUpSgUpSgUpSgUpSg/MHhO9LYz7Rf0oqU8J3pbGfaL+lFSivQfB/wCEbAYTAw4eeR1kTNmAgkYasSNQpBqx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Z8r2y/XSd2m+Gnle2X66Tu03w1ilCmfK9sv10ndpvhp5Xtl+uk7tN8NYpQpnyvbL9dJ3ab4aeV7ZfrpO7TfDWKUKeI9N9pR4nH4nEQkmOR1KkqVJAjRdQdRqDSlKD//Z" id="298" name="Google Shape;298;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ttp://www.chups.jussieu.fr/polys/biochimie/STbioch/ST_29_PICT.gif" id="299" name="Google Shape;299;p21"/>
          <p:cNvPicPr preferRelativeResize="0"/>
          <p:nvPr/>
        </p:nvPicPr>
        <p:blipFill rotWithShape="1">
          <a:blip r:embed="rId4">
            <a:alphaModFix/>
          </a:blip>
          <a:srcRect b="25000" l="0" r="0" t="0"/>
          <a:stretch/>
        </p:blipFill>
        <p:spPr>
          <a:xfrm>
            <a:off x="1285875" y="1484784"/>
            <a:ext cx="6572250" cy="1229038"/>
          </a:xfrm>
          <a:prstGeom prst="rect">
            <a:avLst/>
          </a:prstGeom>
          <a:noFill/>
          <a:ln>
            <a:noFill/>
          </a:ln>
        </p:spPr>
      </p:pic>
      <p:pic>
        <p:nvPicPr>
          <p:cNvPr descr="https://encrypted-tbn3.gstatic.com/images?q=tbn:ANd9GcT4NxsXWTLzwN6HmFm4GjAdslR_LNF4I1e3F02sZSnfa3PELe_CGQ" id="300" name="Google Shape;300;p21"/>
          <p:cNvPicPr preferRelativeResize="0"/>
          <p:nvPr/>
        </p:nvPicPr>
        <p:blipFill rotWithShape="1">
          <a:blip r:embed="rId5">
            <a:alphaModFix/>
          </a:blip>
          <a:srcRect b="0" l="0" r="0" t="0"/>
          <a:stretch/>
        </p:blipFill>
        <p:spPr>
          <a:xfrm>
            <a:off x="155575" y="2727630"/>
            <a:ext cx="3888432" cy="3667506"/>
          </a:xfrm>
          <a:prstGeom prst="rect">
            <a:avLst/>
          </a:prstGeom>
          <a:noFill/>
          <a:ln>
            <a:noFill/>
          </a:ln>
        </p:spPr>
      </p:pic>
      <p:pic>
        <p:nvPicPr>
          <p:cNvPr descr="http://fr.cdn.v5.futura-sciences.com/builds/images/thumbs/c/c1d7987b4c_15218_AcidesGrasCis_Trans.jpg" id="301" name="Google Shape;301;p21"/>
          <p:cNvPicPr preferRelativeResize="0"/>
          <p:nvPr/>
        </p:nvPicPr>
        <p:blipFill rotWithShape="1">
          <a:blip r:embed="rId6">
            <a:alphaModFix/>
          </a:blip>
          <a:srcRect b="0" l="0" r="0" t="0"/>
          <a:stretch/>
        </p:blipFill>
        <p:spPr>
          <a:xfrm>
            <a:off x="4572000" y="2728184"/>
            <a:ext cx="4143375" cy="1857375"/>
          </a:xfrm>
          <a:prstGeom prst="rect">
            <a:avLst/>
          </a:prstGeom>
          <a:noFill/>
          <a:ln>
            <a:noFill/>
          </a:ln>
        </p:spPr>
      </p:pic>
      <p:pic>
        <p:nvPicPr>
          <p:cNvPr id="302" name="Google Shape;302;p21"/>
          <p:cNvPicPr preferRelativeResize="0"/>
          <p:nvPr/>
        </p:nvPicPr>
        <p:blipFill rotWithShape="1">
          <a:blip r:embed="rId7">
            <a:alphaModFix/>
          </a:blip>
          <a:srcRect b="0" l="0" r="0" t="0"/>
          <a:stretch/>
        </p:blipFill>
        <p:spPr>
          <a:xfrm>
            <a:off x="3990231" y="4602445"/>
            <a:ext cx="5153769" cy="224453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2"/>
          <p:cNvSpPr/>
          <p:nvPr/>
        </p:nvSpPr>
        <p:spPr>
          <a:xfrm>
            <a:off x="2844800" y="1879600"/>
            <a:ext cx="5041900" cy="3279775"/>
          </a:xfrm>
          <a:prstGeom prst="rect">
            <a:avLst/>
          </a:prstGeom>
          <a:solidFill>
            <a:schemeClr val="lt1"/>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09" name="Google Shape;309;p22"/>
          <p:cNvGrpSpPr/>
          <p:nvPr/>
        </p:nvGrpSpPr>
        <p:grpSpPr>
          <a:xfrm>
            <a:off x="1403648" y="3279353"/>
            <a:ext cx="2122488" cy="3101975"/>
            <a:chOff x="1672" y="1288"/>
            <a:chExt cx="1204" cy="1812"/>
          </a:xfrm>
        </p:grpSpPr>
        <p:sp>
          <p:nvSpPr>
            <p:cNvPr id="310" name="Google Shape;310;p22"/>
            <p:cNvSpPr txBox="1"/>
            <p:nvPr/>
          </p:nvSpPr>
          <p:spPr>
            <a:xfrm>
              <a:off x="1672" y="1288"/>
              <a:ext cx="284"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FF0000"/>
                  </a:solidFill>
                  <a:latin typeface="Calibri"/>
                  <a:ea typeface="Calibri"/>
                  <a:cs typeface="Calibri"/>
                  <a:sym typeface="Calibri"/>
                </a:rPr>
                <a:t>HO</a:t>
              </a:r>
              <a:endParaRPr sz="2000">
                <a:solidFill>
                  <a:srgbClr val="FF0000"/>
                </a:solidFill>
                <a:latin typeface="Calibri"/>
                <a:ea typeface="Calibri"/>
                <a:cs typeface="Calibri"/>
                <a:sym typeface="Calibri"/>
              </a:endParaRPr>
            </a:p>
          </p:txBody>
        </p:sp>
        <p:pic>
          <p:nvPicPr>
            <p:cNvPr id="311" name="Google Shape;311;p22"/>
            <p:cNvPicPr preferRelativeResize="0"/>
            <p:nvPr/>
          </p:nvPicPr>
          <p:blipFill rotWithShape="1">
            <a:blip r:embed="rId3">
              <a:alphaModFix/>
            </a:blip>
            <a:srcRect b="0" l="0" r="0" t="0"/>
            <a:stretch/>
          </p:blipFill>
          <p:spPr>
            <a:xfrm>
              <a:off x="1812" y="1444"/>
              <a:ext cx="1064" cy="1656"/>
            </a:xfrm>
            <a:prstGeom prst="rect">
              <a:avLst/>
            </a:prstGeom>
            <a:noFill/>
            <a:ln>
              <a:noFill/>
            </a:ln>
          </p:spPr>
        </p:pic>
        <p:cxnSp>
          <p:nvCxnSpPr>
            <p:cNvPr id="312" name="Google Shape;312;p22"/>
            <p:cNvCxnSpPr/>
            <p:nvPr/>
          </p:nvCxnSpPr>
          <p:spPr>
            <a:xfrm rot="10800000">
              <a:off x="1888" y="1432"/>
              <a:ext cx="48" cy="64"/>
            </a:xfrm>
            <a:prstGeom prst="straightConnector1">
              <a:avLst/>
            </a:prstGeom>
            <a:noFill/>
            <a:ln cap="flat" cmpd="sng" w="9525">
              <a:solidFill>
                <a:schemeClr val="dk1"/>
              </a:solidFill>
              <a:prstDash val="solid"/>
              <a:round/>
              <a:headEnd len="med" w="med" type="none"/>
              <a:tailEnd len="med" w="med" type="none"/>
            </a:ln>
          </p:spPr>
        </p:cxnSp>
      </p:grpSp>
      <p:sp>
        <p:nvSpPr>
          <p:cNvPr id="313" name="Google Shape;313;p22"/>
          <p:cNvSpPr/>
          <p:nvPr/>
        </p:nvSpPr>
        <p:spPr>
          <a:xfrm>
            <a:off x="4466635" y="1746060"/>
            <a:ext cx="4572000"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1800">
                <a:solidFill>
                  <a:schemeClr val="dk1"/>
                </a:solidFill>
                <a:latin typeface="Calibri"/>
                <a:ea typeface="Calibri"/>
                <a:cs typeface="Calibri"/>
                <a:sym typeface="Calibri"/>
              </a:rPr>
              <a:t>Le cholestérol est composé d’un noyau stérol hydrophobe, d’une queue hydrophobe (Radical Alkyle) et d’une fonction alcool hydrophile. </a:t>
            </a:r>
            <a:endParaRPr sz="1800">
              <a:solidFill>
                <a:schemeClr val="dk1"/>
              </a:solidFill>
              <a:latin typeface="Arial"/>
              <a:ea typeface="Arial"/>
              <a:cs typeface="Arial"/>
              <a:sym typeface="Arial"/>
            </a:endParaRPr>
          </a:p>
          <a:p>
            <a:pPr indent="0" lvl="0" marL="0" marR="0" rtl="0" algn="just">
              <a:spcBef>
                <a:spcPts val="0"/>
              </a:spcBef>
              <a:spcAft>
                <a:spcPts val="0"/>
              </a:spcAft>
              <a:buNone/>
            </a:pPr>
            <a:r>
              <a:rPr lang="fr-FR" sz="1800">
                <a:solidFill>
                  <a:schemeClr val="dk1"/>
                </a:solidFill>
                <a:latin typeface="Calibri"/>
                <a:ea typeface="Calibri"/>
                <a:cs typeface="Calibri"/>
                <a:sym typeface="Calibri"/>
              </a:rPr>
              <a:t>Dans la double couche lipidique des membranes cellulaires, les molécules de cholestérol sont orientées de façon à ce que la tête polaire du groupe OH, tournée vers la surface, entre en contact avec le milieu extérieur ou cytoplasmique aqueux, alors que le noyaux et la chaîne carbonée sont au contraire situés en profondeur. </a:t>
            </a:r>
            <a:endParaRPr sz="1800">
              <a:solidFill>
                <a:schemeClr val="dk1"/>
              </a:solidFill>
              <a:latin typeface="Calibri"/>
              <a:ea typeface="Calibri"/>
              <a:cs typeface="Calibri"/>
              <a:sym typeface="Calibri"/>
            </a:endParaRPr>
          </a:p>
        </p:txBody>
      </p:sp>
      <p:sp>
        <p:nvSpPr>
          <p:cNvPr id="314" name="Google Shape;314;p22"/>
          <p:cNvSpPr/>
          <p:nvPr/>
        </p:nvSpPr>
        <p:spPr>
          <a:xfrm>
            <a:off x="447397" y="185200"/>
            <a:ext cx="239584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400">
                <a:solidFill>
                  <a:srgbClr val="000000"/>
                </a:solidFill>
                <a:latin typeface="Arial"/>
                <a:ea typeface="Arial"/>
                <a:cs typeface="Arial"/>
                <a:sym typeface="Arial"/>
              </a:rPr>
              <a:t>Le cholestérol</a:t>
            </a:r>
            <a:endParaRPr sz="2400">
              <a:solidFill>
                <a:schemeClr val="dk1"/>
              </a:solidFill>
              <a:latin typeface="Calibri"/>
              <a:ea typeface="Calibri"/>
              <a:cs typeface="Calibri"/>
              <a:sym typeface="Calibri"/>
            </a:endParaRPr>
          </a:p>
        </p:txBody>
      </p:sp>
      <p:pic>
        <p:nvPicPr>
          <p:cNvPr id="315" name="Google Shape;315;p22"/>
          <p:cNvPicPr preferRelativeResize="0"/>
          <p:nvPr/>
        </p:nvPicPr>
        <p:blipFill rotWithShape="1">
          <a:blip r:embed="rId4">
            <a:alphaModFix/>
          </a:blip>
          <a:srcRect b="0" l="0" r="0" t="0"/>
          <a:stretch/>
        </p:blipFill>
        <p:spPr>
          <a:xfrm>
            <a:off x="149263" y="724091"/>
            <a:ext cx="3810000" cy="217933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23"/>
          <p:cNvPicPr preferRelativeResize="0"/>
          <p:nvPr/>
        </p:nvPicPr>
        <p:blipFill rotWithShape="1">
          <a:blip r:embed="rId3">
            <a:alphaModFix/>
          </a:blip>
          <a:srcRect b="0" l="0" r="0" t="0"/>
          <a:stretch/>
        </p:blipFill>
        <p:spPr>
          <a:xfrm>
            <a:off x="1043608" y="1484784"/>
            <a:ext cx="6786563" cy="2643188"/>
          </a:xfrm>
          <a:prstGeom prst="rect">
            <a:avLst/>
          </a:prstGeom>
          <a:noFill/>
          <a:ln>
            <a:noFill/>
          </a:ln>
        </p:spPr>
      </p:pic>
      <p:sp>
        <p:nvSpPr>
          <p:cNvPr id="321" name="Google Shape;321;p23"/>
          <p:cNvSpPr txBox="1"/>
          <p:nvPr/>
        </p:nvSpPr>
        <p:spPr>
          <a:xfrm>
            <a:off x="214313" y="4286250"/>
            <a:ext cx="8786812" cy="2714625"/>
          </a:xfrm>
          <a:prstGeom prst="rect">
            <a:avLst/>
          </a:prstGeom>
          <a:noFill/>
          <a:ln>
            <a:noFill/>
          </a:ln>
        </p:spPr>
        <p:txBody>
          <a:bodyPr anchorCtr="0" anchor="t" bIns="0" lIns="0" spcFirstLastPara="1" rIns="0" wrap="square" tIns="0">
            <a:noAutofit/>
          </a:bodyPr>
          <a:lstStyle/>
          <a:p>
            <a:pPr indent="0" lvl="0" marL="0" marR="0" rtl="0" algn="just">
              <a:lnSpc>
                <a:spcPct val="95999"/>
              </a:lnSpc>
              <a:spcBef>
                <a:spcPts val="0"/>
              </a:spcBef>
              <a:spcAft>
                <a:spcPts val="0"/>
              </a:spcAft>
              <a:buNone/>
            </a:pPr>
            <a:r>
              <a:rPr lang="fr-FR" sz="2000">
                <a:solidFill>
                  <a:srgbClr val="000000"/>
                </a:solidFill>
                <a:latin typeface="Arial"/>
                <a:ea typeface="Arial"/>
                <a:cs typeface="Arial"/>
                <a:sym typeface="Arial"/>
              </a:rPr>
              <a:t>Si deux des liaisons possibles sur le glycérol sont occupées par des acides gras et la troisième par un groupement phosphaté, on parle alors de </a:t>
            </a:r>
            <a:r>
              <a:rPr b="1" lang="fr-FR" sz="2000">
                <a:solidFill>
                  <a:srgbClr val="000000"/>
                </a:solidFill>
                <a:latin typeface="Arial"/>
                <a:ea typeface="Arial"/>
                <a:cs typeface="Arial"/>
                <a:sym typeface="Arial"/>
              </a:rPr>
              <a:t>phospholipide ou phosphoglycéride</a:t>
            </a:r>
            <a:r>
              <a:rPr lang="fr-FR" sz="2000">
                <a:solidFill>
                  <a:srgbClr val="000000"/>
                </a:solidFill>
                <a:latin typeface="Arial"/>
                <a:ea typeface="Arial"/>
                <a:cs typeface="Arial"/>
                <a:sym typeface="Arial"/>
              </a:rPr>
              <a:t>. Le glycérol et le groupement phosphate sont hydrophiles et forment une </a:t>
            </a:r>
            <a:r>
              <a:rPr b="1" lang="fr-FR" sz="2000">
                <a:solidFill>
                  <a:srgbClr val="000000"/>
                </a:solidFill>
                <a:latin typeface="Arial"/>
                <a:ea typeface="Arial"/>
                <a:cs typeface="Arial"/>
                <a:sym typeface="Arial"/>
              </a:rPr>
              <a:t>tête polaire « attirée par l’eau »,</a:t>
            </a:r>
            <a:r>
              <a:rPr lang="fr-FR" sz="2000">
                <a:solidFill>
                  <a:srgbClr val="000000"/>
                </a:solidFill>
                <a:latin typeface="Arial"/>
                <a:ea typeface="Arial"/>
                <a:cs typeface="Arial"/>
                <a:sym typeface="Arial"/>
              </a:rPr>
              <a:t>alors que les chaînes d’acides gras sont hydrophobes et forment </a:t>
            </a:r>
            <a:r>
              <a:rPr b="1" lang="fr-FR" sz="2000">
                <a:solidFill>
                  <a:srgbClr val="000000"/>
                </a:solidFill>
                <a:latin typeface="Arial"/>
                <a:ea typeface="Arial"/>
                <a:cs typeface="Arial"/>
                <a:sym typeface="Arial"/>
              </a:rPr>
              <a:t>une queue apolaire qui « fuit » l’eau</a:t>
            </a:r>
            <a:r>
              <a:rPr lang="fr-FR" sz="2000">
                <a:solidFill>
                  <a:srgbClr val="000000"/>
                </a:solidFill>
                <a:latin typeface="Arial"/>
                <a:ea typeface="Arial"/>
                <a:cs typeface="Arial"/>
                <a:sym typeface="Arial"/>
              </a:rPr>
              <a:t>. D’où la représentation symbolique d’un phospholipide représentée ci- contre.</a:t>
            </a:r>
            <a:endParaRPr/>
          </a:p>
        </p:txBody>
      </p:sp>
      <p:sp>
        <p:nvSpPr>
          <p:cNvPr id="322" name="Google Shape;322;p23"/>
          <p:cNvSpPr/>
          <p:nvPr/>
        </p:nvSpPr>
        <p:spPr>
          <a:xfrm>
            <a:off x="827584" y="476672"/>
            <a:ext cx="49430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800">
                <a:solidFill>
                  <a:schemeClr val="dk1"/>
                </a:solidFill>
                <a:latin typeface="Arial"/>
                <a:ea typeface="Arial"/>
                <a:cs typeface="Arial"/>
                <a:sym typeface="Arial"/>
              </a:rPr>
              <a:t>LES LIPIDES COMPLEXES</a:t>
            </a:r>
            <a:endParaRPr sz="2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4"/>
          <p:cNvSpPr txBox="1"/>
          <p:nvPr>
            <p:ph type="title"/>
          </p:nvPr>
        </p:nvSpPr>
        <p:spPr>
          <a:xfrm>
            <a:off x="0" y="457200"/>
            <a:ext cx="9144000" cy="762000"/>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b="1" lang="fr-FR" sz="3600">
                <a:latin typeface="Arial"/>
                <a:ea typeface="Arial"/>
                <a:cs typeface="Arial"/>
                <a:sym typeface="Arial"/>
              </a:rPr>
              <a:t>Les phospholipides</a:t>
            </a:r>
            <a:endParaRPr>
              <a:latin typeface="Arial"/>
              <a:ea typeface="Arial"/>
              <a:cs typeface="Arial"/>
              <a:sym typeface="Arial"/>
            </a:endParaRPr>
          </a:p>
        </p:txBody>
      </p:sp>
      <p:sp>
        <p:nvSpPr>
          <p:cNvPr id="329" name="Google Shape;329;p24"/>
          <p:cNvSpPr txBox="1"/>
          <p:nvPr/>
        </p:nvSpPr>
        <p:spPr>
          <a:xfrm>
            <a:off x="457200" y="1295400"/>
            <a:ext cx="395446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fr-FR" sz="2000">
                <a:solidFill>
                  <a:schemeClr val="dk1"/>
                </a:solidFill>
                <a:latin typeface="Calibri"/>
                <a:ea typeface="Calibri"/>
                <a:cs typeface="Calibri"/>
                <a:sym typeface="Calibri"/>
              </a:rPr>
              <a:t>exemple des phosphoglycérides </a:t>
            </a:r>
            <a:r>
              <a:rPr lang="fr-FR" sz="2000">
                <a:solidFill>
                  <a:schemeClr val="dk1"/>
                </a:solidFill>
                <a:latin typeface="Calibri"/>
                <a:ea typeface="Calibri"/>
                <a:cs typeface="Calibri"/>
                <a:sym typeface="Calibri"/>
              </a:rPr>
              <a:t> </a:t>
            </a:r>
            <a:endParaRPr/>
          </a:p>
        </p:txBody>
      </p:sp>
      <p:pic>
        <p:nvPicPr>
          <p:cNvPr id="330" name="Google Shape;330;p24"/>
          <p:cNvPicPr preferRelativeResize="0"/>
          <p:nvPr/>
        </p:nvPicPr>
        <p:blipFill rotWithShape="1">
          <a:blip r:embed="rId3">
            <a:alphaModFix/>
          </a:blip>
          <a:srcRect b="0" l="0" r="0" t="0"/>
          <a:stretch/>
        </p:blipFill>
        <p:spPr>
          <a:xfrm>
            <a:off x="2551113" y="4259263"/>
            <a:ext cx="4598987" cy="2173287"/>
          </a:xfrm>
          <a:prstGeom prst="rect">
            <a:avLst/>
          </a:prstGeom>
          <a:noFill/>
          <a:ln>
            <a:noFill/>
          </a:ln>
        </p:spPr>
      </p:pic>
      <p:sp>
        <p:nvSpPr>
          <p:cNvPr id="331" name="Google Shape;331;p24"/>
          <p:cNvSpPr txBox="1"/>
          <p:nvPr/>
        </p:nvSpPr>
        <p:spPr>
          <a:xfrm>
            <a:off x="4254500" y="2184400"/>
            <a:ext cx="323850" cy="18034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400">
                <a:solidFill>
                  <a:schemeClr val="dk1"/>
                </a:solidFill>
                <a:latin typeface="Calibri"/>
                <a:ea typeface="Calibri"/>
                <a:cs typeface="Calibri"/>
                <a:sym typeface="Calibri"/>
              </a:rPr>
              <a:t>GLYCEROL</a:t>
            </a:r>
            <a:endParaRPr/>
          </a:p>
        </p:txBody>
      </p:sp>
      <p:sp>
        <p:nvSpPr>
          <p:cNvPr id="332" name="Google Shape;332;p24"/>
          <p:cNvSpPr txBox="1"/>
          <p:nvPr/>
        </p:nvSpPr>
        <p:spPr>
          <a:xfrm>
            <a:off x="4953000" y="2184400"/>
            <a:ext cx="1536700" cy="346075"/>
          </a:xfrm>
          <a:prstGeom prst="rect">
            <a:avLst/>
          </a:prstGeom>
          <a:solidFill>
            <a:srgbClr val="91F3A1"/>
          </a:solidFill>
          <a:ln cap="flat" cmpd="sng" w="9525">
            <a:solidFill>
              <a:srgbClr val="0099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ACIDE GRAS</a:t>
            </a:r>
            <a:endParaRPr sz="1800">
              <a:solidFill>
                <a:schemeClr val="dk1"/>
              </a:solidFill>
              <a:latin typeface="Calibri"/>
              <a:ea typeface="Calibri"/>
              <a:cs typeface="Calibri"/>
              <a:sym typeface="Calibri"/>
            </a:endParaRPr>
          </a:p>
        </p:txBody>
      </p:sp>
      <p:sp>
        <p:nvSpPr>
          <p:cNvPr id="333" name="Google Shape;333;p24"/>
          <p:cNvSpPr txBox="1"/>
          <p:nvPr/>
        </p:nvSpPr>
        <p:spPr>
          <a:xfrm>
            <a:off x="4953000" y="2913063"/>
            <a:ext cx="1536700" cy="346075"/>
          </a:xfrm>
          <a:prstGeom prst="rect">
            <a:avLst/>
          </a:prstGeom>
          <a:solidFill>
            <a:srgbClr val="91F3A1"/>
          </a:solidFill>
          <a:ln cap="flat" cmpd="sng" w="9525">
            <a:solidFill>
              <a:srgbClr val="0099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ACIDE GRAS</a:t>
            </a:r>
            <a:endParaRPr sz="1800">
              <a:solidFill>
                <a:schemeClr val="dk1"/>
              </a:solidFill>
              <a:latin typeface="Calibri"/>
              <a:ea typeface="Calibri"/>
              <a:cs typeface="Calibri"/>
              <a:sym typeface="Calibri"/>
            </a:endParaRPr>
          </a:p>
        </p:txBody>
      </p:sp>
      <p:sp>
        <p:nvSpPr>
          <p:cNvPr id="334" name="Google Shape;334;p24"/>
          <p:cNvSpPr txBox="1"/>
          <p:nvPr/>
        </p:nvSpPr>
        <p:spPr>
          <a:xfrm>
            <a:off x="2578100" y="3673475"/>
            <a:ext cx="1300163" cy="314325"/>
          </a:xfrm>
          <a:prstGeom prst="rect">
            <a:avLst/>
          </a:prstGeom>
          <a:solidFill>
            <a:srgbClr val="FFCDCD"/>
          </a:solidFill>
          <a:ln cap="flat" cmpd="sng" w="9525">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rgbClr val="FF0000"/>
                </a:solidFill>
                <a:latin typeface="Calibri"/>
                <a:ea typeface="Calibri"/>
                <a:cs typeface="Calibri"/>
                <a:sym typeface="Calibri"/>
              </a:rPr>
              <a:t>PHOSPHATE</a:t>
            </a:r>
            <a:endParaRPr sz="1800">
              <a:solidFill>
                <a:srgbClr val="FF0000"/>
              </a:solidFill>
              <a:latin typeface="Calibri"/>
              <a:ea typeface="Calibri"/>
              <a:cs typeface="Calibri"/>
              <a:sym typeface="Calibri"/>
            </a:endParaRPr>
          </a:p>
        </p:txBody>
      </p:sp>
      <p:sp>
        <p:nvSpPr>
          <p:cNvPr id="335" name="Google Shape;335;p24"/>
          <p:cNvSpPr txBox="1"/>
          <p:nvPr/>
        </p:nvSpPr>
        <p:spPr>
          <a:xfrm>
            <a:off x="1270000" y="3673475"/>
            <a:ext cx="944563" cy="314325"/>
          </a:xfrm>
          <a:prstGeom prst="rect">
            <a:avLst/>
          </a:prstGeom>
          <a:solidFill>
            <a:srgbClr val="66CCFF"/>
          </a:solid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rgbClr val="0000FF"/>
                </a:solidFill>
                <a:latin typeface="Calibri"/>
                <a:ea typeface="Calibri"/>
                <a:cs typeface="Calibri"/>
                <a:sym typeface="Calibri"/>
              </a:rPr>
              <a:t>ALCOOL</a:t>
            </a:r>
            <a:endParaRPr sz="1800">
              <a:solidFill>
                <a:schemeClr val="dk1"/>
              </a:solidFill>
              <a:latin typeface="Calibri"/>
              <a:ea typeface="Calibri"/>
              <a:cs typeface="Calibri"/>
              <a:sym typeface="Calibri"/>
            </a:endParaRPr>
          </a:p>
        </p:txBody>
      </p:sp>
      <p:cxnSp>
        <p:nvCxnSpPr>
          <p:cNvPr id="336" name="Google Shape;336;p24"/>
          <p:cNvCxnSpPr/>
          <p:nvPr/>
        </p:nvCxnSpPr>
        <p:spPr>
          <a:xfrm>
            <a:off x="2222500" y="3835400"/>
            <a:ext cx="342900" cy="0"/>
          </a:xfrm>
          <a:prstGeom prst="straightConnector1">
            <a:avLst/>
          </a:prstGeom>
          <a:noFill/>
          <a:ln cap="flat" cmpd="sng" w="28575">
            <a:solidFill>
              <a:srgbClr val="0000FF"/>
            </a:solidFill>
            <a:prstDash val="solid"/>
            <a:round/>
            <a:headEnd len="med" w="med" type="none"/>
            <a:tailEnd len="med" w="med" type="none"/>
          </a:ln>
        </p:spPr>
      </p:cxnSp>
      <p:cxnSp>
        <p:nvCxnSpPr>
          <p:cNvPr id="337" name="Google Shape;337;p24"/>
          <p:cNvCxnSpPr/>
          <p:nvPr/>
        </p:nvCxnSpPr>
        <p:spPr>
          <a:xfrm>
            <a:off x="3898900" y="3835400"/>
            <a:ext cx="342900" cy="0"/>
          </a:xfrm>
          <a:prstGeom prst="straightConnector1">
            <a:avLst/>
          </a:prstGeom>
          <a:noFill/>
          <a:ln cap="flat" cmpd="sng" w="28575">
            <a:solidFill>
              <a:schemeClr val="dk1"/>
            </a:solidFill>
            <a:prstDash val="solid"/>
            <a:round/>
            <a:headEnd len="med" w="med" type="none"/>
            <a:tailEnd len="med" w="med" type="none"/>
          </a:ln>
        </p:spPr>
      </p:cxnSp>
      <p:cxnSp>
        <p:nvCxnSpPr>
          <p:cNvPr id="338" name="Google Shape;338;p24"/>
          <p:cNvCxnSpPr/>
          <p:nvPr/>
        </p:nvCxnSpPr>
        <p:spPr>
          <a:xfrm>
            <a:off x="4610100" y="3086100"/>
            <a:ext cx="342900" cy="0"/>
          </a:xfrm>
          <a:prstGeom prst="straightConnector1">
            <a:avLst/>
          </a:prstGeom>
          <a:noFill/>
          <a:ln cap="flat" cmpd="sng" w="28575">
            <a:solidFill>
              <a:srgbClr val="009900"/>
            </a:solidFill>
            <a:prstDash val="solid"/>
            <a:round/>
            <a:headEnd len="med" w="med" type="none"/>
            <a:tailEnd len="med" w="med" type="none"/>
          </a:ln>
        </p:spPr>
      </p:cxnSp>
      <p:cxnSp>
        <p:nvCxnSpPr>
          <p:cNvPr id="339" name="Google Shape;339;p24"/>
          <p:cNvCxnSpPr/>
          <p:nvPr/>
        </p:nvCxnSpPr>
        <p:spPr>
          <a:xfrm>
            <a:off x="4584700" y="2374900"/>
            <a:ext cx="342900" cy="0"/>
          </a:xfrm>
          <a:prstGeom prst="straightConnector1">
            <a:avLst/>
          </a:prstGeom>
          <a:noFill/>
          <a:ln cap="flat" cmpd="sng" w="28575">
            <a:solidFill>
              <a:srgbClr val="009900"/>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5"/>
          <p:cNvSpPr txBox="1"/>
          <p:nvPr>
            <p:ph type="title"/>
          </p:nvPr>
        </p:nvSpPr>
        <p:spPr>
          <a:xfrm>
            <a:off x="0" y="457200"/>
            <a:ext cx="9144000" cy="762000"/>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b="1" lang="fr-FR" sz="3600">
                <a:latin typeface="Arial"/>
                <a:ea typeface="Arial"/>
                <a:cs typeface="Arial"/>
                <a:sym typeface="Arial"/>
              </a:rPr>
              <a:t>… sont constitués d’un glycérol,</a:t>
            </a:r>
            <a:endParaRPr>
              <a:latin typeface="Arial"/>
              <a:ea typeface="Arial"/>
              <a:cs typeface="Arial"/>
              <a:sym typeface="Arial"/>
            </a:endParaRPr>
          </a:p>
        </p:txBody>
      </p:sp>
      <p:sp>
        <p:nvSpPr>
          <p:cNvPr id="346" name="Google Shape;346;p25"/>
          <p:cNvSpPr/>
          <p:nvPr/>
        </p:nvSpPr>
        <p:spPr>
          <a:xfrm flipH="1" rot="5400000">
            <a:off x="4318000" y="3886200"/>
            <a:ext cx="177800" cy="1219200"/>
          </a:xfrm>
          <a:prstGeom prst="leftBrace">
            <a:avLst>
              <a:gd fmla="val 82857"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25"/>
          <p:cNvSpPr txBox="1"/>
          <p:nvPr/>
        </p:nvSpPr>
        <p:spPr>
          <a:xfrm>
            <a:off x="4000500" y="4610100"/>
            <a:ext cx="79692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glycérol</a:t>
            </a:r>
            <a:endParaRPr sz="1800">
              <a:solidFill>
                <a:srgbClr val="FF0000"/>
              </a:solidFill>
              <a:latin typeface="Calibri"/>
              <a:ea typeface="Calibri"/>
              <a:cs typeface="Calibri"/>
              <a:sym typeface="Calibri"/>
            </a:endParaRPr>
          </a:p>
        </p:txBody>
      </p:sp>
      <p:sp>
        <p:nvSpPr>
          <p:cNvPr id="348" name="Google Shape;348;p25"/>
          <p:cNvSpPr/>
          <p:nvPr/>
        </p:nvSpPr>
        <p:spPr>
          <a:xfrm>
            <a:off x="3649663" y="2133600"/>
            <a:ext cx="1473200" cy="19431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25"/>
          <p:cNvSpPr txBox="1"/>
          <p:nvPr/>
        </p:nvSpPr>
        <p:spPr>
          <a:xfrm>
            <a:off x="4056063" y="2914650"/>
            <a:ext cx="4778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HC</a:t>
            </a:r>
            <a:endParaRPr/>
          </a:p>
        </p:txBody>
      </p:sp>
      <p:sp>
        <p:nvSpPr>
          <p:cNvPr id="350" name="Google Shape;350;p25"/>
          <p:cNvSpPr txBox="1"/>
          <p:nvPr/>
        </p:nvSpPr>
        <p:spPr>
          <a:xfrm>
            <a:off x="4665663" y="2927350"/>
            <a:ext cx="4889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OH</a:t>
            </a:r>
            <a:endParaRPr/>
          </a:p>
        </p:txBody>
      </p:sp>
      <p:sp>
        <p:nvSpPr>
          <p:cNvPr id="351" name="Google Shape;351;p25"/>
          <p:cNvSpPr txBox="1"/>
          <p:nvPr/>
        </p:nvSpPr>
        <p:spPr>
          <a:xfrm>
            <a:off x="3967163" y="22891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a:t>
            </a:r>
            <a:r>
              <a:rPr b="1" baseline="-25000" lang="fr-FR" sz="1600">
                <a:solidFill>
                  <a:schemeClr val="dk1"/>
                </a:solidFill>
                <a:latin typeface="Calibri"/>
                <a:ea typeface="Calibri"/>
                <a:cs typeface="Calibri"/>
                <a:sym typeface="Calibri"/>
              </a:rPr>
              <a:t>2</a:t>
            </a:r>
            <a:r>
              <a:rPr b="1" lang="fr-FR" sz="1600">
                <a:solidFill>
                  <a:schemeClr val="dk1"/>
                </a:solidFill>
                <a:latin typeface="Calibri"/>
                <a:ea typeface="Calibri"/>
                <a:cs typeface="Calibri"/>
                <a:sym typeface="Calibri"/>
              </a:rPr>
              <a:t>C</a:t>
            </a:r>
            <a:endParaRPr/>
          </a:p>
        </p:txBody>
      </p:sp>
      <p:sp>
        <p:nvSpPr>
          <p:cNvPr id="352" name="Google Shape;352;p25"/>
          <p:cNvSpPr txBox="1"/>
          <p:nvPr/>
        </p:nvSpPr>
        <p:spPr>
          <a:xfrm>
            <a:off x="4195763" y="3570288"/>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CH</a:t>
            </a:r>
            <a:r>
              <a:rPr b="1" baseline="-25000" lang="fr-FR" sz="1600">
                <a:solidFill>
                  <a:schemeClr val="dk1"/>
                </a:solidFill>
                <a:latin typeface="Calibri"/>
                <a:ea typeface="Calibri"/>
                <a:cs typeface="Calibri"/>
                <a:sym typeface="Calibri"/>
              </a:rPr>
              <a:t>2</a:t>
            </a:r>
            <a:endParaRPr b="1" sz="1600">
              <a:solidFill>
                <a:srgbClr val="008000"/>
              </a:solidFill>
              <a:latin typeface="Calibri"/>
              <a:ea typeface="Calibri"/>
              <a:cs typeface="Calibri"/>
              <a:sym typeface="Calibri"/>
            </a:endParaRPr>
          </a:p>
        </p:txBody>
      </p:sp>
      <p:sp>
        <p:nvSpPr>
          <p:cNvPr id="353" name="Google Shape;353;p25"/>
          <p:cNvSpPr txBox="1"/>
          <p:nvPr/>
        </p:nvSpPr>
        <p:spPr>
          <a:xfrm>
            <a:off x="4646613" y="2301875"/>
            <a:ext cx="4889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OH</a:t>
            </a:r>
            <a:endParaRPr/>
          </a:p>
        </p:txBody>
      </p:sp>
      <p:cxnSp>
        <p:nvCxnSpPr>
          <p:cNvPr id="354" name="Google Shape;354;p25"/>
          <p:cNvCxnSpPr/>
          <p:nvPr/>
        </p:nvCxnSpPr>
        <p:spPr>
          <a:xfrm>
            <a:off x="4360863" y="2622550"/>
            <a:ext cx="0" cy="323850"/>
          </a:xfrm>
          <a:prstGeom prst="straightConnector1">
            <a:avLst/>
          </a:prstGeom>
          <a:noFill/>
          <a:ln cap="flat" cmpd="sng" w="19050">
            <a:solidFill>
              <a:schemeClr val="dk1"/>
            </a:solidFill>
            <a:prstDash val="solid"/>
            <a:round/>
            <a:headEnd len="med" w="med" type="none"/>
            <a:tailEnd len="med" w="med" type="none"/>
          </a:ln>
        </p:spPr>
      </p:cxnSp>
      <p:cxnSp>
        <p:nvCxnSpPr>
          <p:cNvPr id="355" name="Google Shape;355;p25"/>
          <p:cNvCxnSpPr/>
          <p:nvPr/>
        </p:nvCxnSpPr>
        <p:spPr>
          <a:xfrm>
            <a:off x="4360863" y="3270250"/>
            <a:ext cx="0" cy="323850"/>
          </a:xfrm>
          <a:prstGeom prst="straightConnector1">
            <a:avLst/>
          </a:prstGeom>
          <a:noFill/>
          <a:ln cap="flat" cmpd="sng" w="19050">
            <a:solidFill>
              <a:schemeClr val="dk1"/>
            </a:solidFill>
            <a:prstDash val="solid"/>
            <a:round/>
            <a:headEnd len="med" w="med" type="none"/>
            <a:tailEnd len="med" w="med" type="none"/>
          </a:ln>
        </p:spPr>
      </p:cxnSp>
      <p:sp>
        <p:nvSpPr>
          <p:cNvPr id="356" name="Google Shape;356;p25"/>
          <p:cNvSpPr txBox="1"/>
          <p:nvPr/>
        </p:nvSpPr>
        <p:spPr>
          <a:xfrm>
            <a:off x="3617913" y="3570288"/>
            <a:ext cx="4889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HO</a:t>
            </a:r>
            <a:endParaRPr b="1" sz="1600">
              <a:solidFill>
                <a:srgbClr val="009900"/>
              </a:solidFill>
              <a:latin typeface="Calibri"/>
              <a:ea typeface="Calibri"/>
              <a:cs typeface="Calibri"/>
              <a:sym typeface="Calibri"/>
            </a:endParaRPr>
          </a:p>
        </p:txBody>
      </p:sp>
      <p:cxnSp>
        <p:nvCxnSpPr>
          <p:cNvPr id="357" name="Google Shape;357;p25"/>
          <p:cNvCxnSpPr/>
          <p:nvPr/>
        </p:nvCxnSpPr>
        <p:spPr>
          <a:xfrm>
            <a:off x="4043363" y="3738563"/>
            <a:ext cx="187325" cy="0"/>
          </a:xfrm>
          <a:prstGeom prst="straightConnector1">
            <a:avLst/>
          </a:prstGeom>
          <a:noFill/>
          <a:ln cap="flat" cmpd="sng" w="19050">
            <a:solidFill>
              <a:schemeClr val="dk1"/>
            </a:solidFill>
            <a:prstDash val="solid"/>
            <a:round/>
            <a:headEnd len="med" w="med" type="none"/>
            <a:tailEnd len="med" w="med" type="none"/>
          </a:ln>
        </p:spPr>
      </p:cxnSp>
      <p:cxnSp>
        <p:nvCxnSpPr>
          <p:cNvPr id="358" name="Google Shape;358;p25"/>
          <p:cNvCxnSpPr/>
          <p:nvPr/>
        </p:nvCxnSpPr>
        <p:spPr>
          <a:xfrm>
            <a:off x="4525963" y="3103563"/>
            <a:ext cx="187325" cy="0"/>
          </a:xfrm>
          <a:prstGeom prst="straightConnector1">
            <a:avLst/>
          </a:prstGeom>
          <a:noFill/>
          <a:ln cap="flat" cmpd="sng" w="19050">
            <a:solidFill>
              <a:schemeClr val="dk1"/>
            </a:solidFill>
            <a:prstDash val="solid"/>
            <a:round/>
            <a:headEnd len="med" w="med" type="none"/>
            <a:tailEnd len="med" w="med" type="none"/>
          </a:ln>
        </p:spPr>
      </p:cxnSp>
      <p:cxnSp>
        <p:nvCxnSpPr>
          <p:cNvPr id="359" name="Google Shape;359;p25"/>
          <p:cNvCxnSpPr/>
          <p:nvPr/>
        </p:nvCxnSpPr>
        <p:spPr>
          <a:xfrm>
            <a:off x="4500563" y="2481263"/>
            <a:ext cx="187325"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6"/>
          <p:cNvSpPr txBox="1"/>
          <p:nvPr>
            <p:ph type="title"/>
          </p:nvPr>
        </p:nvSpPr>
        <p:spPr>
          <a:xfrm>
            <a:off x="0" y="457200"/>
            <a:ext cx="9144000" cy="762000"/>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b="1" lang="fr-FR" sz="3600">
                <a:latin typeface="Arial"/>
                <a:ea typeface="Arial"/>
                <a:cs typeface="Arial"/>
                <a:sym typeface="Arial"/>
              </a:rPr>
              <a:t>… de deux acides gras,</a:t>
            </a:r>
            <a:endParaRPr>
              <a:latin typeface="Arial"/>
              <a:ea typeface="Arial"/>
              <a:cs typeface="Arial"/>
              <a:sym typeface="Arial"/>
            </a:endParaRPr>
          </a:p>
        </p:txBody>
      </p:sp>
      <p:sp>
        <p:nvSpPr>
          <p:cNvPr id="366" name="Google Shape;366;p26"/>
          <p:cNvSpPr/>
          <p:nvPr/>
        </p:nvSpPr>
        <p:spPr>
          <a:xfrm flipH="1" rot="5400000">
            <a:off x="6997700" y="2628900"/>
            <a:ext cx="177800" cy="3733800"/>
          </a:xfrm>
          <a:prstGeom prst="leftBrace">
            <a:avLst>
              <a:gd fmla="val 61153" name="adj1"/>
              <a:gd fmla="val 50000" name="adj2"/>
            </a:avLst>
          </a:prstGeom>
          <a:noFill/>
          <a:ln cap="flat" cmpd="sng" w="9525">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26"/>
          <p:cNvSpPr/>
          <p:nvPr/>
        </p:nvSpPr>
        <p:spPr>
          <a:xfrm flipH="1" rot="5400000">
            <a:off x="4318000" y="3886200"/>
            <a:ext cx="177800" cy="1219200"/>
          </a:xfrm>
          <a:prstGeom prst="leftBrace">
            <a:avLst>
              <a:gd fmla="val 82857"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26"/>
          <p:cNvSpPr txBox="1"/>
          <p:nvPr/>
        </p:nvSpPr>
        <p:spPr>
          <a:xfrm>
            <a:off x="4000500" y="4610100"/>
            <a:ext cx="79692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glycérol</a:t>
            </a:r>
            <a:endParaRPr sz="1800">
              <a:solidFill>
                <a:srgbClr val="FF0000"/>
              </a:solidFill>
              <a:latin typeface="Calibri"/>
              <a:ea typeface="Calibri"/>
              <a:cs typeface="Calibri"/>
              <a:sym typeface="Calibri"/>
            </a:endParaRPr>
          </a:p>
        </p:txBody>
      </p:sp>
      <p:sp>
        <p:nvSpPr>
          <p:cNvPr id="369" name="Google Shape;369;p26"/>
          <p:cNvSpPr txBox="1"/>
          <p:nvPr/>
        </p:nvSpPr>
        <p:spPr>
          <a:xfrm>
            <a:off x="6554788" y="4610100"/>
            <a:ext cx="1093787"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acides gras</a:t>
            </a:r>
            <a:endParaRPr sz="1800">
              <a:solidFill>
                <a:schemeClr val="dk1"/>
              </a:solidFill>
              <a:latin typeface="Calibri"/>
              <a:ea typeface="Calibri"/>
              <a:cs typeface="Calibri"/>
              <a:sym typeface="Calibri"/>
            </a:endParaRPr>
          </a:p>
        </p:txBody>
      </p:sp>
      <p:sp>
        <p:nvSpPr>
          <p:cNvPr id="370" name="Google Shape;370;p26"/>
          <p:cNvSpPr/>
          <p:nvPr/>
        </p:nvSpPr>
        <p:spPr>
          <a:xfrm>
            <a:off x="5135563" y="2844800"/>
            <a:ext cx="3835400" cy="901700"/>
          </a:xfrm>
          <a:prstGeom prst="rect">
            <a:avLst/>
          </a:prstGeom>
          <a:solidFill>
            <a:schemeClr val="lt1"/>
          </a:solidFill>
          <a:ln cap="flat" cmpd="sng" w="9525">
            <a:solidFill>
              <a:srgbClr val="00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26"/>
          <p:cNvSpPr/>
          <p:nvPr/>
        </p:nvSpPr>
        <p:spPr>
          <a:xfrm>
            <a:off x="5135563" y="1828800"/>
            <a:ext cx="1981200" cy="838200"/>
          </a:xfrm>
          <a:prstGeom prst="rect">
            <a:avLst/>
          </a:prstGeom>
          <a:solidFill>
            <a:schemeClr val="lt1"/>
          </a:solidFill>
          <a:ln cap="flat" cmpd="sng" w="9525">
            <a:solidFill>
              <a:srgbClr val="00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26"/>
          <p:cNvSpPr/>
          <p:nvPr/>
        </p:nvSpPr>
        <p:spPr>
          <a:xfrm>
            <a:off x="3687763" y="2133600"/>
            <a:ext cx="1371600" cy="19431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26"/>
          <p:cNvSpPr txBox="1"/>
          <p:nvPr/>
        </p:nvSpPr>
        <p:spPr>
          <a:xfrm>
            <a:off x="4056063" y="2914650"/>
            <a:ext cx="4778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HC</a:t>
            </a:r>
            <a:endParaRPr/>
          </a:p>
        </p:txBody>
      </p:sp>
      <p:sp>
        <p:nvSpPr>
          <p:cNvPr id="374" name="Google Shape;374;p26"/>
          <p:cNvSpPr txBox="1"/>
          <p:nvPr/>
        </p:nvSpPr>
        <p:spPr>
          <a:xfrm>
            <a:off x="4665663" y="2927350"/>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a:t>
            </a:r>
            <a:endParaRPr/>
          </a:p>
        </p:txBody>
      </p:sp>
      <p:sp>
        <p:nvSpPr>
          <p:cNvPr id="375" name="Google Shape;375;p26"/>
          <p:cNvSpPr txBox="1"/>
          <p:nvPr/>
        </p:nvSpPr>
        <p:spPr>
          <a:xfrm>
            <a:off x="3967163" y="22891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a:t>
            </a:r>
            <a:r>
              <a:rPr b="1" baseline="-25000" lang="fr-FR" sz="1600">
                <a:solidFill>
                  <a:schemeClr val="dk1"/>
                </a:solidFill>
                <a:latin typeface="Calibri"/>
                <a:ea typeface="Calibri"/>
                <a:cs typeface="Calibri"/>
                <a:sym typeface="Calibri"/>
              </a:rPr>
              <a:t>2</a:t>
            </a:r>
            <a:r>
              <a:rPr b="1" lang="fr-FR" sz="1600">
                <a:solidFill>
                  <a:schemeClr val="dk1"/>
                </a:solidFill>
                <a:latin typeface="Calibri"/>
                <a:ea typeface="Calibri"/>
                <a:cs typeface="Calibri"/>
                <a:sym typeface="Calibri"/>
              </a:rPr>
              <a:t>C</a:t>
            </a:r>
            <a:endParaRPr/>
          </a:p>
        </p:txBody>
      </p:sp>
      <p:sp>
        <p:nvSpPr>
          <p:cNvPr id="376" name="Google Shape;376;p26"/>
          <p:cNvSpPr txBox="1"/>
          <p:nvPr/>
        </p:nvSpPr>
        <p:spPr>
          <a:xfrm>
            <a:off x="4195763" y="3570288"/>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CH</a:t>
            </a:r>
            <a:r>
              <a:rPr b="1" baseline="-25000" lang="fr-FR" sz="1600">
                <a:solidFill>
                  <a:schemeClr val="dk1"/>
                </a:solidFill>
                <a:latin typeface="Calibri"/>
                <a:ea typeface="Calibri"/>
                <a:cs typeface="Calibri"/>
                <a:sym typeface="Calibri"/>
              </a:rPr>
              <a:t>2</a:t>
            </a:r>
            <a:endParaRPr b="1" sz="1600">
              <a:solidFill>
                <a:srgbClr val="008000"/>
              </a:solidFill>
              <a:latin typeface="Calibri"/>
              <a:ea typeface="Calibri"/>
              <a:cs typeface="Calibri"/>
              <a:sym typeface="Calibri"/>
            </a:endParaRPr>
          </a:p>
        </p:txBody>
      </p:sp>
      <p:sp>
        <p:nvSpPr>
          <p:cNvPr id="377" name="Google Shape;377;p26"/>
          <p:cNvSpPr txBox="1"/>
          <p:nvPr/>
        </p:nvSpPr>
        <p:spPr>
          <a:xfrm>
            <a:off x="4646613" y="2301875"/>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a:t>
            </a:r>
            <a:endParaRPr/>
          </a:p>
        </p:txBody>
      </p:sp>
      <p:cxnSp>
        <p:nvCxnSpPr>
          <p:cNvPr id="378" name="Google Shape;378;p26"/>
          <p:cNvCxnSpPr/>
          <p:nvPr/>
        </p:nvCxnSpPr>
        <p:spPr>
          <a:xfrm>
            <a:off x="4360863" y="2622550"/>
            <a:ext cx="0" cy="323850"/>
          </a:xfrm>
          <a:prstGeom prst="straightConnector1">
            <a:avLst/>
          </a:prstGeom>
          <a:noFill/>
          <a:ln cap="flat" cmpd="sng" w="19050">
            <a:solidFill>
              <a:schemeClr val="dk1"/>
            </a:solidFill>
            <a:prstDash val="solid"/>
            <a:round/>
            <a:headEnd len="med" w="med" type="none"/>
            <a:tailEnd len="med" w="med" type="none"/>
          </a:ln>
        </p:spPr>
      </p:cxnSp>
      <p:cxnSp>
        <p:nvCxnSpPr>
          <p:cNvPr id="379" name="Google Shape;379;p26"/>
          <p:cNvCxnSpPr/>
          <p:nvPr/>
        </p:nvCxnSpPr>
        <p:spPr>
          <a:xfrm>
            <a:off x="4360863" y="3270250"/>
            <a:ext cx="0" cy="323850"/>
          </a:xfrm>
          <a:prstGeom prst="straightConnector1">
            <a:avLst/>
          </a:prstGeom>
          <a:noFill/>
          <a:ln cap="flat" cmpd="sng" w="19050">
            <a:solidFill>
              <a:schemeClr val="dk1"/>
            </a:solidFill>
            <a:prstDash val="solid"/>
            <a:round/>
            <a:headEnd len="med" w="med" type="none"/>
            <a:tailEnd len="med" w="med" type="none"/>
          </a:ln>
        </p:spPr>
      </p:cxnSp>
      <p:sp>
        <p:nvSpPr>
          <p:cNvPr id="380" name="Google Shape;380;p26"/>
          <p:cNvSpPr txBox="1"/>
          <p:nvPr/>
        </p:nvSpPr>
        <p:spPr>
          <a:xfrm>
            <a:off x="6583363" y="22891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3</a:t>
            </a:r>
            <a:endParaRPr/>
          </a:p>
        </p:txBody>
      </p:sp>
      <p:sp>
        <p:nvSpPr>
          <p:cNvPr id="381" name="Google Shape;381;p26"/>
          <p:cNvSpPr txBox="1"/>
          <p:nvPr/>
        </p:nvSpPr>
        <p:spPr>
          <a:xfrm>
            <a:off x="8399463" y="2927350"/>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3</a:t>
            </a:r>
            <a:endParaRPr/>
          </a:p>
        </p:txBody>
      </p:sp>
      <p:sp>
        <p:nvSpPr>
          <p:cNvPr id="382" name="Google Shape;382;p26"/>
          <p:cNvSpPr txBox="1"/>
          <p:nvPr/>
        </p:nvSpPr>
        <p:spPr>
          <a:xfrm>
            <a:off x="5630863" y="2289175"/>
            <a:ext cx="8461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14</a:t>
            </a:r>
            <a:endParaRPr/>
          </a:p>
        </p:txBody>
      </p:sp>
      <p:sp>
        <p:nvSpPr>
          <p:cNvPr id="383" name="Google Shape;383;p26"/>
          <p:cNvSpPr txBox="1"/>
          <p:nvPr/>
        </p:nvSpPr>
        <p:spPr>
          <a:xfrm>
            <a:off x="6507163" y="2924175"/>
            <a:ext cx="3127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endParaRPr b="1" baseline="-25000" sz="1600">
              <a:solidFill>
                <a:srgbClr val="009900"/>
              </a:solidFill>
              <a:latin typeface="Calibri"/>
              <a:ea typeface="Calibri"/>
              <a:cs typeface="Calibri"/>
              <a:sym typeface="Calibri"/>
            </a:endParaRPr>
          </a:p>
        </p:txBody>
      </p:sp>
      <p:sp>
        <p:nvSpPr>
          <p:cNvPr id="384" name="Google Shape;384;p26"/>
          <p:cNvSpPr txBox="1"/>
          <p:nvPr/>
        </p:nvSpPr>
        <p:spPr>
          <a:xfrm>
            <a:off x="7497763" y="2927350"/>
            <a:ext cx="7699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7</a:t>
            </a:r>
            <a:endParaRPr/>
          </a:p>
        </p:txBody>
      </p:sp>
      <p:sp>
        <p:nvSpPr>
          <p:cNvPr id="385" name="Google Shape;385;p26"/>
          <p:cNvSpPr txBox="1"/>
          <p:nvPr/>
        </p:nvSpPr>
        <p:spPr>
          <a:xfrm>
            <a:off x="5643563" y="2914650"/>
            <a:ext cx="7699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7</a:t>
            </a:r>
            <a:endParaRPr/>
          </a:p>
        </p:txBody>
      </p:sp>
      <p:sp>
        <p:nvSpPr>
          <p:cNvPr id="386" name="Google Shape;386;p26"/>
          <p:cNvSpPr txBox="1"/>
          <p:nvPr/>
        </p:nvSpPr>
        <p:spPr>
          <a:xfrm>
            <a:off x="7040563" y="2924175"/>
            <a:ext cx="3127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endParaRPr b="1" baseline="-25000" sz="1600">
              <a:solidFill>
                <a:srgbClr val="009900"/>
              </a:solidFill>
              <a:latin typeface="Calibri"/>
              <a:ea typeface="Calibri"/>
              <a:cs typeface="Calibri"/>
              <a:sym typeface="Calibri"/>
            </a:endParaRPr>
          </a:p>
        </p:txBody>
      </p:sp>
      <p:sp>
        <p:nvSpPr>
          <p:cNvPr id="387" name="Google Shape;387;p26"/>
          <p:cNvSpPr txBox="1"/>
          <p:nvPr/>
        </p:nvSpPr>
        <p:spPr>
          <a:xfrm>
            <a:off x="5186363" y="2927350"/>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a:t>
            </a:r>
            <a:endParaRPr b="1" baseline="-25000" sz="1600">
              <a:solidFill>
                <a:srgbClr val="009900"/>
              </a:solidFill>
              <a:latin typeface="Calibri"/>
              <a:ea typeface="Calibri"/>
              <a:cs typeface="Calibri"/>
              <a:sym typeface="Calibri"/>
            </a:endParaRPr>
          </a:p>
        </p:txBody>
      </p:sp>
      <p:sp>
        <p:nvSpPr>
          <p:cNvPr id="388" name="Google Shape;388;p26"/>
          <p:cNvSpPr txBox="1"/>
          <p:nvPr/>
        </p:nvSpPr>
        <p:spPr>
          <a:xfrm>
            <a:off x="5199063" y="3406775"/>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O</a:t>
            </a:r>
            <a:endParaRPr b="1" baseline="-25000" sz="1600">
              <a:solidFill>
                <a:srgbClr val="009900"/>
              </a:solidFill>
              <a:latin typeface="Calibri"/>
              <a:ea typeface="Calibri"/>
              <a:cs typeface="Calibri"/>
              <a:sym typeface="Calibri"/>
            </a:endParaRPr>
          </a:p>
        </p:txBody>
      </p:sp>
      <p:cxnSp>
        <p:nvCxnSpPr>
          <p:cNvPr id="389" name="Google Shape;389;p26"/>
          <p:cNvCxnSpPr/>
          <p:nvPr/>
        </p:nvCxnSpPr>
        <p:spPr>
          <a:xfrm>
            <a:off x="4945063" y="3095625"/>
            <a:ext cx="263525" cy="0"/>
          </a:xfrm>
          <a:prstGeom prst="straightConnector1">
            <a:avLst/>
          </a:prstGeom>
          <a:noFill/>
          <a:ln cap="flat" cmpd="sng" w="19050">
            <a:solidFill>
              <a:schemeClr val="dk1"/>
            </a:solidFill>
            <a:prstDash val="solid"/>
            <a:round/>
            <a:headEnd len="med" w="med" type="none"/>
            <a:tailEnd len="med" w="med" type="none"/>
          </a:ln>
        </p:spPr>
      </p:cxnSp>
      <p:grpSp>
        <p:nvGrpSpPr>
          <p:cNvPr id="390" name="Google Shape;390;p26"/>
          <p:cNvGrpSpPr/>
          <p:nvPr/>
        </p:nvGrpSpPr>
        <p:grpSpPr>
          <a:xfrm>
            <a:off x="6786563" y="3063875"/>
            <a:ext cx="263525" cy="63500"/>
            <a:chOff x="4504" y="1928"/>
            <a:chExt cx="166" cy="40"/>
          </a:xfrm>
        </p:grpSpPr>
        <p:cxnSp>
          <p:nvCxnSpPr>
            <p:cNvPr id="391" name="Google Shape;391;p26"/>
            <p:cNvCxnSpPr/>
            <p:nvPr/>
          </p:nvCxnSpPr>
          <p:spPr>
            <a:xfrm>
              <a:off x="4504" y="1928"/>
              <a:ext cx="166" cy="0"/>
            </a:xfrm>
            <a:prstGeom prst="straightConnector1">
              <a:avLst/>
            </a:prstGeom>
            <a:noFill/>
            <a:ln cap="flat" cmpd="sng" w="19050">
              <a:solidFill>
                <a:srgbClr val="009900"/>
              </a:solidFill>
              <a:prstDash val="solid"/>
              <a:round/>
              <a:headEnd len="med" w="med" type="none"/>
              <a:tailEnd len="med" w="med" type="none"/>
            </a:ln>
          </p:spPr>
        </p:cxnSp>
        <p:cxnSp>
          <p:nvCxnSpPr>
            <p:cNvPr id="392" name="Google Shape;392;p26"/>
            <p:cNvCxnSpPr/>
            <p:nvPr/>
          </p:nvCxnSpPr>
          <p:spPr>
            <a:xfrm>
              <a:off x="4504" y="1968"/>
              <a:ext cx="166" cy="0"/>
            </a:xfrm>
            <a:prstGeom prst="straightConnector1">
              <a:avLst/>
            </a:prstGeom>
            <a:noFill/>
            <a:ln cap="flat" cmpd="sng" w="19050">
              <a:solidFill>
                <a:srgbClr val="009900"/>
              </a:solidFill>
              <a:prstDash val="solid"/>
              <a:round/>
              <a:headEnd len="med" w="med" type="none"/>
              <a:tailEnd len="med" w="med" type="none"/>
            </a:ln>
          </p:spPr>
        </p:cxnSp>
      </p:grpSp>
      <p:sp>
        <p:nvSpPr>
          <p:cNvPr id="393" name="Google Shape;393;p26"/>
          <p:cNvSpPr txBox="1"/>
          <p:nvPr/>
        </p:nvSpPr>
        <p:spPr>
          <a:xfrm>
            <a:off x="5199063" y="2305050"/>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a:t>
            </a:r>
            <a:endParaRPr b="1" baseline="-25000" sz="1600">
              <a:solidFill>
                <a:srgbClr val="009900"/>
              </a:solidFill>
              <a:latin typeface="Calibri"/>
              <a:ea typeface="Calibri"/>
              <a:cs typeface="Calibri"/>
              <a:sym typeface="Calibri"/>
            </a:endParaRPr>
          </a:p>
        </p:txBody>
      </p:sp>
      <p:sp>
        <p:nvSpPr>
          <p:cNvPr id="394" name="Google Shape;394;p26"/>
          <p:cNvSpPr txBox="1"/>
          <p:nvPr/>
        </p:nvSpPr>
        <p:spPr>
          <a:xfrm>
            <a:off x="5199063" y="1781175"/>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O</a:t>
            </a:r>
            <a:endParaRPr b="1" baseline="-25000" sz="1600">
              <a:solidFill>
                <a:srgbClr val="009900"/>
              </a:solidFill>
              <a:latin typeface="Calibri"/>
              <a:ea typeface="Calibri"/>
              <a:cs typeface="Calibri"/>
              <a:sym typeface="Calibri"/>
            </a:endParaRPr>
          </a:p>
        </p:txBody>
      </p:sp>
      <p:cxnSp>
        <p:nvCxnSpPr>
          <p:cNvPr id="395" name="Google Shape;395;p26"/>
          <p:cNvCxnSpPr/>
          <p:nvPr/>
        </p:nvCxnSpPr>
        <p:spPr>
          <a:xfrm>
            <a:off x="4957763" y="2473325"/>
            <a:ext cx="263525" cy="0"/>
          </a:xfrm>
          <a:prstGeom prst="straightConnector1">
            <a:avLst/>
          </a:prstGeom>
          <a:noFill/>
          <a:ln cap="flat" cmpd="sng" w="19050">
            <a:solidFill>
              <a:schemeClr val="dk1"/>
            </a:solidFill>
            <a:prstDash val="solid"/>
            <a:round/>
            <a:headEnd len="med" w="med" type="none"/>
            <a:tailEnd len="med" w="med" type="none"/>
          </a:ln>
        </p:spPr>
      </p:cxnSp>
      <p:grpSp>
        <p:nvGrpSpPr>
          <p:cNvPr id="396" name="Google Shape;396;p26"/>
          <p:cNvGrpSpPr/>
          <p:nvPr/>
        </p:nvGrpSpPr>
        <p:grpSpPr>
          <a:xfrm>
            <a:off x="5326063" y="3219450"/>
            <a:ext cx="74612" cy="234950"/>
            <a:chOff x="3496" y="2156"/>
            <a:chExt cx="40" cy="204"/>
          </a:xfrm>
        </p:grpSpPr>
        <p:cxnSp>
          <p:nvCxnSpPr>
            <p:cNvPr id="397" name="Google Shape;397;p26"/>
            <p:cNvCxnSpPr/>
            <p:nvPr/>
          </p:nvCxnSpPr>
          <p:spPr>
            <a:xfrm>
              <a:off x="3496" y="2156"/>
              <a:ext cx="0" cy="204"/>
            </a:xfrm>
            <a:prstGeom prst="straightConnector1">
              <a:avLst/>
            </a:prstGeom>
            <a:noFill/>
            <a:ln cap="flat" cmpd="sng" w="19050">
              <a:solidFill>
                <a:srgbClr val="009900"/>
              </a:solidFill>
              <a:prstDash val="solid"/>
              <a:round/>
              <a:headEnd len="med" w="med" type="none"/>
              <a:tailEnd len="med" w="med" type="none"/>
            </a:ln>
          </p:spPr>
        </p:cxnSp>
        <p:cxnSp>
          <p:nvCxnSpPr>
            <p:cNvPr id="398" name="Google Shape;398;p26"/>
            <p:cNvCxnSpPr/>
            <p:nvPr/>
          </p:nvCxnSpPr>
          <p:spPr>
            <a:xfrm>
              <a:off x="3536" y="2156"/>
              <a:ext cx="0" cy="204"/>
            </a:xfrm>
            <a:prstGeom prst="straightConnector1">
              <a:avLst/>
            </a:prstGeom>
            <a:noFill/>
            <a:ln cap="flat" cmpd="sng" w="19050">
              <a:solidFill>
                <a:srgbClr val="009900"/>
              </a:solidFill>
              <a:prstDash val="solid"/>
              <a:round/>
              <a:headEnd len="med" w="med" type="none"/>
              <a:tailEnd len="med" w="med" type="none"/>
            </a:ln>
          </p:spPr>
        </p:cxnSp>
      </p:grpSp>
      <p:grpSp>
        <p:nvGrpSpPr>
          <p:cNvPr id="399" name="Google Shape;399;p26"/>
          <p:cNvGrpSpPr/>
          <p:nvPr/>
        </p:nvGrpSpPr>
        <p:grpSpPr>
          <a:xfrm>
            <a:off x="5326063" y="2089150"/>
            <a:ext cx="74612" cy="260350"/>
            <a:chOff x="3496" y="2156"/>
            <a:chExt cx="40" cy="204"/>
          </a:xfrm>
        </p:grpSpPr>
        <p:cxnSp>
          <p:nvCxnSpPr>
            <p:cNvPr id="400" name="Google Shape;400;p26"/>
            <p:cNvCxnSpPr/>
            <p:nvPr/>
          </p:nvCxnSpPr>
          <p:spPr>
            <a:xfrm>
              <a:off x="3496" y="2156"/>
              <a:ext cx="0" cy="204"/>
            </a:xfrm>
            <a:prstGeom prst="straightConnector1">
              <a:avLst/>
            </a:prstGeom>
            <a:noFill/>
            <a:ln cap="flat" cmpd="sng" w="19050">
              <a:solidFill>
                <a:srgbClr val="009900"/>
              </a:solidFill>
              <a:prstDash val="solid"/>
              <a:round/>
              <a:headEnd len="med" w="med" type="none"/>
              <a:tailEnd len="med" w="med" type="none"/>
            </a:ln>
          </p:spPr>
        </p:cxnSp>
        <p:cxnSp>
          <p:nvCxnSpPr>
            <p:cNvPr id="401" name="Google Shape;401;p26"/>
            <p:cNvCxnSpPr/>
            <p:nvPr/>
          </p:nvCxnSpPr>
          <p:spPr>
            <a:xfrm>
              <a:off x="3536" y="2156"/>
              <a:ext cx="0" cy="204"/>
            </a:xfrm>
            <a:prstGeom prst="straightConnector1">
              <a:avLst/>
            </a:prstGeom>
            <a:noFill/>
            <a:ln cap="flat" cmpd="sng" w="19050">
              <a:solidFill>
                <a:srgbClr val="009900"/>
              </a:solidFill>
              <a:prstDash val="solid"/>
              <a:round/>
              <a:headEnd len="med" w="med" type="none"/>
              <a:tailEnd len="med" w="med" type="none"/>
            </a:ln>
          </p:spPr>
        </p:cxnSp>
      </p:grpSp>
      <p:sp>
        <p:nvSpPr>
          <p:cNvPr id="402" name="Google Shape;402;p26"/>
          <p:cNvSpPr txBox="1"/>
          <p:nvPr/>
        </p:nvSpPr>
        <p:spPr>
          <a:xfrm>
            <a:off x="3617913" y="3570288"/>
            <a:ext cx="4889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HO</a:t>
            </a:r>
            <a:endParaRPr b="1" sz="1600">
              <a:solidFill>
                <a:srgbClr val="009900"/>
              </a:solidFill>
              <a:latin typeface="Calibri"/>
              <a:ea typeface="Calibri"/>
              <a:cs typeface="Calibri"/>
              <a:sym typeface="Calibri"/>
            </a:endParaRPr>
          </a:p>
        </p:txBody>
      </p:sp>
      <p:cxnSp>
        <p:nvCxnSpPr>
          <p:cNvPr id="403" name="Google Shape;403;p26"/>
          <p:cNvCxnSpPr/>
          <p:nvPr/>
        </p:nvCxnSpPr>
        <p:spPr>
          <a:xfrm>
            <a:off x="54530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04" name="Google Shape;404;p26"/>
          <p:cNvCxnSpPr/>
          <p:nvPr/>
        </p:nvCxnSpPr>
        <p:spPr>
          <a:xfrm>
            <a:off x="63293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05" name="Google Shape;405;p26"/>
          <p:cNvCxnSpPr/>
          <p:nvPr/>
        </p:nvCxnSpPr>
        <p:spPr>
          <a:xfrm>
            <a:off x="5453063" y="24733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06" name="Google Shape;406;p26"/>
          <p:cNvCxnSpPr/>
          <p:nvPr/>
        </p:nvCxnSpPr>
        <p:spPr>
          <a:xfrm>
            <a:off x="6392863" y="2460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07" name="Google Shape;407;p26"/>
          <p:cNvCxnSpPr/>
          <p:nvPr/>
        </p:nvCxnSpPr>
        <p:spPr>
          <a:xfrm>
            <a:off x="73199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08" name="Google Shape;408;p26"/>
          <p:cNvCxnSpPr/>
          <p:nvPr/>
        </p:nvCxnSpPr>
        <p:spPr>
          <a:xfrm>
            <a:off x="8196263" y="30829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09" name="Google Shape;409;p26"/>
          <p:cNvCxnSpPr/>
          <p:nvPr/>
        </p:nvCxnSpPr>
        <p:spPr>
          <a:xfrm>
            <a:off x="4043363" y="3738563"/>
            <a:ext cx="187325" cy="0"/>
          </a:xfrm>
          <a:prstGeom prst="straightConnector1">
            <a:avLst/>
          </a:prstGeom>
          <a:noFill/>
          <a:ln cap="flat" cmpd="sng" w="19050">
            <a:solidFill>
              <a:schemeClr val="dk1"/>
            </a:solidFill>
            <a:prstDash val="solid"/>
            <a:round/>
            <a:headEnd len="med" w="med" type="none"/>
            <a:tailEnd len="med" w="med" type="none"/>
          </a:ln>
        </p:spPr>
      </p:cxnSp>
      <p:cxnSp>
        <p:nvCxnSpPr>
          <p:cNvPr id="410" name="Google Shape;410;p26"/>
          <p:cNvCxnSpPr/>
          <p:nvPr/>
        </p:nvCxnSpPr>
        <p:spPr>
          <a:xfrm>
            <a:off x="4525963" y="3103563"/>
            <a:ext cx="187325" cy="0"/>
          </a:xfrm>
          <a:prstGeom prst="straightConnector1">
            <a:avLst/>
          </a:prstGeom>
          <a:noFill/>
          <a:ln cap="flat" cmpd="sng" w="19050">
            <a:solidFill>
              <a:schemeClr val="dk1"/>
            </a:solidFill>
            <a:prstDash val="solid"/>
            <a:round/>
            <a:headEnd len="med" w="med" type="none"/>
            <a:tailEnd len="med" w="med" type="none"/>
          </a:ln>
        </p:spPr>
      </p:cxnSp>
      <p:cxnSp>
        <p:nvCxnSpPr>
          <p:cNvPr id="411" name="Google Shape;411;p26"/>
          <p:cNvCxnSpPr/>
          <p:nvPr/>
        </p:nvCxnSpPr>
        <p:spPr>
          <a:xfrm>
            <a:off x="4500563" y="2481263"/>
            <a:ext cx="187325" cy="0"/>
          </a:xfrm>
          <a:prstGeom prst="straightConnector1">
            <a:avLst/>
          </a:prstGeom>
          <a:noFill/>
          <a:ln cap="flat" cmpd="sng" w="19050">
            <a:solidFill>
              <a:schemeClr val="dk1"/>
            </a:solidFill>
            <a:prstDash val="solid"/>
            <a:round/>
            <a:headEnd len="med" w="med" type="none"/>
            <a:tailEnd len="med" w="med" type="none"/>
          </a:ln>
        </p:spPr>
      </p:cxnSp>
      <p:sp>
        <p:nvSpPr>
          <p:cNvPr id="412" name="Google Shape;412;p26"/>
          <p:cNvSpPr txBox="1"/>
          <p:nvPr/>
        </p:nvSpPr>
        <p:spPr>
          <a:xfrm>
            <a:off x="7213600" y="1828800"/>
            <a:ext cx="9048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palmitate</a:t>
            </a:r>
            <a:endParaRPr sz="1800">
              <a:solidFill>
                <a:srgbClr val="009900"/>
              </a:solidFill>
              <a:latin typeface="Calibri"/>
              <a:ea typeface="Calibri"/>
              <a:cs typeface="Calibri"/>
              <a:sym typeface="Calibri"/>
            </a:endParaRPr>
          </a:p>
        </p:txBody>
      </p:sp>
      <p:sp>
        <p:nvSpPr>
          <p:cNvPr id="413" name="Google Shape;413;p26"/>
          <p:cNvSpPr txBox="1"/>
          <p:nvPr/>
        </p:nvSpPr>
        <p:spPr>
          <a:xfrm>
            <a:off x="7302500" y="3759200"/>
            <a:ext cx="6683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oleate</a:t>
            </a:r>
            <a:endParaRPr sz="1800">
              <a:solidFill>
                <a:srgbClr val="0099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7"/>
          <p:cNvSpPr txBox="1"/>
          <p:nvPr>
            <p:ph type="title"/>
          </p:nvPr>
        </p:nvSpPr>
        <p:spPr>
          <a:xfrm>
            <a:off x="0" y="457200"/>
            <a:ext cx="9144000" cy="762000"/>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b="1" lang="fr-FR" sz="3600">
                <a:latin typeface="Arial"/>
                <a:ea typeface="Arial"/>
                <a:cs typeface="Arial"/>
                <a:sym typeface="Arial"/>
              </a:rPr>
              <a:t>… d’un phosphate</a:t>
            </a:r>
            <a:endParaRPr>
              <a:latin typeface="Arial"/>
              <a:ea typeface="Arial"/>
              <a:cs typeface="Arial"/>
              <a:sym typeface="Arial"/>
            </a:endParaRPr>
          </a:p>
        </p:txBody>
      </p:sp>
      <p:sp>
        <p:nvSpPr>
          <p:cNvPr id="420" name="Google Shape;420;p27"/>
          <p:cNvSpPr/>
          <p:nvPr/>
        </p:nvSpPr>
        <p:spPr>
          <a:xfrm flipH="1" rot="5400000">
            <a:off x="6997700" y="2628900"/>
            <a:ext cx="177800" cy="3733800"/>
          </a:xfrm>
          <a:prstGeom prst="leftBrace">
            <a:avLst>
              <a:gd fmla="val 61153" name="adj1"/>
              <a:gd fmla="val 50000" name="adj2"/>
            </a:avLst>
          </a:prstGeom>
          <a:noFill/>
          <a:ln cap="flat" cmpd="sng" w="9525">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7"/>
          <p:cNvSpPr/>
          <p:nvPr/>
        </p:nvSpPr>
        <p:spPr>
          <a:xfrm flipH="1" rot="5400000">
            <a:off x="4318000" y="3886200"/>
            <a:ext cx="177800" cy="1219200"/>
          </a:xfrm>
          <a:prstGeom prst="leftBrace">
            <a:avLst>
              <a:gd fmla="val 82857"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7"/>
          <p:cNvSpPr txBox="1"/>
          <p:nvPr/>
        </p:nvSpPr>
        <p:spPr>
          <a:xfrm>
            <a:off x="4000500" y="4610100"/>
            <a:ext cx="79692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glycérol</a:t>
            </a:r>
            <a:endParaRPr sz="1800">
              <a:solidFill>
                <a:srgbClr val="FF0000"/>
              </a:solidFill>
              <a:latin typeface="Calibri"/>
              <a:ea typeface="Calibri"/>
              <a:cs typeface="Calibri"/>
              <a:sym typeface="Calibri"/>
            </a:endParaRPr>
          </a:p>
        </p:txBody>
      </p:sp>
      <p:sp>
        <p:nvSpPr>
          <p:cNvPr id="423" name="Google Shape;423;p27"/>
          <p:cNvSpPr txBox="1"/>
          <p:nvPr/>
        </p:nvSpPr>
        <p:spPr>
          <a:xfrm>
            <a:off x="6554788" y="4610100"/>
            <a:ext cx="1093787"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acides gras</a:t>
            </a:r>
            <a:endParaRPr sz="1800">
              <a:solidFill>
                <a:schemeClr val="dk1"/>
              </a:solidFill>
              <a:latin typeface="Calibri"/>
              <a:ea typeface="Calibri"/>
              <a:cs typeface="Calibri"/>
              <a:sym typeface="Calibri"/>
            </a:endParaRPr>
          </a:p>
        </p:txBody>
      </p:sp>
      <p:sp>
        <p:nvSpPr>
          <p:cNvPr id="424" name="Google Shape;424;p27"/>
          <p:cNvSpPr/>
          <p:nvPr/>
        </p:nvSpPr>
        <p:spPr>
          <a:xfrm flipH="1" rot="5400000">
            <a:off x="3035300" y="4038600"/>
            <a:ext cx="228600" cy="965200"/>
          </a:xfrm>
          <a:prstGeom prst="leftBrace">
            <a:avLst>
              <a:gd fmla="val 51019" name="adj1"/>
              <a:gd fmla="val 50000" name="adj2"/>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7"/>
          <p:cNvSpPr txBox="1"/>
          <p:nvPr/>
        </p:nvSpPr>
        <p:spPr>
          <a:xfrm>
            <a:off x="2667000" y="4610100"/>
            <a:ext cx="1014413"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FF0000"/>
                </a:solidFill>
                <a:latin typeface="Calibri"/>
                <a:ea typeface="Calibri"/>
                <a:cs typeface="Calibri"/>
                <a:sym typeface="Calibri"/>
              </a:rPr>
              <a:t>phosphate</a:t>
            </a:r>
            <a:endParaRPr sz="1800">
              <a:solidFill>
                <a:srgbClr val="FF0000"/>
              </a:solidFill>
              <a:latin typeface="Calibri"/>
              <a:ea typeface="Calibri"/>
              <a:cs typeface="Calibri"/>
              <a:sym typeface="Calibri"/>
            </a:endParaRPr>
          </a:p>
        </p:txBody>
      </p:sp>
      <p:sp>
        <p:nvSpPr>
          <p:cNvPr id="426" name="Google Shape;426;p27"/>
          <p:cNvSpPr/>
          <p:nvPr/>
        </p:nvSpPr>
        <p:spPr>
          <a:xfrm>
            <a:off x="5135563" y="2844800"/>
            <a:ext cx="3835400" cy="901700"/>
          </a:xfrm>
          <a:prstGeom prst="rect">
            <a:avLst/>
          </a:prstGeom>
          <a:solidFill>
            <a:schemeClr val="lt1"/>
          </a:solidFill>
          <a:ln cap="flat" cmpd="sng" w="9525">
            <a:solidFill>
              <a:srgbClr val="00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27"/>
          <p:cNvSpPr/>
          <p:nvPr/>
        </p:nvSpPr>
        <p:spPr>
          <a:xfrm>
            <a:off x="5135563" y="1828800"/>
            <a:ext cx="1981200" cy="838200"/>
          </a:xfrm>
          <a:prstGeom prst="rect">
            <a:avLst/>
          </a:prstGeom>
          <a:solidFill>
            <a:schemeClr val="lt1"/>
          </a:solidFill>
          <a:ln cap="flat" cmpd="sng" w="9525">
            <a:solidFill>
              <a:srgbClr val="00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7"/>
          <p:cNvSpPr/>
          <p:nvPr/>
        </p:nvSpPr>
        <p:spPr>
          <a:xfrm>
            <a:off x="3713163" y="2133600"/>
            <a:ext cx="1346200" cy="19431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27"/>
          <p:cNvSpPr/>
          <p:nvPr/>
        </p:nvSpPr>
        <p:spPr>
          <a:xfrm>
            <a:off x="2659063" y="3187700"/>
            <a:ext cx="965200" cy="110490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27"/>
          <p:cNvSpPr txBox="1"/>
          <p:nvPr/>
        </p:nvSpPr>
        <p:spPr>
          <a:xfrm>
            <a:off x="4056063" y="2914650"/>
            <a:ext cx="4778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HC</a:t>
            </a:r>
            <a:endParaRPr/>
          </a:p>
        </p:txBody>
      </p:sp>
      <p:sp>
        <p:nvSpPr>
          <p:cNvPr id="431" name="Google Shape;431;p27"/>
          <p:cNvSpPr txBox="1"/>
          <p:nvPr/>
        </p:nvSpPr>
        <p:spPr>
          <a:xfrm>
            <a:off x="4665663" y="2927350"/>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a:t>
            </a:r>
            <a:endParaRPr/>
          </a:p>
        </p:txBody>
      </p:sp>
      <p:sp>
        <p:nvSpPr>
          <p:cNvPr id="432" name="Google Shape;432;p27"/>
          <p:cNvSpPr txBox="1"/>
          <p:nvPr/>
        </p:nvSpPr>
        <p:spPr>
          <a:xfrm>
            <a:off x="3967163" y="22891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a:t>
            </a:r>
            <a:r>
              <a:rPr b="1" baseline="-25000" lang="fr-FR" sz="1600">
                <a:solidFill>
                  <a:schemeClr val="dk1"/>
                </a:solidFill>
                <a:latin typeface="Calibri"/>
                <a:ea typeface="Calibri"/>
                <a:cs typeface="Calibri"/>
                <a:sym typeface="Calibri"/>
              </a:rPr>
              <a:t>2</a:t>
            </a:r>
            <a:r>
              <a:rPr b="1" lang="fr-FR" sz="1600">
                <a:solidFill>
                  <a:schemeClr val="dk1"/>
                </a:solidFill>
                <a:latin typeface="Calibri"/>
                <a:ea typeface="Calibri"/>
                <a:cs typeface="Calibri"/>
                <a:sym typeface="Calibri"/>
              </a:rPr>
              <a:t>C</a:t>
            </a:r>
            <a:endParaRPr/>
          </a:p>
        </p:txBody>
      </p:sp>
      <p:sp>
        <p:nvSpPr>
          <p:cNvPr id="433" name="Google Shape;433;p27"/>
          <p:cNvSpPr txBox="1"/>
          <p:nvPr/>
        </p:nvSpPr>
        <p:spPr>
          <a:xfrm>
            <a:off x="4195763" y="3570288"/>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CH</a:t>
            </a:r>
            <a:r>
              <a:rPr b="1" baseline="-25000" lang="fr-FR" sz="1600">
                <a:solidFill>
                  <a:schemeClr val="dk1"/>
                </a:solidFill>
                <a:latin typeface="Calibri"/>
                <a:ea typeface="Calibri"/>
                <a:cs typeface="Calibri"/>
                <a:sym typeface="Calibri"/>
              </a:rPr>
              <a:t>2</a:t>
            </a:r>
            <a:endParaRPr b="1" sz="1600">
              <a:solidFill>
                <a:srgbClr val="008000"/>
              </a:solidFill>
              <a:latin typeface="Calibri"/>
              <a:ea typeface="Calibri"/>
              <a:cs typeface="Calibri"/>
              <a:sym typeface="Calibri"/>
            </a:endParaRPr>
          </a:p>
        </p:txBody>
      </p:sp>
      <p:sp>
        <p:nvSpPr>
          <p:cNvPr id="434" name="Google Shape;434;p27"/>
          <p:cNvSpPr txBox="1"/>
          <p:nvPr/>
        </p:nvSpPr>
        <p:spPr>
          <a:xfrm>
            <a:off x="4646613" y="2301875"/>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a:t>
            </a:r>
            <a:endParaRPr/>
          </a:p>
        </p:txBody>
      </p:sp>
      <p:sp>
        <p:nvSpPr>
          <p:cNvPr id="435" name="Google Shape;435;p27"/>
          <p:cNvSpPr txBox="1"/>
          <p:nvPr/>
        </p:nvSpPr>
        <p:spPr>
          <a:xfrm>
            <a:off x="3211513" y="4013200"/>
            <a:ext cx="3889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a:t>
            </a:r>
            <a:r>
              <a:rPr b="1" baseline="30000" lang="fr-FR" sz="1600">
                <a:solidFill>
                  <a:srgbClr val="FF0000"/>
                </a:solidFill>
                <a:latin typeface="Calibri"/>
                <a:ea typeface="Calibri"/>
                <a:cs typeface="Calibri"/>
                <a:sym typeface="Calibri"/>
              </a:rPr>
              <a:t>-</a:t>
            </a:r>
            <a:endParaRPr b="1" sz="1600">
              <a:solidFill>
                <a:srgbClr val="009900"/>
              </a:solidFill>
              <a:latin typeface="Calibri"/>
              <a:ea typeface="Calibri"/>
              <a:cs typeface="Calibri"/>
              <a:sym typeface="Calibri"/>
            </a:endParaRPr>
          </a:p>
        </p:txBody>
      </p:sp>
      <p:cxnSp>
        <p:nvCxnSpPr>
          <p:cNvPr id="436" name="Google Shape;436;p27"/>
          <p:cNvCxnSpPr/>
          <p:nvPr/>
        </p:nvCxnSpPr>
        <p:spPr>
          <a:xfrm>
            <a:off x="4360863" y="2622550"/>
            <a:ext cx="0" cy="323850"/>
          </a:xfrm>
          <a:prstGeom prst="straightConnector1">
            <a:avLst/>
          </a:prstGeom>
          <a:noFill/>
          <a:ln cap="flat" cmpd="sng" w="19050">
            <a:solidFill>
              <a:schemeClr val="dk1"/>
            </a:solidFill>
            <a:prstDash val="solid"/>
            <a:round/>
            <a:headEnd len="med" w="med" type="none"/>
            <a:tailEnd len="med" w="med" type="none"/>
          </a:ln>
        </p:spPr>
      </p:cxnSp>
      <p:cxnSp>
        <p:nvCxnSpPr>
          <p:cNvPr id="437" name="Google Shape;437;p27"/>
          <p:cNvCxnSpPr/>
          <p:nvPr/>
        </p:nvCxnSpPr>
        <p:spPr>
          <a:xfrm>
            <a:off x="4360863" y="3270250"/>
            <a:ext cx="0" cy="323850"/>
          </a:xfrm>
          <a:prstGeom prst="straightConnector1">
            <a:avLst/>
          </a:prstGeom>
          <a:noFill/>
          <a:ln cap="flat" cmpd="sng" w="19050">
            <a:solidFill>
              <a:schemeClr val="dk1"/>
            </a:solidFill>
            <a:prstDash val="solid"/>
            <a:round/>
            <a:headEnd len="med" w="med" type="none"/>
            <a:tailEnd len="med" w="med" type="none"/>
          </a:ln>
        </p:spPr>
      </p:cxnSp>
      <p:sp>
        <p:nvSpPr>
          <p:cNvPr id="438" name="Google Shape;438;p27"/>
          <p:cNvSpPr txBox="1"/>
          <p:nvPr/>
        </p:nvSpPr>
        <p:spPr>
          <a:xfrm>
            <a:off x="6583363" y="22891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3</a:t>
            </a:r>
            <a:endParaRPr/>
          </a:p>
        </p:txBody>
      </p:sp>
      <p:sp>
        <p:nvSpPr>
          <p:cNvPr id="439" name="Google Shape;439;p27"/>
          <p:cNvSpPr txBox="1"/>
          <p:nvPr/>
        </p:nvSpPr>
        <p:spPr>
          <a:xfrm>
            <a:off x="8399463" y="2927350"/>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3</a:t>
            </a:r>
            <a:endParaRPr/>
          </a:p>
        </p:txBody>
      </p:sp>
      <p:sp>
        <p:nvSpPr>
          <p:cNvPr id="440" name="Google Shape;440;p27"/>
          <p:cNvSpPr txBox="1"/>
          <p:nvPr/>
        </p:nvSpPr>
        <p:spPr>
          <a:xfrm>
            <a:off x="5630863" y="2289175"/>
            <a:ext cx="8461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14</a:t>
            </a:r>
            <a:endParaRPr/>
          </a:p>
        </p:txBody>
      </p:sp>
      <p:sp>
        <p:nvSpPr>
          <p:cNvPr id="441" name="Google Shape;441;p27"/>
          <p:cNvSpPr txBox="1"/>
          <p:nvPr/>
        </p:nvSpPr>
        <p:spPr>
          <a:xfrm>
            <a:off x="6507163" y="2924175"/>
            <a:ext cx="3127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endParaRPr b="1" baseline="-25000" sz="1600">
              <a:solidFill>
                <a:srgbClr val="009900"/>
              </a:solidFill>
              <a:latin typeface="Calibri"/>
              <a:ea typeface="Calibri"/>
              <a:cs typeface="Calibri"/>
              <a:sym typeface="Calibri"/>
            </a:endParaRPr>
          </a:p>
        </p:txBody>
      </p:sp>
      <p:sp>
        <p:nvSpPr>
          <p:cNvPr id="442" name="Google Shape;442;p27"/>
          <p:cNvSpPr txBox="1"/>
          <p:nvPr/>
        </p:nvSpPr>
        <p:spPr>
          <a:xfrm>
            <a:off x="7497763" y="2927350"/>
            <a:ext cx="7699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7</a:t>
            </a:r>
            <a:endParaRPr/>
          </a:p>
        </p:txBody>
      </p:sp>
      <p:sp>
        <p:nvSpPr>
          <p:cNvPr id="443" name="Google Shape;443;p27"/>
          <p:cNvSpPr txBox="1"/>
          <p:nvPr/>
        </p:nvSpPr>
        <p:spPr>
          <a:xfrm>
            <a:off x="5643563" y="2914650"/>
            <a:ext cx="7699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7</a:t>
            </a:r>
            <a:endParaRPr/>
          </a:p>
        </p:txBody>
      </p:sp>
      <p:sp>
        <p:nvSpPr>
          <p:cNvPr id="444" name="Google Shape;444;p27"/>
          <p:cNvSpPr txBox="1"/>
          <p:nvPr/>
        </p:nvSpPr>
        <p:spPr>
          <a:xfrm>
            <a:off x="7040563" y="2924175"/>
            <a:ext cx="3127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endParaRPr b="1" baseline="-25000" sz="1600">
              <a:solidFill>
                <a:srgbClr val="009900"/>
              </a:solidFill>
              <a:latin typeface="Calibri"/>
              <a:ea typeface="Calibri"/>
              <a:cs typeface="Calibri"/>
              <a:sym typeface="Calibri"/>
            </a:endParaRPr>
          </a:p>
        </p:txBody>
      </p:sp>
      <p:sp>
        <p:nvSpPr>
          <p:cNvPr id="445" name="Google Shape;445;p27"/>
          <p:cNvSpPr txBox="1"/>
          <p:nvPr/>
        </p:nvSpPr>
        <p:spPr>
          <a:xfrm>
            <a:off x="3211513" y="3149600"/>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a:t>
            </a:r>
            <a:endParaRPr b="1" sz="1600">
              <a:solidFill>
                <a:srgbClr val="009900"/>
              </a:solidFill>
              <a:latin typeface="Calibri"/>
              <a:ea typeface="Calibri"/>
              <a:cs typeface="Calibri"/>
              <a:sym typeface="Calibri"/>
            </a:endParaRPr>
          </a:p>
        </p:txBody>
      </p:sp>
      <p:sp>
        <p:nvSpPr>
          <p:cNvPr id="446" name="Google Shape;446;p27"/>
          <p:cNvSpPr txBox="1"/>
          <p:nvPr/>
        </p:nvSpPr>
        <p:spPr>
          <a:xfrm>
            <a:off x="2601913" y="3570288"/>
            <a:ext cx="4889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HO</a:t>
            </a:r>
            <a:endParaRPr b="1" sz="1600">
              <a:solidFill>
                <a:srgbClr val="009900"/>
              </a:solidFill>
              <a:latin typeface="Calibri"/>
              <a:ea typeface="Calibri"/>
              <a:cs typeface="Calibri"/>
              <a:sym typeface="Calibri"/>
            </a:endParaRPr>
          </a:p>
        </p:txBody>
      </p:sp>
      <p:sp>
        <p:nvSpPr>
          <p:cNvPr id="447" name="Google Shape;447;p27"/>
          <p:cNvSpPr txBox="1"/>
          <p:nvPr/>
        </p:nvSpPr>
        <p:spPr>
          <a:xfrm>
            <a:off x="3224213" y="3570288"/>
            <a:ext cx="31908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P</a:t>
            </a:r>
            <a:endParaRPr b="1" sz="1600">
              <a:solidFill>
                <a:srgbClr val="009900"/>
              </a:solidFill>
              <a:latin typeface="Calibri"/>
              <a:ea typeface="Calibri"/>
              <a:cs typeface="Calibri"/>
              <a:sym typeface="Calibri"/>
            </a:endParaRPr>
          </a:p>
        </p:txBody>
      </p:sp>
      <p:sp>
        <p:nvSpPr>
          <p:cNvPr id="448" name="Google Shape;448;p27"/>
          <p:cNvSpPr txBox="1"/>
          <p:nvPr/>
        </p:nvSpPr>
        <p:spPr>
          <a:xfrm>
            <a:off x="5186363" y="2927350"/>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a:t>
            </a:r>
            <a:endParaRPr b="1" baseline="-25000" sz="1600">
              <a:solidFill>
                <a:srgbClr val="009900"/>
              </a:solidFill>
              <a:latin typeface="Calibri"/>
              <a:ea typeface="Calibri"/>
              <a:cs typeface="Calibri"/>
              <a:sym typeface="Calibri"/>
            </a:endParaRPr>
          </a:p>
        </p:txBody>
      </p:sp>
      <p:sp>
        <p:nvSpPr>
          <p:cNvPr id="449" name="Google Shape;449;p27"/>
          <p:cNvSpPr txBox="1"/>
          <p:nvPr/>
        </p:nvSpPr>
        <p:spPr>
          <a:xfrm>
            <a:off x="5199063" y="3406775"/>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O</a:t>
            </a:r>
            <a:endParaRPr b="1" baseline="-25000" sz="1600">
              <a:solidFill>
                <a:srgbClr val="009900"/>
              </a:solidFill>
              <a:latin typeface="Calibri"/>
              <a:ea typeface="Calibri"/>
              <a:cs typeface="Calibri"/>
              <a:sym typeface="Calibri"/>
            </a:endParaRPr>
          </a:p>
        </p:txBody>
      </p:sp>
      <p:cxnSp>
        <p:nvCxnSpPr>
          <p:cNvPr id="450" name="Google Shape;450;p27"/>
          <p:cNvCxnSpPr/>
          <p:nvPr/>
        </p:nvCxnSpPr>
        <p:spPr>
          <a:xfrm>
            <a:off x="4945063" y="3095625"/>
            <a:ext cx="263525" cy="0"/>
          </a:xfrm>
          <a:prstGeom prst="straightConnector1">
            <a:avLst/>
          </a:prstGeom>
          <a:noFill/>
          <a:ln cap="flat" cmpd="sng" w="19050">
            <a:solidFill>
              <a:schemeClr val="dk1"/>
            </a:solidFill>
            <a:prstDash val="solid"/>
            <a:round/>
            <a:headEnd len="med" w="med" type="none"/>
            <a:tailEnd len="med" w="med" type="none"/>
          </a:ln>
        </p:spPr>
      </p:cxnSp>
      <p:grpSp>
        <p:nvGrpSpPr>
          <p:cNvPr id="451" name="Google Shape;451;p27"/>
          <p:cNvGrpSpPr/>
          <p:nvPr/>
        </p:nvGrpSpPr>
        <p:grpSpPr>
          <a:xfrm>
            <a:off x="6786563" y="3063875"/>
            <a:ext cx="263525" cy="63500"/>
            <a:chOff x="4504" y="1928"/>
            <a:chExt cx="166" cy="40"/>
          </a:xfrm>
        </p:grpSpPr>
        <p:cxnSp>
          <p:nvCxnSpPr>
            <p:cNvPr id="452" name="Google Shape;452;p27"/>
            <p:cNvCxnSpPr/>
            <p:nvPr/>
          </p:nvCxnSpPr>
          <p:spPr>
            <a:xfrm>
              <a:off x="4504" y="1928"/>
              <a:ext cx="166" cy="0"/>
            </a:xfrm>
            <a:prstGeom prst="straightConnector1">
              <a:avLst/>
            </a:prstGeom>
            <a:noFill/>
            <a:ln cap="flat" cmpd="sng" w="19050">
              <a:solidFill>
                <a:srgbClr val="009900"/>
              </a:solidFill>
              <a:prstDash val="solid"/>
              <a:round/>
              <a:headEnd len="med" w="med" type="none"/>
              <a:tailEnd len="med" w="med" type="none"/>
            </a:ln>
          </p:spPr>
        </p:cxnSp>
        <p:cxnSp>
          <p:nvCxnSpPr>
            <p:cNvPr id="453" name="Google Shape;453;p27"/>
            <p:cNvCxnSpPr/>
            <p:nvPr/>
          </p:nvCxnSpPr>
          <p:spPr>
            <a:xfrm>
              <a:off x="4504" y="1968"/>
              <a:ext cx="166" cy="0"/>
            </a:xfrm>
            <a:prstGeom prst="straightConnector1">
              <a:avLst/>
            </a:prstGeom>
            <a:noFill/>
            <a:ln cap="flat" cmpd="sng" w="19050">
              <a:solidFill>
                <a:srgbClr val="009900"/>
              </a:solidFill>
              <a:prstDash val="solid"/>
              <a:round/>
              <a:headEnd len="med" w="med" type="none"/>
              <a:tailEnd len="med" w="med" type="none"/>
            </a:ln>
          </p:spPr>
        </p:cxnSp>
      </p:grpSp>
      <p:sp>
        <p:nvSpPr>
          <p:cNvPr id="454" name="Google Shape;454;p27"/>
          <p:cNvSpPr txBox="1"/>
          <p:nvPr/>
        </p:nvSpPr>
        <p:spPr>
          <a:xfrm>
            <a:off x="5199063" y="2305050"/>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a:t>
            </a:r>
            <a:endParaRPr b="1" baseline="-25000" sz="1600">
              <a:solidFill>
                <a:srgbClr val="009900"/>
              </a:solidFill>
              <a:latin typeface="Calibri"/>
              <a:ea typeface="Calibri"/>
              <a:cs typeface="Calibri"/>
              <a:sym typeface="Calibri"/>
            </a:endParaRPr>
          </a:p>
        </p:txBody>
      </p:sp>
      <p:sp>
        <p:nvSpPr>
          <p:cNvPr id="455" name="Google Shape;455;p27"/>
          <p:cNvSpPr txBox="1"/>
          <p:nvPr/>
        </p:nvSpPr>
        <p:spPr>
          <a:xfrm>
            <a:off x="5199063" y="1781175"/>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O</a:t>
            </a:r>
            <a:endParaRPr b="1" baseline="-25000" sz="1600">
              <a:solidFill>
                <a:srgbClr val="009900"/>
              </a:solidFill>
              <a:latin typeface="Calibri"/>
              <a:ea typeface="Calibri"/>
              <a:cs typeface="Calibri"/>
              <a:sym typeface="Calibri"/>
            </a:endParaRPr>
          </a:p>
        </p:txBody>
      </p:sp>
      <p:cxnSp>
        <p:nvCxnSpPr>
          <p:cNvPr id="456" name="Google Shape;456;p27"/>
          <p:cNvCxnSpPr/>
          <p:nvPr/>
        </p:nvCxnSpPr>
        <p:spPr>
          <a:xfrm>
            <a:off x="4957763" y="2473325"/>
            <a:ext cx="263525" cy="0"/>
          </a:xfrm>
          <a:prstGeom prst="straightConnector1">
            <a:avLst/>
          </a:prstGeom>
          <a:noFill/>
          <a:ln cap="flat" cmpd="sng" w="19050">
            <a:solidFill>
              <a:schemeClr val="dk1"/>
            </a:solidFill>
            <a:prstDash val="solid"/>
            <a:round/>
            <a:headEnd len="med" w="med" type="none"/>
            <a:tailEnd len="med" w="med" type="none"/>
          </a:ln>
        </p:spPr>
      </p:cxnSp>
      <p:grpSp>
        <p:nvGrpSpPr>
          <p:cNvPr id="457" name="Google Shape;457;p27"/>
          <p:cNvGrpSpPr/>
          <p:nvPr/>
        </p:nvGrpSpPr>
        <p:grpSpPr>
          <a:xfrm>
            <a:off x="5326063" y="3219450"/>
            <a:ext cx="74612" cy="234950"/>
            <a:chOff x="3496" y="2156"/>
            <a:chExt cx="40" cy="204"/>
          </a:xfrm>
        </p:grpSpPr>
        <p:cxnSp>
          <p:nvCxnSpPr>
            <p:cNvPr id="458" name="Google Shape;458;p27"/>
            <p:cNvCxnSpPr/>
            <p:nvPr/>
          </p:nvCxnSpPr>
          <p:spPr>
            <a:xfrm>
              <a:off x="3496" y="2156"/>
              <a:ext cx="0" cy="204"/>
            </a:xfrm>
            <a:prstGeom prst="straightConnector1">
              <a:avLst/>
            </a:prstGeom>
            <a:noFill/>
            <a:ln cap="flat" cmpd="sng" w="19050">
              <a:solidFill>
                <a:srgbClr val="009900"/>
              </a:solidFill>
              <a:prstDash val="solid"/>
              <a:round/>
              <a:headEnd len="med" w="med" type="none"/>
              <a:tailEnd len="med" w="med" type="none"/>
            </a:ln>
          </p:spPr>
        </p:cxnSp>
        <p:cxnSp>
          <p:nvCxnSpPr>
            <p:cNvPr id="459" name="Google Shape;459;p27"/>
            <p:cNvCxnSpPr/>
            <p:nvPr/>
          </p:nvCxnSpPr>
          <p:spPr>
            <a:xfrm>
              <a:off x="3536" y="2156"/>
              <a:ext cx="0" cy="204"/>
            </a:xfrm>
            <a:prstGeom prst="straightConnector1">
              <a:avLst/>
            </a:prstGeom>
            <a:noFill/>
            <a:ln cap="flat" cmpd="sng" w="19050">
              <a:solidFill>
                <a:srgbClr val="009900"/>
              </a:solidFill>
              <a:prstDash val="solid"/>
              <a:round/>
              <a:headEnd len="med" w="med" type="none"/>
              <a:tailEnd len="med" w="med" type="none"/>
            </a:ln>
          </p:spPr>
        </p:cxnSp>
      </p:grpSp>
      <p:grpSp>
        <p:nvGrpSpPr>
          <p:cNvPr id="460" name="Google Shape;460;p27"/>
          <p:cNvGrpSpPr/>
          <p:nvPr/>
        </p:nvGrpSpPr>
        <p:grpSpPr>
          <a:xfrm>
            <a:off x="5326063" y="2089150"/>
            <a:ext cx="74612" cy="260350"/>
            <a:chOff x="3496" y="2156"/>
            <a:chExt cx="40" cy="204"/>
          </a:xfrm>
        </p:grpSpPr>
        <p:cxnSp>
          <p:nvCxnSpPr>
            <p:cNvPr id="461" name="Google Shape;461;p27"/>
            <p:cNvCxnSpPr/>
            <p:nvPr/>
          </p:nvCxnSpPr>
          <p:spPr>
            <a:xfrm>
              <a:off x="3496" y="2156"/>
              <a:ext cx="0" cy="204"/>
            </a:xfrm>
            <a:prstGeom prst="straightConnector1">
              <a:avLst/>
            </a:prstGeom>
            <a:noFill/>
            <a:ln cap="flat" cmpd="sng" w="19050">
              <a:solidFill>
                <a:srgbClr val="009900"/>
              </a:solidFill>
              <a:prstDash val="solid"/>
              <a:round/>
              <a:headEnd len="med" w="med" type="none"/>
              <a:tailEnd len="med" w="med" type="none"/>
            </a:ln>
          </p:spPr>
        </p:cxnSp>
        <p:cxnSp>
          <p:nvCxnSpPr>
            <p:cNvPr id="462" name="Google Shape;462;p27"/>
            <p:cNvCxnSpPr/>
            <p:nvPr/>
          </p:nvCxnSpPr>
          <p:spPr>
            <a:xfrm>
              <a:off x="3536" y="2156"/>
              <a:ext cx="0" cy="204"/>
            </a:xfrm>
            <a:prstGeom prst="straightConnector1">
              <a:avLst/>
            </a:prstGeom>
            <a:noFill/>
            <a:ln cap="flat" cmpd="sng" w="19050">
              <a:solidFill>
                <a:srgbClr val="009900"/>
              </a:solidFill>
              <a:prstDash val="solid"/>
              <a:round/>
              <a:headEnd len="med" w="med" type="none"/>
              <a:tailEnd len="med" w="med" type="none"/>
            </a:ln>
          </p:spPr>
        </p:cxnSp>
      </p:grpSp>
      <p:cxnSp>
        <p:nvCxnSpPr>
          <p:cNvPr id="463" name="Google Shape;463;p27"/>
          <p:cNvCxnSpPr/>
          <p:nvPr/>
        </p:nvCxnSpPr>
        <p:spPr>
          <a:xfrm>
            <a:off x="3535363" y="3738563"/>
            <a:ext cx="263525" cy="0"/>
          </a:xfrm>
          <a:prstGeom prst="straightConnector1">
            <a:avLst/>
          </a:prstGeom>
          <a:noFill/>
          <a:ln cap="flat" cmpd="sng" w="19050">
            <a:solidFill>
              <a:schemeClr val="dk1"/>
            </a:solidFill>
            <a:prstDash val="solid"/>
            <a:round/>
            <a:headEnd len="med" w="med" type="none"/>
            <a:tailEnd len="med" w="med" type="none"/>
          </a:ln>
        </p:spPr>
      </p:cxnSp>
      <p:sp>
        <p:nvSpPr>
          <p:cNvPr id="464" name="Google Shape;464;p27"/>
          <p:cNvSpPr txBox="1"/>
          <p:nvPr/>
        </p:nvSpPr>
        <p:spPr>
          <a:xfrm>
            <a:off x="3744913" y="3570288"/>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a:t>
            </a:r>
            <a:endParaRPr b="1" sz="1600">
              <a:solidFill>
                <a:srgbClr val="009900"/>
              </a:solidFill>
              <a:latin typeface="Calibri"/>
              <a:ea typeface="Calibri"/>
              <a:cs typeface="Calibri"/>
              <a:sym typeface="Calibri"/>
            </a:endParaRPr>
          </a:p>
        </p:txBody>
      </p:sp>
      <p:cxnSp>
        <p:nvCxnSpPr>
          <p:cNvPr id="465" name="Google Shape;465;p27"/>
          <p:cNvCxnSpPr/>
          <p:nvPr/>
        </p:nvCxnSpPr>
        <p:spPr>
          <a:xfrm>
            <a:off x="54530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66" name="Google Shape;466;p27"/>
          <p:cNvCxnSpPr/>
          <p:nvPr/>
        </p:nvCxnSpPr>
        <p:spPr>
          <a:xfrm>
            <a:off x="63293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67" name="Google Shape;467;p27"/>
          <p:cNvCxnSpPr/>
          <p:nvPr/>
        </p:nvCxnSpPr>
        <p:spPr>
          <a:xfrm>
            <a:off x="5453063" y="24733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68" name="Google Shape;468;p27"/>
          <p:cNvCxnSpPr/>
          <p:nvPr/>
        </p:nvCxnSpPr>
        <p:spPr>
          <a:xfrm>
            <a:off x="6392863" y="2460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69" name="Google Shape;469;p27"/>
          <p:cNvCxnSpPr/>
          <p:nvPr/>
        </p:nvCxnSpPr>
        <p:spPr>
          <a:xfrm>
            <a:off x="73199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70" name="Google Shape;470;p27"/>
          <p:cNvCxnSpPr/>
          <p:nvPr/>
        </p:nvCxnSpPr>
        <p:spPr>
          <a:xfrm>
            <a:off x="8196263" y="30829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471" name="Google Shape;471;p27"/>
          <p:cNvCxnSpPr/>
          <p:nvPr/>
        </p:nvCxnSpPr>
        <p:spPr>
          <a:xfrm>
            <a:off x="3040063" y="3738563"/>
            <a:ext cx="225425" cy="0"/>
          </a:xfrm>
          <a:prstGeom prst="straightConnector1">
            <a:avLst/>
          </a:prstGeom>
          <a:noFill/>
          <a:ln cap="flat" cmpd="sng" w="19050">
            <a:solidFill>
              <a:srgbClr val="FF0000"/>
            </a:solidFill>
            <a:prstDash val="solid"/>
            <a:round/>
            <a:headEnd len="med" w="med" type="none"/>
            <a:tailEnd len="med" w="med" type="none"/>
          </a:ln>
        </p:spPr>
      </p:cxnSp>
      <p:cxnSp>
        <p:nvCxnSpPr>
          <p:cNvPr id="472" name="Google Shape;472;p27"/>
          <p:cNvCxnSpPr/>
          <p:nvPr/>
        </p:nvCxnSpPr>
        <p:spPr>
          <a:xfrm>
            <a:off x="4043363" y="3738563"/>
            <a:ext cx="187325" cy="0"/>
          </a:xfrm>
          <a:prstGeom prst="straightConnector1">
            <a:avLst/>
          </a:prstGeom>
          <a:noFill/>
          <a:ln cap="flat" cmpd="sng" w="19050">
            <a:solidFill>
              <a:schemeClr val="dk1"/>
            </a:solidFill>
            <a:prstDash val="solid"/>
            <a:round/>
            <a:headEnd len="med" w="med" type="none"/>
            <a:tailEnd len="med" w="med" type="none"/>
          </a:ln>
        </p:spPr>
      </p:cxnSp>
      <p:cxnSp>
        <p:nvCxnSpPr>
          <p:cNvPr id="473" name="Google Shape;473;p27"/>
          <p:cNvCxnSpPr/>
          <p:nvPr/>
        </p:nvCxnSpPr>
        <p:spPr>
          <a:xfrm>
            <a:off x="4525963" y="3103563"/>
            <a:ext cx="187325" cy="0"/>
          </a:xfrm>
          <a:prstGeom prst="straightConnector1">
            <a:avLst/>
          </a:prstGeom>
          <a:noFill/>
          <a:ln cap="flat" cmpd="sng" w="19050">
            <a:solidFill>
              <a:schemeClr val="dk1"/>
            </a:solidFill>
            <a:prstDash val="solid"/>
            <a:round/>
            <a:headEnd len="med" w="med" type="none"/>
            <a:tailEnd len="med" w="med" type="none"/>
          </a:ln>
        </p:spPr>
      </p:cxnSp>
      <p:cxnSp>
        <p:nvCxnSpPr>
          <p:cNvPr id="474" name="Google Shape;474;p27"/>
          <p:cNvCxnSpPr/>
          <p:nvPr/>
        </p:nvCxnSpPr>
        <p:spPr>
          <a:xfrm>
            <a:off x="4500563" y="2481263"/>
            <a:ext cx="187325" cy="0"/>
          </a:xfrm>
          <a:prstGeom prst="straightConnector1">
            <a:avLst/>
          </a:prstGeom>
          <a:noFill/>
          <a:ln cap="flat" cmpd="sng" w="19050">
            <a:solidFill>
              <a:schemeClr val="dk1"/>
            </a:solidFill>
            <a:prstDash val="solid"/>
            <a:round/>
            <a:headEnd len="med" w="med" type="none"/>
            <a:tailEnd len="med" w="med" type="none"/>
          </a:ln>
        </p:spPr>
      </p:cxnSp>
      <p:grpSp>
        <p:nvGrpSpPr>
          <p:cNvPr id="475" name="Google Shape;475;p27"/>
          <p:cNvGrpSpPr/>
          <p:nvPr/>
        </p:nvGrpSpPr>
        <p:grpSpPr>
          <a:xfrm>
            <a:off x="3344863" y="3422650"/>
            <a:ext cx="74612" cy="196850"/>
            <a:chOff x="3496" y="2156"/>
            <a:chExt cx="40" cy="204"/>
          </a:xfrm>
        </p:grpSpPr>
        <p:cxnSp>
          <p:nvCxnSpPr>
            <p:cNvPr id="476" name="Google Shape;476;p27"/>
            <p:cNvCxnSpPr/>
            <p:nvPr/>
          </p:nvCxnSpPr>
          <p:spPr>
            <a:xfrm>
              <a:off x="3496" y="2156"/>
              <a:ext cx="0" cy="204"/>
            </a:xfrm>
            <a:prstGeom prst="straightConnector1">
              <a:avLst/>
            </a:prstGeom>
            <a:noFill/>
            <a:ln cap="flat" cmpd="sng" w="19050">
              <a:solidFill>
                <a:srgbClr val="FF0000"/>
              </a:solidFill>
              <a:prstDash val="solid"/>
              <a:round/>
              <a:headEnd len="med" w="med" type="none"/>
              <a:tailEnd len="med" w="med" type="none"/>
            </a:ln>
          </p:spPr>
        </p:cxnSp>
        <p:cxnSp>
          <p:nvCxnSpPr>
            <p:cNvPr id="477" name="Google Shape;477;p27"/>
            <p:cNvCxnSpPr/>
            <p:nvPr/>
          </p:nvCxnSpPr>
          <p:spPr>
            <a:xfrm>
              <a:off x="3536" y="2156"/>
              <a:ext cx="0" cy="204"/>
            </a:xfrm>
            <a:prstGeom prst="straightConnector1">
              <a:avLst/>
            </a:prstGeom>
            <a:noFill/>
            <a:ln cap="flat" cmpd="sng" w="19050">
              <a:solidFill>
                <a:srgbClr val="FF0000"/>
              </a:solidFill>
              <a:prstDash val="solid"/>
              <a:round/>
              <a:headEnd len="med" w="med" type="none"/>
              <a:tailEnd len="med" w="med" type="none"/>
            </a:ln>
          </p:spPr>
        </p:cxnSp>
      </p:grpSp>
      <p:cxnSp>
        <p:nvCxnSpPr>
          <p:cNvPr id="478" name="Google Shape;478;p27"/>
          <p:cNvCxnSpPr/>
          <p:nvPr/>
        </p:nvCxnSpPr>
        <p:spPr>
          <a:xfrm>
            <a:off x="3382963" y="3816350"/>
            <a:ext cx="0" cy="247650"/>
          </a:xfrm>
          <a:prstGeom prst="straightConnector1">
            <a:avLst/>
          </a:prstGeom>
          <a:noFill/>
          <a:ln cap="flat" cmpd="sng" w="19050">
            <a:solidFill>
              <a:srgbClr val="FF0000"/>
            </a:solidFill>
            <a:prstDash val="solid"/>
            <a:round/>
            <a:headEnd len="med" w="med" type="none"/>
            <a:tailEnd len="med" w="med" type="none"/>
          </a:ln>
        </p:spPr>
      </p:cxnSp>
      <p:sp>
        <p:nvSpPr>
          <p:cNvPr id="479" name="Google Shape;479;p27"/>
          <p:cNvSpPr txBox="1"/>
          <p:nvPr/>
        </p:nvSpPr>
        <p:spPr>
          <a:xfrm>
            <a:off x="7213600" y="1828800"/>
            <a:ext cx="9048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palmitate</a:t>
            </a:r>
            <a:endParaRPr sz="1800">
              <a:solidFill>
                <a:srgbClr val="009900"/>
              </a:solidFill>
              <a:latin typeface="Calibri"/>
              <a:ea typeface="Calibri"/>
              <a:cs typeface="Calibri"/>
              <a:sym typeface="Calibri"/>
            </a:endParaRPr>
          </a:p>
        </p:txBody>
      </p:sp>
      <p:sp>
        <p:nvSpPr>
          <p:cNvPr id="480" name="Google Shape;480;p27"/>
          <p:cNvSpPr txBox="1"/>
          <p:nvPr/>
        </p:nvSpPr>
        <p:spPr>
          <a:xfrm>
            <a:off x="7302500" y="3759200"/>
            <a:ext cx="6683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oleate</a:t>
            </a:r>
            <a:endParaRPr sz="1800">
              <a:solidFill>
                <a:srgbClr val="0099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8"/>
          <p:cNvSpPr txBox="1"/>
          <p:nvPr>
            <p:ph type="title"/>
          </p:nvPr>
        </p:nvSpPr>
        <p:spPr>
          <a:xfrm>
            <a:off x="0" y="469900"/>
            <a:ext cx="9144000" cy="762000"/>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a:buNone/>
            </a:pPr>
            <a:r>
              <a:rPr b="1" lang="fr-FR" sz="3600">
                <a:latin typeface="Arial"/>
                <a:ea typeface="Arial"/>
                <a:cs typeface="Arial"/>
                <a:sym typeface="Arial"/>
              </a:rPr>
              <a:t>…et d’un alcool</a:t>
            </a:r>
            <a:endParaRPr>
              <a:latin typeface="Arial"/>
              <a:ea typeface="Arial"/>
              <a:cs typeface="Arial"/>
              <a:sym typeface="Arial"/>
            </a:endParaRPr>
          </a:p>
        </p:txBody>
      </p:sp>
      <p:sp>
        <p:nvSpPr>
          <p:cNvPr id="487" name="Google Shape;487;p28"/>
          <p:cNvSpPr/>
          <p:nvPr/>
        </p:nvSpPr>
        <p:spPr>
          <a:xfrm flipH="1" rot="5400000">
            <a:off x="6997700" y="2628900"/>
            <a:ext cx="177800" cy="3733800"/>
          </a:xfrm>
          <a:prstGeom prst="leftBrace">
            <a:avLst>
              <a:gd fmla="val 61153" name="adj1"/>
              <a:gd fmla="val 50000" name="adj2"/>
            </a:avLst>
          </a:prstGeom>
          <a:noFill/>
          <a:ln cap="flat" cmpd="sng" w="9525">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28"/>
          <p:cNvSpPr/>
          <p:nvPr/>
        </p:nvSpPr>
        <p:spPr>
          <a:xfrm flipH="1" rot="5400000">
            <a:off x="4318000" y="3886200"/>
            <a:ext cx="177800" cy="1219200"/>
          </a:xfrm>
          <a:prstGeom prst="leftBrace">
            <a:avLst>
              <a:gd fmla="val 82857"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8"/>
          <p:cNvSpPr txBox="1"/>
          <p:nvPr/>
        </p:nvSpPr>
        <p:spPr>
          <a:xfrm>
            <a:off x="4000500" y="4610100"/>
            <a:ext cx="79692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glycérol</a:t>
            </a:r>
            <a:endParaRPr sz="1800">
              <a:solidFill>
                <a:srgbClr val="FF0000"/>
              </a:solidFill>
              <a:latin typeface="Calibri"/>
              <a:ea typeface="Calibri"/>
              <a:cs typeface="Calibri"/>
              <a:sym typeface="Calibri"/>
            </a:endParaRPr>
          </a:p>
        </p:txBody>
      </p:sp>
      <p:sp>
        <p:nvSpPr>
          <p:cNvPr id="490" name="Google Shape;490;p28"/>
          <p:cNvSpPr txBox="1"/>
          <p:nvPr/>
        </p:nvSpPr>
        <p:spPr>
          <a:xfrm>
            <a:off x="6554788" y="4610100"/>
            <a:ext cx="1093787"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acides gras</a:t>
            </a:r>
            <a:endParaRPr sz="1800">
              <a:solidFill>
                <a:schemeClr val="dk1"/>
              </a:solidFill>
              <a:latin typeface="Calibri"/>
              <a:ea typeface="Calibri"/>
              <a:cs typeface="Calibri"/>
              <a:sym typeface="Calibri"/>
            </a:endParaRPr>
          </a:p>
        </p:txBody>
      </p:sp>
      <p:sp>
        <p:nvSpPr>
          <p:cNvPr id="491" name="Google Shape;491;p28"/>
          <p:cNvSpPr/>
          <p:nvPr/>
        </p:nvSpPr>
        <p:spPr>
          <a:xfrm flipH="1" rot="5400000">
            <a:off x="1270000" y="3327400"/>
            <a:ext cx="203200" cy="2362200"/>
          </a:xfrm>
          <a:prstGeom prst="leftBrace">
            <a:avLst>
              <a:gd fmla="val 73786" name="adj1"/>
              <a:gd fmla="val 50000" name="adj2"/>
            </a:avLst>
          </a:prstGeom>
          <a:no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28"/>
          <p:cNvSpPr/>
          <p:nvPr/>
        </p:nvSpPr>
        <p:spPr>
          <a:xfrm flipH="1" rot="5400000">
            <a:off x="3035300" y="4038600"/>
            <a:ext cx="228600" cy="965200"/>
          </a:xfrm>
          <a:prstGeom prst="leftBrace">
            <a:avLst>
              <a:gd fmla="val 51019" name="adj1"/>
              <a:gd fmla="val 50000" name="adj2"/>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28"/>
          <p:cNvSpPr txBox="1"/>
          <p:nvPr/>
        </p:nvSpPr>
        <p:spPr>
          <a:xfrm>
            <a:off x="2667000" y="4610100"/>
            <a:ext cx="1014413"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FF0000"/>
                </a:solidFill>
                <a:latin typeface="Calibri"/>
                <a:ea typeface="Calibri"/>
                <a:cs typeface="Calibri"/>
                <a:sym typeface="Calibri"/>
              </a:rPr>
              <a:t>phosphate</a:t>
            </a:r>
            <a:endParaRPr sz="1800">
              <a:solidFill>
                <a:srgbClr val="FF0000"/>
              </a:solidFill>
              <a:latin typeface="Calibri"/>
              <a:ea typeface="Calibri"/>
              <a:cs typeface="Calibri"/>
              <a:sym typeface="Calibri"/>
            </a:endParaRPr>
          </a:p>
        </p:txBody>
      </p:sp>
      <p:sp>
        <p:nvSpPr>
          <p:cNvPr id="494" name="Google Shape;494;p28"/>
          <p:cNvSpPr txBox="1"/>
          <p:nvPr/>
        </p:nvSpPr>
        <p:spPr>
          <a:xfrm>
            <a:off x="1066800" y="4610100"/>
            <a:ext cx="64928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00FF"/>
                </a:solidFill>
                <a:latin typeface="Calibri"/>
                <a:ea typeface="Calibri"/>
                <a:cs typeface="Calibri"/>
                <a:sym typeface="Calibri"/>
              </a:rPr>
              <a:t>alcool</a:t>
            </a:r>
            <a:endParaRPr sz="1800">
              <a:solidFill>
                <a:srgbClr val="FF0000"/>
              </a:solidFill>
              <a:latin typeface="Calibri"/>
              <a:ea typeface="Calibri"/>
              <a:cs typeface="Calibri"/>
              <a:sym typeface="Calibri"/>
            </a:endParaRPr>
          </a:p>
        </p:txBody>
      </p:sp>
      <p:sp>
        <p:nvSpPr>
          <p:cNvPr id="495" name="Google Shape;495;p28"/>
          <p:cNvSpPr/>
          <p:nvPr/>
        </p:nvSpPr>
        <p:spPr>
          <a:xfrm>
            <a:off x="5135563" y="2844800"/>
            <a:ext cx="3835400" cy="901700"/>
          </a:xfrm>
          <a:prstGeom prst="rect">
            <a:avLst/>
          </a:prstGeom>
          <a:solidFill>
            <a:schemeClr val="lt1"/>
          </a:solidFill>
          <a:ln cap="flat" cmpd="sng" w="9525">
            <a:solidFill>
              <a:srgbClr val="00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28"/>
          <p:cNvSpPr/>
          <p:nvPr/>
        </p:nvSpPr>
        <p:spPr>
          <a:xfrm>
            <a:off x="5135563" y="1828800"/>
            <a:ext cx="1981200" cy="838200"/>
          </a:xfrm>
          <a:prstGeom prst="rect">
            <a:avLst/>
          </a:prstGeom>
          <a:solidFill>
            <a:schemeClr val="lt1"/>
          </a:solidFill>
          <a:ln cap="flat" cmpd="sng" w="9525">
            <a:solidFill>
              <a:srgbClr val="00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28"/>
          <p:cNvSpPr/>
          <p:nvPr/>
        </p:nvSpPr>
        <p:spPr>
          <a:xfrm>
            <a:off x="3713163" y="2133600"/>
            <a:ext cx="1346200" cy="19431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28"/>
          <p:cNvSpPr/>
          <p:nvPr/>
        </p:nvSpPr>
        <p:spPr>
          <a:xfrm>
            <a:off x="182563" y="3187700"/>
            <a:ext cx="2374900" cy="1104900"/>
          </a:xfrm>
          <a:prstGeom prst="rect">
            <a:avLst/>
          </a:prstGeom>
          <a:solidFill>
            <a:schemeClr val="lt1"/>
          </a:solidFill>
          <a:ln cap="flat" cmpd="sng" w="9525">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8"/>
          <p:cNvSpPr/>
          <p:nvPr/>
        </p:nvSpPr>
        <p:spPr>
          <a:xfrm>
            <a:off x="2659063" y="3187700"/>
            <a:ext cx="965200" cy="110490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28"/>
          <p:cNvSpPr txBox="1"/>
          <p:nvPr/>
        </p:nvSpPr>
        <p:spPr>
          <a:xfrm>
            <a:off x="4056063" y="2914650"/>
            <a:ext cx="4778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HC</a:t>
            </a:r>
            <a:endParaRPr/>
          </a:p>
        </p:txBody>
      </p:sp>
      <p:sp>
        <p:nvSpPr>
          <p:cNvPr id="501" name="Google Shape;501;p28"/>
          <p:cNvSpPr txBox="1"/>
          <p:nvPr/>
        </p:nvSpPr>
        <p:spPr>
          <a:xfrm>
            <a:off x="4665663" y="2927350"/>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a:t>
            </a:r>
            <a:endParaRPr/>
          </a:p>
        </p:txBody>
      </p:sp>
      <p:sp>
        <p:nvSpPr>
          <p:cNvPr id="502" name="Google Shape;502;p28"/>
          <p:cNvSpPr txBox="1"/>
          <p:nvPr/>
        </p:nvSpPr>
        <p:spPr>
          <a:xfrm>
            <a:off x="3967163" y="22891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H</a:t>
            </a:r>
            <a:r>
              <a:rPr b="1" baseline="-25000" lang="fr-FR" sz="1600">
                <a:solidFill>
                  <a:schemeClr val="dk1"/>
                </a:solidFill>
                <a:latin typeface="Calibri"/>
                <a:ea typeface="Calibri"/>
                <a:cs typeface="Calibri"/>
                <a:sym typeface="Calibri"/>
              </a:rPr>
              <a:t>2</a:t>
            </a:r>
            <a:r>
              <a:rPr b="1" lang="fr-FR" sz="1600">
                <a:solidFill>
                  <a:schemeClr val="dk1"/>
                </a:solidFill>
                <a:latin typeface="Calibri"/>
                <a:ea typeface="Calibri"/>
                <a:cs typeface="Calibri"/>
                <a:sym typeface="Calibri"/>
              </a:rPr>
              <a:t>C</a:t>
            </a:r>
            <a:endParaRPr/>
          </a:p>
        </p:txBody>
      </p:sp>
      <p:sp>
        <p:nvSpPr>
          <p:cNvPr id="503" name="Google Shape;503;p28"/>
          <p:cNvSpPr txBox="1"/>
          <p:nvPr/>
        </p:nvSpPr>
        <p:spPr>
          <a:xfrm>
            <a:off x="4195763" y="3570288"/>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CH</a:t>
            </a:r>
            <a:r>
              <a:rPr b="1" baseline="-25000" lang="fr-FR" sz="1600">
                <a:solidFill>
                  <a:schemeClr val="dk1"/>
                </a:solidFill>
                <a:latin typeface="Calibri"/>
                <a:ea typeface="Calibri"/>
                <a:cs typeface="Calibri"/>
                <a:sym typeface="Calibri"/>
              </a:rPr>
              <a:t>2</a:t>
            </a:r>
            <a:endParaRPr b="1" sz="1600">
              <a:solidFill>
                <a:srgbClr val="008000"/>
              </a:solidFill>
              <a:latin typeface="Calibri"/>
              <a:ea typeface="Calibri"/>
              <a:cs typeface="Calibri"/>
              <a:sym typeface="Calibri"/>
            </a:endParaRPr>
          </a:p>
        </p:txBody>
      </p:sp>
      <p:sp>
        <p:nvSpPr>
          <p:cNvPr id="504" name="Google Shape;504;p28"/>
          <p:cNvSpPr txBox="1"/>
          <p:nvPr/>
        </p:nvSpPr>
        <p:spPr>
          <a:xfrm>
            <a:off x="4646613" y="2301875"/>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a:t>
            </a:r>
            <a:endParaRPr/>
          </a:p>
        </p:txBody>
      </p:sp>
      <p:sp>
        <p:nvSpPr>
          <p:cNvPr id="505" name="Google Shape;505;p28"/>
          <p:cNvSpPr txBox="1"/>
          <p:nvPr/>
        </p:nvSpPr>
        <p:spPr>
          <a:xfrm>
            <a:off x="3211513" y="4013200"/>
            <a:ext cx="3889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a:t>
            </a:r>
            <a:r>
              <a:rPr b="1" baseline="30000" lang="fr-FR" sz="1600">
                <a:solidFill>
                  <a:srgbClr val="FF0000"/>
                </a:solidFill>
                <a:latin typeface="Calibri"/>
                <a:ea typeface="Calibri"/>
                <a:cs typeface="Calibri"/>
                <a:sym typeface="Calibri"/>
              </a:rPr>
              <a:t>-</a:t>
            </a:r>
            <a:endParaRPr b="1" sz="1600">
              <a:solidFill>
                <a:srgbClr val="009900"/>
              </a:solidFill>
              <a:latin typeface="Calibri"/>
              <a:ea typeface="Calibri"/>
              <a:cs typeface="Calibri"/>
              <a:sym typeface="Calibri"/>
            </a:endParaRPr>
          </a:p>
        </p:txBody>
      </p:sp>
      <p:cxnSp>
        <p:nvCxnSpPr>
          <p:cNvPr id="506" name="Google Shape;506;p28"/>
          <p:cNvCxnSpPr/>
          <p:nvPr/>
        </p:nvCxnSpPr>
        <p:spPr>
          <a:xfrm>
            <a:off x="4360863" y="2622550"/>
            <a:ext cx="0" cy="323850"/>
          </a:xfrm>
          <a:prstGeom prst="straightConnector1">
            <a:avLst/>
          </a:prstGeom>
          <a:noFill/>
          <a:ln cap="flat" cmpd="sng" w="19050">
            <a:solidFill>
              <a:schemeClr val="dk1"/>
            </a:solidFill>
            <a:prstDash val="solid"/>
            <a:round/>
            <a:headEnd len="med" w="med" type="none"/>
            <a:tailEnd len="med" w="med" type="none"/>
          </a:ln>
        </p:spPr>
      </p:cxnSp>
      <p:cxnSp>
        <p:nvCxnSpPr>
          <p:cNvPr id="507" name="Google Shape;507;p28"/>
          <p:cNvCxnSpPr/>
          <p:nvPr/>
        </p:nvCxnSpPr>
        <p:spPr>
          <a:xfrm>
            <a:off x="4360863" y="3270250"/>
            <a:ext cx="0" cy="323850"/>
          </a:xfrm>
          <a:prstGeom prst="straightConnector1">
            <a:avLst/>
          </a:prstGeom>
          <a:noFill/>
          <a:ln cap="flat" cmpd="sng" w="19050">
            <a:solidFill>
              <a:schemeClr val="dk1"/>
            </a:solidFill>
            <a:prstDash val="solid"/>
            <a:round/>
            <a:headEnd len="med" w="med" type="none"/>
            <a:tailEnd len="med" w="med" type="none"/>
          </a:ln>
        </p:spPr>
      </p:cxnSp>
      <p:sp>
        <p:nvSpPr>
          <p:cNvPr id="508" name="Google Shape;508;p28"/>
          <p:cNvSpPr txBox="1"/>
          <p:nvPr/>
        </p:nvSpPr>
        <p:spPr>
          <a:xfrm>
            <a:off x="2074863" y="3570288"/>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CH</a:t>
            </a:r>
            <a:r>
              <a:rPr b="1" baseline="-25000" lang="fr-FR" sz="1600">
                <a:solidFill>
                  <a:srgbClr val="0000FF"/>
                </a:solidFill>
                <a:latin typeface="Calibri"/>
                <a:ea typeface="Calibri"/>
                <a:cs typeface="Calibri"/>
                <a:sym typeface="Calibri"/>
              </a:rPr>
              <a:t>2</a:t>
            </a:r>
            <a:endParaRPr/>
          </a:p>
        </p:txBody>
      </p:sp>
      <p:sp>
        <p:nvSpPr>
          <p:cNvPr id="509" name="Google Shape;509;p28"/>
          <p:cNvSpPr txBox="1"/>
          <p:nvPr/>
        </p:nvSpPr>
        <p:spPr>
          <a:xfrm>
            <a:off x="1439863" y="3570288"/>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CH</a:t>
            </a:r>
            <a:r>
              <a:rPr b="1" baseline="-25000" lang="fr-FR" sz="1600">
                <a:solidFill>
                  <a:srgbClr val="0000FF"/>
                </a:solidFill>
                <a:latin typeface="Calibri"/>
                <a:ea typeface="Calibri"/>
                <a:cs typeface="Calibri"/>
                <a:sym typeface="Calibri"/>
              </a:rPr>
              <a:t>2</a:t>
            </a:r>
            <a:endParaRPr/>
          </a:p>
        </p:txBody>
      </p:sp>
      <p:sp>
        <p:nvSpPr>
          <p:cNvPr id="510" name="Google Shape;510;p28"/>
          <p:cNvSpPr txBox="1"/>
          <p:nvPr/>
        </p:nvSpPr>
        <p:spPr>
          <a:xfrm>
            <a:off x="220663" y="3570288"/>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r>
              <a:rPr b="1" baseline="-25000" lang="fr-FR" sz="1600">
                <a:solidFill>
                  <a:srgbClr val="0000FF"/>
                </a:solidFill>
                <a:latin typeface="Calibri"/>
                <a:ea typeface="Calibri"/>
                <a:cs typeface="Calibri"/>
                <a:sym typeface="Calibri"/>
              </a:rPr>
              <a:t>3</a:t>
            </a:r>
            <a:r>
              <a:rPr b="1" lang="fr-FR" sz="1600">
                <a:solidFill>
                  <a:srgbClr val="0000FF"/>
                </a:solidFill>
                <a:latin typeface="Calibri"/>
                <a:ea typeface="Calibri"/>
                <a:cs typeface="Calibri"/>
                <a:sym typeface="Calibri"/>
              </a:rPr>
              <a:t>C</a:t>
            </a:r>
            <a:endParaRPr/>
          </a:p>
        </p:txBody>
      </p:sp>
      <p:sp>
        <p:nvSpPr>
          <p:cNvPr id="511" name="Google Shape;511;p28"/>
          <p:cNvSpPr txBox="1"/>
          <p:nvPr/>
        </p:nvSpPr>
        <p:spPr>
          <a:xfrm>
            <a:off x="6583363" y="22891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3</a:t>
            </a:r>
            <a:endParaRPr/>
          </a:p>
        </p:txBody>
      </p:sp>
      <p:sp>
        <p:nvSpPr>
          <p:cNvPr id="512" name="Google Shape;512;p28"/>
          <p:cNvSpPr txBox="1"/>
          <p:nvPr/>
        </p:nvSpPr>
        <p:spPr>
          <a:xfrm>
            <a:off x="8399463" y="2927350"/>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3</a:t>
            </a:r>
            <a:endParaRPr/>
          </a:p>
        </p:txBody>
      </p:sp>
      <p:sp>
        <p:nvSpPr>
          <p:cNvPr id="513" name="Google Shape;513;p28"/>
          <p:cNvSpPr txBox="1"/>
          <p:nvPr/>
        </p:nvSpPr>
        <p:spPr>
          <a:xfrm>
            <a:off x="5630863" y="2289175"/>
            <a:ext cx="8461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14</a:t>
            </a:r>
            <a:endParaRPr/>
          </a:p>
        </p:txBody>
      </p:sp>
      <p:sp>
        <p:nvSpPr>
          <p:cNvPr id="514" name="Google Shape;514;p28"/>
          <p:cNvSpPr txBox="1"/>
          <p:nvPr/>
        </p:nvSpPr>
        <p:spPr>
          <a:xfrm>
            <a:off x="6507163" y="2924175"/>
            <a:ext cx="3127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endParaRPr b="1" baseline="-25000" sz="1600">
              <a:solidFill>
                <a:srgbClr val="009900"/>
              </a:solidFill>
              <a:latin typeface="Calibri"/>
              <a:ea typeface="Calibri"/>
              <a:cs typeface="Calibri"/>
              <a:sym typeface="Calibri"/>
            </a:endParaRPr>
          </a:p>
        </p:txBody>
      </p:sp>
      <p:sp>
        <p:nvSpPr>
          <p:cNvPr id="515" name="Google Shape;515;p28"/>
          <p:cNvSpPr txBox="1"/>
          <p:nvPr/>
        </p:nvSpPr>
        <p:spPr>
          <a:xfrm>
            <a:off x="7497763" y="2927350"/>
            <a:ext cx="7699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7</a:t>
            </a:r>
            <a:endParaRPr/>
          </a:p>
        </p:txBody>
      </p:sp>
      <p:sp>
        <p:nvSpPr>
          <p:cNvPr id="516" name="Google Shape;516;p28"/>
          <p:cNvSpPr txBox="1"/>
          <p:nvPr/>
        </p:nvSpPr>
        <p:spPr>
          <a:xfrm>
            <a:off x="5643563" y="2914650"/>
            <a:ext cx="7699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r>
              <a:rPr b="1" baseline="-25000" lang="fr-FR" sz="1600">
                <a:solidFill>
                  <a:srgbClr val="009900"/>
                </a:solidFill>
                <a:latin typeface="Calibri"/>
                <a:ea typeface="Calibri"/>
                <a:cs typeface="Calibri"/>
                <a:sym typeface="Calibri"/>
              </a:rPr>
              <a:t>2</a:t>
            </a:r>
            <a:r>
              <a:rPr b="1" lang="fr-FR" sz="1600">
                <a:solidFill>
                  <a:srgbClr val="009900"/>
                </a:solidFill>
                <a:latin typeface="Calibri"/>
                <a:ea typeface="Calibri"/>
                <a:cs typeface="Calibri"/>
                <a:sym typeface="Calibri"/>
              </a:rPr>
              <a:t>)</a:t>
            </a:r>
            <a:r>
              <a:rPr b="1" baseline="-25000" lang="fr-FR" sz="1600">
                <a:solidFill>
                  <a:srgbClr val="009900"/>
                </a:solidFill>
                <a:latin typeface="Calibri"/>
                <a:ea typeface="Calibri"/>
                <a:cs typeface="Calibri"/>
                <a:sym typeface="Calibri"/>
              </a:rPr>
              <a:t>7</a:t>
            </a:r>
            <a:endParaRPr/>
          </a:p>
        </p:txBody>
      </p:sp>
      <p:sp>
        <p:nvSpPr>
          <p:cNvPr id="517" name="Google Shape;517;p28"/>
          <p:cNvSpPr txBox="1"/>
          <p:nvPr/>
        </p:nvSpPr>
        <p:spPr>
          <a:xfrm>
            <a:off x="7040563" y="2924175"/>
            <a:ext cx="3127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CH</a:t>
            </a:r>
            <a:endParaRPr b="1" baseline="-25000" sz="1600">
              <a:solidFill>
                <a:srgbClr val="009900"/>
              </a:solidFill>
              <a:latin typeface="Calibri"/>
              <a:ea typeface="Calibri"/>
              <a:cs typeface="Calibri"/>
              <a:sym typeface="Calibri"/>
            </a:endParaRPr>
          </a:p>
        </p:txBody>
      </p:sp>
      <p:sp>
        <p:nvSpPr>
          <p:cNvPr id="518" name="Google Shape;518;p28"/>
          <p:cNvSpPr txBox="1"/>
          <p:nvPr/>
        </p:nvSpPr>
        <p:spPr>
          <a:xfrm>
            <a:off x="3211513" y="3149600"/>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a:t>
            </a:r>
            <a:endParaRPr b="1" sz="1600">
              <a:solidFill>
                <a:srgbClr val="009900"/>
              </a:solidFill>
              <a:latin typeface="Calibri"/>
              <a:ea typeface="Calibri"/>
              <a:cs typeface="Calibri"/>
              <a:sym typeface="Calibri"/>
            </a:endParaRPr>
          </a:p>
        </p:txBody>
      </p:sp>
      <p:sp>
        <p:nvSpPr>
          <p:cNvPr id="519" name="Google Shape;519;p28"/>
          <p:cNvSpPr txBox="1"/>
          <p:nvPr/>
        </p:nvSpPr>
        <p:spPr>
          <a:xfrm>
            <a:off x="2741613" y="3570288"/>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a:t>
            </a:r>
            <a:endParaRPr b="1" sz="1600">
              <a:solidFill>
                <a:srgbClr val="009900"/>
              </a:solidFill>
              <a:latin typeface="Calibri"/>
              <a:ea typeface="Calibri"/>
              <a:cs typeface="Calibri"/>
              <a:sym typeface="Calibri"/>
            </a:endParaRPr>
          </a:p>
        </p:txBody>
      </p:sp>
      <p:sp>
        <p:nvSpPr>
          <p:cNvPr id="520" name="Google Shape;520;p28"/>
          <p:cNvSpPr txBox="1"/>
          <p:nvPr/>
        </p:nvSpPr>
        <p:spPr>
          <a:xfrm>
            <a:off x="3224213" y="3570288"/>
            <a:ext cx="31908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P</a:t>
            </a:r>
            <a:endParaRPr b="1" sz="1600">
              <a:solidFill>
                <a:srgbClr val="009900"/>
              </a:solidFill>
              <a:latin typeface="Calibri"/>
              <a:ea typeface="Calibri"/>
              <a:cs typeface="Calibri"/>
              <a:sym typeface="Calibri"/>
            </a:endParaRPr>
          </a:p>
        </p:txBody>
      </p:sp>
      <p:sp>
        <p:nvSpPr>
          <p:cNvPr id="521" name="Google Shape;521;p28"/>
          <p:cNvSpPr txBox="1"/>
          <p:nvPr/>
        </p:nvSpPr>
        <p:spPr>
          <a:xfrm>
            <a:off x="912813" y="3570288"/>
            <a:ext cx="4127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N</a:t>
            </a:r>
            <a:r>
              <a:rPr b="1" baseline="30000" lang="fr-FR" sz="1600">
                <a:solidFill>
                  <a:srgbClr val="0000FF"/>
                </a:solidFill>
                <a:latin typeface="Calibri"/>
                <a:ea typeface="Calibri"/>
                <a:cs typeface="Calibri"/>
                <a:sym typeface="Calibri"/>
              </a:rPr>
              <a:t>+</a:t>
            </a:r>
            <a:endParaRPr b="1" sz="1600">
              <a:solidFill>
                <a:srgbClr val="0000FF"/>
              </a:solidFill>
              <a:latin typeface="Calibri"/>
              <a:ea typeface="Calibri"/>
              <a:cs typeface="Calibri"/>
              <a:sym typeface="Calibri"/>
            </a:endParaRPr>
          </a:p>
        </p:txBody>
      </p:sp>
      <p:sp>
        <p:nvSpPr>
          <p:cNvPr id="522" name="Google Shape;522;p28"/>
          <p:cNvSpPr txBox="1"/>
          <p:nvPr/>
        </p:nvSpPr>
        <p:spPr>
          <a:xfrm>
            <a:off x="5186363" y="2927350"/>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a:t>
            </a:r>
            <a:endParaRPr b="1" baseline="-25000" sz="1600">
              <a:solidFill>
                <a:srgbClr val="009900"/>
              </a:solidFill>
              <a:latin typeface="Calibri"/>
              <a:ea typeface="Calibri"/>
              <a:cs typeface="Calibri"/>
              <a:sym typeface="Calibri"/>
            </a:endParaRPr>
          </a:p>
        </p:txBody>
      </p:sp>
      <p:sp>
        <p:nvSpPr>
          <p:cNvPr id="523" name="Google Shape;523;p28"/>
          <p:cNvSpPr txBox="1"/>
          <p:nvPr/>
        </p:nvSpPr>
        <p:spPr>
          <a:xfrm>
            <a:off x="5199063" y="3406775"/>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O</a:t>
            </a:r>
            <a:endParaRPr b="1" baseline="-25000" sz="1600">
              <a:solidFill>
                <a:srgbClr val="009900"/>
              </a:solidFill>
              <a:latin typeface="Calibri"/>
              <a:ea typeface="Calibri"/>
              <a:cs typeface="Calibri"/>
              <a:sym typeface="Calibri"/>
            </a:endParaRPr>
          </a:p>
        </p:txBody>
      </p:sp>
      <p:sp>
        <p:nvSpPr>
          <p:cNvPr id="524" name="Google Shape;524;p28"/>
          <p:cNvSpPr txBox="1"/>
          <p:nvPr/>
        </p:nvSpPr>
        <p:spPr>
          <a:xfrm>
            <a:off x="360363" y="39401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r>
              <a:rPr b="1" baseline="-25000" lang="fr-FR" sz="1600">
                <a:solidFill>
                  <a:srgbClr val="0000FF"/>
                </a:solidFill>
                <a:latin typeface="Calibri"/>
                <a:ea typeface="Calibri"/>
                <a:cs typeface="Calibri"/>
                <a:sym typeface="Calibri"/>
              </a:rPr>
              <a:t>3</a:t>
            </a:r>
            <a:r>
              <a:rPr b="1" lang="fr-FR" sz="1600">
                <a:solidFill>
                  <a:srgbClr val="0000FF"/>
                </a:solidFill>
                <a:latin typeface="Calibri"/>
                <a:ea typeface="Calibri"/>
                <a:cs typeface="Calibri"/>
                <a:sym typeface="Calibri"/>
              </a:rPr>
              <a:t>C</a:t>
            </a:r>
            <a:endParaRPr/>
          </a:p>
        </p:txBody>
      </p:sp>
      <p:sp>
        <p:nvSpPr>
          <p:cNvPr id="525" name="Google Shape;525;p28"/>
          <p:cNvSpPr txBox="1"/>
          <p:nvPr/>
        </p:nvSpPr>
        <p:spPr>
          <a:xfrm>
            <a:off x="347663" y="3152775"/>
            <a:ext cx="5667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r>
              <a:rPr b="1" baseline="-25000" lang="fr-FR" sz="1600">
                <a:solidFill>
                  <a:srgbClr val="0000FF"/>
                </a:solidFill>
                <a:latin typeface="Calibri"/>
                <a:ea typeface="Calibri"/>
                <a:cs typeface="Calibri"/>
                <a:sym typeface="Calibri"/>
              </a:rPr>
              <a:t>3</a:t>
            </a:r>
            <a:r>
              <a:rPr b="1" lang="fr-FR" sz="1600">
                <a:solidFill>
                  <a:srgbClr val="0000FF"/>
                </a:solidFill>
                <a:latin typeface="Calibri"/>
                <a:ea typeface="Calibri"/>
                <a:cs typeface="Calibri"/>
                <a:sym typeface="Calibri"/>
              </a:rPr>
              <a:t>C</a:t>
            </a:r>
            <a:endParaRPr/>
          </a:p>
        </p:txBody>
      </p:sp>
      <p:cxnSp>
        <p:nvCxnSpPr>
          <p:cNvPr id="526" name="Google Shape;526;p28"/>
          <p:cNvCxnSpPr/>
          <p:nvPr/>
        </p:nvCxnSpPr>
        <p:spPr>
          <a:xfrm>
            <a:off x="4945063" y="3095625"/>
            <a:ext cx="263525" cy="0"/>
          </a:xfrm>
          <a:prstGeom prst="straightConnector1">
            <a:avLst/>
          </a:prstGeom>
          <a:noFill/>
          <a:ln cap="flat" cmpd="sng" w="19050">
            <a:solidFill>
              <a:schemeClr val="dk1"/>
            </a:solidFill>
            <a:prstDash val="solid"/>
            <a:round/>
            <a:headEnd len="med" w="med" type="none"/>
            <a:tailEnd len="med" w="med" type="none"/>
          </a:ln>
        </p:spPr>
      </p:cxnSp>
      <p:grpSp>
        <p:nvGrpSpPr>
          <p:cNvPr id="527" name="Google Shape;527;p28"/>
          <p:cNvGrpSpPr/>
          <p:nvPr/>
        </p:nvGrpSpPr>
        <p:grpSpPr>
          <a:xfrm>
            <a:off x="6786563" y="3063875"/>
            <a:ext cx="263525" cy="63500"/>
            <a:chOff x="4504" y="1928"/>
            <a:chExt cx="166" cy="40"/>
          </a:xfrm>
        </p:grpSpPr>
        <p:cxnSp>
          <p:nvCxnSpPr>
            <p:cNvPr id="528" name="Google Shape;528;p28"/>
            <p:cNvCxnSpPr/>
            <p:nvPr/>
          </p:nvCxnSpPr>
          <p:spPr>
            <a:xfrm>
              <a:off x="4504" y="1928"/>
              <a:ext cx="166" cy="0"/>
            </a:xfrm>
            <a:prstGeom prst="straightConnector1">
              <a:avLst/>
            </a:prstGeom>
            <a:noFill/>
            <a:ln cap="flat" cmpd="sng" w="19050">
              <a:solidFill>
                <a:srgbClr val="009900"/>
              </a:solidFill>
              <a:prstDash val="solid"/>
              <a:round/>
              <a:headEnd len="med" w="med" type="none"/>
              <a:tailEnd len="med" w="med" type="none"/>
            </a:ln>
          </p:spPr>
        </p:cxnSp>
        <p:cxnSp>
          <p:nvCxnSpPr>
            <p:cNvPr id="529" name="Google Shape;529;p28"/>
            <p:cNvCxnSpPr/>
            <p:nvPr/>
          </p:nvCxnSpPr>
          <p:spPr>
            <a:xfrm>
              <a:off x="4504" y="1968"/>
              <a:ext cx="166" cy="0"/>
            </a:xfrm>
            <a:prstGeom prst="straightConnector1">
              <a:avLst/>
            </a:prstGeom>
            <a:noFill/>
            <a:ln cap="flat" cmpd="sng" w="19050">
              <a:solidFill>
                <a:srgbClr val="009900"/>
              </a:solidFill>
              <a:prstDash val="solid"/>
              <a:round/>
              <a:headEnd len="med" w="med" type="none"/>
              <a:tailEnd len="med" w="med" type="none"/>
            </a:ln>
          </p:spPr>
        </p:cxnSp>
      </p:grpSp>
      <p:sp>
        <p:nvSpPr>
          <p:cNvPr id="530" name="Google Shape;530;p28"/>
          <p:cNvSpPr txBox="1"/>
          <p:nvPr/>
        </p:nvSpPr>
        <p:spPr>
          <a:xfrm>
            <a:off x="5199063" y="2305050"/>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C</a:t>
            </a:r>
            <a:endParaRPr b="1" baseline="-25000" sz="1600">
              <a:solidFill>
                <a:srgbClr val="009900"/>
              </a:solidFill>
              <a:latin typeface="Calibri"/>
              <a:ea typeface="Calibri"/>
              <a:cs typeface="Calibri"/>
              <a:sym typeface="Calibri"/>
            </a:endParaRPr>
          </a:p>
        </p:txBody>
      </p:sp>
      <p:sp>
        <p:nvSpPr>
          <p:cNvPr id="531" name="Google Shape;531;p28"/>
          <p:cNvSpPr txBox="1"/>
          <p:nvPr/>
        </p:nvSpPr>
        <p:spPr>
          <a:xfrm>
            <a:off x="5199063" y="1781175"/>
            <a:ext cx="300037"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9900"/>
                </a:solidFill>
                <a:latin typeface="Calibri"/>
                <a:ea typeface="Calibri"/>
                <a:cs typeface="Calibri"/>
                <a:sym typeface="Calibri"/>
              </a:rPr>
              <a:t>O</a:t>
            </a:r>
            <a:endParaRPr b="1" baseline="-25000" sz="1600">
              <a:solidFill>
                <a:srgbClr val="009900"/>
              </a:solidFill>
              <a:latin typeface="Calibri"/>
              <a:ea typeface="Calibri"/>
              <a:cs typeface="Calibri"/>
              <a:sym typeface="Calibri"/>
            </a:endParaRPr>
          </a:p>
        </p:txBody>
      </p:sp>
      <p:cxnSp>
        <p:nvCxnSpPr>
          <p:cNvPr id="532" name="Google Shape;532;p28"/>
          <p:cNvCxnSpPr/>
          <p:nvPr/>
        </p:nvCxnSpPr>
        <p:spPr>
          <a:xfrm>
            <a:off x="4957763" y="2473325"/>
            <a:ext cx="263525" cy="0"/>
          </a:xfrm>
          <a:prstGeom prst="straightConnector1">
            <a:avLst/>
          </a:prstGeom>
          <a:noFill/>
          <a:ln cap="flat" cmpd="sng" w="19050">
            <a:solidFill>
              <a:schemeClr val="dk1"/>
            </a:solidFill>
            <a:prstDash val="solid"/>
            <a:round/>
            <a:headEnd len="med" w="med" type="none"/>
            <a:tailEnd len="med" w="med" type="none"/>
          </a:ln>
        </p:spPr>
      </p:cxnSp>
      <p:grpSp>
        <p:nvGrpSpPr>
          <p:cNvPr id="533" name="Google Shape;533;p28"/>
          <p:cNvGrpSpPr/>
          <p:nvPr/>
        </p:nvGrpSpPr>
        <p:grpSpPr>
          <a:xfrm>
            <a:off x="5326063" y="3219450"/>
            <a:ext cx="74612" cy="234950"/>
            <a:chOff x="3496" y="2156"/>
            <a:chExt cx="40" cy="204"/>
          </a:xfrm>
        </p:grpSpPr>
        <p:cxnSp>
          <p:nvCxnSpPr>
            <p:cNvPr id="534" name="Google Shape;534;p28"/>
            <p:cNvCxnSpPr/>
            <p:nvPr/>
          </p:nvCxnSpPr>
          <p:spPr>
            <a:xfrm>
              <a:off x="3496" y="2156"/>
              <a:ext cx="0" cy="204"/>
            </a:xfrm>
            <a:prstGeom prst="straightConnector1">
              <a:avLst/>
            </a:prstGeom>
            <a:noFill/>
            <a:ln cap="flat" cmpd="sng" w="19050">
              <a:solidFill>
                <a:srgbClr val="009900"/>
              </a:solidFill>
              <a:prstDash val="solid"/>
              <a:round/>
              <a:headEnd len="med" w="med" type="none"/>
              <a:tailEnd len="med" w="med" type="none"/>
            </a:ln>
          </p:spPr>
        </p:cxnSp>
        <p:cxnSp>
          <p:nvCxnSpPr>
            <p:cNvPr id="535" name="Google Shape;535;p28"/>
            <p:cNvCxnSpPr/>
            <p:nvPr/>
          </p:nvCxnSpPr>
          <p:spPr>
            <a:xfrm>
              <a:off x="3536" y="2156"/>
              <a:ext cx="0" cy="204"/>
            </a:xfrm>
            <a:prstGeom prst="straightConnector1">
              <a:avLst/>
            </a:prstGeom>
            <a:noFill/>
            <a:ln cap="flat" cmpd="sng" w="19050">
              <a:solidFill>
                <a:srgbClr val="009900"/>
              </a:solidFill>
              <a:prstDash val="solid"/>
              <a:round/>
              <a:headEnd len="med" w="med" type="none"/>
              <a:tailEnd len="med" w="med" type="none"/>
            </a:ln>
          </p:spPr>
        </p:cxnSp>
      </p:grpSp>
      <p:grpSp>
        <p:nvGrpSpPr>
          <p:cNvPr id="536" name="Google Shape;536;p28"/>
          <p:cNvGrpSpPr/>
          <p:nvPr/>
        </p:nvGrpSpPr>
        <p:grpSpPr>
          <a:xfrm>
            <a:off x="5326063" y="2089150"/>
            <a:ext cx="74612" cy="260350"/>
            <a:chOff x="3496" y="2156"/>
            <a:chExt cx="40" cy="204"/>
          </a:xfrm>
        </p:grpSpPr>
        <p:cxnSp>
          <p:nvCxnSpPr>
            <p:cNvPr id="537" name="Google Shape;537;p28"/>
            <p:cNvCxnSpPr/>
            <p:nvPr/>
          </p:nvCxnSpPr>
          <p:spPr>
            <a:xfrm>
              <a:off x="3496" y="2156"/>
              <a:ext cx="0" cy="204"/>
            </a:xfrm>
            <a:prstGeom prst="straightConnector1">
              <a:avLst/>
            </a:prstGeom>
            <a:noFill/>
            <a:ln cap="flat" cmpd="sng" w="19050">
              <a:solidFill>
                <a:srgbClr val="009900"/>
              </a:solidFill>
              <a:prstDash val="solid"/>
              <a:round/>
              <a:headEnd len="med" w="med" type="none"/>
              <a:tailEnd len="med" w="med" type="none"/>
            </a:ln>
          </p:spPr>
        </p:cxnSp>
        <p:cxnSp>
          <p:nvCxnSpPr>
            <p:cNvPr id="538" name="Google Shape;538;p28"/>
            <p:cNvCxnSpPr/>
            <p:nvPr/>
          </p:nvCxnSpPr>
          <p:spPr>
            <a:xfrm>
              <a:off x="3536" y="2156"/>
              <a:ext cx="0" cy="204"/>
            </a:xfrm>
            <a:prstGeom prst="straightConnector1">
              <a:avLst/>
            </a:prstGeom>
            <a:noFill/>
            <a:ln cap="flat" cmpd="sng" w="19050">
              <a:solidFill>
                <a:srgbClr val="009900"/>
              </a:solidFill>
              <a:prstDash val="solid"/>
              <a:round/>
              <a:headEnd len="med" w="med" type="none"/>
              <a:tailEnd len="med" w="med" type="none"/>
            </a:ln>
          </p:spPr>
        </p:cxnSp>
      </p:grpSp>
      <p:cxnSp>
        <p:nvCxnSpPr>
          <p:cNvPr id="539" name="Google Shape;539;p28"/>
          <p:cNvCxnSpPr/>
          <p:nvPr/>
        </p:nvCxnSpPr>
        <p:spPr>
          <a:xfrm>
            <a:off x="3535363" y="3738563"/>
            <a:ext cx="263525" cy="0"/>
          </a:xfrm>
          <a:prstGeom prst="straightConnector1">
            <a:avLst/>
          </a:prstGeom>
          <a:noFill/>
          <a:ln cap="flat" cmpd="sng" w="19050">
            <a:solidFill>
              <a:schemeClr val="dk1"/>
            </a:solidFill>
            <a:prstDash val="solid"/>
            <a:round/>
            <a:headEnd len="med" w="med" type="none"/>
            <a:tailEnd len="med" w="med" type="none"/>
          </a:ln>
        </p:spPr>
      </p:cxnSp>
      <p:sp>
        <p:nvSpPr>
          <p:cNvPr id="540" name="Google Shape;540;p28"/>
          <p:cNvSpPr txBox="1"/>
          <p:nvPr/>
        </p:nvSpPr>
        <p:spPr>
          <a:xfrm>
            <a:off x="3744913" y="3570288"/>
            <a:ext cx="3429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chemeClr val="dk1"/>
                </a:solidFill>
                <a:latin typeface="Calibri"/>
                <a:ea typeface="Calibri"/>
                <a:cs typeface="Calibri"/>
                <a:sym typeface="Calibri"/>
              </a:rPr>
              <a:t>O</a:t>
            </a:r>
            <a:endParaRPr b="1" sz="1600">
              <a:solidFill>
                <a:srgbClr val="009900"/>
              </a:solidFill>
              <a:latin typeface="Calibri"/>
              <a:ea typeface="Calibri"/>
              <a:cs typeface="Calibri"/>
              <a:sym typeface="Calibri"/>
            </a:endParaRPr>
          </a:p>
        </p:txBody>
      </p:sp>
      <p:cxnSp>
        <p:nvCxnSpPr>
          <p:cNvPr id="541" name="Google Shape;541;p28"/>
          <p:cNvCxnSpPr/>
          <p:nvPr/>
        </p:nvCxnSpPr>
        <p:spPr>
          <a:xfrm>
            <a:off x="54530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542" name="Google Shape;542;p28"/>
          <p:cNvCxnSpPr/>
          <p:nvPr/>
        </p:nvCxnSpPr>
        <p:spPr>
          <a:xfrm>
            <a:off x="63293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543" name="Google Shape;543;p28"/>
          <p:cNvCxnSpPr/>
          <p:nvPr/>
        </p:nvCxnSpPr>
        <p:spPr>
          <a:xfrm>
            <a:off x="5453063" y="24733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544" name="Google Shape;544;p28"/>
          <p:cNvCxnSpPr/>
          <p:nvPr/>
        </p:nvCxnSpPr>
        <p:spPr>
          <a:xfrm>
            <a:off x="6392863" y="2460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545" name="Google Shape;545;p28"/>
          <p:cNvCxnSpPr/>
          <p:nvPr/>
        </p:nvCxnSpPr>
        <p:spPr>
          <a:xfrm>
            <a:off x="7319963" y="30956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546" name="Google Shape;546;p28"/>
          <p:cNvCxnSpPr/>
          <p:nvPr/>
        </p:nvCxnSpPr>
        <p:spPr>
          <a:xfrm>
            <a:off x="8196263" y="3082925"/>
            <a:ext cx="225425" cy="0"/>
          </a:xfrm>
          <a:prstGeom prst="straightConnector1">
            <a:avLst/>
          </a:prstGeom>
          <a:noFill/>
          <a:ln cap="flat" cmpd="sng" w="19050">
            <a:solidFill>
              <a:srgbClr val="009900"/>
            </a:solidFill>
            <a:prstDash val="solid"/>
            <a:round/>
            <a:headEnd len="med" w="med" type="none"/>
            <a:tailEnd len="med" w="med" type="none"/>
          </a:ln>
        </p:spPr>
      </p:cxnSp>
      <p:cxnSp>
        <p:nvCxnSpPr>
          <p:cNvPr id="547" name="Google Shape;547;p28"/>
          <p:cNvCxnSpPr/>
          <p:nvPr/>
        </p:nvCxnSpPr>
        <p:spPr>
          <a:xfrm>
            <a:off x="3040063" y="3738563"/>
            <a:ext cx="225425" cy="0"/>
          </a:xfrm>
          <a:prstGeom prst="straightConnector1">
            <a:avLst/>
          </a:prstGeom>
          <a:noFill/>
          <a:ln cap="flat" cmpd="sng" w="19050">
            <a:solidFill>
              <a:srgbClr val="FF0000"/>
            </a:solidFill>
            <a:prstDash val="solid"/>
            <a:round/>
            <a:headEnd len="med" w="med" type="none"/>
            <a:tailEnd len="med" w="med" type="none"/>
          </a:ln>
        </p:spPr>
      </p:cxnSp>
      <p:cxnSp>
        <p:nvCxnSpPr>
          <p:cNvPr id="548" name="Google Shape;548;p28"/>
          <p:cNvCxnSpPr/>
          <p:nvPr/>
        </p:nvCxnSpPr>
        <p:spPr>
          <a:xfrm>
            <a:off x="4043363" y="3738563"/>
            <a:ext cx="187325" cy="0"/>
          </a:xfrm>
          <a:prstGeom prst="straightConnector1">
            <a:avLst/>
          </a:prstGeom>
          <a:noFill/>
          <a:ln cap="flat" cmpd="sng" w="19050">
            <a:solidFill>
              <a:schemeClr val="dk1"/>
            </a:solidFill>
            <a:prstDash val="solid"/>
            <a:round/>
            <a:headEnd len="med" w="med" type="none"/>
            <a:tailEnd len="med" w="med" type="none"/>
          </a:ln>
        </p:spPr>
      </p:cxnSp>
      <p:cxnSp>
        <p:nvCxnSpPr>
          <p:cNvPr id="549" name="Google Shape;549;p28"/>
          <p:cNvCxnSpPr/>
          <p:nvPr/>
        </p:nvCxnSpPr>
        <p:spPr>
          <a:xfrm>
            <a:off x="2544763" y="3738563"/>
            <a:ext cx="225425" cy="0"/>
          </a:xfrm>
          <a:prstGeom prst="straightConnector1">
            <a:avLst/>
          </a:prstGeom>
          <a:noFill/>
          <a:ln cap="flat" cmpd="sng" w="19050">
            <a:solidFill>
              <a:srgbClr val="0000FF"/>
            </a:solidFill>
            <a:prstDash val="solid"/>
            <a:round/>
            <a:headEnd len="med" w="med" type="none"/>
            <a:tailEnd len="med" w="med" type="none"/>
          </a:ln>
        </p:spPr>
      </p:cxnSp>
      <p:cxnSp>
        <p:nvCxnSpPr>
          <p:cNvPr id="550" name="Google Shape;550;p28"/>
          <p:cNvCxnSpPr/>
          <p:nvPr/>
        </p:nvCxnSpPr>
        <p:spPr>
          <a:xfrm>
            <a:off x="1897063" y="3738563"/>
            <a:ext cx="225425" cy="0"/>
          </a:xfrm>
          <a:prstGeom prst="straightConnector1">
            <a:avLst/>
          </a:prstGeom>
          <a:noFill/>
          <a:ln cap="flat" cmpd="sng" w="19050">
            <a:solidFill>
              <a:srgbClr val="0000FF"/>
            </a:solidFill>
            <a:prstDash val="solid"/>
            <a:round/>
            <a:headEnd len="med" w="med" type="none"/>
            <a:tailEnd len="med" w="med" type="none"/>
          </a:ln>
        </p:spPr>
      </p:cxnSp>
      <p:cxnSp>
        <p:nvCxnSpPr>
          <p:cNvPr id="551" name="Google Shape;551;p28"/>
          <p:cNvCxnSpPr/>
          <p:nvPr/>
        </p:nvCxnSpPr>
        <p:spPr>
          <a:xfrm>
            <a:off x="1274763" y="3738563"/>
            <a:ext cx="225425" cy="0"/>
          </a:xfrm>
          <a:prstGeom prst="straightConnector1">
            <a:avLst/>
          </a:prstGeom>
          <a:noFill/>
          <a:ln cap="flat" cmpd="sng" w="19050">
            <a:solidFill>
              <a:srgbClr val="0000FF"/>
            </a:solidFill>
            <a:prstDash val="solid"/>
            <a:round/>
            <a:headEnd len="med" w="med" type="none"/>
            <a:tailEnd len="med" w="med" type="none"/>
          </a:ln>
        </p:spPr>
      </p:cxnSp>
      <p:cxnSp>
        <p:nvCxnSpPr>
          <p:cNvPr id="552" name="Google Shape;552;p28"/>
          <p:cNvCxnSpPr/>
          <p:nvPr/>
        </p:nvCxnSpPr>
        <p:spPr>
          <a:xfrm>
            <a:off x="703263" y="3738563"/>
            <a:ext cx="225425" cy="0"/>
          </a:xfrm>
          <a:prstGeom prst="straightConnector1">
            <a:avLst/>
          </a:prstGeom>
          <a:noFill/>
          <a:ln cap="flat" cmpd="sng" w="19050">
            <a:solidFill>
              <a:srgbClr val="0000FF"/>
            </a:solidFill>
            <a:prstDash val="solid"/>
            <a:round/>
            <a:headEnd len="med" w="med" type="none"/>
            <a:tailEnd len="med" w="med" type="none"/>
          </a:ln>
        </p:spPr>
      </p:cxnSp>
      <p:cxnSp>
        <p:nvCxnSpPr>
          <p:cNvPr id="553" name="Google Shape;553;p28"/>
          <p:cNvCxnSpPr/>
          <p:nvPr/>
        </p:nvCxnSpPr>
        <p:spPr>
          <a:xfrm>
            <a:off x="4525963" y="3103563"/>
            <a:ext cx="187325" cy="0"/>
          </a:xfrm>
          <a:prstGeom prst="straightConnector1">
            <a:avLst/>
          </a:prstGeom>
          <a:noFill/>
          <a:ln cap="flat" cmpd="sng" w="19050">
            <a:solidFill>
              <a:schemeClr val="dk1"/>
            </a:solidFill>
            <a:prstDash val="solid"/>
            <a:round/>
            <a:headEnd len="med" w="med" type="none"/>
            <a:tailEnd len="med" w="med" type="none"/>
          </a:ln>
        </p:spPr>
      </p:cxnSp>
      <p:cxnSp>
        <p:nvCxnSpPr>
          <p:cNvPr id="554" name="Google Shape;554;p28"/>
          <p:cNvCxnSpPr/>
          <p:nvPr/>
        </p:nvCxnSpPr>
        <p:spPr>
          <a:xfrm>
            <a:off x="4500563" y="2481263"/>
            <a:ext cx="187325" cy="0"/>
          </a:xfrm>
          <a:prstGeom prst="straightConnector1">
            <a:avLst/>
          </a:prstGeom>
          <a:noFill/>
          <a:ln cap="flat" cmpd="sng" w="19050">
            <a:solidFill>
              <a:schemeClr val="dk1"/>
            </a:solidFill>
            <a:prstDash val="solid"/>
            <a:round/>
            <a:headEnd len="med" w="med" type="none"/>
            <a:tailEnd len="med" w="med" type="none"/>
          </a:ln>
        </p:spPr>
      </p:cxnSp>
      <p:grpSp>
        <p:nvGrpSpPr>
          <p:cNvPr id="555" name="Google Shape;555;p28"/>
          <p:cNvGrpSpPr/>
          <p:nvPr/>
        </p:nvGrpSpPr>
        <p:grpSpPr>
          <a:xfrm>
            <a:off x="3344863" y="3422650"/>
            <a:ext cx="74612" cy="196850"/>
            <a:chOff x="3496" y="2156"/>
            <a:chExt cx="40" cy="204"/>
          </a:xfrm>
        </p:grpSpPr>
        <p:cxnSp>
          <p:nvCxnSpPr>
            <p:cNvPr id="556" name="Google Shape;556;p28"/>
            <p:cNvCxnSpPr/>
            <p:nvPr/>
          </p:nvCxnSpPr>
          <p:spPr>
            <a:xfrm>
              <a:off x="3496" y="2156"/>
              <a:ext cx="0" cy="204"/>
            </a:xfrm>
            <a:prstGeom prst="straightConnector1">
              <a:avLst/>
            </a:prstGeom>
            <a:noFill/>
            <a:ln cap="flat" cmpd="sng" w="19050">
              <a:solidFill>
                <a:srgbClr val="FF0000"/>
              </a:solidFill>
              <a:prstDash val="solid"/>
              <a:round/>
              <a:headEnd len="med" w="med" type="none"/>
              <a:tailEnd len="med" w="med" type="none"/>
            </a:ln>
          </p:spPr>
        </p:cxnSp>
        <p:cxnSp>
          <p:nvCxnSpPr>
            <p:cNvPr id="557" name="Google Shape;557;p28"/>
            <p:cNvCxnSpPr/>
            <p:nvPr/>
          </p:nvCxnSpPr>
          <p:spPr>
            <a:xfrm>
              <a:off x="3536" y="2156"/>
              <a:ext cx="0" cy="204"/>
            </a:xfrm>
            <a:prstGeom prst="straightConnector1">
              <a:avLst/>
            </a:prstGeom>
            <a:noFill/>
            <a:ln cap="flat" cmpd="sng" w="19050">
              <a:solidFill>
                <a:srgbClr val="FF0000"/>
              </a:solidFill>
              <a:prstDash val="solid"/>
              <a:round/>
              <a:headEnd len="med" w="med" type="none"/>
              <a:tailEnd len="med" w="med" type="none"/>
            </a:ln>
          </p:spPr>
        </p:cxnSp>
      </p:grpSp>
      <p:cxnSp>
        <p:nvCxnSpPr>
          <p:cNvPr id="558" name="Google Shape;558;p28"/>
          <p:cNvCxnSpPr/>
          <p:nvPr/>
        </p:nvCxnSpPr>
        <p:spPr>
          <a:xfrm>
            <a:off x="3382963" y="3816350"/>
            <a:ext cx="0" cy="247650"/>
          </a:xfrm>
          <a:prstGeom prst="straightConnector1">
            <a:avLst/>
          </a:prstGeom>
          <a:noFill/>
          <a:ln cap="flat" cmpd="sng" w="19050">
            <a:solidFill>
              <a:srgbClr val="FF0000"/>
            </a:solidFill>
            <a:prstDash val="solid"/>
            <a:round/>
            <a:headEnd len="med" w="med" type="none"/>
            <a:tailEnd len="med" w="med" type="none"/>
          </a:ln>
        </p:spPr>
      </p:cxnSp>
      <p:cxnSp>
        <p:nvCxnSpPr>
          <p:cNvPr id="559" name="Google Shape;559;p28"/>
          <p:cNvCxnSpPr/>
          <p:nvPr/>
        </p:nvCxnSpPr>
        <p:spPr>
          <a:xfrm rot="-3459153">
            <a:off x="817562" y="3929063"/>
            <a:ext cx="225425" cy="0"/>
          </a:xfrm>
          <a:prstGeom prst="straightConnector1">
            <a:avLst/>
          </a:prstGeom>
          <a:noFill/>
          <a:ln cap="flat" cmpd="sng" w="19050">
            <a:solidFill>
              <a:srgbClr val="0000FF"/>
            </a:solidFill>
            <a:prstDash val="solid"/>
            <a:round/>
            <a:headEnd len="med" w="med" type="none"/>
            <a:tailEnd len="med" w="med" type="none"/>
          </a:ln>
        </p:spPr>
      </p:cxnSp>
      <p:cxnSp>
        <p:nvCxnSpPr>
          <p:cNvPr id="560" name="Google Shape;560;p28"/>
          <p:cNvCxnSpPr/>
          <p:nvPr/>
        </p:nvCxnSpPr>
        <p:spPr>
          <a:xfrm rot="3459153">
            <a:off x="792162" y="3497263"/>
            <a:ext cx="225425" cy="0"/>
          </a:xfrm>
          <a:prstGeom prst="straightConnector1">
            <a:avLst/>
          </a:prstGeom>
          <a:noFill/>
          <a:ln cap="flat" cmpd="sng" w="19050">
            <a:solidFill>
              <a:srgbClr val="0000FF"/>
            </a:solidFill>
            <a:prstDash val="solid"/>
            <a:round/>
            <a:headEnd len="med" w="med" type="none"/>
            <a:tailEnd len="med" w="med" type="none"/>
          </a:ln>
        </p:spPr>
      </p:cxnSp>
      <p:sp>
        <p:nvSpPr>
          <p:cNvPr id="561" name="Google Shape;561;p28"/>
          <p:cNvSpPr txBox="1"/>
          <p:nvPr/>
        </p:nvSpPr>
        <p:spPr>
          <a:xfrm>
            <a:off x="7213600" y="1828800"/>
            <a:ext cx="9048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palmitate</a:t>
            </a:r>
            <a:endParaRPr sz="1800">
              <a:solidFill>
                <a:srgbClr val="009900"/>
              </a:solidFill>
              <a:latin typeface="Calibri"/>
              <a:ea typeface="Calibri"/>
              <a:cs typeface="Calibri"/>
              <a:sym typeface="Calibri"/>
            </a:endParaRPr>
          </a:p>
        </p:txBody>
      </p:sp>
      <p:sp>
        <p:nvSpPr>
          <p:cNvPr id="562" name="Google Shape;562;p28"/>
          <p:cNvSpPr txBox="1"/>
          <p:nvPr/>
        </p:nvSpPr>
        <p:spPr>
          <a:xfrm>
            <a:off x="7302500" y="3759200"/>
            <a:ext cx="668338"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9900"/>
                </a:solidFill>
                <a:latin typeface="Calibri"/>
                <a:ea typeface="Calibri"/>
                <a:cs typeface="Calibri"/>
                <a:sym typeface="Calibri"/>
              </a:rPr>
              <a:t>oleate</a:t>
            </a:r>
            <a:endParaRPr sz="1800">
              <a:solidFill>
                <a:srgbClr val="009900"/>
              </a:solidFill>
              <a:latin typeface="Calibri"/>
              <a:ea typeface="Calibri"/>
              <a:cs typeface="Calibri"/>
              <a:sym typeface="Calibri"/>
            </a:endParaRPr>
          </a:p>
        </p:txBody>
      </p:sp>
      <p:sp>
        <p:nvSpPr>
          <p:cNvPr id="563" name="Google Shape;563;p28"/>
          <p:cNvSpPr txBox="1"/>
          <p:nvPr/>
        </p:nvSpPr>
        <p:spPr>
          <a:xfrm>
            <a:off x="2981325" y="5548313"/>
            <a:ext cx="2955925" cy="396875"/>
          </a:xfrm>
          <a:prstGeom prst="rect">
            <a:avLst/>
          </a:prstGeom>
          <a:noFill/>
          <a:ln>
            <a:noFill/>
          </a:ln>
        </p:spPr>
        <p:txBody>
          <a:bodyPr anchorCtr="0" anchor="t" bIns="45700" lIns="91425" spcFirstLastPara="1" rIns="91425" wrap="square" tIns="45700">
            <a:spAutoFit/>
          </a:bodyPr>
          <a:lstStyle/>
          <a:p>
            <a:pPr indent="-127000" lvl="0" marL="0" marR="0" rtl="0" algn="l">
              <a:spcBef>
                <a:spcPts val="0"/>
              </a:spcBef>
              <a:spcAft>
                <a:spcPts val="0"/>
              </a:spcAft>
              <a:buClr>
                <a:schemeClr val="dk1"/>
              </a:buClr>
              <a:buSzPts val="2000"/>
              <a:buFont typeface="Noto Sans Symbols"/>
              <a:buChar char="⮚"/>
            </a:pPr>
            <a:r>
              <a:rPr i="1" lang="fr-FR" sz="2000">
                <a:solidFill>
                  <a:schemeClr val="dk1"/>
                </a:solidFill>
                <a:latin typeface="Calibri"/>
                <a:ea typeface="Calibri"/>
                <a:cs typeface="Calibri"/>
                <a:sym typeface="Calibri"/>
              </a:rPr>
              <a:t> la phosphatidylcholine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29"/>
          <p:cNvSpPr/>
          <p:nvPr/>
        </p:nvSpPr>
        <p:spPr>
          <a:xfrm>
            <a:off x="1485900" y="4356100"/>
            <a:ext cx="6261100" cy="2298700"/>
          </a:xfrm>
          <a:prstGeom prst="rect">
            <a:avLst/>
          </a:prstGeom>
          <a:solidFill>
            <a:schemeClr val="lt1"/>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29"/>
          <p:cNvSpPr txBox="1"/>
          <p:nvPr>
            <p:ph type="title"/>
          </p:nvPr>
        </p:nvSpPr>
        <p:spPr>
          <a:xfrm>
            <a:off x="0" y="342900"/>
            <a:ext cx="9144000" cy="914400"/>
          </a:xfrm>
          <a:prstGeom prst="rect">
            <a:avLst/>
          </a:prstGeom>
          <a:solidFill>
            <a:schemeClr val="lt1"/>
          </a:solid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b="1" lang="fr-FR" sz="2400">
                <a:latin typeface="Arial"/>
                <a:ea typeface="Arial"/>
                <a:cs typeface="Arial"/>
                <a:sym typeface="Arial"/>
              </a:rPr>
              <a:t>La diversité des phospholipides résulte de l’association de têtes polaires différentes...</a:t>
            </a:r>
            <a:r>
              <a:rPr b="1" lang="fr-FR">
                <a:latin typeface="Arial"/>
                <a:ea typeface="Arial"/>
                <a:cs typeface="Arial"/>
                <a:sym typeface="Arial"/>
              </a:rPr>
              <a:t> </a:t>
            </a:r>
            <a:endParaRPr>
              <a:latin typeface="Arial"/>
              <a:ea typeface="Arial"/>
              <a:cs typeface="Arial"/>
              <a:sym typeface="Arial"/>
            </a:endParaRPr>
          </a:p>
        </p:txBody>
      </p:sp>
      <p:sp>
        <p:nvSpPr>
          <p:cNvPr id="571" name="Google Shape;571;p29"/>
          <p:cNvSpPr txBox="1"/>
          <p:nvPr/>
        </p:nvSpPr>
        <p:spPr>
          <a:xfrm>
            <a:off x="2709336" y="3752610"/>
            <a:ext cx="747713"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00FF"/>
                </a:solidFill>
                <a:latin typeface="Calibri"/>
                <a:ea typeface="Calibri"/>
                <a:cs typeface="Calibri"/>
                <a:sym typeface="Calibri"/>
              </a:rPr>
              <a:t>choline</a:t>
            </a:r>
            <a:endParaRPr sz="1800">
              <a:solidFill>
                <a:srgbClr val="FF0000"/>
              </a:solidFill>
              <a:latin typeface="Calibri"/>
              <a:ea typeface="Calibri"/>
              <a:cs typeface="Calibri"/>
              <a:sym typeface="Calibri"/>
            </a:endParaRPr>
          </a:p>
        </p:txBody>
      </p:sp>
      <p:grpSp>
        <p:nvGrpSpPr>
          <p:cNvPr id="572" name="Google Shape;572;p29"/>
          <p:cNvGrpSpPr/>
          <p:nvPr/>
        </p:nvGrpSpPr>
        <p:grpSpPr>
          <a:xfrm>
            <a:off x="1429811" y="2846266"/>
            <a:ext cx="3009900" cy="1123950"/>
            <a:chOff x="251" y="2130"/>
            <a:chExt cx="1896" cy="708"/>
          </a:xfrm>
        </p:grpSpPr>
        <p:sp>
          <p:nvSpPr>
            <p:cNvPr id="573" name="Google Shape;573;p29"/>
            <p:cNvSpPr txBox="1"/>
            <p:nvPr/>
          </p:nvSpPr>
          <p:spPr>
            <a:xfrm>
              <a:off x="1419" y="2393"/>
              <a:ext cx="35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CH</a:t>
              </a:r>
              <a:r>
                <a:rPr b="1" baseline="-25000" lang="fr-FR" sz="1600">
                  <a:solidFill>
                    <a:srgbClr val="0000FF"/>
                  </a:solidFill>
                  <a:latin typeface="Calibri"/>
                  <a:ea typeface="Calibri"/>
                  <a:cs typeface="Calibri"/>
                  <a:sym typeface="Calibri"/>
                </a:rPr>
                <a:t>2</a:t>
              </a:r>
              <a:endParaRPr/>
            </a:p>
          </p:txBody>
        </p:sp>
        <p:sp>
          <p:nvSpPr>
            <p:cNvPr id="574" name="Google Shape;574;p29"/>
            <p:cNvSpPr txBox="1"/>
            <p:nvPr/>
          </p:nvSpPr>
          <p:spPr>
            <a:xfrm>
              <a:off x="1019" y="2393"/>
              <a:ext cx="35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CH</a:t>
              </a:r>
              <a:r>
                <a:rPr b="1" baseline="-25000" lang="fr-FR" sz="1600">
                  <a:solidFill>
                    <a:srgbClr val="0000FF"/>
                  </a:solidFill>
                  <a:latin typeface="Calibri"/>
                  <a:ea typeface="Calibri"/>
                  <a:cs typeface="Calibri"/>
                  <a:sym typeface="Calibri"/>
                </a:rPr>
                <a:t>2</a:t>
              </a:r>
              <a:endParaRPr/>
            </a:p>
          </p:txBody>
        </p:sp>
        <p:sp>
          <p:nvSpPr>
            <p:cNvPr id="575" name="Google Shape;575;p29"/>
            <p:cNvSpPr txBox="1"/>
            <p:nvPr/>
          </p:nvSpPr>
          <p:spPr>
            <a:xfrm>
              <a:off x="251" y="2393"/>
              <a:ext cx="35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r>
                <a:rPr b="1" baseline="-25000" lang="fr-FR" sz="1600">
                  <a:solidFill>
                    <a:srgbClr val="0000FF"/>
                  </a:solidFill>
                  <a:latin typeface="Calibri"/>
                  <a:ea typeface="Calibri"/>
                  <a:cs typeface="Calibri"/>
                  <a:sym typeface="Calibri"/>
                </a:rPr>
                <a:t>3</a:t>
              </a:r>
              <a:r>
                <a:rPr b="1" lang="fr-FR" sz="1600">
                  <a:solidFill>
                    <a:srgbClr val="0000FF"/>
                  </a:solidFill>
                  <a:latin typeface="Calibri"/>
                  <a:ea typeface="Calibri"/>
                  <a:cs typeface="Calibri"/>
                  <a:sym typeface="Calibri"/>
                </a:rPr>
                <a:t>C</a:t>
              </a:r>
              <a:endParaRPr/>
            </a:p>
          </p:txBody>
        </p:sp>
        <p:sp>
          <p:nvSpPr>
            <p:cNvPr id="576" name="Google Shape;576;p29"/>
            <p:cNvSpPr txBox="1"/>
            <p:nvPr/>
          </p:nvSpPr>
          <p:spPr>
            <a:xfrm>
              <a:off x="1839" y="2393"/>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OH</a:t>
              </a:r>
              <a:endParaRPr b="1" sz="1600">
                <a:solidFill>
                  <a:srgbClr val="009900"/>
                </a:solidFill>
                <a:latin typeface="Calibri"/>
                <a:ea typeface="Calibri"/>
                <a:cs typeface="Calibri"/>
                <a:sym typeface="Calibri"/>
              </a:endParaRPr>
            </a:p>
          </p:txBody>
        </p:sp>
        <p:sp>
          <p:nvSpPr>
            <p:cNvPr id="577" name="Google Shape;577;p29"/>
            <p:cNvSpPr txBox="1"/>
            <p:nvPr/>
          </p:nvSpPr>
          <p:spPr>
            <a:xfrm>
              <a:off x="687" y="2393"/>
              <a:ext cx="260"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N</a:t>
              </a:r>
              <a:r>
                <a:rPr b="1" baseline="30000" lang="fr-FR" sz="1600">
                  <a:solidFill>
                    <a:srgbClr val="0000FF"/>
                  </a:solidFill>
                  <a:latin typeface="Calibri"/>
                  <a:ea typeface="Calibri"/>
                  <a:cs typeface="Calibri"/>
                  <a:sym typeface="Calibri"/>
                </a:rPr>
                <a:t>+</a:t>
              </a:r>
              <a:endParaRPr b="1" sz="1600">
                <a:solidFill>
                  <a:srgbClr val="0000FF"/>
                </a:solidFill>
                <a:latin typeface="Calibri"/>
                <a:ea typeface="Calibri"/>
                <a:cs typeface="Calibri"/>
                <a:sym typeface="Calibri"/>
              </a:endParaRPr>
            </a:p>
          </p:txBody>
        </p:sp>
        <p:sp>
          <p:nvSpPr>
            <p:cNvPr id="578" name="Google Shape;578;p29"/>
            <p:cNvSpPr txBox="1"/>
            <p:nvPr/>
          </p:nvSpPr>
          <p:spPr>
            <a:xfrm>
              <a:off x="339" y="2626"/>
              <a:ext cx="35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r>
                <a:rPr b="1" baseline="-25000" lang="fr-FR" sz="1600">
                  <a:solidFill>
                    <a:srgbClr val="0000FF"/>
                  </a:solidFill>
                  <a:latin typeface="Calibri"/>
                  <a:ea typeface="Calibri"/>
                  <a:cs typeface="Calibri"/>
                  <a:sym typeface="Calibri"/>
                </a:rPr>
                <a:t>3</a:t>
              </a:r>
              <a:r>
                <a:rPr b="1" lang="fr-FR" sz="1600">
                  <a:solidFill>
                    <a:srgbClr val="0000FF"/>
                  </a:solidFill>
                  <a:latin typeface="Calibri"/>
                  <a:ea typeface="Calibri"/>
                  <a:cs typeface="Calibri"/>
                  <a:sym typeface="Calibri"/>
                </a:rPr>
                <a:t>C</a:t>
              </a:r>
              <a:endParaRPr/>
            </a:p>
          </p:txBody>
        </p:sp>
        <p:sp>
          <p:nvSpPr>
            <p:cNvPr id="579" name="Google Shape;579;p29"/>
            <p:cNvSpPr txBox="1"/>
            <p:nvPr/>
          </p:nvSpPr>
          <p:spPr>
            <a:xfrm>
              <a:off x="331" y="2130"/>
              <a:ext cx="35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r>
                <a:rPr b="1" baseline="-25000" lang="fr-FR" sz="1600">
                  <a:solidFill>
                    <a:srgbClr val="0000FF"/>
                  </a:solidFill>
                  <a:latin typeface="Calibri"/>
                  <a:ea typeface="Calibri"/>
                  <a:cs typeface="Calibri"/>
                  <a:sym typeface="Calibri"/>
                </a:rPr>
                <a:t>3</a:t>
              </a:r>
              <a:r>
                <a:rPr b="1" lang="fr-FR" sz="1600">
                  <a:solidFill>
                    <a:srgbClr val="0000FF"/>
                  </a:solidFill>
                  <a:latin typeface="Calibri"/>
                  <a:ea typeface="Calibri"/>
                  <a:cs typeface="Calibri"/>
                  <a:sym typeface="Calibri"/>
                </a:rPr>
                <a:t>C</a:t>
              </a:r>
              <a:endParaRPr/>
            </a:p>
          </p:txBody>
        </p:sp>
        <p:cxnSp>
          <p:nvCxnSpPr>
            <p:cNvPr id="580" name="Google Shape;580;p29"/>
            <p:cNvCxnSpPr/>
            <p:nvPr/>
          </p:nvCxnSpPr>
          <p:spPr>
            <a:xfrm>
              <a:off x="1715" y="2499"/>
              <a:ext cx="142" cy="0"/>
            </a:xfrm>
            <a:prstGeom prst="straightConnector1">
              <a:avLst/>
            </a:prstGeom>
            <a:noFill/>
            <a:ln cap="flat" cmpd="sng" w="19050">
              <a:solidFill>
                <a:srgbClr val="0000FF"/>
              </a:solidFill>
              <a:prstDash val="solid"/>
              <a:round/>
              <a:headEnd len="med" w="med" type="none"/>
              <a:tailEnd len="med" w="med" type="none"/>
            </a:ln>
          </p:spPr>
        </p:cxnSp>
        <p:cxnSp>
          <p:nvCxnSpPr>
            <p:cNvPr id="581" name="Google Shape;581;p29"/>
            <p:cNvCxnSpPr/>
            <p:nvPr/>
          </p:nvCxnSpPr>
          <p:spPr>
            <a:xfrm>
              <a:off x="1307" y="2499"/>
              <a:ext cx="142" cy="0"/>
            </a:xfrm>
            <a:prstGeom prst="straightConnector1">
              <a:avLst/>
            </a:prstGeom>
            <a:noFill/>
            <a:ln cap="flat" cmpd="sng" w="19050">
              <a:solidFill>
                <a:srgbClr val="0000FF"/>
              </a:solidFill>
              <a:prstDash val="solid"/>
              <a:round/>
              <a:headEnd len="med" w="med" type="none"/>
              <a:tailEnd len="med" w="med" type="none"/>
            </a:ln>
          </p:spPr>
        </p:cxnSp>
        <p:cxnSp>
          <p:nvCxnSpPr>
            <p:cNvPr id="582" name="Google Shape;582;p29"/>
            <p:cNvCxnSpPr/>
            <p:nvPr/>
          </p:nvCxnSpPr>
          <p:spPr>
            <a:xfrm>
              <a:off x="915" y="2499"/>
              <a:ext cx="142" cy="0"/>
            </a:xfrm>
            <a:prstGeom prst="straightConnector1">
              <a:avLst/>
            </a:prstGeom>
            <a:noFill/>
            <a:ln cap="flat" cmpd="sng" w="19050">
              <a:solidFill>
                <a:srgbClr val="0000FF"/>
              </a:solidFill>
              <a:prstDash val="solid"/>
              <a:round/>
              <a:headEnd len="med" w="med" type="none"/>
              <a:tailEnd len="med" w="med" type="none"/>
            </a:ln>
          </p:spPr>
        </p:cxnSp>
        <p:cxnSp>
          <p:nvCxnSpPr>
            <p:cNvPr id="583" name="Google Shape;583;p29"/>
            <p:cNvCxnSpPr/>
            <p:nvPr/>
          </p:nvCxnSpPr>
          <p:spPr>
            <a:xfrm>
              <a:off x="555" y="2499"/>
              <a:ext cx="142" cy="0"/>
            </a:xfrm>
            <a:prstGeom prst="straightConnector1">
              <a:avLst/>
            </a:prstGeom>
            <a:noFill/>
            <a:ln cap="flat" cmpd="sng" w="19050">
              <a:solidFill>
                <a:srgbClr val="0000FF"/>
              </a:solidFill>
              <a:prstDash val="solid"/>
              <a:round/>
              <a:headEnd len="med" w="med" type="none"/>
              <a:tailEnd len="med" w="med" type="none"/>
            </a:ln>
          </p:spPr>
        </p:cxnSp>
        <p:cxnSp>
          <p:nvCxnSpPr>
            <p:cNvPr id="584" name="Google Shape;584;p29"/>
            <p:cNvCxnSpPr/>
            <p:nvPr/>
          </p:nvCxnSpPr>
          <p:spPr>
            <a:xfrm rot="-3459153">
              <a:off x="627" y="2619"/>
              <a:ext cx="142" cy="0"/>
            </a:xfrm>
            <a:prstGeom prst="straightConnector1">
              <a:avLst/>
            </a:prstGeom>
            <a:noFill/>
            <a:ln cap="flat" cmpd="sng" w="19050">
              <a:solidFill>
                <a:srgbClr val="0000FF"/>
              </a:solidFill>
              <a:prstDash val="solid"/>
              <a:round/>
              <a:headEnd len="med" w="med" type="none"/>
              <a:tailEnd len="med" w="med" type="none"/>
            </a:ln>
          </p:spPr>
        </p:cxnSp>
        <p:cxnSp>
          <p:nvCxnSpPr>
            <p:cNvPr id="585" name="Google Shape;585;p29"/>
            <p:cNvCxnSpPr/>
            <p:nvPr/>
          </p:nvCxnSpPr>
          <p:spPr>
            <a:xfrm rot="3459153">
              <a:off x="611" y="2347"/>
              <a:ext cx="142" cy="0"/>
            </a:xfrm>
            <a:prstGeom prst="straightConnector1">
              <a:avLst/>
            </a:prstGeom>
            <a:noFill/>
            <a:ln cap="flat" cmpd="sng" w="19050">
              <a:solidFill>
                <a:srgbClr val="0000FF"/>
              </a:solidFill>
              <a:prstDash val="solid"/>
              <a:round/>
              <a:headEnd len="med" w="med" type="none"/>
              <a:tailEnd len="med" w="med" type="none"/>
            </a:ln>
          </p:spPr>
        </p:cxnSp>
      </p:grpSp>
      <p:sp>
        <p:nvSpPr>
          <p:cNvPr id="586" name="Google Shape;586;p29"/>
          <p:cNvSpPr txBox="1"/>
          <p:nvPr/>
        </p:nvSpPr>
        <p:spPr>
          <a:xfrm>
            <a:off x="1301224" y="1993901"/>
            <a:ext cx="120161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00FF"/>
                </a:solidFill>
                <a:latin typeface="Calibri"/>
                <a:ea typeface="Calibri"/>
                <a:cs typeface="Calibri"/>
                <a:sym typeface="Calibri"/>
              </a:rPr>
              <a:t>éthanolamine</a:t>
            </a:r>
            <a:endParaRPr sz="1800">
              <a:solidFill>
                <a:srgbClr val="FF0000"/>
              </a:solidFill>
              <a:latin typeface="Calibri"/>
              <a:ea typeface="Calibri"/>
              <a:cs typeface="Calibri"/>
              <a:sym typeface="Calibri"/>
            </a:endParaRPr>
          </a:p>
        </p:txBody>
      </p:sp>
      <p:grpSp>
        <p:nvGrpSpPr>
          <p:cNvPr id="587" name="Google Shape;587;p29"/>
          <p:cNvGrpSpPr/>
          <p:nvPr/>
        </p:nvGrpSpPr>
        <p:grpSpPr>
          <a:xfrm>
            <a:off x="736074" y="1555751"/>
            <a:ext cx="2520950" cy="336550"/>
            <a:chOff x="503" y="1513"/>
            <a:chExt cx="1588" cy="212"/>
          </a:xfrm>
        </p:grpSpPr>
        <p:sp>
          <p:nvSpPr>
            <p:cNvPr id="588" name="Google Shape;588;p29"/>
            <p:cNvSpPr txBox="1"/>
            <p:nvPr/>
          </p:nvSpPr>
          <p:spPr>
            <a:xfrm>
              <a:off x="1363" y="1513"/>
              <a:ext cx="35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CH</a:t>
              </a:r>
              <a:r>
                <a:rPr b="1" baseline="-25000" lang="fr-FR" sz="1600">
                  <a:solidFill>
                    <a:srgbClr val="0000FF"/>
                  </a:solidFill>
                  <a:latin typeface="Calibri"/>
                  <a:ea typeface="Calibri"/>
                  <a:cs typeface="Calibri"/>
                  <a:sym typeface="Calibri"/>
                </a:rPr>
                <a:t>2</a:t>
              </a:r>
              <a:endParaRPr/>
            </a:p>
          </p:txBody>
        </p:sp>
        <p:sp>
          <p:nvSpPr>
            <p:cNvPr id="589" name="Google Shape;589;p29"/>
            <p:cNvSpPr txBox="1"/>
            <p:nvPr/>
          </p:nvSpPr>
          <p:spPr>
            <a:xfrm>
              <a:off x="963" y="1513"/>
              <a:ext cx="35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CH</a:t>
              </a:r>
              <a:r>
                <a:rPr b="1" baseline="-25000" lang="fr-FR" sz="1600">
                  <a:solidFill>
                    <a:srgbClr val="0000FF"/>
                  </a:solidFill>
                  <a:latin typeface="Calibri"/>
                  <a:ea typeface="Calibri"/>
                  <a:cs typeface="Calibri"/>
                  <a:sym typeface="Calibri"/>
                </a:rPr>
                <a:t>2</a:t>
              </a:r>
              <a:endParaRPr/>
            </a:p>
          </p:txBody>
        </p:sp>
        <p:sp>
          <p:nvSpPr>
            <p:cNvPr id="590" name="Google Shape;590;p29"/>
            <p:cNvSpPr txBox="1"/>
            <p:nvPr/>
          </p:nvSpPr>
          <p:spPr>
            <a:xfrm>
              <a:off x="1783" y="1513"/>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OH</a:t>
              </a:r>
              <a:endParaRPr b="1" sz="1600">
                <a:solidFill>
                  <a:srgbClr val="009900"/>
                </a:solidFill>
                <a:latin typeface="Calibri"/>
                <a:ea typeface="Calibri"/>
                <a:cs typeface="Calibri"/>
                <a:sym typeface="Calibri"/>
              </a:endParaRPr>
            </a:p>
          </p:txBody>
        </p:sp>
        <p:sp>
          <p:nvSpPr>
            <p:cNvPr id="591" name="Google Shape;591;p29"/>
            <p:cNvSpPr txBox="1"/>
            <p:nvPr/>
          </p:nvSpPr>
          <p:spPr>
            <a:xfrm>
              <a:off x="503" y="1513"/>
              <a:ext cx="401"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r>
                <a:rPr b="1" baseline="-25000" lang="fr-FR" sz="1600">
                  <a:solidFill>
                    <a:srgbClr val="0000FF"/>
                  </a:solidFill>
                  <a:latin typeface="Calibri"/>
                  <a:ea typeface="Calibri"/>
                  <a:cs typeface="Calibri"/>
                  <a:sym typeface="Calibri"/>
                </a:rPr>
                <a:t>3</a:t>
              </a:r>
              <a:r>
                <a:rPr b="1" lang="fr-FR" sz="1600">
                  <a:solidFill>
                    <a:srgbClr val="0000FF"/>
                  </a:solidFill>
                  <a:latin typeface="Calibri"/>
                  <a:ea typeface="Calibri"/>
                  <a:cs typeface="Calibri"/>
                  <a:sym typeface="Calibri"/>
                </a:rPr>
                <a:t>N</a:t>
              </a:r>
              <a:r>
                <a:rPr b="1" baseline="30000" lang="fr-FR" sz="1600">
                  <a:solidFill>
                    <a:srgbClr val="0000FF"/>
                  </a:solidFill>
                  <a:latin typeface="Calibri"/>
                  <a:ea typeface="Calibri"/>
                  <a:cs typeface="Calibri"/>
                  <a:sym typeface="Calibri"/>
                </a:rPr>
                <a:t>+</a:t>
              </a:r>
              <a:endParaRPr/>
            </a:p>
          </p:txBody>
        </p:sp>
        <p:cxnSp>
          <p:nvCxnSpPr>
            <p:cNvPr id="592" name="Google Shape;592;p29"/>
            <p:cNvCxnSpPr/>
            <p:nvPr/>
          </p:nvCxnSpPr>
          <p:spPr>
            <a:xfrm>
              <a:off x="1659" y="1619"/>
              <a:ext cx="142" cy="0"/>
            </a:xfrm>
            <a:prstGeom prst="straightConnector1">
              <a:avLst/>
            </a:prstGeom>
            <a:noFill/>
            <a:ln cap="flat" cmpd="sng" w="19050">
              <a:solidFill>
                <a:srgbClr val="0000FF"/>
              </a:solidFill>
              <a:prstDash val="solid"/>
              <a:round/>
              <a:headEnd len="med" w="med" type="none"/>
              <a:tailEnd len="med" w="med" type="none"/>
            </a:ln>
          </p:spPr>
        </p:cxnSp>
        <p:cxnSp>
          <p:nvCxnSpPr>
            <p:cNvPr id="593" name="Google Shape;593;p29"/>
            <p:cNvCxnSpPr/>
            <p:nvPr/>
          </p:nvCxnSpPr>
          <p:spPr>
            <a:xfrm>
              <a:off x="1251" y="1619"/>
              <a:ext cx="142" cy="0"/>
            </a:xfrm>
            <a:prstGeom prst="straightConnector1">
              <a:avLst/>
            </a:prstGeom>
            <a:noFill/>
            <a:ln cap="flat" cmpd="sng" w="19050">
              <a:solidFill>
                <a:srgbClr val="0000FF"/>
              </a:solidFill>
              <a:prstDash val="solid"/>
              <a:round/>
              <a:headEnd len="med" w="med" type="none"/>
              <a:tailEnd len="med" w="med" type="none"/>
            </a:ln>
          </p:spPr>
        </p:cxnSp>
        <p:cxnSp>
          <p:nvCxnSpPr>
            <p:cNvPr id="594" name="Google Shape;594;p29"/>
            <p:cNvCxnSpPr/>
            <p:nvPr/>
          </p:nvCxnSpPr>
          <p:spPr>
            <a:xfrm>
              <a:off x="859" y="1619"/>
              <a:ext cx="142" cy="0"/>
            </a:xfrm>
            <a:prstGeom prst="straightConnector1">
              <a:avLst/>
            </a:prstGeom>
            <a:noFill/>
            <a:ln cap="flat" cmpd="sng" w="19050">
              <a:solidFill>
                <a:srgbClr val="0000FF"/>
              </a:solidFill>
              <a:prstDash val="solid"/>
              <a:round/>
              <a:headEnd len="med" w="med" type="none"/>
              <a:tailEnd len="med" w="med" type="none"/>
            </a:ln>
          </p:spPr>
        </p:cxnSp>
      </p:grpSp>
      <p:sp>
        <p:nvSpPr>
          <p:cNvPr id="595" name="Google Shape;595;p29"/>
          <p:cNvSpPr txBox="1"/>
          <p:nvPr/>
        </p:nvSpPr>
        <p:spPr>
          <a:xfrm>
            <a:off x="4710113" y="2374900"/>
            <a:ext cx="668337"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00FF"/>
                </a:solidFill>
                <a:latin typeface="Calibri"/>
                <a:ea typeface="Calibri"/>
                <a:cs typeface="Calibri"/>
                <a:sym typeface="Calibri"/>
              </a:rPr>
              <a:t>serine</a:t>
            </a:r>
            <a:endParaRPr sz="1800">
              <a:solidFill>
                <a:srgbClr val="FF0000"/>
              </a:solidFill>
              <a:latin typeface="Calibri"/>
              <a:ea typeface="Calibri"/>
              <a:cs typeface="Calibri"/>
              <a:sym typeface="Calibri"/>
            </a:endParaRPr>
          </a:p>
        </p:txBody>
      </p:sp>
      <p:grpSp>
        <p:nvGrpSpPr>
          <p:cNvPr id="596" name="Google Shape;596;p29"/>
          <p:cNvGrpSpPr/>
          <p:nvPr/>
        </p:nvGrpSpPr>
        <p:grpSpPr>
          <a:xfrm>
            <a:off x="3833813" y="1423988"/>
            <a:ext cx="2419350" cy="1000125"/>
            <a:chOff x="2415" y="897"/>
            <a:chExt cx="1524" cy="630"/>
          </a:xfrm>
        </p:grpSpPr>
        <p:sp>
          <p:nvSpPr>
            <p:cNvPr id="597" name="Google Shape;597;p29"/>
            <p:cNvSpPr txBox="1"/>
            <p:nvPr/>
          </p:nvSpPr>
          <p:spPr>
            <a:xfrm>
              <a:off x="2915" y="1161"/>
              <a:ext cx="213" cy="3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CH</a:t>
              </a:r>
              <a:endParaRPr b="1" baseline="-25000" sz="1600">
                <a:solidFill>
                  <a:srgbClr val="0000FF"/>
                </a:solidFill>
                <a:latin typeface="Calibri"/>
                <a:ea typeface="Calibri"/>
                <a:cs typeface="Calibri"/>
                <a:sym typeface="Calibri"/>
              </a:endParaRPr>
            </a:p>
          </p:txBody>
        </p:sp>
        <p:sp>
          <p:nvSpPr>
            <p:cNvPr id="598" name="Google Shape;598;p29"/>
            <p:cNvSpPr txBox="1"/>
            <p:nvPr/>
          </p:nvSpPr>
          <p:spPr>
            <a:xfrm>
              <a:off x="3195" y="1161"/>
              <a:ext cx="35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CH</a:t>
              </a:r>
              <a:r>
                <a:rPr b="1" baseline="-25000" lang="fr-FR" sz="1600">
                  <a:solidFill>
                    <a:srgbClr val="0000FF"/>
                  </a:solidFill>
                  <a:latin typeface="Calibri"/>
                  <a:ea typeface="Calibri"/>
                  <a:cs typeface="Calibri"/>
                  <a:sym typeface="Calibri"/>
                </a:rPr>
                <a:t>2</a:t>
              </a:r>
              <a:endParaRPr/>
            </a:p>
          </p:txBody>
        </p:sp>
        <p:sp>
          <p:nvSpPr>
            <p:cNvPr id="599" name="Google Shape;599;p29"/>
            <p:cNvSpPr txBox="1"/>
            <p:nvPr/>
          </p:nvSpPr>
          <p:spPr>
            <a:xfrm>
              <a:off x="3631" y="1161"/>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OH</a:t>
              </a:r>
              <a:endParaRPr b="1" sz="1600">
                <a:solidFill>
                  <a:srgbClr val="009900"/>
                </a:solidFill>
                <a:latin typeface="Calibri"/>
                <a:ea typeface="Calibri"/>
                <a:cs typeface="Calibri"/>
                <a:sym typeface="Calibri"/>
              </a:endParaRPr>
            </a:p>
          </p:txBody>
        </p:sp>
        <p:sp>
          <p:nvSpPr>
            <p:cNvPr id="600" name="Google Shape;600;p29"/>
            <p:cNvSpPr txBox="1"/>
            <p:nvPr/>
          </p:nvSpPr>
          <p:spPr>
            <a:xfrm>
              <a:off x="2415" y="1161"/>
              <a:ext cx="437"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baseline="30000" lang="fr-FR" sz="1600">
                  <a:solidFill>
                    <a:srgbClr val="0000FF"/>
                  </a:solidFill>
                  <a:latin typeface="Calibri"/>
                  <a:ea typeface="Calibri"/>
                  <a:cs typeface="Calibri"/>
                  <a:sym typeface="Calibri"/>
                </a:rPr>
                <a:t>-</a:t>
              </a:r>
              <a:r>
                <a:rPr b="1" lang="fr-FR" sz="1600">
                  <a:solidFill>
                    <a:srgbClr val="0000FF"/>
                  </a:solidFill>
                  <a:latin typeface="Calibri"/>
                  <a:ea typeface="Calibri"/>
                  <a:cs typeface="Calibri"/>
                  <a:sym typeface="Calibri"/>
                </a:rPr>
                <a:t>OOC</a:t>
              </a:r>
              <a:endParaRPr b="1" baseline="30000" sz="1600">
                <a:solidFill>
                  <a:srgbClr val="0000FF"/>
                </a:solidFill>
                <a:latin typeface="Calibri"/>
                <a:ea typeface="Calibri"/>
                <a:cs typeface="Calibri"/>
                <a:sym typeface="Calibri"/>
              </a:endParaRPr>
            </a:p>
          </p:txBody>
        </p:sp>
        <p:cxnSp>
          <p:nvCxnSpPr>
            <p:cNvPr id="601" name="Google Shape;601;p29"/>
            <p:cNvCxnSpPr/>
            <p:nvPr/>
          </p:nvCxnSpPr>
          <p:spPr>
            <a:xfrm>
              <a:off x="3507" y="1267"/>
              <a:ext cx="142" cy="0"/>
            </a:xfrm>
            <a:prstGeom prst="straightConnector1">
              <a:avLst/>
            </a:prstGeom>
            <a:noFill/>
            <a:ln cap="flat" cmpd="sng" w="19050">
              <a:solidFill>
                <a:srgbClr val="0000FF"/>
              </a:solidFill>
              <a:prstDash val="solid"/>
              <a:round/>
              <a:headEnd len="med" w="med" type="none"/>
              <a:tailEnd len="med" w="med" type="none"/>
            </a:ln>
          </p:spPr>
        </p:cxnSp>
        <p:cxnSp>
          <p:nvCxnSpPr>
            <p:cNvPr id="602" name="Google Shape;602;p29"/>
            <p:cNvCxnSpPr/>
            <p:nvPr/>
          </p:nvCxnSpPr>
          <p:spPr>
            <a:xfrm>
              <a:off x="3099" y="1267"/>
              <a:ext cx="142" cy="0"/>
            </a:xfrm>
            <a:prstGeom prst="straightConnector1">
              <a:avLst/>
            </a:prstGeom>
            <a:noFill/>
            <a:ln cap="flat" cmpd="sng" w="19050">
              <a:solidFill>
                <a:srgbClr val="0000FF"/>
              </a:solidFill>
              <a:prstDash val="solid"/>
              <a:round/>
              <a:headEnd len="med" w="med" type="none"/>
              <a:tailEnd len="med" w="med" type="none"/>
            </a:ln>
          </p:spPr>
        </p:cxnSp>
        <p:cxnSp>
          <p:nvCxnSpPr>
            <p:cNvPr id="603" name="Google Shape;603;p29"/>
            <p:cNvCxnSpPr/>
            <p:nvPr/>
          </p:nvCxnSpPr>
          <p:spPr>
            <a:xfrm>
              <a:off x="2811" y="1267"/>
              <a:ext cx="142" cy="0"/>
            </a:xfrm>
            <a:prstGeom prst="straightConnector1">
              <a:avLst/>
            </a:prstGeom>
            <a:noFill/>
            <a:ln cap="flat" cmpd="sng" w="19050">
              <a:solidFill>
                <a:srgbClr val="0000FF"/>
              </a:solidFill>
              <a:prstDash val="solid"/>
              <a:round/>
              <a:headEnd len="med" w="med" type="none"/>
              <a:tailEnd len="med" w="med" type="none"/>
            </a:ln>
          </p:spPr>
        </p:cxnSp>
        <p:sp>
          <p:nvSpPr>
            <p:cNvPr id="604" name="Google Shape;604;p29"/>
            <p:cNvSpPr txBox="1"/>
            <p:nvPr/>
          </p:nvSpPr>
          <p:spPr>
            <a:xfrm>
              <a:off x="2911" y="897"/>
              <a:ext cx="401"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NH</a:t>
              </a:r>
              <a:r>
                <a:rPr b="1" baseline="-25000" lang="fr-FR" sz="1600">
                  <a:solidFill>
                    <a:srgbClr val="0000FF"/>
                  </a:solidFill>
                  <a:latin typeface="Calibri"/>
                  <a:ea typeface="Calibri"/>
                  <a:cs typeface="Calibri"/>
                  <a:sym typeface="Calibri"/>
                </a:rPr>
                <a:t>3</a:t>
              </a:r>
              <a:r>
                <a:rPr b="1" baseline="30000" lang="fr-FR" sz="1600">
                  <a:solidFill>
                    <a:srgbClr val="0000FF"/>
                  </a:solidFill>
                  <a:latin typeface="Calibri"/>
                  <a:ea typeface="Calibri"/>
                  <a:cs typeface="Calibri"/>
                  <a:sym typeface="Calibri"/>
                </a:rPr>
                <a:t>+</a:t>
              </a:r>
              <a:endParaRPr/>
            </a:p>
          </p:txBody>
        </p:sp>
        <p:cxnSp>
          <p:nvCxnSpPr>
            <p:cNvPr id="605" name="Google Shape;605;p29"/>
            <p:cNvCxnSpPr/>
            <p:nvPr/>
          </p:nvCxnSpPr>
          <p:spPr>
            <a:xfrm>
              <a:off x="3019" y="1068"/>
              <a:ext cx="0" cy="124"/>
            </a:xfrm>
            <a:prstGeom prst="straightConnector1">
              <a:avLst/>
            </a:prstGeom>
            <a:noFill/>
            <a:ln cap="flat" cmpd="sng" w="19050">
              <a:solidFill>
                <a:srgbClr val="0000FF"/>
              </a:solidFill>
              <a:prstDash val="solid"/>
              <a:round/>
              <a:headEnd len="med" w="med" type="none"/>
              <a:tailEnd len="med" w="med" type="none"/>
            </a:ln>
          </p:spPr>
        </p:cxnSp>
      </p:grpSp>
      <p:grpSp>
        <p:nvGrpSpPr>
          <p:cNvPr id="606" name="Google Shape;606;p29"/>
          <p:cNvGrpSpPr/>
          <p:nvPr/>
        </p:nvGrpSpPr>
        <p:grpSpPr>
          <a:xfrm>
            <a:off x="6030118" y="2211266"/>
            <a:ext cx="1963737" cy="1847850"/>
            <a:chOff x="4371" y="1521"/>
            <a:chExt cx="1237" cy="1164"/>
          </a:xfrm>
        </p:grpSpPr>
        <p:cxnSp>
          <p:nvCxnSpPr>
            <p:cNvPr id="607" name="Google Shape;607;p29"/>
            <p:cNvCxnSpPr/>
            <p:nvPr/>
          </p:nvCxnSpPr>
          <p:spPr>
            <a:xfrm>
              <a:off x="4821" y="2377"/>
              <a:ext cx="309" cy="0"/>
            </a:xfrm>
            <a:prstGeom prst="straightConnector1">
              <a:avLst/>
            </a:prstGeom>
            <a:noFill/>
            <a:ln cap="flat" cmpd="sng" w="28575">
              <a:solidFill>
                <a:srgbClr val="0000FF"/>
              </a:solidFill>
              <a:prstDash val="solid"/>
              <a:round/>
              <a:headEnd len="med" w="med" type="none"/>
              <a:tailEnd len="med" w="med" type="none"/>
            </a:ln>
          </p:spPr>
        </p:cxnSp>
        <p:cxnSp>
          <p:nvCxnSpPr>
            <p:cNvPr id="608" name="Google Shape;608;p29"/>
            <p:cNvCxnSpPr/>
            <p:nvPr/>
          </p:nvCxnSpPr>
          <p:spPr>
            <a:xfrm>
              <a:off x="4821" y="1837"/>
              <a:ext cx="309" cy="0"/>
            </a:xfrm>
            <a:prstGeom prst="straightConnector1">
              <a:avLst/>
            </a:prstGeom>
            <a:noFill/>
            <a:ln cap="flat" cmpd="sng" w="28575">
              <a:solidFill>
                <a:srgbClr val="0000FF"/>
              </a:solidFill>
              <a:prstDash val="solid"/>
              <a:round/>
              <a:headEnd len="med" w="med" type="none"/>
              <a:tailEnd len="med" w="med" type="none"/>
            </a:ln>
          </p:spPr>
        </p:cxnSp>
        <p:cxnSp>
          <p:nvCxnSpPr>
            <p:cNvPr id="609" name="Google Shape;609;p29"/>
            <p:cNvCxnSpPr/>
            <p:nvPr/>
          </p:nvCxnSpPr>
          <p:spPr>
            <a:xfrm rot="-2734724">
              <a:off x="4508" y="1973"/>
              <a:ext cx="371" cy="0"/>
            </a:xfrm>
            <a:prstGeom prst="straightConnector1">
              <a:avLst/>
            </a:prstGeom>
            <a:noFill/>
            <a:ln cap="flat" cmpd="sng" w="28575">
              <a:solidFill>
                <a:srgbClr val="0000FF"/>
              </a:solidFill>
              <a:prstDash val="solid"/>
              <a:round/>
              <a:headEnd len="med" w="med" type="none"/>
              <a:tailEnd len="med" w="med" type="none"/>
            </a:ln>
          </p:spPr>
        </p:cxnSp>
        <p:cxnSp>
          <p:nvCxnSpPr>
            <p:cNvPr id="610" name="Google Shape;610;p29"/>
            <p:cNvCxnSpPr/>
            <p:nvPr/>
          </p:nvCxnSpPr>
          <p:spPr>
            <a:xfrm rot="2734724">
              <a:off x="4508" y="2248"/>
              <a:ext cx="371" cy="0"/>
            </a:xfrm>
            <a:prstGeom prst="straightConnector1">
              <a:avLst/>
            </a:prstGeom>
            <a:noFill/>
            <a:ln cap="flat" cmpd="sng" w="28575">
              <a:solidFill>
                <a:srgbClr val="0000FF"/>
              </a:solidFill>
              <a:prstDash val="solid"/>
              <a:round/>
              <a:headEnd len="med" w="med" type="none"/>
              <a:tailEnd len="med" w="med" type="none"/>
            </a:ln>
          </p:spPr>
        </p:cxnSp>
        <p:cxnSp>
          <p:nvCxnSpPr>
            <p:cNvPr id="611" name="Google Shape;611;p29"/>
            <p:cNvCxnSpPr/>
            <p:nvPr/>
          </p:nvCxnSpPr>
          <p:spPr>
            <a:xfrm rot="-8065276">
              <a:off x="5079" y="1973"/>
              <a:ext cx="371" cy="0"/>
            </a:xfrm>
            <a:prstGeom prst="straightConnector1">
              <a:avLst/>
            </a:prstGeom>
            <a:noFill/>
            <a:ln cap="flat" cmpd="sng" w="28575">
              <a:solidFill>
                <a:srgbClr val="0000FF"/>
              </a:solidFill>
              <a:prstDash val="solid"/>
              <a:round/>
              <a:headEnd len="med" w="med" type="none"/>
              <a:tailEnd len="med" w="med" type="none"/>
            </a:ln>
          </p:spPr>
        </p:cxnSp>
        <p:cxnSp>
          <p:nvCxnSpPr>
            <p:cNvPr id="612" name="Google Shape;612;p29"/>
            <p:cNvCxnSpPr/>
            <p:nvPr/>
          </p:nvCxnSpPr>
          <p:spPr>
            <a:xfrm rot="8065276">
              <a:off x="5087" y="2248"/>
              <a:ext cx="371" cy="0"/>
            </a:xfrm>
            <a:prstGeom prst="straightConnector1">
              <a:avLst/>
            </a:prstGeom>
            <a:noFill/>
            <a:ln cap="flat" cmpd="sng" w="28575">
              <a:solidFill>
                <a:srgbClr val="0000FF"/>
              </a:solidFill>
              <a:prstDash val="solid"/>
              <a:round/>
              <a:headEnd len="med" w="med" type="none"/>
              <a:tailEnd len="med" w="med" type="none"/>
            </a:ln>
          </p:spPr>
        </p:cxnSp>
        <p:cxnSp>
          <p:nvCxnSpPr>
            <p:cNvPr id="613" name="Google Shape;613;p29"/>
            <p:cNvCxnSpPr/>
            <p:nvPr/>
          </p:nvCxnSpPr>
          <p:spPr>
            <a:xfrm>
              <a:off x="4831" y="2232"/>
              <a:ext cx="0" cy="269"/>
            </a:xfrm>
            <a:prstGeom prst="straightConnector1">
              <a:avLst/>
            </a:prstGeom>
            <a:noFill/>
            <a:ln cap="flat" cmpd="sng" w="19050">
              <a:solidFill>
                <a:srgbClr val="0000FF"/>
              </a:solidFill>
              <a:prstDash val="solid"/>
              <a:round/>
              <a:headEnd len="med" w="med" type="none"/>
              <a:tailEnd len="med" w="med" type="none"/>
            </a:ln>
          </p:spPr>
        </p:cxnSp>
        <p:sp>
          <p:nvSpPr>
            <p:cNvPr id="614" name="Google Shape;614;p29"/>
            <p:cNvSpPr txBox="1"/>
            <p:nvPr/>
          </p:nvSpPr>
          <p:spPr>
            <a:xfrm>
              <a:off x="4727" y="2057"/>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OH</a:t>
              </a:r>
              <a:endParaRPr b="1" baseline="30000" sz="1600">
                <a:solidFill>
                  <a:srgbClr val="0000FF"/>
                </a:solidFill>
                <a:latin typeface="Calibri"/>
                <a:ea typeface="Calibri"/>
                <a:cs typeface="Calibri"/>
                <a:sym typeface="Calibri"/>
              </a:endParaRPr>
            </a:p>
          </p:txBody>
        </p:sp>
        <p:cxnSp>
          <p:nvCxnSpPr>
            <p:cNvPr id="615" name="Google Shape;615;p29"/>
            <p:cNvCxnSpPr/>
            <p:nvPr/>
          </p:nvCxnSpPr>
          <p:spPr>
            <a:xfrm>
              <a:off x="5135" y="2232"/>
              <a:ext cx="0" cy="269"/>
            </a:xfrm>
            <a:prstGeom prst="straightConnector1">
              <a:avLst/>
            </a:prstGeom>
            <a:noFill/>
            <a:ln cap="flat" cmpd="sng" w="19050">
              <a:solidFill>
                <a:srgbClr val="0000FF"/>
              </a:solidFill>
              <a:prstDash val="solid"/>
              <a:round/>
              <a:headEnd len="med" w="med" type="none"/>
              <a:tailEnd len="med" w="med" type="none"/>
            </a:ln>
          </p:spPr>
        </p:cxnSp>
        <p:cxnSp>
          <p:nvCxnSpPr>
            <p:cNvPr id="616" name="Google Shape;616;p29"/>
            <p:cNvCxnSpPr/>
            <p:nvPr/>
          </p:nvCxnSpPr>
          <p:spPr>
            <a:xfrm>
              <a:off x="5399" y="1960"/>
              <a:ext cx="0" cy="269"/>
            </a:xfrm>
            <a:prstGeom prst="straightConnector1">
              <a:avLst/>
            </a:prstGeom>
            <a:noFill/>
            <a:ln cap="flat" cmpd="sng" w="19050">
              <a:solidFill>
                <a:srgbClr val="0000FF"/>
              </a:solidFill>
              <a:prstDash val="solid"/>
              <a:round/>
              <a:headEnd len="med" w="med" type="none"/>
              <a:tailEnd len="med" w="med" type="none"/>
            </a:ln>
          </p:spPr>
        </p:cxnSp>
        <p:cxnSp>
          <p:nvCxnSpPr>
            <p:cNvPr id="617" name="Google Shape;617;p29"/>
            <p:cNvCxnSpPr/>
            <p:nvPr/>
          </p:nvCxnSpPr>
          <p:spPr>
            <a:xfrm>
              <a:off x="5143" y="1680"/>
              <a:ext cx="0" cy="269"/>
            </a:xfrm>
            <a:prstGeom prst="straightConnector1">
              <a:avLst/>
            </a:prstGeom>
            <a:noFill/>
            <a:ln cap="flat" cmpd="sng" w="19050">
              <a:solidFill>
                <a:srgbClr val="0000FF"/>
              </a:solidFill>
              <a:prstDash val="solid"/>
              <a:round/>
              <a:headEnd len="med" w="med" type="none"/>
              <a:tailEnd len="med" w="med" type="none"/>
            </a:ln>
          </p:spPr>
        </p:cxnSp>
        <p:cxnSp>
          <p:nvCxnSpPr>
            <p:cNvPr id="618" name="Google Shape;618;p29"/>
            <p:cNvCxnSpPr/>
            <p:nvPr/>
          </p:nvCxnSpPr>
          <p:spPr>
            <a:xfrm>
              <a:off x="4823" y="1680"/>
              <a:ext cx="0" cy="269"/>
            </a:xfrm>
            <a:prstGeom prst="straightConnector1">
              <a:avLst/>
            </a:prstGeom>
            <a:noFill/>
            <a:ln cap="flat" cmpd="sng" w="19050">
              <a:solidFill>
                <a:srgbClr val="0000FF"/>
              </a:solidFill>
              <a:prstDash val="solid"/>
              <a:round/>
              <a:headEnd len="med" w="med" type="none"/>
              <a:tailEnd len="med" w="med" type="none"/>
            </a:ln>
          </p:spPr>
        </p:cxnSp>
        <p:cxnSp>
          <p:nvCxnSpPr>
            <p:cNvPr id="619" name="Google Shape;619;p29"/>
            <p:cNvCxnSpPr/>
            <p:nvPr/>
          </p:nvCxnSpPr>
          <p:spPr>
            <a:xfrm>
              <a:off x="4567" y="1960"/>
              <a:ext cx="0" cy="269"/>
            </a:xfrm>
            <a:prstGeom prst="straightConnector1">
              <a:avLst/>
            </a:prstGeom>
            <a:noFill/>
            <a:ln cap="flat" cmpd="sng" w="19050">
              <a:solidFill>
                <a:srgbClr val="0000FF"/>
              </a:solidFill>
              <a:prstDash val="solid"/>
              <a:round/>
              <a:headEnd len="med" w="med" type="none"/>
              <a:tailEnd len="med" w="med" type="none"/>
            </a:ln>
          </p:spPr>
        </p:cxnSp>
        <p:sp>
          <p:nvSpPr>
            <p:cNvPr id="620" name="Google Shape;620;p29"/>
            <p:cNvSpPr txBox="1"/>
            <p:nvPr/>
          </p:nvSpPr>
          <p:spPr>
            <a:xfrm>
              <a:off x="5031" y="2473"/>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OH</a:t>
              </a:r>
              <a:endParaRPr b="1" baseline="30000" sz="1600">
                <a:solidFill>
                  <a:srgbClr val="0000FF"/>
                </a:solidFill>
                <a:latin typeface="Calibri"/>
                <a:ea typeface="Calibri"/>
                <a:cs typeface="Calibri"/>
                <a:sym typeface="Calibri"/>
              </a:endParaRPr>
            </a:p>
          </p:txBody>
        </p:sp>
        <p:sp>
          <p:nvSpPr>
            <p:cNvPr id="621" name="Google Shape;621;p29"/>
            <p:cNvSpPr txBox="1"/>
            <p:nvPr/>
          </p:nvSpPr>
          <p:spPr>
            <a:xfrm>
              <a:off x="5300" y="1777"/>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FF0000"/>
                  </a:solidFill>
                  <a:latin typeface="Calibri"/>
                  <a:ea typeface="Calibri"/>
                  <a:cs typeface="Calibri"/>
                  <a:sym typeface="Calibri"/>
                </a:rPr>
                <a:t>OH</a:t>
              </a:r>
              <a:endParaRPr b="1" baseline="30000" sz="1600">
                <a:solidFill>
                  <a:srgbClr val="FF0000"/>
                </a:solidFill>
                <a:latin typeface="Calibri"/>
                <a:ea typeface="Calibri"/>
                <a:cs typeface="Calibri"/>
                <a:sym typeface="Calibri"/>
              </a:endParaRPr>
            </a:p>
          </p:txBody>
        </p:sp>
        <p:sp>
          <p:nvSpPr>
            <p:cNvPr id="622" name="Google Shape;622;p29"/>
            <p:cNvSpPr txBox="1"/>
            <p:nvPr/>
          </p:nvSpPr>
          <p:spPr>
            <a:xfrm>
              <a:off x="5041" y="1521"/>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OH</a:t>
              </a:r>
              <a:endParaRPr b="1" baseline="30000" sz="1600">
                <a:solidFill>
                  <a:srgbClr val="0000FF"/>
                </a:solidFill>
                <a:latin typeface="Calibri"/>
                <a:ea typeface="Calibri"/>
                <a:cs typeface="Calibri"/>
                <a:sym typeface="Calibri"/>
              </a:endParaRPr>
            </a:p>
          </p:txBody>
        </p:sp>
        <p:sp>
          <p:nvSpPr>
            <p:cNvPr id="623" name="Google Shape;623;p29"/>
            <p:cNvSpPr txBox="1"/>
            <p:nvPr/>
          </p:nvSpPr>
          <p:spPr>
            <a:xfrm>
              <a:off x="4718" y="1521"/>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OH</a:t>
              </a:r>
              <a:endParaRPr b="1" baseline="30000" sz="1600">
                <a:solidFill>
                  <a:srgbClr val="0000FF"/>
                </a:solidFill>
                <a:latin typeface="Calibri"/>
                <a:ea typeface="Calibri"/>
                <a:cs typeface="Calibri"/>
                <a:sym typeface="Calibri"/>
              </a:endParaRPr>
            </a:p>
          </p:txBody>
        </p:sp>
        <p:sp>
          <p:nvSpPr>
            <p:cNvPr id="624" name="Google Shape;624;p29"/>
            <p:cNvSpPr txBox="1"/>
            <p:nvPr/>
          </p:nvSpPr>
          <p:spPr>
            <a:xfrm>
              <a:off x="4371" y="2201"/>
              <a:ext cx="3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HO</a:t>
              </a:r>
              <a:endParaRPr b="1" baseline="30000" sz="1600">
                <a:solidFill>
                  <a:srgbClr val="0000FF"/>
                </a:solidFill>
                <a:latin typeface="Calibri"/>
                <a:ea typeface="Calibri"/>
                <a:cs typeface="Calibri"/>
                <a:sym typeface="Calibri"/>
              </a:endParaRPr>
            </a:p>
          </p:txBody>
        </p:sp>
        <p:sp>
          <p:nvSpPr>
            <p:cNvPr id="625" name="Google Shape;625;p29"/>
            <p:cNvSpPr txBox="1"/>
            <p:nvPr/>
          </p:nvSpPr>
          <p:spPr>
            <a:xfrm>
              <a:off x="4727" y="2473"/>
              <a:ext cx="2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endParaRPr b="1" baseline="30000" sz="1600">
                <a:solidFill>
                  <a:srgbClr val="0000FF"/>
                </a:solidFill>
                <a:latin typeface="Calibri"/>
                <a:ea typeface="Calibri"/>
                <a:cs typeface="Calibri"/>
                <a:sym typeface="Calibri"/>
              </a:endParaRPr>
            </a:p>
          </p:txBody>
        </p:sp>
        <p:sp>
          <p:nvSpPr>
            <p:cNvPr id="626" name="Google Shape;626;p29"/>
            <p:cNvSpPr txBox="1"/>
            <p:nvPr/>
          </p:nvSpPr>
          <p:spPr>
            <a:xfrm>
              <a:off x="5023" y="2057"/>
              <a:ext cx="2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endParaRPr b="1" baseline="30000" sz="1600">
                <a:solidFill>
                  <a:srgbClr val="0000FF"/>
                </a:solidFill>
                <a:latin typeface="Calibri"/>
                <a:ea typeface="Calibri"/>
                <a:cs typeface="Calibri"/>
                <a:sym typeface="Calibri"/>
              </a:endParaRPr>
            </a:p>
          </p:txBody>
        </p:sp>
        <p:sp>
          <p:nvSpPr>
            <p:cNvPr id="627" name="Google Shape;627;p29"/>
            <p:cNvSpPr txBox="1"/>
            <p:nvPr/>
          </p:nvSpPr>
          <p:spPr>
            <a:xfrm>
              <a:off x="5039" y="1921"/>
              <a:ext cx="2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endParaRPr b="1" baseline="30000" sz="1600">
                <a:solidFill>
                  <a:srgbClr val="0000FF"/>
                </a:solidFill>
                <a:latin typeface="Calibri"/>
                <a:ea typeface="Calibri"/>
                <a:cs typeface="Calibri"/>
                <a:sym typeface="Calibri"/>
              </a:endParaRPr>
            </a:p>
          </p:txBody>
        </p:sp>
        <p:sp>
          <p:nvSpPr>
            <p:cNvPr id="628" name="Google Shape;628;p29"/>
            <p:cNvSpPr txBox="1"/>
            <p:nvPr/>
          </p:nvSpPr>
          <p:spPr>
            <a:xfrm>
              <a:off x="4719" y="1913"/>
              <a:ext cx="2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endParaRPr b="1" baseline="30000" sz="1600">
                <a:solidFill>
                  <a:srgbClr val="0000FF"/>
                </a:solidFill>
                <a:latin typeface="Calibri"/>
                <a:ea typeface="Calibri"/>
                <a:cs typeface="Calibri"/>
                <a:sym typeface="Calibri"/>
              </a:endParaRPr>
            </a:p>
          </p:txBody>
        </p:sp>
        <p:sp>
          <p:nvSpPr>
            <p:cNvPr id="629" name="Google Shape;629;p29"/>
            <p:cNvSpPr txBox="1"/>
            <p:nvPr/>
          </p:nvSpPr>
          <p:spPr>
            <a:xfrm>
              <a:off x="4463" y="1785"/>
              <a:ext cx="2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endParaRPr b="1" baseline="30000" sz="1600">
                <a:solidFill>
                  <a:srgbClr val="0000FF"/>
                </a:solidFill>
                <a:latin typeface="Calibri"/>
                <a:ea typeface="Calibri"/>
                <a:cs typeface="Calibri"/>
                <a:sym typeface="Calibri"/>
              </a:endParaRPr>
            </a:p>
          </p:txBody>
        </p:sp>
        <p:sp>
          <p:nvSpPr>
            <p:cNvPr id="630" name="Google Shape;630;p29"/>
            <p:cNvSpPr txBox="1"/>
            <p:nvPr/>
          </p:nvSpPr>
          <p:spPr>
            <a:xfrm>
              <a:off x="5303" y="2201"/>
              <a:ext cx="208"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00FF"/>
                  </a:solidFill>
                  <a:latin typeface="Calibri"/>
                  <a:ea typeface="Calibri"/>
                  <a:cs typeface="Calibri"/>
                  <a:sym typeface="Calibri"/>
                </a:rPr>
                <a:t>H</a:t>
              </a:r>
              <a:endParaRPr b="1" baseline="30000" sz="1600">
                <a:solidFill>
                  <a:srgbClr val="0000FF"/>
                </a:solidFill>
                <a:latin typeface="Calibri"/>
                <a:ea typeface="Calibri"/>
                <a:cs typeface="Calibri"/>
                <a:sym typeface="Calibri"/>
              </a:endParaRPr>
            </a:p>
          </p:txBody>
        </p:sp>
      </p:grpSp>
      <p:sp>
        <p:nvSpPr>
          <p:cNvPr id="631" name="Google Shape;631;p29"/>
          <p:cNvSpPr txBox="1"/>
          <p:nvPr/>
        </p:nvSpPr>
        <p:spPr>
          <a:xfrm>
            <a:off x="7437438" y="3924300"/>
            <a:ext cx="738187"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0000FF"/>
                </a:solidFill>
                <a:latin typeface="Calibri"/>
                <a:ea typeface="Calibri"/>
                <a:cs typeface="Calibri"/>
                <a:sym typeface="Calibri"/>
              </a:rPr>
              <a:t>inositol</a:t>
            </a:r>
            <a:endParaRPr sz="1800">
              <a:solidFill>
                <a:srgbClr val="FF0000"/>
              </a:solidFill>
              <a:latin typeface="Calibri"/>
              <a:ea typeface="Calibri"/>
              <a:cs typeface="Calibri"/>
              <a:sym typeface="Calibri"/>
            </a:endParaRPr>
          </a:p>
        </p:txBody>
      </p:sp>
      <p:sp>
        <p:nvSpPr>
          <p:cNvPr id="632" name="Google Shape;632;p29"/>
          <p:cNvSpPr/>
          <p:nvPr/>
        </p:nvSpPr>
        <p:spPr>
          <a:xfrm>
            <a:off x="1485900" y="4889500"/>
            <a:ext cx="6261100" cy="876300"/>
          </a:xfrm>
          <a:prstGeom prst="rect">
            <a:avLst/>
          </a:prstGeom>
          <a:solidFill>
            <a:srgbClr val="99CCFF"/>
          </a:solidFill>
          <a:ln cap="flat" cmpd="sng" w="9525">
            <a:solidFill>
              <a:srgbClr val="99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33" name="Google Shape;633;p29"/>
          <p:cNvGrpSpPr/>
          <p:nvPr/>
        </p:nvGrpSpPr>
        <p:grpSpPr>
          <a:xfrm>
            <a:off x="1549400" y="4340225"/>
            <a:ext cx="6224588" cy="2108200"/>
            <a:chOff x="968" y="2838"/>
            <a:chExt cx="3921" cy="1328"/>
          </a:xfrm>
        </p:grpSpPr>
        <p:sp>
          <p:nvSpPr>
            <p:cNvPr id="634" name="Google Shape;634;p29"/>
            <p:cNvSpPr txBox="1"/>
            <p:nvPr/>
          </p:nvSpPr>
          <p:spPr>
            <a:xfrm>
              <a:off x="968" y="3158"/>
              <a:ext cx="1439" cy="10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fr-FR" sz="1400">
                  <a:solidFill>
                    <a:schemeClr val="dk1"/>
                  </a:solidFill>
                  <a:latin typeface="Calibri"/>
                  <a:ea typeface="Calibri"/>
                  <a:cs typeface="Calibri"/>
                  <a:sym typeface="Calibri"/>
                </a:rPr>
                <a:t>Phosphatidylethanolamine</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rPr i="1" lang="fr-FR" sz="1400">
                  <a:solidFill>
                    <a:schemeClr val="dk1"/>
                  </a:solidFill>
                  <a:latin typeface="Calibri"/>
                  <a:ea typeface="Calibri"/>
                  <a:cs typeface="Calibri"/>
                  <a:sym typeface="Calibri"/>
                </a:rPr>
                <a:t>Phosphatidylserine</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rPr i="1" lang="fr-FR" sz="1400">
                  <a:solidFill>
                    <a:schemeClr val="dk1"/>
                  </a:solidFill>
                  <a:latin typeface="Calibri"/>
                  <a:ea typeface="Calibri"/>
                  <a:cs typeface="Calibri"/>
                  <a:sym typeface="Calibri"/>
                </a:rPr>
                <a:t>Phosphatidylcholine</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rPr i="1" lang="fr-FR" sz="1400">
                  <a:solidFill>
                    <a:schemeClr val="dk1"/>
                  </a:solidFill>
                  <a:latin typeface="Calibri"/>
                  <a:ea typeface="Calibri"/>
                  <a:cs typeface="Calibri"/>
                  <a:sym typeface="Calibri"/>
                </a:rPr>
                <a:t>Phosphatidylinositol</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rPr i="1" lang="fr-FR" sz="1400">
                  <a:solidFill>
                    <a:schemeClr val="dk1"/>
                  </a:solidFill>
                  <a:latin typeface="Calibri"/>
                  <a:ea typeface="Calibri"/>
                  <a:cs typeface="Calibri"/>
                  <a:sym typeface="Calibri"/>
                </a:rPr>
                <a:t>Sphingomyéline</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rPr i="1" lang="fr-FR" sz="1400">
                  <a:solidFill>
                    <a:schemeClr val="dk1"/>
                  </a:solidFill>
                  <a:latin typeface="Calibri"/>
                  <a:ea typeface="Calibri"/>
                  <a:cs typeface="Calibri"/>
                  <a:sym typeface="Calibri"/>
                </a:rPr>
                <a:t>Glycolipides</a:t>
              </a:r>
              <a:endParaRPr/>
            </a:p>
            <a:p>
              <a:pPr indent="0" lvl="0" marL="0" marR="0" rtl="0" algn="l">
                <a:spcBef>
                  <a:spcPts val="0"/>
                </a:spcBef>
                <a:spcAft>
                  <a:spcPts val="0"/>
                </a:spcAft>
                <a:buNone/>
              </a:pPr>
              <a:r>
                <a:rPr i="1" lang="fr-FR" sz="1400">
                  <a:solidFill>
                    <a:schemeClr val="dk1"/>
                  </a:solidFill>
                  <a:latin typeface="Calibri"/>
                  <a:ea typeface="Calibri"/>
                  <a:cs typeface="Calibri"/>
                  <a:sym typeface="Calibri"/>
                </a:rPr>
                <a:t>Cholesterol</a:t>
              </a:r>
              <a:endParaRPr i="1" sz="1400">
                <a:solidFill>
                  <a:schemeClr val="dk1"/>
                </a:solidFill>
                <a:latin typeface="Calibri"/>
                <a:ea typeface="Calibri"/>
                <a:cs typeface="Calibri"/>
                <a:sym typeface="Calibri"/>
              </a:endParaRPr>
            </a:p>
          </p:txBody>
        </p:sp>
        <p:sp>
          <p:nvSpPr>
            <p:cNvPr id="635" name="Google Shape;635;p29"/>
            <p:cNvSpPr/>
            <p:nvPr/>
          </p:nvSpPr>
          <p:spPr>
            <a:xfrm>
              <a:off x="3992" y="2838"/>
              <a:ext cx="897" cy="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fr-FR" sz="1400">
                  <a:solidFill>
                    <a:schemeClr val="dk1"/>
                  </a:solidFill>
                  <a:latin typeface="Calibri"/>
                  <a:ea typeface="Calibri"/>
                  <a:cs typeface="Calibri"/>
                  <a:sym typeface="Calibri"/>
                </a:rPr>
                <a:t>Réticulum endoplasmique</a:t>
              </a:r>
              <a:endParaRPr/>
            </a:p>
          </p:txBody>
        </p:sp>
        <p:sp>
          <p:nvSpPr>
            <p:cNvPr id="636" name="Google Shape;636;p29"/>
            <p:cNvSpPr/>
            <p:nvPr/>
          </p:nvSpPr>
          <p:spPr>
            <a:xfrm>
              <a:off x="2440" y="2838"/>
              <a:ext cx="677" cy="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fr-FR" sz="1400">
                  <a:solidFill>
                    <a:schemeClr val="dk1"/>
                  </a:solidFill>
                  <a:latin typeface="Calibri"/>
                  <a:ea typeface="Calibri"/>
                  <a:cs typeface="Calibri"/>
                  <a:sym typeface="Calibri"/>
                </a:rPr>
                <a:t>Membrane plasmique</a:t>
              </a:r>
              <a:endParaRPr/>
            </a:p>
          </p:txBody>
        </p:sp>
        <p:sp>
          <p:nvSpPr>
            <p:cNvPr id="637" name="Google Shape;637;p29"/>
            <p:cNvSpPr/>
            <p:nvPr/>
          </p:nvSpPr>
          <p:spPr>
            <a:xfrm>
              <a:off x="3217" y="2905"/>
              <a:ext cx="75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fr-FR" sz="1400">
                  <a:solidFill>
                    <a:schemeClr val="dk1"/>
                  </a:solidFill>
                  <a:latin typeface="Calibri"/>
                  <a:ea typeface="Calibri"/>
                  <a:cs typeface="Calibri"/>
                  <a:sym typeface="Calibri"/>
                </a:rPr>
                <a:t>Mitochondrie</a:t>
              </a:r>
              <a:endParaRPr/>
            </a:p>
          </p:txBody>
        </p:sp>
        <p:sp>
          <p:nvSpPr>
            <p:cNvPr id="638" name="Google Shape;638;p29"/>
            <p:cNvSpPr txBox="1"/>
            <p:nvPr/>
          </p:nvSpPr>
          <p:spPr>
            <a:xfrm>
              <a:off x="2645" y="3158"/>
              <a:ext cx="276" cy="10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fr-FR" sz="1400">
                  <a:solidFill>
                    <a:schemeClr val="dk1"/>
                  </a:solidFill>
                  <a:latin typeface="Calibri"/>
                  <a:ea typeface="Calibri"/>
                  <a:cs typeface="Calibri"/>
                  <a:sym typeface="Calibri"/>
                </a:rPr>
                <a:t>7</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4</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24</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&lt; 1</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19</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7</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17</a:t>
              </a:r>
              <a:endParaRPr/>
            </a:p>
          </p:txBody>
        </p:sp>
        <p:sp>
          <p:nvSpPr>
            <p:cNvPr id="639" name="Google Shape;639;p29"/>
            <p:cNvSpPr txBox="1"/>
            <p:nvPr/>
          </p:nvSpPr>
          <p:spPr>
            <a:xfrm>
              <a:off x="3475" y="3158"/>
              <a:ext cx="242" cy="10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fr-FR" sz="1400">
                  <a:solidFill>
                    <a:schemeClr val="dk1"/>
                  </a:solidFill>
                  <a:latin typeface="Calibri"/>
                  <a:ea typeface="Calibri"/>
                  <a:cs typeface="Calibri"/>
                  <a:sym typeface="Calibri"/>
                </a:rPr>
                <a:t>35</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2</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39</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0</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0</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0</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3</a:t>
              </a:r>
              <a:endParaRPr/>
            </a:p>
          </p:txBody>
        </p:sp>
        <p:sp>
          <p:nvSpPr>
            <p:cNvPr id="640" name="Google Shape;640;p29"/>
            <p:cNvSpPr txBox="1"/>
            <p:nvPr/>
          </p:nvSpPr>
          <p:spPr>
            <a:xfrm>
              <a:off x="4288" y="3158"/>
              <a:ext cx="242" cy="10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fr-FR" sz="1400">
                  <a:solidFill>
                    <a:schemeClr val="dk1"/>
                  </a:solidFill>
                  <a:latin typeface="Calibri"/>
                  <a:ea typeface="Calibri"/>
                  <a:cs typeface="Calibri"/>
                  <a:sym typeface="Calibri"/>
                </a:rPr>
                <a:t>17</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5</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40</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0</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5</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0</a:t>
              </a:r>
              <a:endParaRPr/>
            </a:p>
            <a:p>
              <a:pPr indent="0" lvl="0" marL="0" marR="0" rtl="0" algn="ctr">
                <a:spcBef>
                  <a:spcPts val="0"/>
                </a:spcBef>
                <a:spcAft>
                  <a:spcPts val="0"/>
                </a:spcAft>
                <a:buNone/>
              </a:pPr>
              <a:r>
                <a:rPr i="1" lang="fr-FR" sz="1400">
                  <a:solidFill>
                    <a:schemeClr val="dk1"/>
                  </a:solidFill>
                  <a:latin typeface="Calibri"/>
                  <a:ea typeface="Calibri"/>
                  <a:cs typeface="Calibri"/>
                  <a:sym typeface="Calibri"/>
                </a:rPr>
                <a:t>6</a:t>
              </a:r>
              <a:endParaRPr/>
            </a:p>
          </p:txBody>
        </p:sp>
      </p:grpSp>
      <p:sp>
        <p:nvSpPr>
          <p:cNvPr id="641" name="Google Shape;641;p29"/>
          <p:cNvSpPr txBox="1"/>
          <p:nvPr/>
        </p:nvSpPr>
        <p:spPr>
          <a:xfrm>
            <a:off x="1949450" y="4457700"/>
            <a:ext cx="1439863"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rgbClr val="FF0FCF"/>
                </a:solidFill>
                <a:latin typeface="Calibri"/>
                <a:ea typeface="Calibri"/>
                <a:cs typeface="Calibri"/>
                <a:sym typeface="Calibri"/>
              </a:rPr>
              <a:t>proportion en %</a:t>
            </a:r>
            <a:endParaRPr sz="1800">
              <a:solidFill>
                <a:srgbClr val="FF0FCF"/>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30"/>
          <p:cNvSpPr txBox="1"/>
          <p:nvPr>
            <p:ph type="title"/>
          </p:nvPr>
        </p:nvSpPr>
        <p:spPr>
          <a:xfrm>
            <a:off x="-18846" y="-24526"/>
            <a:ext cx="9144000" cy="711200"/>
          </a:xfrm>
          <a:prstGeom prst="rect">
            <a:avLst/>
          </a:prstGeom>
          <a:solidFill>
            <a:schemeClr val="lt1"/>
          </a:solid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a:buNone/>
            </a:pPr>
            <a:r>
              <a:rPr b="1" lang="fr-FR" sz="2400">
                <a:latin typeface="Arial"/>
                <a:ea typeface="Arial"/>
                <a:cs typeface="Arial"/>
                <a:sym typeface="Arial"/>
              </a:rPr>
              <a:t>La distribution des lipides est asymétrique</a:t>
            </a:r>
            <a:r>
              <a:rPr b="1" lang="fr-FR">
                <a:latin typeface="Arial"/>
                <a:ea typeface="Arial"/>
                <a:cs typeface="Arial"/>
                <a:sym typeface="Arial"/>
              </a:rPr>
              <a:t> </a:t>
            </a:r>
            <a:endParaRPr>
              <a:latin typeface="Arial"/>
              <a:ea typeface="Arial"/>
              <a:cs typeface="Arial"/>
              <a:sym typeface="Arial"/>
            </a:endParaRPr>
          </a:p>
        </p:txBody>
      </p:sp>
      <p:pic>
        <p:nvPicPr>
          <p:cNvPr id="648" name="Google Shape;648;p30"/>
          <p:cNvPicPr preferRelativeResize="0"/>
          <p:nvPr/>
        </p:nvPicPr>
        <p:blipFill rotWithShape="1">
          <a:blip r:embed="rId3">
            <a:alphaModFix/>
          </a:blip>
          <a:srcRect b="24771" l="9195" r="10124" t="23473"/>
          <a:stretch/>
        </p:blipFill>
        <p:spPr>
          <a:xfrm>
            <a:off x="2978084" y="737402"/>
            <a:ext cx="5768975" cy="2647950"/>
          </a:xfrm>
          <a:prstGeom prst="rect">
            <a:avLst/>
          </a:prstGeom>
          <a:noFill/>
          <a:ln>
            <a:noFill/>
          </a:ln>
        </p:spPr>
      </p:pic>
      <p:sp>
        <p:nvSpPr>
          <p:cNvPr id="649" name="Google Shape;649;p30"/>
          <p:cNvSpPr txBox="1"/>
          <p:nvPr/>
        </p:nvSpPr>
        <p:spPr>
          <a:xfrm>
            <a:off x="282351" y="785727"/>
            <a:ext cx="413946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fr-FR" sz="2000">
                <a:solidFill>
                  <a:schemeClr val="dk1"/>
                </a:solidFill>
                <a:latin typeface="Calibri"/>
                <a:ea typeface="Calibri"/>
                <a:cs typeface="Calibri"/>
                <a:sym typeface="Calibri"/>
              </a:rPr>
              <a:t>exemple de la membrane plasmique </a:t>
            </a:r>
            <a:r>
              <a:rPr b="1" lang="fr-FR" sz="2000">
                <a:solidFill>
                  <a:schemeClr val="dk1"/>
                </a:solidFill>
                <a:latin typeface="Calibri"/>
                <a:ea typeface="Calibri"/>
                <a:cs typeface="Calibri"/>
                <a:sym typeface="Calibri"/>
              </a:rPr>
              <a:t> </a:t>
            </a:r>
            <a:endParaRPr/>
          </a:p>
        </p:txBody>
      </p:sp>
      <p:sp>
        <p:nvSpPr>
          <p:cNvPr id="650" name="Google Shape;650;p30"/>
          <p:cNvSpPr txBox="1"/>
          <p:nvPr/>
        </p:nvSpPr>
        <p:spPr>
          <a:xfrm>
            <a:off x="604898" y="3697288"/>
            <a:ext cx="2770188" cy="1069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fr-FR" sz="1600">
                <a:solidFill>
                  <a:srgbClr val="009900"/>
                </a:solidFill>
                <a:latin typeface="Calibri"/>
                <a:ea typeface="Calibri"/>
                <a:cs typeface="Calibri"/>
                <a:sym typeface="Calibri"/>
              </a:rPr>
              <a:t>Phosphatidylserine</a:t>
            </a:r>
            <a:endParaRPr b="1" i="1" sz="1600">
              <a:solidFill>
                <a:srgbClr val="009900"/>
              </a:solidFill>
              <a:latin typeface="Calibri"/>
              <a:ea typeface="Calibri"/>
              <a:cs typeface="Calibri"/>
              <a:sym typeface="Calibri"/>
            </a:endParaRPr>
          </a:p>
          <a:p>
            <a:pPr indent="0" lvl="0" marL="0" marR="0" rtl="0" algn="l">
              <a:spcBef>
                <a:spcPts val="0"/>
              </a:spcBef>
              <a:spcAft>
                <a:spcPts val="0"/>
              </a:spcAft>
              <a:buNone/>
            </a:pPr>
            <a:r>
              <a:rPr b="1" i="1" lang="fr-FR" sz="1600">
                <a:solidFill>
                  <a:schemeClr val="dk1"/>
                </a:solidFill>
                <a:latin typeface="Calibri"/>
                <a:ea typeface="Calibri"/>
                <a:cs typeface="Calibri"/>
                <a:sym typeface="Calibri"/>
              </a:rPr>
              <a:t>Phosphatidylethanolamine</a:t>
            </a:r>
            <a:endParaRPr b="1" i="1" sz="1600">
              <a:solidFill>
                <a:schemeClr val="dk1"/>
              </a:solidFill>
              <a:latin typeface="Calibri"/>
              <a:ea typeface="Calibri"/>
              <a:cs typeface="Calibri"/>
              <a:sym typeface="Calibri"/>
            </a:endParaRPr>
          </a:p>
          <a:p>
            <a:pPr indent="0" lvl="0" marL="0" marR="0" rtl="0" algn="l">
              <a:spcBef>
                <a:spcPts val="0"/>
              </a:spcBef>
              <a:spcAft>
                <a:spcPts val="0"/>
              </a:spcAft>
              <a:buNone/>
            </a:pPr>
            <a:r>
              <a:rPr b="1" i="1" lang="fr-FR" sz="1600">
                <a:solidFill>
                  <a:schemeClr val="dk1"/>
                </a:solidFill>
                <a:latin typeface="Calibri"/>
                <a:ea typeface="Calibri"/>
                <a:cs typeface="Calibri"/>
                <a:sym typeface="Calibri"/>
              </a:rPr>
              <a:t>Phosphatidylcholine</a:t>
            </a:r>
            <a:endParaRPr b="1" i="1" sz="1600">
              <a:solidFill>
                <a:schemeClr val="dk1"/>
              </a:solidFill>
              <a:latin typeface="Calibri"/>
              <a:ea typeface="Calibri"/>
              <a:cs typeface="Calibri"/>
              <a:sym typeface="Calibri"/>
            </a:endParaRPr>
          </a:p>
          <a:p>
            <a:pPr indent="0" lvl="0" marL="0" marR="0" rtl="0" algn="l">
              <a:spcBef>
                <a:spcPts val="0"/>
              </a:spcBef>
              <a:spcAft>
                <a:spcPts val="0"/>
              </a:spcAft>
              <a:buNone/>
            </a:pPr>
            <a:r>
              <a:rPr b="1" i="1" lang="fr-FR" sz="1600">
                <a:solidFill>
                  <a:srgbClr val="0000FF"/>
                </a:solidFill>
                <a:latin typeface="Calibri"/>
                <a:ea typeface="Calibri"/>
                <a:cs typeface="Calibri"/>
                <a:sym typeface="Calibri"/>
              </a:rPr>
              <a:t>Glycolipides</a:t>
            </a:r>
            <a:endParaRPr/>
          </a:p>
        </p:txBody>
      </p:sp>
      <p:sp>
        <p:nvSpPr>
          <p:cNvPr id="651" name="Google Shape;651;p30"/>
          <p:cNvSpPr/>
          <p:nvPr/>
        </p:nvSpPr>
        <p:spPr>
          <a:xfrm>
            <a:off x="3935734" y="3360738"/>
            <a:ext cx="241935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fr-FR" sz="1600">
                <a:solidFill>
                  <a:schemeClr val="dk1"/>
                </a:solidFill>
                <a:latin typeface="Calibri"/>
                <a:ea typeface="Calibri"/>
                <a:cs typeface="Calibri"/>
                <a:sym typeface="Calibri"/>
              </a:rPr>
              <a:t>extérieur	         intérieur</a:t>
            </a:r>
            <a:endParaRPr/>
          </a:p>
        </p:txBody>
      </p:sp>
      <p:sp>
        <p:nvSpPr>
          <p:cNvPr id="652" name="Google Shape;652;p30"/>
          <p:cNvSpPr txBox="1"/>
          <p:nvPr/>
        </p:nvSpPr>
        <p:spPr>
          <a:xfrm>
            <a:off x="4169156" y="3690045"/>
            <a:ext cx="497251"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fr-FR" sz="1600">
                <a:solidFill>
                  <a:srgbClr val="009900"/>
                </a:solidFill>
                <a:latin typeface="Calibri"/>
                <a:ea typeface="Calibri"/>
                <a:cs typeface="Calibri"/>
                <a:sym typeface="Calibri"/>
              </a:rPr>
              <a:t>10</a:t>
            </a:r>
            <a:endParaRPr b="1" i="1" sz="1600">
              <a:solidFill>
                <a:srgbClr val="009900"/>
              </a:solidFill>
              <a:latin typeface="Calibri"/>
              <a:ea typeface="Calibri"/>
              <a:cs typeface="Calibri"/>
              <a:sym typeface="Calibri"/>
            </a:endParaRPr>
          </a:p>
          <a:p>
            <a:pPr indent="0" lvl="0" marL="0" marR="0" rtl="0" algn="ctr">
              <a:spcBef>
                <a:spcPts val="0"/>
              </a:spcBef>
              <a:spcAft>
                <a:spcPts val="0"/>
              </a:spcAft>
              <a:buNone/>
            </a:pPr>
            <a:r>
              <a:rPr b="1" i="1" lang="fr-FR" sz="1600">
                <a:solidFill>
                  <a:schemeClr val="dk1"/>
                </a:solidFill>
                <a:latin typeface="Calibri"/>
                <a:ea typeface="Calibri"/>
                <a:cs typeface="Calibri"/>
                <a:sym typeface="Calibri"/>
              </a:rPr>
              <a:t>10</a:t>
            </a:r>
            <a:endParaRPr/>
          </a:p>
          <a:p>
            <a:pPr indent="0" lvl="0" marL="0" marR="0" rtl="0" algn="ctr">
              <a:spcBef>
                <a:spcPts val="0"/>
              </a:spcBef>
              <a:spcAft>
                <a:spcPts val="0"/>
              </a:spcAft>
              <a:buNone/>
            </a:pPr>
            <a:r>
              <a:rPr b="1" i="1" lang="fr-FR" sz="1600">
                <a:solidFill>
                  <a:schemeClr val="dk1"/>
                </a:solidFill>
                <a:latin typeface="Calibri"/>
                <a:ea typeface="Calibri"/>
                <a:cs typeface="Calibri"/>
                <a:sym typeface="Calibri"/>
              </a:rPr>
              <a:t>90</a:t>
            </a:r>
            <a:endParaRPr/>
          </a:p>
          <a:p>
            <a:pPr indent="0" lvl="0" marL="0" marR="0" rtl="0" algn="ctr">
              <a:spcBef>
                <a:spcPts val="0"/>
              </a:spcBef>
              <a:spcAft>
                <a:spcPts val="0"/>
              </a:spcAft>
              <a:buNone/>
            </a:pPr>
            <a:r>
              <a:rPr b="1" i="1" lang="fr-FR" sz="1600">
                <a:solidFill>
                  <a:srgbClr val="0000FF"/>
                </a:solidFill>
                <a:latin typeface="Calibri"/>
                <a:ea typeface="Calibri"/>
                <a:cs typeface="Calibri"/>
                <a:sym typeface="Calibri"/>
              </a:rPr>
              <a:t>100</a:t>
            </a:r>
            <a:endParaRPr/>
          </a:p>
        </p:txBody>
      </p:sp>
      <p:sp>
        <p:nvSpPr>
          <p:cNvPr id="653" name="Google Shape;653;p30"/>
          <p:cNvSpPr txBox="1"/>
          <p:nvPr/>
        </p:nvSpPr>
        <p:spPr>
          <a:xfrm flipH="1">
            <a:off x="5460375" y="3690050"/>
            <a:ext cx="7848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fr-FR" sz="1600">
                <a:solidFill>
                  <a:srgbClr val="009900"/>
                </a:solidFill>
                <a:latin typeface="Calibri"/>
                <a:ea typeface="Calibri"/>
                <a:cs typeface="Calibri"/>
                <a:sym typeface="Calibri"/>
              </a:rPr>
              <a:t>90</a:t>
            </a:r>
            <a:endParaRPr b="1" i="1" sz="1600">
              <a:solidFill>
                <a:srgbClr val="009900"/>
              </a:solidFill>
              <a:latin typeface="Calibri"/>
              <a:ea typeface="Calibri"/>
              <a:cs typeface="Calibri"/>
              <a:sym typeface="Calibri"/>
            </a:endParaRPr>
          </a:p>
          <a:p>
            <a:pPr indent="0" lvl="0" marL="0" marR="0" rtl="0" algn="ctr">
              <a:spcBef>
                <a:spcPts val="0"/>
              </a:spcBef>
              <a:spcAft>
                <a:spcPts val="0"/>
              </a:spcAft>
              <a:buNone/>
            </a:pPr>
            <a:r>
              <a:rPr b="1" i="1" lang="fr-FR" sz="1600">
                <a:solidFill>
                  <a:schemeClr val="dk1"/>
                </a:solidFill>
                <a:latin typeface="Calibri"/>
                <a:ea typeface="Calibri"/>
                <a:cs typeface="Calibri"/>
                <a:sym typeface="Calibri"/>
              </a:rPr>
              <a:t>90</a:t>
            </a:r>
            <a:endParaRPr/>
          </a:p>
          <a:p>
            <a:pPr indent="0" lvl="0" marL="0" marR="0" rtl="0" algn="ctr">
              <a:spcBef>
                <a:spcPts val="0"/>
              </a:spcBef>
              <a:spcAft>
                <a:spcPts val="0"/>
              </a:spcAft>
              <a:buNone/>
            </a:pPr>
            <a:r>
              <a:rPr b="1" i="1" lang="fr-FR" sz="1600">
                <a:solidFill>
                  <a:schemeClr val="dk1"/>
                </a:solidFill>
                <a:latin typeface="Calibri"/>
                <a:ea typeface="Calibri"/>
                <a:cs typeface="Calibri"/>
                <a:sym typeface="Calibri"/>
              </a:rPr>
              <a:t>10</a:t>
            </a:r>
            <a:endParaRPr/>
          </a:p>
          <a:p>
            <a:pPr indent="0" lvl="0" marL="0" marR="0" rtl="0" algn="ctr">
              <a:spcBef>
                <a:spcPts val="0"/>
              </a:spcBef>
              <a:spcAft>
                <a:spcPts val="0"/>
              </a:spcAft>
              <a:buNone/>
            </a:pPr>
            <a:r>
              <a:rPr b="1" i="1" lang="fr-FR" sz="1600">
                <a:solidFill>
                  <a:srgbClr val="0000FF"/>
                </a:solidFill>
                <a:latin typeface="Calibri"/>
                <a:ea typeface="Calibri"/>
                <a:cs typeface="Calibri"/>
                <a:sym typeface="Calibri"/>
              </a:rPr>
              <a:t>0</a:t>
            </a:r>
            <a:endParaRPr/>
          </a:p>
        </p:txBody>
      </p:sp>
      <p:sp>
        <p:nvSpPr>
          <p:cNvPr id="654" name="Google Shape;654;p30"/>
          <p:cNvSpPr/>
          <p:nvPr/>
        </p:nvSpPr>
        <p:spPr>
          <a:xfrm>
            <a:off x="250106" y="5071970"/>
            <a:ext cx="8496944"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Les flippases déplacent principalement la phosphatidylsérine et la phosphatidyléthanolamine depuis le feuillet extracellulaire vers le feuillet cytosolique de la membrane plasmique.</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Les floppases déplacent le cholestérol et la phosphatidylcholine du feuillet cytosolique vers le feuillet extracellulaire.</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31"/>
          <p:cNvSpPr txBox="1"/>
          <p:nvPr>
            <p:ph idx="1" type="body"/>
          </p:nvPr>
        </p:nvSpPr>
        <p:spPr>
          <a:xfrm>
            <a:off x="1944169" y="608896"/>
            <a:ext cx="5316197" cy="995433"/>
          </a:xfrm>
          <a:prstGeom prst="rect">
            <a:avLst/>
          </a:prstGeom>
          <a:noFill/>
          <a:ln>
            <a:noFill/>
          </a:ln>
        </p:spPr>
        <p:txBody>
          <a:bodyPr anchorCtr="0" anchor="t" bIns="0" lIns="0" spcFirstLastPara="1" rIns="0" wrap="square" tIns="0">
            <a:normAutofit/>
          </a:bodyPr>
          <a:lstStyle/>
          <a:p>
            <a:pPr indent="0" lvl="0" marL="0" rtl="0" algn="ctr">
              <a:lnSpc>
                <a:spcPct val="82559"/>
              </a:lnSpc>
              <a:spcBef>
                <a:spcPts val="0"/>
              </a:spcBef>
              <a:spcAft>
                <a:spcPts val="0"/>
              </a:spcAft>
              <a:buClr>
                <a:schemeClr val="dk1"/>
              </a:buClr>
              <a:buSzPts val="3000"/>
              <a:buNone/>
            </a:pPr>
            <a:r>
              <a:rPr b="1" lang="fr-FR" sz="3000">
                <a:latin typeface="Arial"/>
                <a:ea typeface="Arial"/>
                <a:cs typeface="Arial"/>
                <a:sym typeface="Arial"/>
              </a:rPr>
              <a:t>Les  sphingolipides</a:t>
            </a:r>
            <a:endParaRPr b="1" sz="3000">
              <a:latin typeface="Arial"/>
              <a:ea typeface="Arial"/>
              <a:cs typeface="Arial"/>
              <a:sym typeface="Arial"/>
            </a:endParaRPr>
          </a:p>
          <a:p>
            <a:pPr indent="0" lvl="0" marL="0" rtl="0" algn="ctr">
              <a:lnSpc>
                <a:spcPct val="82559"/>
              </a:lnSpc>
              <a:spcBef>
                <a:spcPts val="4742"/>
              </a:spcBef>
              <a:spcAft>
                <a:spcPts val="0"/>
              </a:spcAft>
              <a:buClr>
                <a:schemeClr val="dk1"/>
              </a:buClr>
              <a:buSzPts val="3200"/>
              <a:buNone/>
            </a:pPr>
            <a:r>
              <a:t/>
            </a:r>
            <a:endParaRPr b="1">
              <a:latin typeface="Arial"/>
              <a:ea typeface="Arial"/>
              <a:cs typeface="Arial"/>
              <a:sym typeface="Arial"/>
            </a:endParaRPr>
          </a:p>
        </p:txBody>
      </p:sp>
      <p:graphicFrame>
        <p:nvGraphicFramePr>
          <p:cNvPr id="660" name="Google Shape;660;p31"/>
          <p:cNvGraphicFramePr/>
          <p:nvPr/>
        </p:nvGraphicFramePr>
        <p:xfrm>
          <a:off x="652194" y="5731361"/>
          <a:ext cx="3000000" cy="3000000"/>
        </p:xfrm>
        <a:graphic>
          <a:graphicData uri="http://schemas.openxmlformats.org/drawingml/2006/table">
            <a:tbl>
              <a:tblPr>
                <a:noFill/>
                <a:tableStyleId>{C8860169-8947-41A0-ABDD-7744832E3397}</a:tableStyleId>
              </a:tblPr>
              <a:tblGrid>
                <a:gridCol w="457125"/>
                <a:gridCol w="5798300"/>
              </a:tblGrid>
              <a:tr h="1993750">
                <a:tc>
                  <a:txBody>
                    <a:bodyPr/>
                    <a:lstStyle/>
                    <a:p>
                      <a:pPr indent="0" lvl="0" marL="0" marR="6350" rtl="0" algn="r">
                        <a:lnSpc>
                          <a:spcPct val="95999"/>
                        </a:lnSpc>
                        <a:spcBef>
                          <a:spcPts val="0"/>
                        </a:spcBef>
                        <a:spcAft>
                          <a:spcPts val="0"/>
                        </a:spcAft>
                        <a:buNone/>
                      </a:pPr>
                      <a:r>
                        <a:rPr b="1" lang="fr-FR" sz="2000" u="none" cap="none" strike="noStrike">
                          <a:solidFill>
                            <a:srgbClr val="000000"/>
                          </a:solidFill>
                          <a:latin typeface="Tahoma"/>
                          <a:ea typeface="Tahoma"/>
                          <a:cs typeface="Tahoma"/>
                          <a:sym typeface="Tahoma"/>
                        </a:rPr>
                        <a:t>HO</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fr-FR" sz="100" u="none" cap="none" strike="noStrike"/>
                        <a:t> </a:t>
                      </a:r>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661" name="Google Shape;661;p31"/>
          <p:cNvPicPr preferRelativeResize="0"/>
          <p:nvPr/>
        </p:nvPicPr>
        <p:blipFill rotWithShape="1">
          <a:blip r:embed="rId3">
            <a:alphaModFix/>
          </a:blip>
          <a:srcRect b="0" l="0" r="0" t="0"/>
          <a:stretch/>
        </p:blipFill>
        <p:spPr>
          <a:xfrm>
            <a:off x="1259632" y="5003378"/>
            <a:ext cx="5400599" cy="1424457"/>
          </a:xfrm>
          <a:prstGeom prst="rect">
            <a:avLst/>
          </a:prstGeom>
          <a:noFill/>
          <a:ln>
            <a:noFill/>
          </a:ln>
        </p:spPr>
      </p:pic>
      <p:sp>
        <p:nvSpPr>
          <p:cNvPr id="662" name="Google Shape;662;p31"/>
          <p:cNvSpPr/>
          <p:nvPr/>
        </p:nvSpPr>
        <p:spPr>
          <a:xfrm>
            <a:off x="588075" y="1382197"/>
            <a:ext cx="8028384" cy="92333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fr-FR" sz="1800" u="none" cap="none" strike="noStrike">
                <a:solidFill>
                  <a:schemeClr val="dk1"/>
                </a:solidFill>
                <a:latin typeface="Arial"/>
                <a:ea typeface="Arial"/>
                <a:cs typeface="Arial"/>
                <a:sym typeface="Arial"/>
              </a:rPr>
              <a:t>Ce sont des amides de la sphingosine qui se forment par liaison du carboxyle de l’AG sur le -NH</a:t>
            </a:r>
            <a:r>
              <a:rPr b="0" baseline="-25000" i="0" lang="fr-FR" sz="1800" u="none" cap="none" strike="noStrike">
                <a:solidFill>
                  <a:schemeClr val="dk1"/>
                </a:solidFill>
                <a:latin typeface="Arial"/>
                <a:ea typeface="Arial"/>
                <a:cs typeface="Arial"/>
                <a:sym typeface="Arial"/>
              </a:rPr>
              <a:t>2</a:t>
            </a:r>
            <a:r>
              <a:rPr b="0" i="0" lang="fr-FR" sz="1800" u="none" cap="none" strike="noStrike">
                <a:solidFill>
                  <a:schemeClr val="dk1"/>
                </a:solidFill>
                <a:latin typeface="Arial"/>
                <a:ea typeface="Arial"/>
                <a:cs typeface="Arial"/>
                <a:sym typeface="Arial"/>
              </a:rPr>
              <a:t> de la sphingosine </a:t>
            </a:r>
            <a:endParaRPr/>
          </a:p>
          <a:p>
            <a:pPr indent="0" lvl="0" marL="0" marR="0" rtl="0" algn="l">
              <a:lnSpc>
                <a:spcPct val="100000"/>
              </a:lnSpc>
              <a:spcBef>
                <a:spcPts val="0"/>
              </a:spcBef>
              <a:spcAft>
                <a:spcPts val="0"/>
              </a:spcAft>
              <a:buClr>
                <a:schemeClr val="dk1"/>
              </a:buClr>
              <a:buSzPts val="1800"/>
              <a:buFont typeface="Arial"/>
              <a:buNone/>
            </a:pPr>
            <a:r>
              <a:rPr b="0" i="0" lang="fr-FR" sz="1800" u="none" cap="none" strike="noStrike">
                <a:solidFill>
                  <a:schemeClr val="dk1"/>
                </a:solidFill>
                <a:latin typeface="Arial"/>
                <a:ea typeface="Arial"/>
                <a:cs typeface="Arial"/>
                <a:sym typeface="Arial"/>
              </a:rPr>
              <a:t> </a:t>
            </a:r>
            <a:endParaRPr b="0" i="0" sz="11500" u="none" cap="none" strike="noStrike">
              <a:solidFill>
                <a:schemeClr val="dk1"/>
              </a:solidFill>
              <a:latin typeface="Arial"/>
              <a:ea typeface="Arial"/>
              <a:cs typeface="Arial"/>
              <a:sym typeface="Arial"/>
            </a:endParaRPr>
          </a:p>
        </p:txBody>
      </p:sp>
      <p:pic>
        <p:nvPicPr>
          <p:cNvPr id="663" name="Google Shape;663;p31"/>
          <p:cNvPicPr preferRelativeResize="0"/>
          <p:nvPr/>
        </p:nvPicPr>
        <p:blipFill rotWithShape="1">
          <a:blip r:embed="rId4">
            <a:alphaModFix/>
          </a:blip>
          <a:srcRect b="0" l="0" r="0" t="38377"/>
          <a:stretch/>
        </p:blipFill>
        <p:spPr>
          <a:xfrm>
            <a:off x="3203848" y="2721345"/>
            <a:ext cx="5600485" cy="186621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pic>
        <p:nvPicPr>
          <p:cNvPr id="668" name="Google Shape;668;p32"/>
          <p:cNvPicPr preferRelativeResize="0"/>
          <p:nvPr/>
        </p:nvPicPr>
        <p:blipFill rotWithShape="1">
          <a:blip r:embed="rId3">
            <a:alphaModFix/>
          </a:blip>
          <a:srcRect b="0" l="0" r="0" t="0"/>
          <a:stretch/>
        </p:blipFill>
        <p:spPr>
          <a:xfrm>
            <a:off x="611560" y="2996952"/>
            <a:ext cx="7488832" cy="1728192"/>
          </a:xfrm>
          <a:prstGeom prst="rect">
            <a:avLst/>
          </a:prstGeom>
          <a:noFill/>
          <a:ln>
            <a:noFill/>
          </a:ln>
        </p:spPr>
      </p:pic>
      <p:pic>
        <p:nvPicPr>
          <p:cNvPr id="669" name="Google Shape;669;p32"/>
          <p:cNvPicPr preferRelativeResize="0"/>
          <p:nvPr/>
        </p:nvPicPr>
        <p:blipFill rotWithShape="1">
          <a:blip r:embed="rId4">
            <a:alphaModFix/>
          </a:blip>
          <a:srcRect b="0" l="0" r="0" t="0"/>
          <a:stretch/>
        </p:blipFill>
        <p:spPr>
          <a:xfrm>
            <a:off x="1115616" y="260648"/>
            <a:ext cx="6696744" cy="2543175"/>
          </a:xfrm>
          <a:prstGeom prst="rect">
            <a:avLst/>
          </a:prstGeom>
          <a:noFill/>
          <a:ln>
            <a:noFill/>
          </a:ln>
        </p:spPr>
      </p:pic>
      <p:sp>
        <p:nvSpPr>
          <p:cNvPr id="670" name="Google Shape;670;p32"/>
          <p:cNvSpPr/>
          <p:nvPr/>
        </p:nvSpPr>
        <p:spPr>
          <a:xfrm>
            <a:off x="467544" y="5085184"/>
            <a:ext cx="7992888"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Les sphingomyélines sont des phospholipides membranaires, présentes dans toutes les membranes mais surtout dans le système nerveux (gaînes de myéline). Elles sont constituées d’une sphingosine , d’un acide gras amidifiant la fonction amine et d’un phosphate estérifiant la fonction alcool primaire et lui même estérifié par un alcool aminé (choline).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descr="Image glycolip.gif" id="675" name="Google Shape;675;p33"/>
          <p:cNvPicPr preferRelativeResize="0"/>
          <p:nvPr/>
        </p:nvPicPr>
        <p:blipFill rotWithShape="1">
          <a:blip r:embed="rId3">
            <a:alphaModFix/>
          </a:blip>
          <a:srcRect b="0" l="0" r="0" t="0"/>
          <a:stretch/>
        </p:blipFill>
        <p:spPr>
          <a:xfrm>
            <a:off x="4972050" y="978174"/>
            <a:ext cx="4171950" cy="2628900"/>
          </a:xfrm>
          <a:prstGeom prst="rect">
            <a:avLst/>
          </a:prstGeom>
          <a:noFill/>
          <a:ln>
            <a:noFill/>
          </a:ln>
        </p:spPr>
      </p:pic>
      <p:graphicFrame>
        <p:nvGraphicFramePr>
          <p:cNvPr id="676" name="Google Shape;676;p33"/>
          <p:cNvGraphicFramePr/>
          <p:nvPr/>
        </p:nvGraphicFramePr>
        <p:xfrm>
          <a:off x="-825857" y="1115501"/>
          <a:ext cx="3000000" cy="3000000"/>
        </p:xfrm>
        <a:graphic>
          <a:graphicData uri="http://schemas.openxmlformats.org/drawingml/2006/table">
            <a:tbl>
              <a:tblPr>
                <a:noFill/>
                <a:tableStyleId>{C8860169-8947-41A0-ABDD-7744832E3397}</a:tableStyleId>
              </a:tblPr>
              <a:tblGrid>
                <a:gridCol w="937950"/>
                <a:gridCol w="4688650"/>
              </a:tblGrid>
              <a:tr h="228600">
                <a:tc>
                  <a:txBody>
                    <a:bodyPr/>
                    <a:lstStyle/>
                    <a:p>
                      <a:pPr indent="0" lvl="0" marL="0" marR="0" rtl="0" algn="l">
                        <a:spcBef>
                          <a:spcPts val="0"/>
                        </a:spcBef>
                        <a:spcAft>
                          <a:spcPts val="0"/>
                        </a:spcAft>
                        <a:buNone/>
                      </a:pPr>
                      <a:r>
                        <a:rPr lang="fr-FR" sz="1800" u="none" cap="none" strike="noStrike"/>
                        <a:t> </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fr-FR" sz="1800"/>
                        <a:t>          Sphingosine + AG + βD Galactose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77" name="Google Shape;677;p33"/>
          <p:cNvSpPr/>
          <p:nvPr/>
        </p:nvSpPr>
        <p:spPr>
          <a:xfrm>
            <a:off x="171663" y="-93880"/>
            <a:ext cx="3041217" cy="160043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0" lang="fr-FR" sz="2800" u="none" cap="none" strike="noStrike">
                <a:solidFill>
                  <a:schemeClr val="dk1"/>
                </a:solidFill>
                <a:latin typeface="Arial"/>
                <a:ea typeface="Arial"/>
                <a:cs typeface="Arial"/>
                <a:sym typeface="Arial"/>
              </a:rPr>
              <a:t>Les Glycolipides</a:t>
            </a:r>
            <a:endParaRPr/>
          </a:p>
          <a:p>
            <a:pPr indent="0" lvl="0" marL="0" marR="0" rtl="0" algn="l">
              <a:lnSpc>
                <a:spcPct val="100000"/>
              </a:lnSpc>
              <a:spcBef>
                <a:spcPts val="0"/>
              </a:spcBef>
              <a:spcAft>
                <a:spcPts val="0"/>
              </a:spcAft>
              <a:buClr>
                <a:schemeClr val="dk1"/>
              </a:buClr>
              <a:buSzPts val="1800"/>
              <a:buFont typeface="Calibri"/>
              <a:buNone/>
            </a:pPr>
            <a:r>
              <a:t/>
            </a:r>
            <a:endParaRPr b="1"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AutoNum type="alphaUcPeriod"/>
            </a:pPr>
            <a:r>
              <a:rPr b="1" i="0" lang="fr-FR" sz="1800" u="none" cap="none" strike="noStrike">
                <a:solidFill>
                  <a:schemeClr val="dk1"/>
                </a:solidFill>
                <a:latin typeface="Arial"/>
                <a:ea typeface="Arial"/>
                <a:cs typeface="Arial"/>
                <a:sym typeface="Arial"/>
              </a:rPr>
              <a:t> Cérébrogalactosides</a:t>
            </a:r>
            <a:br>
              <a:rPr b="0" i="0" lang="fr-FR" sz="1800" u="none" cap="none" strike="noStrike">
                <a:solidFill>
                  <a:schemeClr val="dk1"/>
                </a:solidFill>
                <a:latin typeface="Arial"/>
                <a:ea typeface="Arial"/>
                <a:cs typeface="Arial"/>
                <a:sym typeface="Arial"/>
              </a:rPr>
            </a:br>
            <a:r>
              <a:rPr b="0" i="0" lang="fr-FR" sz="1600" u="none" cap="none" strike="noStrike">
                <a:solidFill>
                  <a:schemeClr val="dk1"/>
                </a:solidFill>
                <a:latin typeface="Arial"/>
                <a:ea typeface="Arial"/>
                <a:cs typeface="Arial"/>
                <a:sym typeface="Arial"/>
              </a:rPr>
              <a:t>Ils sont constitués de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678" name="Google Shape;678;p33"/>
          <p:cNvSpPr/>
          <p:nvPr/>
        </p:nvSpPr>
        <p:spPr>
          <a:xfrm>
            <a:off x="226174" y="1436869"/>
            <a:ext cx="439248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600">
                <a:solidFill>
                  <a:schemeClr val="dk1"/>
                </a:solidFill>
                <a:latin typeface="Arial"/>
                <a:ea typeface="Arial"/>
                <a:cs typeface="Arial"/>
                <a:sym typeface="Arial"/>
              </a:rPr>
              <a:t>Le galactose est uni à l’alcool primaire de la sphingosine par une liaison β osidique</a:t>
            </a:r>
            <a:endParaRPr sz="1600">
              <a:solidFill>
                <a:schemeClr val="dk1"/>
              </a:solidFill>
              <a:latin typeface="Arial"/>
              <a:ea typeface="Arial"/>
              <a:cs typeface="Arial"/>
              <a:sym typeface="Arial"/>
            </a:endParaRPr>
          </a:p>
        </p:txBody>
      </p:sp>
      <p:sp>
        <p:nvSpPr>
          <p:cNvPr id="679" name="Google Shape;679;p33"/>
          <p:cNvSpPr/>
          <p:nvPr/>
        </p:nvSpPr>
        <p:spPr>
          <a:xfrm>
            <a:off x="159713" y="1818142"/>
            <a:ext cx="3840731" cy="141577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B.  Les Cérébroglucides</a:t>
            </a:r>
            <a:br>
              <a:rPr b="0" i="0" lang="fr-FR" sz="1800" u="none" cap="none" strike="noStrike">
                <a:solidFill>
                  <a:schemeClr val="dk1"/>
                </a:solidFill>
                <a:latin typeface="Arial"/>
                <a:ea typeface="Arial"/>
                <a:cs typeface="Arial"/>
                <a:sym typeface="Arial"/>
              </a:rPr>
            </a:br>
            <a:r>
              <a:rPr b="0" i="0" lang="fr-FR" sz="1600" u="none" cap="none" strike="noStrike">
                <a:solidFill>
                  <a:schemeClr val="dk1"/>
                </a:solidFill>
                <a:latin typeface="Arial"/>
                <a:ea typeface="Arial"/>
                <a:cs typeface="Arial"/>
                <a:sym typeface="Arial"/>
              </a:rPr>
              <a:t>Ils sont constitués de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Sphingosine + AG + βD Glucose  </a:t>
            </a:r>
            <a:endParaRPr/>
          </a:p>
          <a:p>
            <a:pPr indent="0" lvl="0" marL="0" marR="0" rtl="0" algn="l">
              <a:spcBef>
                <a:spcPts val="0"/>
              </a:spcBef>
              <a:spcAft>
                <a:spcPts val="0"/>
              </a:spcAft>
              <a:buNone/>
            </a:pPr>
            <a:r>
              <a:rPr b="0" i="0" lang="fr-FR" sz="1600" u="none" cap="none" strike="noStrike">
                <a:solidFill>
                  <a:schemeClr val="dk1"/>
                </a:solidFill>
                <a:latin typeface="Arial"/>
                <a:ea typeface="Arial"/>
                <a:cs typeface="Arial"/>
                <a:sym typeface="Arial"/>
              </a:rPr>
              <a:t>La liaison est β osidique. </a:t>
            </a:r>
            <a:endParaRPr/>
          </a:p>
        </p:txBody>
      </p:sp>
      <p:sp>
        <p:nvSpPr>
          <p:cNvPr id="680" name="Google Shape;680;p33"/>
          <p:cNvSpPr/>
          <p:nvPr/>
        </p:nvSpPr>
        <p:spPr>
          <a:xfrm>
            <a:off x="199745" y="3164200"/>
            <a:ext cx="7936616" cy="23698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C.  Les Gangliosides</a:t>
            </a:r>
            <a:br>
              <a:rPr b="0" i="0" lang="fr-FR" sz="1800" u="none" cap="none" strike="noStrike">
                <a:solidFill>
                  <a:schemeClr val="dk1"/>
                </a:solidFill>
                <a:latin typeface="Arial"/>
                <a:ea typeface="Arial"/>
                <a:cs typeface="Arial"/>
                <a:sym typeface="Arial"/>
              </a:rPr>
            </a:br>
            <a:r>
              <a:rPr b="0" i="0" lang="fr-FR" sz="1600" u="none" cap="none" strike="noStrike">
                <a:solidFill>
                  <a:schemeClr val="dk1"/>
                </a:solidFill>
                <a:latin typeface="Arial"/>
                <a:ea typeface="Arial"/>
                <a:cs typeface="Arial"/>
                <a:sym typeface="Arial"/>
              </a:rPr>
              <a:t>Ils sont constitués de :</a:t>
            </a:r>
            <a:endParaRPr/>
          </a:p>
          <a:p>
            <a:pPr indent="0" lvl="0" marL="0" marR="0" rtl="0" algn="l">
              <a:spcBef>
                <a:spcPts val="0"/>
              </a:spcBef>
              <a:spcAft>
                <a:spcPts val="0"/>
              </a:spcAft>
              <a:buNone/>
            </a:pPr>
            <a:r>
              <a:rPr lang="fr-FR" sz="1600">
                <a:solidFill>
                  <a:schemeClr val="dk1"/>
                </a:solidFill>
                <a:latin typeface="Arial"/>
                <a:ea typeface="Arial"/>
                <a:cs typeface="Arial"/>
                <a:sym typeface="Arial"/>
              </a:rPr>
              <a:t>         </a:t>
            </a:r>
            <a:r>
              <a:rPr lang="fr-FR" sz="1600">
                <a:solidFill>
                  <a:schemeClr val="dk1"/>
                </a:solidFill>
                <a:latin typeface="Calibri"/>
                <a:ea typeface="Calibri"/>
                <a:cs typeface="Calibri"/>
                <a:sym typeface="Calibri"/>
              </a:rPr>
              <a:t>  </a:t>
            </a:r>
            <a:r>
              <a:rPr lang="fr-FR" sz="1800">
                <a:solidFill>
                  <a:schemeClr val="dk1"/>
                </a:solidFill>
                <a:latin typeface="Calibri"/>
                <a:ea typeface="Calibri"/>
                <a:cs typeface="Calibri"/>
                <a:sym typeface="Calibri"/>
              </a:rPr>
              <a:t>Sphingosine + AG + chaîne de plusieurs oses et dérivés d’oses</a:t>
            </a:r>
            <a:br>
              <a:rPr b="0" i="0" lang="fr-FR"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fr-FR" sz="1600" u="none" cap="none" strike="noStrike">
                <a:solidFill>
                  <a:schemeClr val="dk1"/>
                </a:solidFill>
                <a:latin typeface="Arial"/>
                <a:ea typeface="Arial"/>
                <a:cs typeface="Arial"/>
                <a:sym typeface="Arial"/>
              </a:rPr>
              <a:t>Ils sont abondants dans les ganglions d’où leur nom.</a:t>
            </a:r>
            <a:br>
              <a:rPr b="0" i="0" lang="fr-FR"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fr-FR" sz="1600" u="none" cap="none" strike="noStrike">
                <a:solidFill>
                  <a:schemeClr val="dk1"/>
                </a:solidFill>
                <a:latin typeface="Arial"/>
                <a:ea typeface="Arial"/>
                <a:cs typeface="Arial"/>
                <a:sym typeface="Arial"/>
              </a:rPr>
              <a:t>Ces oligosides sont présents sur la face externe de la membrane plasmique. Ils sont spécifiques, donc reconnus par des protéines (toxines bactériennes, lectines).</a:t>
            </a:r>
            <a:br>
              <a:rPr b="0" i="0" lang="fr-FR" sz="1600" u="none" cap="none" strike="noStrike">
                <a:solidFill>
                  <a:schemeClr val="dk1"/>
                </a:solidFill>
                <a:latin typeface="Arial"/>
                <a:ea typeface="Arial"/>
                <a:cs typeface="Arial"/>
                <a:sym typeface="Arial"/>
              </a:rPr>
            </a:br>
            <a:r>
              <a:rPr b="0" i="0" lang="fr-FR" sz="1600" u="none" cap="none" strike="noStrike">
                <a:solidFill>
                  <a:schemeClr val="dk1"/>
                </a:solidFill>
                <a:latin typeface="Arial"/>
                <a:ea typeface="Arial"/>
                <a:cs typeface="Arial"/>
                <a:sym typeface="Arial"/>
              </a:rPr>
              <a:t>Exemple : antigènes des groupes sanguins </a:t>
            </a:r>
            <a:endParaRPr/>
          </a:p>
        </p:txBody>
      </p:sp>
      <p:sp>
        <p:nvSpPr>
          <p:cNvPr id="681" name="Google Shape;681;p33"/>
          <p:cNvSpPr/>
          <p:nvPr/>
        </p:nvSpPr>
        <p:spPr>
          <a:xfrm>
            <a:off x="380980" y="5800014"/>
            <a:ext cx="8496944" cy="923330"/>
          </a:xfrm>
          <a:prstGeom prst="rect">
            <a:avLst/>
          </a:prstGeom>
          <a:no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Arial"/>
                <a:ea typeface="Arial"/>
                <a:cs typeface="Arial"/>
                <a:sym typeface="Arial"/>
              </a:rPr>
              <a:t>Les antigènes A, B et H sont des oligosaccharides portés par les glycolipides membranaires des hématies, des cellules épithéliales et endothéliales. Nous notons également leur présence dans le plasma, la salive ou le lait.</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34"/>
          <p:cNvPicPr preferRelativeResize="0"/>
          <p:nvPr/>
        </p:nvPicPr>
        <p:blipFill rotWithShape="1">
          <a:blip r:embed="rId3">
            <a:alphaModFix/>
          </a:blip>
          <a:srcRect b="0" l="0" r="0" t="0"/>
          <a:stretch/>
        </p:blipFill>
        <p:spPr>
          <a:xfrm>
            <a:off x="130825" y="0"/>
            <a:ext cx="10039126" cy="6119324"/>
          </a:xfrm>
          <a:prstGeom prst="rect">
            <a:avLst/>
          </a:prstGeom>
          <a:noFill/>
          <a:ln>
            <a:noFill/>
          </a:ln>
        </p:spPr>
      </p:pic>
      <p:sp>
        <p:nvSpPr>
          <p:cNvPr id="687" name="Google Shape;687;p34"/>
          <p:cNvSpPr/>
          <p:nvPr/>
        </p:nvSpPr>
        <p:spPr>
          <a:xfrm>
            <a:off x="251520" y="6119336"/>
            <a:ext cx="9036496"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Les lipides membranaires forment des bicouches lipidiques</a:t>
            </a:r>
            <a:endParaRPr/>
          </a:p>
          <a:p>
            <a:pPr indent="0" lvl="0" marL="0" marR="0" rtl="0" algn="l">
              <a:spcBef>
                <a:spcPts val="0"/>
              </a:spcBef>
              <a:spcAft>
                <a:spcPts val="0"/>
              </a:spcAft>
              <a:buNone/>
            </a:pPr>
            <a:r>
              <a:rPr lang="fr-FR" sz="1400">
                <a:solidFill>
                  <a:schemeClr val="dk1"/>
                </a:solidFill>
                <a:latin typeface="Calibri"/>
                <a:ea typeface="Calibri"/>
                <a:cs typeface="Calibri"/>
                <a:sym typeface="Calibri"/>
              </a:rPr>
              <a:t>(A) Trois exemples de lipides membranaires. (B) Auto-organisation de lipides membranaires en bicouche. (C) Dénomination des feuillets (hémimembranes) de la membrane plasmique et de membranes d’organites ou vésicules.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35"/>
          <p:cNvSpPr/>
          <p:nvPr/>
        </p:nvSpPr>
        <p:spPr>
          <a:xfrm>
            <a:off x="467544" y="620688"/>
            <a:ext cx="8064896" cy="4894738"/>
          </a:xfrm>
          <a:prstGeom prst="rect">
            <a:avLst/>
          </a:prstGeom>
          <a:noFill/>
          <a:ln>
            <a:noFill/>
          </a:ln>
        </p:spPr>
        <p:txBody>
          <a:bodyPr anchorCtr="0" anchor="t" bIns="45700" lIns="91425" spcFirstLastPara="1" rIns="91425" wrap="square" tIns="45700">
            <a:spAutoFit/>
          </a:bodyPr>
          <a:lstStyle/>
          <a:p>
            <a:pPr indent="0" lvl="1" marL="457200" marR="0" rtl="0" algn="l">
              <a:lnSpc>
                <a:spcPct val="150000"/>
              </a:lnSpc>
              <a:spcBef>
                <a:spcPts val="0"/>
              </a:spcBef>
              <a:spcAft>
                <a:spcPts val="0"/>
              </a:spcAft>
              <a:buNone/>
            </a:pPr>
            <a:r>
              <a:rPr b="1" i="0" lang="fr-FR" sz="1400" u="none" cap="none" strike="noStrike">
                <a:solidFill>
                  <a:schemeClr val="dk1"/>
                </a:solidFill>
                <a:latin typeface="Arial"/>
                <a:ea typeface="Arial"/>
                <a:cs typeface="Arial"/>
                <a:sym typeface="Arial"/>
              </a:rPr>
              <a:t>Propriétés des composants chimiques de la membrane plasmique</a:t>
            </a:r>
            <a:endParaRPr b="0" i="0" sz="1400" u="none" cap="none" strike="noStrike">
              <a:solidFill>
                <a:schemeClr val="dk1"/>
              </a:solidFill>
              <a:latin typeface="Arial"/>
              <a:ea typeface="Arial"/>
              <a:cs typeface="Arial"/>
              <a:sym typeface="Arial"/>
            </a:endParaRPr>
          </a:p>
          <a:p>
            <a:pPr indent="0" lvl="0" marL="0" marR="0" rtl="0" algn="just">
              <a:lnSpc>
                <a:spcPct val="150000"/>
              </a:lnSpc>
              <a:spcBef>
                <a:spcPts val="1000"/>
              </a:spcBef>
              <a:spcAft>
                <a:spcPts val="0"/>
              </a:spcAft>
              <a:buNone/>
            </a:pPr>
            <a:r>
              <a:rPr lang="fr-FR" sz="1400">
                <a:solidFill>
                  <a:schemeClr val="dk1"/>
                </a:solidFill>
                <a:latin typeface="Arial"/>
                <a:ea typeface="Arial"/>
                <a:cs typeface="Arial"/>
                <a:sym typeface="Arial"/>
              </a:rPr>
              <a:t>Les constituants chimiques de la membrane plasmique sont doués de propriétés différentes jouant ainsi des rôles bien différents au sein de la bicouche.</a:t>
            </a:r>
            <a:endParaRPr/>
          </a:p>
          <a:p>
            <a:pPr indent="0" lvl="0" marL="0" marR="0" rtl="0" algn="just">
              <a:lnSpc>
                <a:spcPct val="150000"/>
              </a:lnSpc>
              <a:spcBef>
                <a:spcPts val="1000"/>
              </a:spcBef>
              <a:spcAft>
                <a:spcPts val="0"/>
              </a:spcAft>
              <a:buNone/>
            </a:pPr>
            <a:r>
              <a:rPr lang="fr-FR" sz="1400">
                <a:solidFill>
                  <a:schemeClr val="dk1"/>
                </a:solidFill>
                <a:latin typeface="Arial"/>
                <a:ea typeface="Arial"/>
                <a:cs typeface="Arial"/>
                <a:sym typeface="Arial"/>
              </a:rPr>
              <a:t>Les lipides membranaires agissent sur la fluidité de la membrane qui dépendra de l’insaturation des phospholipides qui la composent, ainsi l’insaturation des chaines hydrocarbonées augmente la fluidité de la membran</a:t>
            </a:r>
            <a:r>
              <a:rPr lang="fr-FR">
                <a:solidFill>
                  <a:schemeClr val="dk1"/>
                </a:solidFill>
              </a:rPr>
              <a:t>e</a:t>
            </a:r>
            <a:r>
              <a:rPr lang="fr-FR" sz="1400">
                <a:solidFill>
                  <a:schemeClr val="dk1"/>
                </a:solidFill>
                <a:latin typeface="Arial"/>
                <a:ea typeface="Arial"/>
                <a:cs typeface="Arial"/>
                <a:sym typeface="Arial"/>
              </a:rPr>
              <a:t> mais aussi une baisse de la température provoque la synthèse de lipides membranaires insaturés, entrainant une augmentation de la fluidité de la membrane.     </a:t>
            </a:r>
            <a:endParaRPr/>
          </a:p>
          <a:p>
            <a:pPr indent="0" lvl="0" marL="0" marR="0" rtl="0" algn="just">
              <a:lnSpc>
                <a:spcPct val="150000"/>
              </a:lnSpc>
              <a:spcBef>
                <a:spcPts val="1000"/>
              </a:spcBef>
              <a:spcAft>
                <a:spcPts val="0"/>
              </a:spcAft>
              <a:buNone/>
            </a:pPr>
            <a:r>
              <a:rPr lang="fr-FR" sz="1400">
                <a:solidFill>
                  <a:schemeClr val="dk1"/>
                </a:solidFill>
                <a:latin typeface="Arial"/>
                <a:ea typeface="Arial"/>
                <a:cs typeface="Arial"/>
                <a:sym typeface="Arial"/>
              </a:rPr>
              <a:t>Le cholestérol renforce la solidité de la membrane car en se plaçant entre les molécules de phospholipides, il immobilise les chaines hydrocarbonées voisines rendant la membrane plus rigide.</a:t>
            </a:r>
            <a:endParaRPr/>
          </a:p>
          <a:p>
            <a:pPr indent="0" lvl="0" marL="0" marR="0" rtl="0" algn="just">
              <a:lnSpc>
                <a:spcPct val="150000"/>
              </a:lnSpc>
              <a:spcBef>
                <a:spcPts val="1000"/>
              </a:spcBef>
              <a:spcAft>
                <a:spcPts val="0"/>
              </a:spcAft>
              <a:buNone/>
            </a:pPr>
            <a:r>
              <a:rPr lang="fr-FR" sz="1400">
                <a:solidFill>
                  <a:schemeClr val="dk1"/>
                </a:solidFill>
                <a:latin typeface="Arial"/>
                <a:ea typeface="Arial"/>
                <a:cs typeface="Arial"/>
                <a:sym typeface="Arial"/>
              </a:rPr>
              <a:t>Les protéines membranaires ont des rôles bien spécifiques au sein de la double couche phospholipidique, ils peuvent être des récepteurs, des transporteurs, des catalyseurs enzymatiques, des messagers intracellulaires ou des molécules d’adhérences. </a:t>
            </a:r>
            <a:endParaRPr/>
          </a:p>
          <a:p>
            <a:pPr indent="0" lvl="0" marL="0" marR="0" rtl="0" algn="just">
              <a:lnSpc>
                <a:spcPct val="150000"/>
              </a:lnSpc>
              <a:spcBef>
                <a:spcPts val="1000"/>
              </a:spcBef>
              <a:spcAft>
                <a:spcPts val="0"/>
              </a:spcAft>
              <a:buNone/>
            </a:pPr>
            <a:r>
              <a:rPr lang="fr-FR" sz="1400">
                <a:solidFill>
                  <a:schemeClr val="dk1"/>
                </a:solidFill>
                <a:latin typeface="Arial"/>
                <a:ea typeface="Arial"/>
                <a:cs typeface="Arial"/>
                <a:sym typeface="Arial"/>
              </a:rPr>
              <a:t>Les glucides participent à la charge négative de la membrane par la présence de l’acide sialique.    </a:t>
            </a:r>
            <a:endParaRPr sz="14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36"/>
          <p:cNvSpPr/>
          <p:nvPr/>
        </p:nvSpPr>
        <p:spPr>
          <a:xfrm>
            <a:off x="323528" y="0"/>
            <a:ext cx="8568952" cy="4031873"/>
          </a:xfrm>
          <a:prstGeom prst="rect">
            <a:avLst/>
          </a:prstGeom>
          <a:noFill/>
          <a:ln>
            <a:noFill/>
          </a:ln>
        </p:spPr>
        <p:txBody>
          <a:bodyPr anchorCtr="0" anchor="t" bIns="45700" lIns="91425" spcFirstLastPara="1" rIns="91425" wrap="square" tIns="45700">
            <a:spAutoFit/>
          </a:bodyPr>
          <a:lstStyle/>
          <a:p>
            <a:pPr indent="0" lvl="2" marL="914400" marR="0" rtl="0" algn="just">
              <a:lnSpc>
                <a:spcPct val="150000"/>
              </a:lnSpc>
              <a:spcBef>
                <a:spcPts val="0"/>
              </a:spcBef>
              <a:spcAft>
                <a:spcPts val="0"/>
              </a:spcAft>
              <a:buNone/>
            </a:pPr>
            <a:r>
              <a:rPr b="1" i="0" lang="fr-FR" sz="1400" u="none" cap="none" strike="noStrike">
                <a:solidFill>
                  <a:schemeClr val="dk1"/>
                </a:solidFill>
                <a:latin typeface="Arial"/>
                <a:ea typeface="Arial"/>
                <a:cs typeface="Arial"/>
                <a:sym typeface="Arial"/>
              </a:rPr>
              <a:t>Déplacement des lipides et protéines membranaires</a:t>
            </a:r>
            <a:endParaRPr b="0" i="0" sz="1400" u="none" cap="none" strike="noStrike">
              <a:solidFill>
                <a:schemeClr val="dk1"/>
              </a:solidFill>
              <a:latin typeface="Arial"/>
              <a:ea typeface="Arial"/>
              <a:cs typeface="Arial"/>
              <a:sym typeface="Arial"/>
            </a:endParaRPr>
          </a:p>
          <a:p>
            <a:pPr indent="0" lvl="0" marL="0" marR="0" rtl="0" algn="just">
              <a:lnSpc>
                <a:spcPct val="150000"/>
              </a:lnSpc>
              <a:spcBef>
                <a:spcPts val="1000"/>
              </a:spcBef>
              <a:spcAft>
                <a:spcPts val="0"/>
              </a:spcAft>
              <a:buNone/>
            </a:pPr>
            <a:r>
              <a:rPr lang="fr-FR" sz="1400">
                <a:solidFill>
                  <a:schemeClr val="dk1"/>
                </a:solidFill>
                <a:latin typeface="Arial"/>
                <a:ea typeface="Arial"/>
                <a:cs typeface="Arial"/>
                <a:sym typeface="Arial"/>
              </a:rPr>
              <a:t>Un phospholipide peut se déplacer latéralement dans un même feuillet avec une grande facilité. On a estimé qu’un phospholipide peut diffuser d’une extrémité à l’autre d’une bactérie en une ou deux secondes. De tous les déplacements possible d’un phospholipide, la culbute ou « flip-flop »vers l’autre face de la membrane est le plus limité, car pour ce déplacement transversal, le groupement hydrophile du lipide devrait traverser la couche hydrophobe interne de la membrane. En effet les cellules possèdent des enzymes, appelées </a:t>
            </a:r>
            <a:r>
              <a:rPr i="1" lang="fr-FR" sz="1400">
                <a:solidFill>
                  <a:schemeClr val="dk1"/>
                </a:solidFill>
                <a:latin typeface="Arial"/>
                <a:ea typeface="Arial"/>
                <a:cs typeface="Arial"/>
                <a:sym typeface="Arial"/>
              </a:rPr>
              <a:t>flippase</a:t>
            </a:r>
            <a:r>
              <a:rPr lang="fr-FR" sz="1400">
                <a:solidFill>
                  <a:schemeClr val="dk1"/>
                </a:solidFill>
                <a:latin typeface="Arial"/>
                <a:ea typeface="Arial"/>
                <a:cs typeface="Arial"/>
                <a:sym typeface="Arial"/>
              </a:rPr>
              <a:t>, qui déplacent activement certains phospholipides d’un feuillet vers l’autre. Ces enzymes peuvent jouer un rôle dans l’établissement de l’asymétrie des lipides. </a:t>
            </a:r>
            <a:endParaRPr/>
          </a:p>
          <a:p>
            <a:pPr indent="0" lvl="0" marL="0" marR="0" rtl="0" algn="just">
              <a:lnSpc>
                <a:spcPct val="150000"/>
              </a:lnSpc>
              <a:spcBef>
                <a:spcPts val="1000"/>
              </a:spcBef>
              <a:spcAft>
                <a:spcPts val="0"/>
              </a:spcAft>
              <a:buNone/>
            </a:pPr>
            <a:r>
              <a:rPr lang="fr-FR" sz="1400">
                <a:solidFill>
                  <a:schemeClr val="dk1"/>
                </a:solidFill>
                <a:latin typeface="Arial"/>
                <a:ea typeface="Arial"/>
                <a:cs typeface="Arial"/>
                <a:sym typeface="Arial"/>
              </a:rPr>
              <a:t>Les protéines membranaires aussi sont douées de mouvements lents de diffusion latérale à travers la bicouche.</a:t>
            </a:r>
            <a:endParaRPr/>
          </a:p>
          <a:p>
            <a:pPr indent="0" lvl="0" marL="0" marR="0" rtl="0" algn="just">
              <a:lnSpc>
                <a:spcPct val="150000"/>
              </a:lnSpc>
              <a:spcBef>
                <a:spcPts val="1000"/>
              </a:spcBef>
              <a:spcAft>
                <a:spcPts val="0"/>
              </a:spcAft>
              <a:buNone/>
            </a:pPr>
            <a:r>
              <a:t/>
            </a:r>
            <a:endParaRPr sz="1400">
              <a:solidFill>
                <a:schemeClr val="dk1"/>
              </a:solidFill>
              <a:latin typeface="Arial"/>
              <a:ea typeface="Arial"/>
              <a:cs typeface="Arial"/>
              <a:sym typeface="Arial"/>
            </a:endParaRPr>
          </a:p>
        </p:txBody>
      </p:sp>
      <p:pic>
        <p:nvPicPr>
          <p:cNvPr descr="Résultat de recherche d'images pour &quot;le modele de singer et nicholson&quot;" id="698" name="Google Shape;698;p36"/>
          <p:cNvPicPr preferRelativeResize="0"/>
          <p:nvPr/>
        </p:nvPicPr>
        <p:blipFill rotWithShape="1">
          <a:blip r:embed="rId3">
            <a:alphaModFix/>
          </a:blip>
          <a:srcRect b="0" l="0" r="0" t="0"/>
          <a:stretch/>
        </p:blipFill>
        <p:spPr>
          <a:xfrm>
            <a:off x="2602991" y="4315092"/>
            <a:ext cx="4010025" cy="2426276"/>
          </a:xfrm>
          <a:prstGeom prst="rect">
            <a:avLst/>
          </a:prstGeom>
          <a:noFill/>
          <a:ln cap="flat" cmpd="sng" w="19050">
            <a:solidFill>
              <a:srgbClr val="000000"/>
            </a:solidFill>
            <a:prstDash val="solid"/>
            <a:miter lim="800000"/>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37"/>
          <p:cNvSpPr txBox="1"/>
          <p:nvPr>
            <p:ph idx="1" type="body"/>
          </p:nvPr>
        </p:nvSpPr>
        <p:spPr>
          <a:xfrm>
            <a:off x="430969" y="340191"/>
            <a:ext cx="8321675" cy="1604962"/>
          </a:xfrm>
          <a:prstGeom prst="rect">
            <a:avLst/>
          </a:prstGeom>
          <a:noFill/>
          <a:ln>
            <a:noFill/>
          </a:ln>
        </p:spPr>
        <p:txBody>
          <a:bodyPr anchorCtr="0" anchor="t" bIns="0" lIns="0" spcFirstLastPara="1" rIns="0" wrap="square" tIns="0">
            <a:normAutofit/>
          </a:bodyPr>
          <a:lstStyle/>
          <a:p>
            <a:pPr indent="0" lvl="0" marL="0" rtl="0" algn="l">
              <a:lnSpc>
                <a:spcPct val="95999"/>
              </a:lnSpc>
              <a:spcBef>
                <a:spcPts val="0"/>
              </a:spcBef>
              <a:spcAft>
                <a:spcPts val="0"/>
              </a:spcAft>
              <a:buClr>
                <a:srgbClr val="D83804"/>
              </a:buClr>
              <a:buSzPts val="3500"/>
              <a:buFont typeface="Arial"/>
              <a:buNone/>
            </a:pPr>
            <a:r>
              <a:rPr b="1" lang="fr-FR" sz="3500">
                <a:solidFill>
                  <a:srgbClr val="D83804"/>
                </a:solidFill>
                <a:latin typeface="Arial"/>
                <a:ea typeface="Arial"/>
                <a:cs typeface="Arial"/>
                <a:sym typeface="Arial"/>
              </a:rPr>
              <a:t>Mobilité des protéines membranaires</a:t>
            </a:r>
            <a:endParaRPr b="1" sz="3500">
              <a:solidFill>
                <a:srgbClr val="D83804"/>
              </a:solidFill>
              <a:latin typeface="Arial"/>
              <a:ea typeface="Arial"/>
              <a:cs typeface="Arial"/>
              <a:sym typeface="Arial"/>
            </a:endParaRPr>
          </a:p>
        </p:txBody>
      </p:sp>
      <p:pic>
        <p:nvPicPr>
          <p:cNvPr id="704" name="Google Shape;704;p37"/>
          <p:cNvPicPr preferRelativeResize="0"/>
          <p:nvPr/>
        </p:nvPicPr>
        <p:blipFill rotWithShape="1">
          <a:blip r:embed="rId3">
            <a:alphaModFix/>
          </a:blip>
          <a:srcRect b="0" l="0" r="0" t="0"/>
          <a:stretch/>
        </p:blipFill>
        <p:spPr>
          <a:xfrm>
            <a:off x="1331640" y="1142672"/>
            <a:ext cx="5942012" cy="3041650"/>
          </a:xfrm>
          <a:prstGeom prst="rect">
            <a:avLst/>
          </a:prstGeom>
          <a:noFill/>
          <a:ln>
            <a:noFill/>
          </a:ln>
        </p:spPr>
      </p:pic>
      <p:sp>
        <p:nvSpPr>
          <p:cNvPr id="705" name="Google Shape;705;p37"/>
          <p:cNvSpPr txBox="1"/>
          <p:nvPr>
            <p:ph idx="1" type="body"/>
          </p:nvPr>
        </p:nvSpPr>
        <p:spPr>
          <a:xfrm>
            <a:off x="1098549" y="6165304"/>
            <a:ext cx="7089775" cy="306388"/>
          </a:xfrm>
          <a:prstGeom prst="rect">
            <a:avLst/>
          </a:prstGeom>
          <a:noFill/>
          <a:ln cap="flat" cmpd="sng" w="28575">
            <a:solidFill>
              <a:srgbClr val="807E4C"/>
            </a:solidFill>
            <a:prstDash val="solid"/>
            <a:round/>
            <a:headEnd len="sm" w="sm" type="none"/>
            <a:tailEnd len="sm" w="sm" type="none"/>
          </a:ln>
        </p:spPr>
        <p:txBody>
          <a:bodyPr anchorCtr="0" anchor="t" bIns="0" lIns="0" spcFirstLastPara="1" rIns="0" wrap="square" tIns="0">
            <a:normAutofit fontScale="92500"/>
          </a:bodyPr>
          <a:lstStyle/>
          <a:p>
            <a:pPr indent="0" lvl="0" marL="0" rtl="0" algn="r">
              <a:lnSpc>
                <a:spcPct val="107111"/>
              </a:lnSpc>
              <a:spcBef>
                <a:spcPts val="0"/>
              </a:spcBef>
              <a:spcAft>
                <a:spcPts val="0"/>
              </a:spcAft>
              <a:buClr>
                <a:srgbClr val="000000"/>
              </a:buClr>
              <a:buSzPct val="100000"/>
              <a:buFont typeface="Arial"/>
              <a:buNone/>
            </a:pPr>
            <a:r>
              <a:rPr b="1" lang="fr-FR" sz="1800">
                <a:solidFill>
                  <a:srgbClr val="000000"/>
                </a:solidFill>
                <a:latin typeface="Tahoma"/>
                <a:ea typeface="Tahoma"/>
                <a:cs typeface="Tahoma"/>
                <a:sym typeface="Tahoma"/>
              </a:rPr>
              <a:t>Expérience démontrant la mobilité des protéines membranaire</a:t>
            </a:r>
            <a:endParaRPr/>
          </a:p>
        </p:txBody>
      </p:sp>
      <p:sp>
        <p:nvSpPr>
          <p:cNvPr id="706" name="Google Shape;706;p37"/>
          <p:cNvSpPr/>
          <p:nvPr/>
        </p:nvSpPr>
        <p:spPr>
          <a:xfrm>
            <a:off x="379339" y="4762123"/>
            <a:ext cx="8424936"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1800">
                <a:solidFill>
                  <a:schemeClr val="dk1"/>
                </a:solidFill>
                <a:latin typeface="Calibri"/>
                <a:ea typeface="Calibri"/>
                <a:cs typeface="Calibri"/>
                <a:sym typeface="Calibri"/>
              </a:rPr>
              <a:t>En 1970, Frye et Edidin ont pu créer des hybrides cellulaires ou hétérocaryons en fusionnant une cellule humaine avec une cellule de souris pour étudier la mobilité des protéines.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38"/>
          <p:cNvSpPr/>
          <p:nvPr/>
        </p:nvSpPr>
        <p:spPr>
          <a:xfrm>
            <a:off x="428625" y="214290"/>
            <a:ext cx="8501063" cy="6252417"/>
          </a:xfrm>
          <a:prstGeom prst="rect">
            <a:avLst/>
          </a:prstGeom>
          <a:noFill/>
          <a:ln>
            <a:noFill/>
          </a:ln>
        </p:spPr>
        <p:txBody>
          <a:bodyPr anchorCtr="0" anchor="t" bIns="45700" lIns="91425" spcFirstLastPara="1" rIns="91425" wrap="square" tIns="45700">
            <a:spAutoFit/>
          </a:bodyPr>
          <a:lstStyle/>
          <a:p>
            <a:pPr indent="0" lvl="0" marL="0" marR="0" rtl="0" algn="ctr">
              <a:lnSpc>
                <a:spcPct val="95999"/>
              </a:lnSpc>
              <a:spcBef>
                <a:spcPts val="0"/>
              </a:spcBef>
              <a:spcAft>
                <a:spcPts val="0"/>
              </a:spcAft>
              <a:buNone/>
            </a:pPr>
            <a:r>
              <a:rPr b="1" lang="fr-FR" sz="3200">
                <a:solidFill>
                  <a:schemeClr val="dk1"/>
                </a:solidFill>
                <a:latin typeface="Calibri"/>
                <a:ea typeface="Calibri"/>
                <a:cs typeface="Calibri"/>
                <a:sym typeface="Calibri"/>
              </a:rPr>
              <a:t>Les Glucides</a:t>
            </a:r>
            <a:endParaRPr/>
          </a:p>
          <a:p>
            <a:pPr indent="0" lvl="0" marL="0" marR="0" rtl="0" algn="ctr">
              <a:lnSpc>
                <a:spcPct val="95999"/>
              </a:lnSpc>
              <a:spcBef>
                <a:spcPts val="0"/>
              </a:spcBef>
              <a:spcAft>
                <a:spcPts val="0"/>
              </a:spcAft>
              <a:buNone/>
            </a:pPr>
            <a:r>
              <a:rPr b="1" lang="fr-FR" sz="3200">
                <a:solidFill>
                  <a:schemeClr val="dk1"/>
                </a:solidFill>
                <a:latin typeface="Arial"/>
                <a:ea typeface="Arial"/>
                <a:cs typeface="Arial"/>
                <a:sym typeface="Arial"/>
              </a:rPr>
              <a:t>« Carbohydrates ou saccharides »</a:t>
            </a:r>
            <a:endParaRPr/>
          </a:p>
          <a:p>
            <a:pPr indent="0" lvl="0" marL="0" marR="0" rtl="0" algn="ctr">
              <a:lnSpc>
                <a:spcPct val="95999"/>
              </a:lnSpc>
              <a:spcBef>
                <a:spcPts val="0"/>
              </a:spcBef>
              <a:spcAft>
                <a:spcPts val="0"/>
              </a:spcAft>
              <a:buNone/>
            </a:pPr>
            <a:r>
              <a:t/>
            </a:r>
            <a:endParaRPr b="1" sz="3200">
              <a:solidFill>
                <a:schemeClr val="dk1"/>
              </a:solidFill>
              <a:latin typeface="Arial"/>
              <a:ea typeface="Arial"/>
              <a:cs typeface="Arial"/>
              <a:sym typeface="Arial"/>
            </a:endParaRPr>
          </a:p>
          <a:p>
            <a:pPr indent="-182880" lvl="0" marL="182880" marR="0" rtl="0" algn="l">
              <a:lnSpc>
                <a:spcPct val="75839"/>
              </a:lnSpc>
              <a:spcBef>
                <a:spcPts val="900"/>
              </a:spcBef>
              <a:spcAft>
                <a:spcPts val="0"/>
              </a:spcAft>
              <a:buClr>
                <a:srgbClr val="000000"/>
              </a:buClr>
              <a:buSzPts val="2000"/>
              <a:buFont typeface="Noto Sans Symbols"/>
              <a:buChar char="∙"/>
            </a:pPr>
            <a:r>
              <a:rPr b="1" lang="fr-FR" sz="2000">
                <a:solidFill>
                  <a:srgbClr val="000000"/>
                </a:solidFill>
                <a:latin typeface="Arial"/>
                <a:ea typeface="Arial"/>
                <a:cs typeface="Arial"/>
                <a:sym typeface="Arial"/>
              </a:rPr>
              <a:t>Unité de base : les monosaccharides</a:t>
            </a:r>
            <a:endParaRPr/>
          </a:p>
          <a:p>
            <a:pPr indent="-182880" lvl="0" marL="182880" marR="0" rtl="0" algn="l">
              <a:lnSpc>
                <a:spcPct val="95999"/>
              </a:lnSpc>
              <a:spcBef>
                <a:spcPts val="720"/>
              </a:spcBef>
              <a:spcAft>
                <a:spcPts val="0"/>
              </a:spcAft>
              <a:buClr>
                <a:srgbClr val="000000"/>
              </a:buClr>
              <a:buSzPts val="2000"/>
              <a:buFont typeface="Noto Sans Symbols"/>
              <a:buChar char="∙"/>
            </a:pPr>
            <a:r>
              <a:rPr b="1" lang="fr-FR" sz="2000">
                <a:solidFill>
                  <a:srgbClr val="000000"/>
                </a:solidFill>
                <a:latin typeface="Arial"/>
                <a:ea typeface="Arial"/>
                <a:cs typeface="Arial"/>
                <a:sym typeface="Arial"/>
              </a:rPr>
              <a:t>Dégradation métabolique : source d'énergie (ex: glycolyse)</a:t>
            </a:r>
            <a:endParaRPr/>
          </a:p>
          <a:p>
            <a:pPr indent="182880" lvl="0" marL="0" marR="0" rtl="0" algn="l">
              <a:lnSpc>
                <a:spcPct val="95999"/>
              </a:lnSpc>
              <a:spcBef>
                <a:spcPts val="720"/>
              </a:spcBef>
              <a:spcAft>
                <a:spcPts val="0"/>
              </a:spcAft>
              <a:buNone/>
            </a:pPr>
            <a:r>
              <a:t/>
            </a:r>
            <a:endParaRPr b="1" sz="2000">
              <a:solidFill>
                <a:srgbClr val="000000"/>
              </a:solidFill>
              <a:latin typeface="Arial"/>
              <a:ea typeface="Arial"/>
              <a:cs typeface="Arial"/>
              <a:sym typeface="Arial"/>
            </a:endParaRPr>
          </a:p>
          <a:p>
            <a:pPr indent="-182880" lvl="0" marL="182880" marR="0" rtl="0" algn="l">
              <a:lnSpc>
                <a:spcPct val="95999"/>
              </a:lnSpc>
              <a:spcBef>
                <a:spcPts val="540"/>
              </a:spcBef>
              <a:spcAft>
                <a:spcPts val="0"/>
              </a:spcAft>
              <a:buClr>
                <a:srgbClr val="000000"/>
              </a:buClr>
              <a:buSzPts val="2000"/>
              <a:buFont typeface="Noto Sans Symbols"/>
              <a:buChar char="∙"/>
            </a:pPr>
            <a:r>
              <a:rPr b="1" lang="fr-FR" sz="2000">
                <a:solidFill>
                  <a:srgbClr val="000000"/>
                </a:solidFill>
                <a:latin typeface="Arial"/>
                <a:ea typeface="Arial"/>
                <a:cs typeface="Arial"/>
                <a:sym typeface="Arial"/>
              </a:rPr>
              <a:t>Monosaccharides : Comme le glucose, fructose…ces des composant  d’acides nucléiques et de certains lipides complexes</a:t>
            </a:r>
            <a:endParaRPr/>
          </a:p>
          <a:p>
            <a:pPr indent="-55879" lvl="0" marL="182880" marR="0" rtl="0" algn="l">
              <a:lnSpc>
                <a:spcPct val="95999"/>
              </a:lnSpc>
              <a:spcBef>
                <a:spcPts val="540"/>
              </a:spcBef>
              <a:spcAft>
                <a:spcPts val="0"/>
              </a:spcAft>
              <a:buClr>
                <a:schemeClr val="dk1"/>
              </a:buClr>
              <a:buSzPts val="2000"/>
              <a:buFont typeface="Noto Sans Symbols"/>
              <a:buNone/>
            </a:pPr>
            <a:r>
              <a:t/>
            </a:r>
            <a:endParaRPr b="1" sz="2000">
              <a:solidFill>
                <a:srgbClr val="000000"/>
              </a:solidFill>
              <a:latin typeface="Arial"/>
              <a:ea typeface="Arial"/>
              <a:cs typeface="Arial"/>
              <a:sym typeface="Arial"/>
            </a:endParaRPr>
          </a:p>
          <a:p>
            <a:pPr indent="-182880" lvl="0" marL="182880" marR="0" rtl="0" algn="l">
              <a:lnSpc>
                <a:spcPct val="95999"/>
              </a:lnSpc>
              <a:spcBef>
                <a:spcPts val="720"/>
              </a:spcBef>
              <a:spcAft>
                <a:spcPts val="0"/>
              </a:spcAft>
              <a:buClr>
                <a:srgbClr val="000000"/>
              </a:buClr>
              <a:buSzPts val="2000"/>
              <a:buFont typeface="Noto Sans Symbols"/>
              <a:buChar char="∙"/>
            </a:pPr>
            <a:r>
              <a:rPr b="1" lang="fr-FR" sz="2000">
                <a:solidFill>
                  <a:srgbClr val="000000"/>
                </a:solidFill>
                <a:latin typeface="Arial"/>
                <a:ea typeface="Arial"/>
                <a:cs typeface="Arial"/>
                <a:sym typeface="Arial"/>
              </a:rPr>
              <a:t>Oligosaccharides : quelques monosaccharides liés de manière covalente; souvent associés aux protéines (glycoprotéines) ou au lipides (glycolipides)</a:t>
            </a:r>
            <a:endParaRPr/>
          </a:p>
          <a:p>
            <a:pPr indent="-55879" lvl="0" marL="182880" marR="0" rtl="0" algn="l">
              <a:lnSpc>
                <a:spcPct val="95999"/>
              </a:lnSpc>
              <a:spcBef>
                <a:spcPts val="720"/>
              </a:spcBef>
              <a:spcAft>
                <a:spcPts val="0"/>
              </a:spcAft>
              <a:buClr>
                <a:schemeClr val="dk1"/>
              </a:buClr>
              <a:buSzPts val="2000"/>
              <a:buFont typeface="Noto Sans Symbols"/>
              <a:buNone/>
            </a:pPr>
            <a:r>
              <a:t/>
            </a:r>
            <a:endParaRPr b="1" sz="2000">
              <a:solidFill>
                <a:srgbClr val="000000"/>
              </a:solidFill>
              <a:latin typeface="Arial"/>
              <a:ea typeface="Arial"/>
              <a:cs typeface="Arial"/>
              <a:sym typeface="Arial"/>
            </a:endParaRPr>
          </a:p>
          <a:p>
            <a:pPr indent="-182880" lvl="0" marL="182880" marR="0" rtl="0" algn="l">
              <a:lnSpc>
                <a:spcPct val="95999"/>
              </a:lnSpc>
              <a:spcBef>
                <a:spcPts val="540"/>
              </a:spcBef>
              <a:spcAft>
                <a:spcPts val="0"/>
              </a:spcAft>
              <a:buClr>
                <a:srgbClr val="000000"/>
              </a:buClr>
              <a:buSzPts val="2000"/>
              <a:buFont typeface="Noto Sans Symbols"/>
              <a:buChar char="∙"/>
            </a:pPr>
            <a:r>
              <a:rPr b="1" lang="fr-FR" sz="2000">
                <a:solidFill>
                  <a:srgbClr val="000000"/>
                </a:solidFill>
                <a:latin typeface="Arial"/>
                <a:ea typeface="Arial"/>
                <a:cs typeface="Arial"/>
                <a:sym typeface="Arial"/>
              </a:rPr>
              <a:t>Polysaccharides : beaucoup de monosaccharides liés de manière covalente, rôles structural (cellulose) ou de stockage (amidon, glycogène)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2015-12-07T21:11:39Z</dcterms:created>
  <dc:creator>user</dc:creator>
</cp:coreProperties>
</file>