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eEaBlhtYEEgGzsOOW6RCCkndc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2.jp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4295" y="0"/>
            <a:ext cx="9144000" cy="630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17763" lvl="0" marL="2417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EMBRYOLOGIE GENERALE</a:t>
            </a:r>
            <a:endParaRPr/>
          </a:p>
          <a:p>
            <a:pPr indent="-2417763" lvl="0" marL="2417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OVULATION ,  CYCLES OVARIEN ET UTERIN, </a:t>
            </a:r>
            <a:endParaRPr/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REGULATION HORMONALE</a:t>
            </a:r>
            <a:endParaRPr/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30338" lvl="0" marL="14303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PR HANNACHI-HECINI A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844824"/>
            <a:ext cx="5544616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603448"/>
            <a:ext cx="9468544" cy="1160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42950" lvl="0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Définition</a:t>
            </a:r>
            <a:endParaRPr/>
          </a:p>
          <a:p>
            <a:pPr indent="-742950" lvl="0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l’expulsion  hors de l’ovaire, de l’ovocyte II, l’ovocyte</a:t>
            </a:r>
            <a:endParaRPr/>
          </a:p>
          <a:p>
            <a:pPr indent="-742950" lvl="0" marL="742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n’est pas isolé: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+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Zone pellucide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+ Cellules de la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Corona Radiata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+ Cellules du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Cumulus Oophorus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L’ensemble tombe dans le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tiers externe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trompe  de Fallope (oviducte)      = 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lieu de la fécondation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0" y="0"/>
            <a:ext cx="18634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 ovulation</a:t>
            </a:r>
            <a:endParaRPr b="1"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251520" y="-20349"/>
            <a:ext cx="8077917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Mécanismes de l’ovulation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a. Phénomènes vasculaires </a:t>
            </a:r>
            <a:b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Pression du follicule                    ischémie la partie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superficielle de l'ovaire </a:t>
            </a:r>
            <a:b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b. Mécanismes enzymatiques </a:t>
            </a:r>
            <a:b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Lyse enzymatique de la paroi ovarienne. </a:t>
            </a:r>
            <a:b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c. Contractions musculaires </a:t>
            </a:r>
            <a:b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Contraction des cellules musculaires lisses de l'ovaire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Rupture de la paroi du follicule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 Granulosa, membrane de Slavjansky et thèques)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Rupture de l’épithélium ovarien.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419872" y="1556792"/>
            <a:ext cx="978408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မမျိုးဥကြွေခြင်းဖြစ်စဉ်" id="102" name="Google Shape;102;p4"/>
          <p:cNvSpPr/>
          <p:nvPr/>
        </p:nvSpPr>
        <p:spPr>
          <a:xfrm>
            <a:off x="155575" y="-914400"/>
            <a:ext cx="24003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မမျိုးဥကြွေခြင်းဖြစ်စဉ်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0032" y="0"/>
            <a:ext cx="4283968" cy="3573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ulation Photograph by Cnri/science Photo Library - Fine Art America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520" y="0"/>
            <a:ext cx="4572000" cy="3573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tility Mythbuster: A woman's ovulation is the same every month. - Austin  Fertility &amp; Reproductive Medicine" id="105" name="Google Shape;1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60" y="3717033"/>
            <a:ext cx="7632848" cy="237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3707904" y="6237313"/>
            <a:ext cx="14417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Ovulation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107504" y="523220"/>
            <a:ext cx="8856924" cy="4462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reste du follicule se transforme en c</a:t>
            </a:r>
            <a:r>
              <a:rPr i="0" lang="fr-FR" sz="28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orps jaune 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c’est la  </a:t>
            </a: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Lutéinisation,</a:t>
            </a:r>
            <a:r>
              <a:rPr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</a:t>
            </a:r>
            <a:endParaRPr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cellules de la Granulosa                   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cellules lutéales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Progestérone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cellules de 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thèque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cellules </a:t>
            </a: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lutéales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interne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Œstrogènes</a:t>
            </a:r>
            <a:endParaRPr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0" y="0"/>
            <a:ext cx="38573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Formation du corp jaune</a:t>
            </a:r>
            <a:endParaRPr b="1"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392428" y="2070768"/>
            <a:ext cx="978408" cy="15016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392428" y="3440359"/>
            <a:ext cx="978408" cy="1630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576325" y="2458460"/>
            <a:ext cx="143218" cy="31045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647535" y="3702412"/>
            <a:ext cx="144016" cy="35006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3205" y="4716491"/>
            <a:ext cx="9242337" cy="203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14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2267744" y="6488668"/>
            <a:ext cx="38359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Ovulation et formation du corps jaune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969050" y="3054598"/>
            <a:ext cx="18403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Lutéinisation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rois exemples de dysfonctionnement de l'ovaire chez la vache laitière |  Réussir lait" id="125" name="Google Shape;125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rois exemples de dysfonctionnement de l'ovaire chez la vache laitière |  Réussir lait" id="126" name="Google Shape;126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rois exemples de dysfonctionnement de l'ovaire chez la vache laitière |  Réussir lait" id="127" name="Google Shape;127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rps jaune — Wikipédia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3573016"/>
            <a:ext cx="6048672" cy="3284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0" y="0"/>
            <a:ext cx="9161362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2. Le cycle ovarien et le cycle utérin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 cycle ovarien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Phase pré-ovulatoire                                Phase post-ovulatoire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0" y="3717032"/>
            <a:ext cx="9144000" cy="4846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0" y="4293096"/>
            <a:ext cx="93746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                                                                                J 14                                                                          J 28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4572000" y="2060848"/>
            <a:ext cx="50304" cy="235456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7" name="Google Shape;137;p7"/>
          <p:cNvSpPr txBox="1"/>
          <p:nvPr/>
        </p:nvSpPr>
        <p:spPr>
          <a:xfrm>
            <a:off x="3563888" y="4941168"/>
            <a:ext cx="16496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0" y="3068960"/>
            <a:ext cx="4572000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716016" y="3068960"/>
            <a:ext cx="4176464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212694" y="1866971"/>
            <a:ext cx="214661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folliculaire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655312" y="1794086"/>
            <a:ext cx="337130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                      luteale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827584" y="4293096"/>
            <a:ext cx="251645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folliculaire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724128" y="4221088"/>
            <a:ext cx="21545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du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corps jaune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 cycle utérin (menstruel)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0" y="3212976"/>
            <a:ext cx="9144000" cy="4846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                        J5                                                      J14                                                    J 26                 J28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8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8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0" y="3068960"/>
            <a:ext cx="1539680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547664" y="3068960"/>
            <a:ext cx="3024336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716015" y="3068960"/>
            <a:ext cx="4379703" cy="88851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menstruelle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2339752" y="2060848"/>
            <a:ext cx="17515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proliférative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4644008" y="1556792"/>
            <a:ext cx="337130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secrétoire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640216" y="2924944"/>
            <a:ext cx="1503784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ischémique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-17674" y="4028259"/>
            <a:ext cx="5093730" cy="1384995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Réapparition de l’épithélium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Augmentation des glandes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Développement des artères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4874896" y="3737264"/>
            <a:ext cx="6567567" cy="3108543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Epaississement de L’endomètre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Tubes glandulaires  contournés et sinueux: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= Dentelle utérine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-"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Signe de sécrétion= glycogène et mucus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Artérioles spiralées.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4664"/>
            <a:ext cx="9144000" cy="619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 cycle utérin (menstruel)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0" y="3212976"/>
            <a:ext cx="9144000" cy="48463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                        J5                                                      J14                                                    J 26                 J28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0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" name="Google Shape;176;p10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0" y="3068960"/>
            <a:ext cx="1539680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547664" y="3068960"/>
            <a:ext cx="3024336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716015" y="3068960"/>
            <a:ext cx="4379703" cy="88851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menstruelle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2339752" y="2060848"/>
            <a:ext cx="17515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proliférative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4644008" y="1556792"/>
            <a:ext cx="337130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secrétoire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Phase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ischémique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12" y="4179045"/>
            <a:ext cx="4427985" cy="1877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5432" y="4214121"/>
            <a:ext cx="5182049" cy="2030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/>
        </p:nvSpPr>
        <p:spPr>
          <a:xfrm>
            <a:off x="0" y="332656"/>
            <a:ext cx="9299341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Les troubles du cycle menstruel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a. Les anomalies quantitatives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Aménorrhées:  C’est l’absence de règles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Aménorrhée primaire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absence de règles à l’âge de 16 ans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Aménorrhée secondaire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absence de règles depuis plus de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mois.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Ménorragies: hémorragies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Ménorragies fonctionnelles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saignements anormaux en durée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et/ou abondance.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Ménorragies organiques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      liées à la présence d’un utérus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fibromateux.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/>
        </p:nvSpPr>
        <p:spPr>
          <a:xfrm>
            <a:off x="251520" y="332656"/>
            <a:ext cx="6325771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AutoNum type="alphaLcPeriod" startAt="2"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Les troubles du rythme menstruel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cycles courts 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polyménorrhées ou  pollakiménorrhées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menstruation  toutes les 2 à 3 semaines.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Les cycles longs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spanioménorrhées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durée de cycle &gt; 32 jours.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/>
        </p:nvSpPr>
        <p:spPr>
          <a:xfrm>
            <a:off x="0" y="0"/>
            <a:ext cx="9575955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c.  Les troubles de la durée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Hypoménorrhées </a:t>
            </a:r>
            <a:r>
              <a:rPr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règles courtes de moins de 03jours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Hyperménorrhées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règles trop longues de plus de 08jours.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d. Les troubles de l’abondance des règles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Oligoménorrhées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règles très réduites parfois quelques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gouttes.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Polyménorrhées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règles d’abondance excessive.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Ménorragies: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règles à la fois trop longues et trop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abondantes.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Métrorragies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hémorragies d’origine utérine survenant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indépendamment de toute menstruation.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Méno-métrorragies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association métrorragies et ménorragies.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0728"/>
            <a:ext cx="9144000" cy="6597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/>
          <p:nvPr/>
        </p:nvSpPr>
        <p:spPr>
          <a:xfrm>
            <a:off x="1187624" y="75982"/>
            <a:ext cx="5731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Régulation hormonale chez la femme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88640"/>
            <a:ext cx="8208912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40361"/>
            <a:ext cx="8712968" cy="587727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0" y="2124654"/>
            <a:ext cx="3529877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Gonado-releasing hormon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Gonadolibérines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0" y="3356992"/>
            <a:ext cx="3671774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FOLLICULO STIMULATING H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0" y="4005064"/>
            <a:ext cx="3125086" cy="4616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LUTEINISING HORMON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0" y="3429000"/>
            <a:ext cx="3420616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Hormones hypophysaires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Gonadotropines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Gonadostimulines</a:t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-749125" y="4787875"/>
            <a:ext cx="3420600" cy="461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Hormones ovariennes</a:t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0" y="0"/>
            <a:ext cx="334610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Contrôle hormonal 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associée" id="233" name="Google Shape;2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4544" y="0"/>
            <a:ext cx="9468544" cy="6565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/>
        </p:nvSpPr>
        <p:spPr>
          <a:xfrm>
            <a:off x="-35024" y="-14064"/>
            <a:ext cx="406598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  </a:t>
            </a:r>
            <a:r>
              <a:rPr b="1" lang="fr-FR" sz="3200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ariations cycliques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4704"/>
            <a:ext cx="8748463" cy="5256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/>
        </p:nvSpPr>
        <p:spPr>
          <a:xfrm>
            <a:off x="395536" y="764705"/>
            <a:ext cx="4588970" cy="304698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-élevée au début du cycle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-pic pré-ovulatoire au milieu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5076056" y="0"/>
            <a:ext cx="4320670" cy="255454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-taux bas tout au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long du cycle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-pic pré-ovulatoire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très important au milieu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encrypted-tbn2.gstatic.com/images?q=tbn:ANd9GcTCMVagroszbr3e0l3fQ_fXr3rN6EyousTnmFLHozGg7X9-jftt"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36912"/>
            <a:ext cx="9144000" cy="422108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1835696" y="2780928"/>
            <a:ext cx="5361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HORMONAL HYPOPHYSAIRE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://p2.storage.canalblog.com/26/14/549241/54091393.jpg" id="252" name="Google Shape;252;p21"/>
          <p:cNvSpPr/>
          <p:nvPr/>
        </p:nvSpPr>
        <p:spPr>
          <a:xfrm>
            <a:off x="63500" y="-136525"/>
            <a:ext cx="3800475" cy="286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OESTROGENES: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progressive au cours de la phase folliculaire, jusqu'au 12</a:t>
            </a:r>
            <a:r>
              <a:rPr baseline="30000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éme </a:t>
            </a: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jour du cycle.</a:t>
            </a:r>
            <a:b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Diminution puis remontée modérée en phase lutéale.</a:t>
            </a:r>
            <a:b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ésultat de recherche d'images pour &quot;cycle des hormones ovariennes&quot;" id="254" name="Google Shape;254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ésultat de recherche d'images pour &quot;cycle des hormones ovariennes&quot;" id="255" name="Google Shape;255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ésultat de recherche d'images pour &quot;cycle des hormones ovariennes&quot;&quot;" id="256" name="Google Shape;2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67175"/>
            <a:ext cx="889248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HORMONAL OVARIEN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://p2.storage.canalblog.com/26/14/549241/54091393.jpg" id="262" name="Google Shape;262;p22"/>
          <p:cNvSpPr/>
          <p:nvPr/>
        </p:nvSpPr>
        <p:spPr>
          <a:xfrm>
            <a:off x="63500" y="-136525"/>
            <a:ext cx="3800475" cy="286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0" y="0"/>
            <a:ext cx="9540552" cy="403187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PROGESTERONE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folliculaire: pas de sécrétion de progestérone.</a:t>
            </a:r>
            <a:b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lutéale: le taux de progestérone augmente progressivement puis diminue en raison de l’involution du corps jaune.</a:t>
            </a:r>
            <a:b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Cette diminution précède et déclenche les règles du cycle suivant</a:t>
            </a:r>
            <a:br>
              <a:rPr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ésultat de recherche d'images pour &quot;cycle des hormones ovariennes&quot;" id="264" name="Google Shape;264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ésultat de recherche d'images pour &quot;cycle des hormones ovariennes&quot;" id="265" name="Google Shape;265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ésultat de recherche d'images pour &quot;cycle des hormones ovariennes&quot;&quot;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67175"/>
            <a:ext cx="889248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1763688" y="3501008"/>
            <a:ext cx="441896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HORMONAL OVARIEN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/>
        </p:nvSpPr>
        <p:spPr>
          <a:xfrm>
            <a:off x="179512" y="908720"/>
            <a:ext cx="799288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FSH  stimule le développement folliculaire :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granulosa, zone pellucide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79512" y="2204864"/>
            <a:ext cx="756084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LH stimule la différenciation des cellules de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la thèque interne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0" y="3789040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Les cellules de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la thèque interne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secrètent des </a:t>
            </a: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œstrogènes</a:t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2411760" y="0"/>
            <a:ext cx="28110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Avant 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25144"/>
            <a:ext cx="8748463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3059832" y="0"/>
            <a:ext cx="24261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 A l’ 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0" y="476672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Œstrogènes             feed-back positif sur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FSH et LH</a:t>
            </a:r>
            <a:endParaRPr b="1" sz="32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771800" y="1268760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0" y="1556792"/>
            <a:ext cx="889248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 de FSH et LH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Dissociation des cellules du cumulus oophorus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Reprise de la première division de la méiose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Ovocyte I                     Ovocyte 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Ovulation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3923928" y="4293096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3176"/>
            <a:ext cx="8748463" cy="136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/>
        </p:nvSpPr>
        <p:spPr>
          <a:xfrm>
            <a:off x="3275856" y="0"/>
            <a:ext cx="28035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 Après ovulation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0" y="692696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LH transforme le reste du follicule  en corps jaune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0" y="1628800"/>
            <a:ext cx="109091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Le corps jaune sécrète œstrogènes et progestérone                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0" y="2492896"/>
            <a:ext cx="929895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Pic de progestérone              feed-back négatif sur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FSH et LH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Diminution de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LH</a:t>
            </a: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régression du corps jaune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Régression du corps jaune          diminution de pg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Diminution de pg               feed-back positif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sur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FSH et LH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1763688" y="5780782"/>
            <a:ext cx="828092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ET LE CYCLE REPREND</a:t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4211960" y="2780928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779912" y="3717032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932040" y="4725144"/>
            <a:ext cx="720080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3635896" y="5661248"/>
            <a:ext cx="720080" cy="135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txer:Cycle menstruel.sv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502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/>
          <p:nvPr/>
        </p:nvSpPr>
        <p:spPr>
          <a:xfrm>
            <a:off x="0" y="188640"/>
            <a:ext cx="34401854" cy="236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</a:pPr>
            <a:r>
              <a:rPr b="1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 Rôles des hormones ovariennes 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3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Apparition des caractères sexuels primaires chez le fœtus,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Apparition des caractères sexuels secondaires à la  puberté,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Contrôle de l’ovogenèse</a:t>
            </a:r>
            <a:r>
              <a:rPr b="0" i="0" lang="fr-FR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4" y="1916832"/>
            <a:ext cx="34524640" cy="5322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0" y="14427"/>
            <a:ext cx="34401854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b="1" i="0" lang="fr-FR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 progestérone</a:t>
            </a:r>
            <a:endParaRPr b="0" i="0" sz="3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Prépare la muqueuse utérine à la nidation 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croissance des glandes et sécrétion.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Inhibe les contractions du myomètre.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fr-F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 l’abondance de la glaire.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2018-09-16T08:34:06Z</dcterms:created>
  <dc:creator>dell</dc:creator>
</cp:coreProperties>
</file>