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tywIa66h4oev4AlV7zLgOdR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gif"/><Relationship Id="rId4" Type="http://schemas.openxmlformats.org/officeDocument/2006/relationships/image" Target="../media/image34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gif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gif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gif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gif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0" y="332656"/>
            <a:ext cx="9144000" cy="1055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MODULE   EMBRYOLOGIE GENERALE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OVOGENESE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PR HANNACHI-HECINI 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556793"/>
            <a:ext cx="6480720" cy="396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-819472"/>
            <a:ext cx="9684568" cy="10649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Rappels sur l’appareil genital feminin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Organes génitaux externes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partie externe : </a:t>
            </a:r>
            <a:r>
              <a:rPr i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vulve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Grandes lèvres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Petites lèvres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Hymen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Clitoris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Glandes de Bartholin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Organes génitaux internes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-Trompes de Fallope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Utérus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Ovaires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732240" y="17008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ésultat de recherche d'images pour &quot;organes genitaux externes feminin&quot;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530" y="188640"/>
            <a:ext cx="3074318" cy="3024336"/>
          </a:xfrm>
          <a:prstGeom prst="rect">
            <a:avLst/>
          </a:prstGeom>
          <a:noFill/>
          <a:ln>
            <a:noFill/>
          </a:ln>
        </p:spPr>
      </p:pic>
      <p:sp>
        <p:nvSpPr>
          <p:cNvPr descr="Résultat de recherche d'images pour &quot;organes genitaux externes feminin&quot;" id="98" name="Google Shape;98;p3"/>
          <p:cNvSpPr/>
          <p:nvPr/>
        </p:nvSpPr>
        <p:spPr>
          <a:xfrm>
            <a:off x="3131840" y="260648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tpefiv.files.wordpress.com/2015/02/appr-f1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3069" y="3285487"/>
            <a:ext cx="3650779" cy="3501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2627784" y="6309320"/>
            <a:ext cx="480548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Appareil reproducteur féminin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565448"/>
            <a:ext cx="7848873" cy="583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0"/>
            <a:ext cx="6876256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Trompes de Fallope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Pavillon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Ampoule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Isthme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Portion interstitielle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2276872"/>
            <a:ext cx="7488832" cy="432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0" y="332656"/>
            <a:ext cx="9144000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C’est la formation des gamètes dans le sexe féminin.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Elle se déroule dans les ovaires et permet la formation des  gamètes féminins, les ovocytes,  à partir des cellules souches  de la lignée  germinale ou ovogonies.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91440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Utérus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Cavité utérine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Paroi utérine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 utérin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Vagin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Muqueuse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Musculeuse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Adventice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Paroi utérine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comporte 3 tuniques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Muqueuse (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endomètre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Musculeuse (myomètre).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Séreuse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6"/>
          <p:cNvCxnSpPr/>
          <p:nvPr/>
        </p:nvCxnSpPr>
        <p:spPr>
          <a:xfrm flipH="1" rot="-5400000">
            <a:off x="2231760" y="1376752"/>
            <a:ext cx="3312300" cy="2952300"/>
          </a:xfrm>
          <a:prstGeom prst="bentConnector3">
            <a:avLst>
              <a:gd fmla="val 50001" name="adj1"/>
            </a:avLst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108520" y="-603448"/>
            <a:ext cx="367139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Endomètre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Couche fonctionnelle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Couche basale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032" y="404664"/>
            <a:ext cx="3981033" cy="2469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7"/>
          <p:cNvCxnSpPr/>
          <p:nvPr/>
        </p:nvCxnSpPr>
        <p:spPr>
          <a:xfrm flipH="1" rot="-5400000">
            <a:off x="3563888" y="950823"/>
            <a:ext cx="914400" cy="914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490" y="2762982"/>
            <a:ext cx="9144793" cy="32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5588" y="6043433"/>
            <a:ext cx="3450635" cy="755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109368"/>
            <a:ext cx="889248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Ovaires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Albuginée ovarienne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Epithélium ovarien, cubique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Région corticale =  follicules ovariens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Région médullaire conjonctive et fibreuse,  vascularisée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2936"/>
            <a:ext cx="9144000" cy="3744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2915816" y="6309320"/>
            <a:ext cx="31938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de l’ovaire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0" y="0"/>
            <a:ext cx="9144000" cy="11757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Ovogenese + folliculogenese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 Phases de l’ovogenèse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de multiplication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Ovogonies                                Ovogonies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2n chr                                          2n chr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Ovogonies                                Ovocytes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d’accroissement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Ovocytes i                                 Auxocytes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2n chr                                         2n chr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354604" y="2780928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354604" y="5346993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2555776" y="1052736"/>
            <a:ext cx="37780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Durant la vie intra-uterine</a:t>
            </a:r>
            <a:endParaRPr b="1"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354604" y="3625765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0" y="147"/>
            <a:ext cx="91440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de maturation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                                 Ovocyte I bloqué en prophase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2n chr     </a:t>
            </a: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Première division méiose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Mitose réductionnelle</a:t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483768" y="1061568"/>
            <a:ext cx="978408" cy="1351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1552454" y="2187222"/>
            <a:ext cx="456432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Jusqu’à la puberté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Chaque cycle (chaque mois)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0134" y="3930923"/>
            <a:ext cx="9364268" cy="377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0" y="26181"/>
            <a:ext cx="86409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II                                                    Ovocyte 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bloqué 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métaphase II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3131840" y="260648"/>
            <a:ext cx="978408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323528" y="4509120"/>
            <a:ext cx="27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71" y="2637175"/>
            <a:ext cx="9510584" cy="23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6" y="4840933"/>
            <a:ext cx="8839966" cy="1627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4321" y="2776156"/>
            <a:ext cx="1005927" cy="20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4214" y="3366535"/>
            <a:ext cx="1005927" cy="18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4214" y="5140404"/>
            <a:ext cx="1005927" cy="20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0961" y="1800782"/>
            <a:ext cx="2932430" cy="1444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0961" y="4045537"/>
            <a:ext cx="3664014" cy="7559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 txBox="1"/>
          <p:nvPr/>
        </p:nvSpPr>
        <p:spPr>
          <a:xfrm flipH="1">
            <a:off x="1187624" y="580178"/>
            <a:ext cx="73239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Deuxième division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de la méiose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Mitose équationnelle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 réproduction humaine: L'ovogenèse"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8924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861" y="743857"/>
            <a:ext cx="5750277" cy="4557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/>
        </p:nvSpPr>
        <p:spPr>
          <a:xfrm>
            <a:off x="2754001" y="5733256"/>
            <a:ext cx="36359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Schéma de l’ovogénèse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llicule primordial" id="189" name="Google Shape;1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4775"/>
            <a:ext cx="3779912" cy="327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 txBox="1"/>
          <p:nvPr/>
        </p:nvSpPr>
        <p:spPr>
          <a:xfrm>
            <a:off x="-15556" y="3618211"/>
            <a:ext cx="45713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Follicule primordial  Ø  50 µm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5579604" y="1273012"/>
            <a:ext cx="381642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Ø 20 à 30µm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Couche de cellules folliculaires aplaties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0" y="0"/>
            <a:ext cx="49375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B.  E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tapes de la folliculogenèse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4"/>
          <p:cNvCxnSpPr/>
          <p:nvPr/>
        </p:nvCxnSpPr>
        <p:spPr>
          <a:xfrm flipH="1">
            <a:off x="2843808" y="1412776"/>
            <a:ext cx="2735796" cy="43204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4"/>
          <p:cNvCxnSpPr/>
          <p:nvPr/>
        </p:nvCxnSpPr>
        <p:spPr>
          <a:xfrm rot="10800000">
            <a:off x="3188180" y="2763021"/>
            <a:ext cx="2175908" cy="89915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95" name="Google Shape;1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570" y="3861048"/>
            <a:ext cx="3858881" cy="2798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259238" y="4408456"/>
            <a:ext cx="8894835" cy="191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llicule primaire"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066843"/>
            <a:ext cx="2746922" cy="278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 txBox="1"/>
          <p:nvPr/>
        </p:nvSpPr>
        <p:spPr>
          <a:xfrm>
            <a:off x="22880" y="3727777"/>
            <a:ext cx="43412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Follicule primaire  Ø 80µ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6732240" y="4509120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4067944" y="840614"/>
            <a:ext cx="417646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Ø 50µ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Couche de cellules folliculaires cubiques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49769" y="-41082"/>
            <a:ext cx="849296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la puberté, à chaque cycle, le follicule Primordial 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développe (primaire, secondaire,  tertiaire et mur)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5"/>
          <p:cNvCxnSpPr/>
          <p:nvPr/>
        </p:nvCxnSpPr>
        <p:spPr>
          <a:xfrm flipH="1">
            <a:off x="2339752" y="1196752"/>
            <a:ext cx="1607410" cy="93610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15"/>
          <p:cNvCxnSpPr/>
          <p:nvPr/>
        </p:nvCxnSpPr>
        <p:spPr>
          <a:xfrm flipH="1">
            <a:off x="2987824" y="2456892"/>
            <a:ext cx="781793" cy="2520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8" name="Google Shape;2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8998" y="3212977"/>
            <a:ext cx="4246483" cy="346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llicule secondaire"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564" y="93678"/>
            <a:ext cx="3585803" cy="33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429642" y="3789040"/>
            <a:ext cx="311764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Follicule secondaire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(préantral Ø 200µ)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5940152" y="1772816"/>
            <a:ext cx="23756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4186609" y="93678"/>
            <a:ext cx="482453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 Ø 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Membrane ou zone pellucide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Cellules de la Granulosa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Membrane de Slavjansky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Théque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2553" y="3284984"/>
            <a:ext cx="4932723" cy="3404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16"/>
          <p:cNvCxnSpPr/>
          <p:nvPr/>
        </p:nvCxnSpPr>
        <p:spPr>
          <a:xfrm flipH="1">
            <a:off x="1988465" y="404664"/>
            <a:ext cx="2044013" cy="11521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16"/>
          <p:cNvCxnSpPr/>
          <p:nvPr/>
        </p:nvCxnSpPr>
        <p:spPr>
          <a:xfrm flipH="1">
            <a:off x="2627785" y="836712"/>
            <a:ext cx="1404693" cy="72008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16"/>
          <p:cNvCxnSpPr/>
          <p:nvPr/>
        </p:nvCxnSpPr>
        <p:spPr>
          <a:xfrm flipH="1">
            <a:off x="3010471" y="1196752"/>
            <a:ext cx="1176139" cy="57606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16"/>
          <p:cNvCxnSpPr/>
          <p:nvPr/>
        </p:nvCxnSpPr>
        <p:spPr>
          <a:xfrm flipH="1">
            <a:off x="3395919" y="1772816"/>
            <a:ext cx="636559" cy="21602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16"/>
          <p:cNvCxnSpPr/>
          <p:nvPr/>
        </p:nvCxnSpPr>
        <p:spPr>
          <a:xfrm flipH="1">
            <a:off x="3395919" y="2492896"/>
            <a:ext cx="790691" cy="15708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moodle.univ-brest.fr/medecine/public/sites/Serveur_2009/Embryologie/Emb_gen/E_gamet/Dgafote1.gif"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08" y="0"/>
            <a:ext cx="3924436" cy="27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 txBox="1"/>
          <p:nvPr/>
        </p:nvSpPr>
        <p:spPr>
          <a:xfrm>
            <a:off x="-21063" y="2636912"/>
            <a:ext cx="3637534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Follicule tertiaire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(cavitaire ou antral)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Ø 10 à 15 mm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143235" y="-28988"/>
            <a:ext cx="4821253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 Ø 100 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Cavités (corps de Call et Exner)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7"/>
          <p:cNvCxnSpPr/>
          <p:nvPr/>
        </p:nvCxnSpPr>
        <p:spPr>
          <a:xfrm flipH="1">
            <a:off x="1763688" y="548680"/>
            <a:ext cx="2304256" cy="108012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17"/>
          <p:cNvCxnSpPr>
            <a:stCxn id="229" idx="1"/>
          </p:cNvCxnSpPr>
          <p:nvPr/>
        </p:nvCxnSpPr>
        <p:spPr>
          <a:xfrm flipH="1">
            <a:off x="2483635" y="1217507"/>
            <a:ext cx="1659600" cy="1089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2" name="Google Shape;2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2514" y="2276872"/>
            <a:ext cx="4731973" cy="36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llicule De Graaf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1592621" y="-918529"/>
            <a:ext cx="2880322" cy="5526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879136" y="3284986"/>
            <a:ext cx="3888432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Follicule de DE GRAAF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Ø18 ou même 20 mm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5940152" y="0"/>
            <a:ext cx="3923928" cy="630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Ø120 à 150 µm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pellucide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Corona Radiata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Cumulus oophorus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Granulosa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 de Slavjansky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Théque interne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Théque externe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5940152" y="3284986"/>
            <a:ext cx="13290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Antrum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8"/>
          <p:cNvCxnSpPr/>
          <p:nvPr/>
        </p:nvCxnSpPr>
        <p:spPr>
          <a:xfrm flipH="1">
            <a:off x="3851920" y="260648"/>
            <a:ext cx="2088232" cy="122413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18"/>
          <p:cNvCxnSpPr/>
          <p:nvPr/>
        </p:nvCxnSpPr>
        <p:spPr>
          <a:xfrm flipH="1">
            <a:off x="4139952" y="1124744"/>
            <a:ext cx="1800200" cy="3600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18"/>
          <p:cNvCxnSpPr/>
          <p:nvPr/>
        </p:nvCxnSpPr>
        <p:spPr>
          <a:xfrm flipH="1">
            <a:off x="3419872" y="1484784"/>
            <a:ext cx="2520280" cy="26064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18"/>
          <p:cNvCxnSpPr/>
          <p:nvPr/>
        </p:nvCxnSpPr>
        <p:spPr>
          <a:xfrm rot="10800000">
            <a:off x="4427984" y="1340768"/>
            <a:ext cx="1512168" cy="64807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18"/>
          <p:cNvCxnSpPr/>
          <p:nvPr/>
        </p:nvCxnSpPr>
        <p:spPr>
          <a:xfrm flipH="1">
            <a:off x="4283968" y="2348880"/>
            <a:ext cx="1656184" cy="21602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" name="Google Shape;246;p18"/>
          <p:cNvCxnSpPr/>
          <p:nvPr/>
        </p:nvCxnSpPr>
        <p:spPr>
          <a:xfrm rot="10800000">
            <a:off x="4283968" y="2780928"/>
            <a:ext cx="1512168" cy="7200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18"/>
          <p:cNvCxnSpPr/>
          <p:nvPr/>
        </p:nvCxnSpPr>
        <p:spPr>
          <a:xfrm rot="10800000">
            <a:off x="3419872" y="2348880"/>
            <a:ext cx="2376264" cy="117951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18"/>
          <p:cNvCxnSpPr/>
          <p:nvPr/>
        </p:nvCxnSpPr>
        <p:spPr>
          <a:xfrm rot="10800000">
            <a:off x="3563888" y="3024338"/>
            <a:ext cx="2232248" cy="112474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18"/>
          <p:cNvCxnSpPr/>
          <p:nvPr/>
        </p:nvCxnSpPr>
        <p:spPr>
          <a:xfrm rot="10800000">
            <a:off x="2483768" y="3168352"/>
            <a:ext cx="3312368" cy="145740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5722" y="4653138"/>
            <a:ext cx="5886598" cy="2160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861" y="743857"/>
            <a:ext cx="5750277" cy="537028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2987824" y="6525344"/>
            <a:ext cx="36359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Schéma de l’ovogénèse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155575" y="115758"/>
            <a:ext cx="9828584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Caractéristiques  biologiques  de l’ovocyte</a:t>
            </a:r>
            <a:endParaRPr b="1"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l'ovocyte vers la périphérie, on distingue : 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 L'espace péri-vitellin </a:t>
            </a:r>
            <a:b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 La zone pellucide </a:t>
            </a:r>
            <a:b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 La Corona Radiata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iologie Simplifiée - Structure de l'ovocyte II par: Admin HBK | Facebook" id="263" name="Google Shape;263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iologie Simplifiée - Structure de l'ovocyte II par: Admin HBK | Facebook" id="264" name="Google Shape;264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iologie Simplifiée - Structure de l'ovocyte II par: Admin HBK | Facebook" id="265" name="Google Shape;265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iologie Simplifiée - Structure de l'ovocyte II par: Admin HBK | Facebook" id="266" name="Google Shape;266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ell\Desktop\index.jp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5976" y="1700808"/>
            <a:ext cx="4788024" cy="515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/>
          <p:nvPr/>
        </p:nvSpPr>
        <p:spPr>
          <a:xfrm>
            <a:off x="13648" y="836712"/>
            <a:ext cx="9468544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Ovocyte est secondaire,  bloqué en métaphase II.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Cellule sphérique de 150 µm de diamètre, sans activité de synthèse.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Matériel nucléaire bloqué en métaphase II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absence de fécondation, l'ovocyte survit  24 h (rarement 48 h).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Fécondabilité de l'ovocyte =  degré de maturation cytoplasmique et nucléaire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Migration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le tractus génital </a:t>
            </a:r>
            <a:r>
              <a:rPr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passive 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acilitée par </a:t>
            </a:r>
            <a:b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 courant liquidien </a:t>
            </a:r>
            <a:b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Les mouvements des cils vibratiles de l'épithélium   tubaire. 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0" y="0"/>
            <a:ext cx="88204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b="1" i="0" lang="fr-FR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Différences entre gametogenèses masculine et feminine</a:t>
            </a:r>
            <a:r>
              <a:rPr b="0" i="0" lang="fr-FR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moodle.univ-brest.fr/medecine/public/sites/Serveur_2009/Embryologie/Emb_gen/E_gamet/Dgamet1.gif"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8064895" cy="496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2627784" y="0"/>
            <a:ext cx="19551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Cinétique 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716016" y="692696"/>
            <a:ext cx="6336704" cy="4832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Phase de prolifération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Vie intra-utérine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entre  3 et 7 mois  </a:t>
            </a:r>
            <a:b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Nombre de gamètes fixé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avant la naissance. </a:t>
            </a:r>
            <a:b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Arrêt de la gamétogenèse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à la ménopause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17361">
            <a:off x="558722" y="529297"/>
            <a:ext cx="1499592" cy="115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224" y="0"/>
            <a:ext cx="1145083" cy="136815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/>
          <p:nvPr/>
        </p:nvSpPr>
        <p:spPr>
          <a:xfrm>
            <a:off x="0" y="1607894"/>
            <a:ext cx="24244986" cy="236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cellules souches</a:t>
            </a: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quiescentes   et indifférenciées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jusqu‘à la puberté.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Gamétogenèse continue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/>
          <p:nvPr/>
        </p:nvSpPr>
        <p:spPr>
          <a:xfrm>
            <a:off x="2427851" y="127532"/>
            <a:ext cx="37248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 Résultat de la méiose 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39552" y="1317541"/>
            <a:ext cx="91440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 spermatocyte I                             01 ovocyte 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02 spermatocyte 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 spermatides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17361">
            <a:off x="1469062" y="980509"/>
            <a:ext cx="1499592" cy="115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74" y="743732"/>
            <a:ext cx="1145083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5220072" y="3730973"/>
            <a:ext cx="3077958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 ovocyte 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01 ovotide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4"/>
          <p:cNvCxnSpPr/>
          <p:nvPr/>
        </p:nvCxnSpPr>
        <p:spPr>
          <a:xfrm>
            <a:off x="1835696" y="2996952"/>
            <a:ext cx="0" cy="864096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8" name="Google Shape;298;p24"/>
          <p:cNvCxnSpPr/>
          <p:nvPr/>
        </p:nvCxnSpPr>
        <p:spPr>
          <a:xfrm>
            <a:off x="1841163" y="4221088"/>
            <a:ext cx="0" cy="864096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9" name="Google Shape;299;p24"/>
          <p:cNvCxnSpPr/>
          <p:nvPr/>
        </p:nvCxnSpPr>
        <p:spPr>
          <a:xfrm>
            <a:off x="6392082" y="4299199"/>
            <a:ext cx="0" cy="864096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0" name="Google Shape;300;p24"/>
          <p:cNvCxnSpPr/>
          <p:nvPr/>
        </p:nvCxnSpPr>
        <p:spPr>
          <a:xfrm>
            <a:off x="6372200" y="2996952"/>
            <a:ext cx="0" cy="864096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323528" y="-315416"/>
            <a:ext cx="22843593" cy="4401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     c Nombre de gamètes produits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100 à 300 millions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spz/éjaculat.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17361">
            <a:off x="1721091" y="1307217"/>
            <a:ext cx="1499592" cy="115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4168" y="989881"/>
            <a:ext cx="1145083" cy="136815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4644008" y="2780928"/>
            <a:ext cx="475252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350 à 400 ovocytes</a:t>
            </a:r>
            <a:endParaRPr/>
          </a:p>
          <a:p>
            <a:pPr indent="-800100" lvl="0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durant toute la période  de vie    génitale active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179512" y="548680"/>
            <a:ext cx="22843593" cy="5016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b="1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1259632" y="-191438"/>
            <a:ext cx="5854103" cy="421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d Caractéristiques des gamètes</a:t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17361">
            <a:off x="630730" y="1033353"/>
            <a:ext cx="1499592" cy="115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829" y="801377"/>
            <a:ext cx="1584176" cy="141056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6"/>
          <p:cNvSpPr txBox="1"/>
          <p:nvPr/>
        </p:nvSpPr>
        <p:spPr>
          <a:xfrm>
            <a:off x="107504" y="2337092"/>
            <a:ext cx="4768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Petite cellule  très différenciée,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isolée,  mobile,  pauvre en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cytoplasme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5004048" y="2210580"/>
            <a:ext cx="369030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Cellule volumineuse,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riche en cytoplasme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immobile, entourée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d'enveloppes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2012-11-10T07:52:45Z</dcterms:created>
  <dc:creator>dell</dc:creator>
</cp:coreProperties>
</file>