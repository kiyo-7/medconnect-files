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90" r:id="rId1"/>
  </p:sldMasterIdLst>
  <p:notesMasterIdLst>
    <p:notesMasterId r:id="rId10"/>
  </p:notesMasterIdLst>
  <p:sldIdLst>
    <p:sldId id="256" r:id="rId2"/>
    <p:sldId id="263" r:id="rId3"/>
    <p:sldId id="257" r:id="rId4"/>
    <p:sldId id="261" r:id="rId5"/>
    <p:sldId id="262" r:id="rId6"/>
    <p:sldId id="259" r:id="rId7"/>
    <p:sldId id="260" r:id="rId8"/>
    <p:sldId id="264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1452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2A36A6-4DF3-415F-8437-3911C3F99302}" type="datetimeFigureOut">
              <a:rPr lang="fr-FR" smtClean="0"/>
              <a:t>29/09/2023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A31477-4BA4-4FCB-8B8C-8507E2685CB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38850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A31477-4BA4-4FCB-8B8C-8507E2685CB3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72190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A31477-4BA4-4FCB-8B8C-8507E2685CB3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21601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 smtClean="0"/>
              <a:t>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F40C1-48E6-46F7-833C-026FAF373DA1}" type="datetimeFigureOut">
              <a:rPr lang="fr-FR" smtClean="0"/>
              <a:pPr/>
              <a:t>29/09/2023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9244B-795E-42C4-83B3-7A2467D008E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0987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F40C1-48E6-46F7-833C-026FAF373DA1}" type="datetimeFigureOut">
              <a:rPr lang="fr-FR" smtClean="0"/>
              <a:pPr/>
              <a:t>29/09/2023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9244B-795E-42C4-83B3-7A2467D008E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7388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F40C1-48E6-46F7-833C-026FAF373DA1}" type="datetimeFigureOut">
              <a:rPr lang="fr-FR" smtClean="0"/>
              <a:pPr/>
              <a:t>29/09/2023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9244B-795E-42C4-83B3-7A2467D008E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12450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F40C1-48E6-46F7-833C-026FAF373DA1}" type="datetimeFigureOut">
              <a:rPr lang="fr-FR" smtClean="0"/>
              <a:pPr/>
              <a:t>29/09/2023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9244B-795E-42C4-83B3-7A2467D008E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86950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F40C1-48E6-46F7-833C-026FAF373DA1}" type="datetimeFigureOut">
              <a:rPr lang="fr-FR" smtClean="0"/>
              <a:pPr/>
              <a:t>29/09/2023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9244B-795E-42C4-83B3-7A2467D008E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7252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F40C1-48E6-46F7-833C-026FAF373DA1}" type="datetimeFigureOut">
              <a:rPr lang="fr-FR" smtClean="0"/>
              <a:pPr/>
              <a:t>29/09/2023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9244B-795E-42C4-83B3-7A2467D008E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2547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F40C1-48E6-46F7-833C-026FAF373DA1}" type="datetimeFigureOut">
              <a:rPr lang="fr-FR" smtClean="0"/>
              <a:pPr/>
              <a:t>29/09/2023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9244B-795E-42C4-83B3-7A2467D008E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0428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F40C1-48E6-46F7-833C-026FAF373DA1}" type="datetimeFigureOut">
              <a:rPr lang="fr-FR" smtClean="0"/>
              <a:pPr/>
              <a:t>29/09/2023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9244B-795E-42C4-83B3-7A2467D008E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2608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F40C1-48E6-46F7-833C-026FAF373DA1}" type="datetimeFigureOut">
              <a:rPr lang="fr-FR" smtClean="0"/>
              <a:pPr/>
              <a:t>29/09/2023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9244B-795E-42C4-83B3-7A2467D008E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8707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F40C1-48E6-46F7-833C-026FAF373DA1}" type="datetimeFigureOut">
              <a:rPr lang="fr-FR" smtClean="0"/>
              <a:pPr/>
              <a:t>29/09/2023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9244B-795E-42C4-83B3-7A2467D008E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9111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F40C1-48E6-46F7-833C-026FAF373DA1}" type="datetimeFigureOut">
              <a:rPr lang="fr-FR" smtClean="0"/>
              <a:pPr/>
              <a:t>29/09/2023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9244B-795E-42C4-83B3-7A2467D008E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3833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AF40C1-48E6-46F7-833C-026FAF373DA1}" type="datetimeFigureOut">
              <a:rPr lang="fr-FR" smtClean="0"/>
              <a:pPr/>
              <a:t>29/09/2023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19244B-795E-42C4-83B3-7A2467D008E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47479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036496" cy="655564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FR" sz="2800" b="1" dirty="0" smtClean="0"/>
              <a:t>                     MODULE   EMBRYOLOGIE GENERALE</a:t>
            </a:r>
          </a:p>
          <a:p>
            <a:r>
              <a:rPr lang="fr-FR" sz="2800" b="1" dirty="0" smtClean="0"/>
              <a:t>                                          GAMETOGENESE</a:t>
            </a:r>
          </a:p>
          <a:p>
            <a:r>
              <a:rPr lang="fr-FR" sz="2800" b="1" dirty="0" smtClean="0"/>
              <a:t>                                                                      </a:t>
            </a:r>
          </a:p>
          <a:p>
            <a:r>
              <a:rPr lang="fr-FR" sz="2800" b="1" dirty="0"/>
              <a:t> </a:t>
            </a:r>
            <a:r>
              <a:rPr lang="fr-FR" sz="2800" b="1" dirty="0" smtClean="0"/>
              <a:t>   </a:t>
            </a:r>
          </a:p>
          <a:p>
            <a:endParaRPr lang="fr-FR" sz="2800" b="1" dirty="0"/>
          </a:p>
          <a:p>
            <a:endParaRPr lang="fr-FR" sz="2800" b="1" dirty="0" smtClean="0"/>
          </a:p>
          <a:p>
            <a:endParaRPr lang="fr-FR" sz="2800" b="1" dirty="0"/>
          </a:p>
          <a:p>
            <a:endParaRPr lang="fr-FR" sz="2800" b="1" dirty="0" smtClean="0"/>
          </a:p>
          <a:p>
            <a:endParaRPr lang="fr-FR" sz="2800" b="1" dirty="0"/>
          </a:p>
          <a:p>
            <a:endParaRPr lang="fr-FR" sz="2800" b="1" dirty="0" smtClean="0"/>
          </a:p>
          <a:p>
            <a:endParaRPr lang="fr-FR" sz="2800" b="1" dirty="0"/>
          </a:p>
          <a:p>
            <a:endParaRPr lang="fr-FR" sz="2800" b="1" dirty="0" smtClean="0"/>
          </a:p>
          <a:p>
            <a:endParaRPr lang="fr-FR" sz="2800" b="1" dirty="0"/>
          </a:p>
          <a:p>
            <a:endParaRPr lang="fr-FR" sz="2800" b="1" dirty="0" smtClean="0"/>
          </a:p>
          <a:p>
            <a:r>
              <a:rPr lang="fr-FR" sz="2800" b="1" dirty="0"/>
              <a:t> </a:t>
            </a:r>
            <a:r>
              <a:rPr lang="fr-FR" sz="2800" b="1" dirty="0" smtClean="0"/>
              <a:t>                                                           PR HANNACHI-HECINI A</a:t>
            </a:r>
            <a:endParaRPr lang="fr-FR" sz="2800" b="1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1124744"/>
            <a:ext cx="7128792" cy="4680520"/>
          </a:xfrm>
          <a:prstGeom prst="rect">
            <a:avLst/>
          </a:prstGeom>
        </p:spPr>
      </p:pic>
      <p:sp>
        <p:nvSpPr>
          <p:cNvPr id="5" name="ZoneTexte 4"/>
          <p:cNvSpPr txBox="1"/>
          <p:nvPr/>
        </p:nvSpPr>
        <p:spPr>
          <a:xfrm>
            <a:off x="4915169" y="4581128"/>
            <a:ext cx="2592288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1"/>
          <p:cNvSpPr>
            <a:spLocks noChangeArrowheads="1"/>
          </p:cNvSpPr>
          <p:nvPr/>
        </p:nvSpPr>
        <p:spPr bwMode="auto">
          <a:xfrm>
            <a:off x="14748" y="215444"/>
            <a:ext cx="7992888" cy="66787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 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  <a:ea typeface="Times New Roman" pitchFamily="18" charset="0"/>
                <a:cs typeface="Arial" panose="020B0604020202020204" pitchFamily="34" charset="0"/>
              </a:rPr>
              <a:t>Définition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v"/>
              <a:tabLst/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itchFamily="18" charset="0"/>
                <a:cs typeface="Arial" panose="020B0604020202020204" pitchFamily="34" charset="0"/>
              </a:rPr>
              <a:t> 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itchFamily="18" charset="0"/>
                <a:cs typeface="Arial" panose="020B0604020202020204" pitchFamily="34" charset="0"/>
              </a:rPr>
              <a:t>Processus de formation des gamètes dans les 2 sexes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itchFamily="18" charset="0"/>
                <a:cs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v"/>
              <a:tabLst/>
            </a:pPr>
            <a:endParaRPr kumimoji="0" lang="fr-FR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itchFamily="18" charset="0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itchFamily="18" charset="0"/>
                <a:cs typeface="Arial" panose="020B0604020202020204" pitchFamily="34" charset="0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v"/>
              <a:tabLst/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itchFamily="18" charset="0"/>
                <a:cs typeface="Arial" panose="020B0604020202020204" pitchFamily="34" charset="0"/>
              </a:rPr>
              <a:t> Se déroule dans les glandes génitales, 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itchFamily="18" charset="0"/>
                <a:cs typeface="Arial" panose="020B0604020202020204" pitchFamily="34" charset="0"/>
              </a:rPr>
              <a:t>testicules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itchFamily="18" charset="0"/>
                <a:cs typeface="Arial" panose="020B0604020202020204" pitchFamily="34" charset="0"/>
              </a:rPr>
              <a:t> et 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itchFamily="18" charset="0"/>
                <a:cs typeface="Arial" panose="020B0604020202020204" pitchFamily="34" charset="0"/>
              </a:rPr>
              <a:t>ovaires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v"/>
              <a:tabLst/>
            </a:pPr>
            <a:endParaRPr kumimoji="0" lang="fr-FR" sz="2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itchFamily="18" charset="0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itchFamily="18" charset="0"/>
                <a:cs typeface="Arial" panose="020B0604020202020204" pitchFamily="34" charset="0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v"/>
              <a:tabLst/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itchFamily="18" charset="0"/>
                <a:cs typeface="Arial" panose="020B0604020202020204" pitchFamily="34" charset="0"/>
              </a:rPr>
              <a:t> Concerne 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itchFamily="18" charset="0"/>
                <a:cs typeface="Arial" panose="020B0604020202020204" pitchFamily="34" charset="0"/>
              </a:rPr>
              <a:t>une lignée cellulaire particulière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itchFamily="18" charset="0"/>
                <a:cs typeface="Arial" panose="020B0604020202020204" pitchFamily="34" charset="0"/>
              </a:rPr>
              <a:t>,  </a:t>
            </a:r>
            <a:r>
              <a:rPr kumimoji="0" lang="fr-FR" sz="2800" b="0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itchFamily="18" charset="0"/>
                <a:cs typeface="Arial" panose="020B0604020202020204" pitchFamily="34" charset="0"/>
              </a:rPr>
              <a:t>la lignée germinale (</a:t>
            </a:r>
            <a:r>
              <a:rPr kumimoji="0" lang="fr-FR" sz="2800" b="1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itchFamily="18" charset="0"/>
                <a:cs typeface="Arial" panose="020B0604020202020204" pitchFamily="34" charset="0"/>
              </a:rPr>
              <a:t>le germen</a:t>
            </a:r>
            <a:r>
              <a:rPr kumimoji="0" lang="fr-FR" sz="2800" b="0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itchFamily="18" charset="0"/>
                <a:cs typeface="Arial" panose="020B0604020202020204" pitchFamily="34" charset="0"/>
              </a:rPr>
              <a:t>), 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itchFamily="18" charset="0"/>
                <a:cs typeface="Arial" panose="020B0604020202020204" pitchFamily="34" charset="0"/>
              </a:rPr>
              <a:t>par opposition à toutes les autres cellules de l'organisme, regroupées sous le terme de cellules somatiques ( 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itchFamily="18" charset="0"/>
                <a:cs typeface="Arial" panose="020B0604020202020204" pitchFamily="34" charset="0"/>
              </a:rPr>
              <a:t>le soma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itchFamily="18" charset="0"/>
                <a:cs typeface="Arial" panose="020B0604020202020204" pitchFamily="34" charset="0"/>
              </a:rPr>
              <a:t>). </a:t>
            </a:r>
            <a:endParaRPr kumimoji="0" lang="fr-FR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514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1"/>
          <p:cNvSpPr>
            <a:spLocks noChangeArrowheads="1"/>
          </p:cNvSpPr>
          <p:nvPr/>
        </p:nvSpPr>
        <p:spPr bwMode="auto">
          <a:xfrm>
            <a:off x="0" y="-5417"/>
            <a:ext cx="9144000" cy="68634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  <a:ea typeface="Times New Roman" pitchFamily="18" charset="0"/>
                <a:cs typeface="Arial" panose="020B0604020202020204" pitchFamily="34" charset="0"/>
              </a:rPr>
              <a:t>Les cellules de la lignée germinale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itchFamily="18" charset="0"/>
                <a:cs typeface="Arial" panose="020B0604020202020204" pitchFamily="34" charset="0"/>
              </a:rPr>
              <a:t>  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itchFamily="18" charset="0"/>
                <a:cs typeface="Arial" panose="020B0604020202020204" pitchFamily="34" charset="0"/>
              </a:rPr>
              <a:t>Les gonies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itchFamily="18" charset="0"/>
                <a:cs typeface="Arial" panose="020B0604020202020204" pitchFamily="34" charset="0"/>
              </a:rPr>
              <a:t> (spermatogonies ou ovogonies) </a:t>
            </a:r>
            <a:b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itchFamily="18" charset="0"/>
                <a:cs typeface="Arial" panose="020B0604020202020204" pitchFamily="34" charset="0"/>
              </a:rPr>
            </a:b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itchFamily="18" charset="0"/>
                <a:cs typeface="Arial" panose="020B0604020202020204" pitchFamily="34" charset="0"/>
              </a:rPr>
              <a:t>Cellules souches diploïdes. Elles se multiplient par mitose équationnelle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itchFamily="18" charset="0"/>
                <a:cs typeface="Arial" panose="020B0604020202020204" pitchFamily="34" charset="0"/>
              </a:rPr>
              <a:t>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itchFamily="18" charset="0"/>
                <a:cs typeface="Arial" panose="020B0604020202020204" pitchFamily="34" charset="0"/>
              </a:rPr>
              <a:t>Les 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itchFamily="18" charset="0"/>
                <a:cs typeface="Arial" panose="020B0604020202020204" pitchFamily="34" charset="0"/>
              </a:rPr>
              <a:t>"-cytes"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itchFamily="18" charset="0"/>
                <a:cs typeface="Arial" panose="020B0604020202020204" pitchFamily="34" charset="0"/>
              </a:rPr>
              <a:t> (spermatocytes ou ovocytes)</a:t>
            </a:r>
            <a:b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itchFamily="18" charset="0"/>
                <a:cs typeface="Arial" panose="020B0604020202020204" pitchFamily="34" charset="0"/>
              </a:rPr>
            </a:b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itchFamily="18" charset="0"/>
                <a:cs typeface="Arial" panose="020B0604020202020204" pitchFamily="34" charset="0"/>
              </a:rPr>
              <a:t>Cellules engagées dans le processus de la 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itchFamily="18" charset="0"/>
                <a:cs typeface="Arial" panose="020B0604020202020204" pitchFamily="34" charset="0"/>
              </a:rPr>
              <a:t>méiose</a:t>
            </a:r>
            <a:endParaRPr lang="fr-FR" sz="2800" dirty="0">
              <a:latin typeface="Arial" panose="020B0604020202020204" pitchFamily="34" charset="0"/>
              <a:ea typeface="Times New Roman" pitchFamily="18" charset="0"/>
              <a:cs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itchFamily="18" charset="0"/>
                <a:cs typeface="Arial" panose="020B0604020202020204" pitchFamily="34" charset="0"/>
              </a:rPr>
              <a:t>"-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itchFamily="18" charset="0"/>
                <a:cs typeface="Arial" panose="020B0604020202020204" pitchFamily="34" charset="0"/>
              </a:rPr>
              <a:t>cytes I" ou "-cytes de premier ordre" précèdent la première division méiotique ou division 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itchFamily="18" charset="0"/>
                <a:cs typeface="Arial" panose="020B0604020202020204" pitchFamily="34" charset="0"/>
              </a:rPr>
              <a:t>réductionnelle</a:t>
            </a: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"-cytes II" ou "-cytes de deuxième ordre" se forment à partir des précédents au cours de la première division méiotique (division réductionnelle). 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Les "-tides" </a:t>
            </a:r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(spermatides ou ovotides)</a:t>
            </a:r>
            <a:b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Ils se forment au cours de la deuxième division de la méiose (division équationnelle). Ce sont des cellules haploïdes qui ne se diviseront plus.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</a:pPr>
            <a:endParaRPr kumimoji="0" lang="fr-FR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402" y="154276"/>
            <a:ext cx="7975571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b="1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Les étapes de la gamétogenèse</a:t>
            </a:r>
            <a:r>
              <a:rPr lang="fr-FR" sz="2800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Phase </a:t>
            </a:r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  <a:r>
              <a:rPr lang="fr-FR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prolifération (multiplication)</a:t>
            </a:r>
            <a:endParaRPr lang="fr-FR" sz="28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Gonies                        Gonies                   CytesI</a:t>
            </a:r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fr-FR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433" name="Rectangle 1"/>
          <p:cNvSpPr>
            <a:spLocks noChangeArrowheads="1"/>
          </p:cNvSpPr>
          <p:nvPr/>
        </p:nvSpPr>
        <p:spPr bwMode="auto">
          <a:xfrm>
            <a:off x="116402" y="3110729"/>
            <a:ext cx="6877272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itchFamily="18" charset="0"/>
                <a:cs typeface="Arial" panose="020B0604020202020204" pitchFamily="34" charset="0"/>
              </a:rPr>
              <a:t> Phase d'accroissement</a:t>
            </a:r>
            <a:endParaRPr kumimoji="0" lang="fr-FR" sz="2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itchFamily="18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r-FR" sz="2800" b="1" dirty="0" smtClean="0">
              <a:latin typeface="Arial" panose="020B0604020202020204" pitchFamily="34" charset="0"/>
              <a:ea typeface="Times New Roman" pitchFamily="18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800" b="1" dirty="0" smtClean="0">
                <a:latin typeface="Arial" panose="020B0604020202020204" pitchFamily="34" charset="0"/>
                <a:ea typeface="Times New Roman" pitchFamily="18" charset="0"/>
                <a:cs typeface="Arial" panose="020B0604020202020204" pitchFamily="34" charset="0"/>
              </a:rPr>
              <a:t>CytesI                       Auxocytes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itchFamily="18" charset="0"/>
                <a:cs typeface="Arial" panose="020B0604020202020204" pitchFamily="34" charset="0"/>
              </a:rPr>
              <a:t> 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itchFamily="18" charset="0"/>
                <a:cs typeface="Arial" panose="020B0604020202020204" pitchFamily="34" charset="0"/>
              </a:rPr>
              <a:t/>
            </a:r>
            <a:b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itchFamily="18" charset="0"/>
                <a:cs typeface="Arial" panose="020B0604020202020204" pitchFamily="34" charset="0"/>
              </a:rPr>
            </a:br>
            <a:endParaRPr kumimoji="0" lang="fr-FR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Flèche droite 3"/>
          <p:cNvSpPr/>
          <p:nvPr/>
        </p:nvSpPr>
        <p:spPr>
          <a:xfrm flipV="1">
            <a:off x="1988155" y="1196752"/>
            <a:ext cx="978408" cy="14409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5" name="Flèche droite 4"/>
          <p:cNvSpPr/>
          <p:nvPr/>
        </p:nvSpPr>
        <p:spPr>
          <a:xfrm>
            <a:off x="5436096" y="1210137"/>
            <a:ext cx="978408" cy="144016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/>
          <p:cNvSpPr txBox="1"/>
          <p:nvPr/>
        </p:nvSpPr>
        <p:spPr>
          <a:xfrm>
            <a:off x="2672887" y="1428892"/>
            <a:ext cx="28777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 smtClean="0">
                <a:solidFill>
                  <a:srgbClr val="00B0F0"/>
                </a:solidFill>
              </a:rPr>
              <a:t>Multiplication par mitose</a:t>
            </a:r>
            <a:endParaRPr lang="fr-FR" sz="2000" b="1" dirty="0">
              <a:solidFill>
                <a:srgbClr val="00B0F0"/>
              </a:solidFill>
            </a:endParaRPr>
          </a:p>
        </p:txBody>
      </p:sp>
      <p:sp>
        <p:nvSpPr>
          <p:cNvPr id="7" name="Flèche droite 6"/>
          <p:cNvSpPr/>
          <p:nvPr/>
        </p:nvSpPr>
        <p:spPr>
          <a:xfrm>
            <a:off x="1982913" y="4181220"/>
            <a:ext cx="978408" cy="144016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 </a:t>
            </a:r>
            <a:endParaRPr lang="fr-FR" dirty="0"/>
          </a:p>
        </p:txBody>
      </p:sp>
      <p:sp>
        <p:nvSpPr>
          <p:cNvPr id="8" name="ZoneTexte 7"/>
          <p:cNvSpPr txBox="1"/>
          <p:nvPr/>
        </p:nvSpPr>
        <p:spPr>
          <a:xfrm>
            <a:off x="1763688" y="5040502"/>
            <a:ext cx="29322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Augmentation de taille</a:t>
            </a:r>
            <a:endParaRPr lang="fr-FR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0" y="1732530"/>
            <a:ext cx="88204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Spematogonies   </a:t>
            </a:r>
            <a:r>
              <a:rPr lang="fr-FR" sz="2000" b="1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Spermatocytes</a:t>
            </a:r>
            <a:endParaRPr lang="fr-FR" sz="2000" b="1" dirty="0" smtClean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000" b="1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Ovogonies                                     2n ch                                Ovocytes </a:t>
            </a:r>
            <a:endParaRPr lang="fr-FR" sz="2000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ZoneTexte 14"/>
          <p:cNvSpPr txBox="1"/>
          <p:nvPr/>
        </p:nvSpPr>
        <p:spPr>
          <a:xfrm>
            <a:off x="1166006" y="4458340"/>
            <a:ext cx="26227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 smtClean="0">
                <a:solidFill>
                  <a:srgbClr val="00B0F0"/>
                </a:solidFill>
              </a:rPr>
              <a:t>Augmentation de taille</a:t>
            </a:r>
            <a:endParaRPr lang="fr-FR" sz="2000" b="1" dirty="0">
              <a:solidFill>
                <a:srgbClr val="00B0F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build="allAtOnce"/>
      <p:bldP spid="7" grpId="0" build="allAtOnce" animBg="1"/>
      <p:bldP spid="8" grpId="0" build="allAtOnce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35273" y="-76870"/>
            <a:ext cx="8604448" cy="36009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lvl="0" indent="-5715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itchFamily="18" charset="0"/>
                <a:cs typeface="Arial" panose="020B0604020202020204" pitchFamily="34" charset="0"/>
              </a:rPr>
              <a:t>Phase 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itchFamily="18" charset="0"/>
                <a:cs typeface="Arial" panose="020B0604020202020204" pitchFamily="34" charset="0"/>
              </a:rPr>
              <a:t>de maturation   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itchFamily="18" charset="0"/>
                <a:cs typeface="Arial" panose="020B0604020202020204" pitchFamily="34" charset="0"/>
              </a:rPr>
              <a:t> ( 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itchFamily="18" charset="0"/>
                <a:cs typeface="Arial" panose="020B0604020202020204" pitchFamily="34" charset="0"/>
              </a:rPr>
              <a:t>Méiose)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itchFamily="18" charset="0"/>
                <a:cs typeface="Arial" panose="020B0604020202020204" pitchFamily="34" charset="0"/>
              </a:rPr>
              <a:t/>
            </a:r>
            <a:b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itchFamily="18" charset="0"/>
                <a:cs typeface="Arial" panose="020B0604020202020204" pitchFamily="34" charset="0"/>
              </a:rPr>
            </a:b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itchFamily="18" charset="0"/>
                <a:cs typeface="Arial" panose="020B0604020202020204" pitchFamily="34" charset="0"/>
              </a:rPr>
              <a:t>   1 CyteI</a:t>
            </a:r>
            <a:r>
              <a:rPr lang="fr-FR" sz="2800" dirty="0" smtClean="0">
                <a:latin typeface="Arial" panose="020B0604020202020204" pitchFamily="34" charset="0"/>
                <a:ea typeface="Times New Roman" pitchFamily="18" charset="0"/>
                <a:cs typeface="Arial" panose="020B0604020202020204" pitchFamily="34" charset="0"/>
              </a:rPr>
              <a:t>                                        2 Cytes II</a:t>
            </a:r>
            <a:endParaRPr kumimoji="0" lang="fr-FR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itchFamily="18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ea typeface="Times New Roman" pitchFamily="18" charset="0"/>
                <a:cs typeface="Arial" panose="020B0604020202020204" pitchFamily="34" charset="0"/>
              </a:rPr>
              <a:t>  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ea typeface="Times New Roman" pitchFamily="18" charset="0"/>
                <a:cs typeface="Arial" panose="020B0604020202020204" pitchFamily="34" charset="0"/>
              </a:rPr>
              <a:t>            </a:t>
            </a:r>
            <a:r>
              <a:rPr kumimoji="0" lang="fr-FR" sz="2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ea typeface="Times New Roman" pitchFamily="18" charset="0"/>
                <a:cs typeface="Arial" panose="020B0604020202020204" pitchFamily="34" charset="0"/>
              </a:rPr>
              <a:t>2n ch</a:t>
            </a:r>
            <a:r>
              <a:rPr lang="fr-FR" sz="2000" dirty="0" smtClean="0">
                <a:solidFill>
                  <a:srgbClr val="FF0000"/>
                </a:solidFill>
                <a:latin typeface="Arial" panose="020B0604020202020204" pitchFamily="34" charset="0"/>
                <a:ea typeface="Times New Roman" pitchFamily="18" charset="0"/>
                <a:cs typeface="Arial" panose="020B0604020202020204" pitchFamily="34" charset="0"/>
              </a:rPr>
              <a:t>                                                             n ch   </a:t>
            </a:r>
            <a:endParaRPr kumimoji="0" lang="fr-FR" sz="2000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  <a:ea typeface="Times New Roman" pitchFamily="18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fr-FR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itchFamily="18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800" dirty="0" smtClean="0">
                <a:latin typeface="Arial" panose="020B0604020202020204" pitchFamily="34" charset="0"/>
                <a:ea typeface="Times New Roman" pitchFamily="18" charset="0"/>
                <a:cs typeface="Arial" panose="020B0604020202020204" pitchFamily="34" charset="0"/>
              </a:rPr>
              <a:t>    </a:t>
            </a:r>
            <a:r>
              <a:rPr lang="fr-FR" sz="2800" dirty="0" smtClean="0">
                <a:latin typeface="Arial" panose="020B0604020202020204" pitchFamily="34" charset="0"/>
                <a:ea typeface="Times New Roman" pitchFamily="18" charset="0"/>
                <a:cs typeface="Arial" panose="020B0604020202020204" pitchFamily="34" charset="0"/>
              </a:rPr>
              <a:t>       2 </a:t>
            </a:r>
            <a:r>
              <a:rPr lang="fr-FR" sz="2800" dirty="0" smtClean="0">
                <a:latin typeface="Arial" panose="020B0604020202020204" pitchFamily="34" charset="0"/>
                <a:ea typeface="Times New Roman" pitchFamily="18" charset="0"/>
                <a:cs typeface="Arial" panose="020B0604020202020204" pitchFamily="34" charset="0"/>
              </a:rPr>
              <a:t>Cytes II                                    4 Tides</a:t>
            </a:r>
            <a:r>
              <a:rPr lang="fr-FR" sz="2800" dirty="0" smtClean="0">
                <a:solidFill>
                  <a:srgbClr val="FF0000"/>
                </a:solidFill>
                <a:latin typeface="Arial" panose="020B0604020202020204" pitchFamily="34" charset="0"/>
                <a:ea typeface="Times New Roman" pitchFamily="18" charset="0"/>
                <a:cs typeface="Arial" panose="020B0604020202020204" pitchFamily="34" charset="0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800" dirty="0" smtClean="0">
                <a:solidFill>
                  <a:srgbClr val="FF0000"/>
                </a:solidFill>
                <a:latin typeface="Arial" panose="020B0604020202020204" pitchFamily="34" charset="0"/>
                <a:ea typeface="Times New Roman" pitchFamily="18" charset="0"/>
                <a:cs typeface="Arial" panose="020B0604020202020204" pitchFamily="34" charset="0"/>
              </a:rPr>
              <a:t>                                                            </a:t>
            </a:r>
            <a:r>
              <a:rPr lang="fr-FR" sz="2800" dirty="0" smtClean="0">
                <a:solidFill>
                  <a:srgbClr val="FF0000"/>
                </a:solidFill>
                <a:latin typeface="Arial" panose="020B0604020202020204" pitchFamily="34" charset="0"/>
                <a:ea typeface="Times New Roman" pitchFamily="18" charset="0"/>
                <a:cs typeface="Arial" panose="020B0604020202020204" pitchFamily="34" charset="0"/>
              </a:rPr>
              <a:t>      nch </a:t>
            </a:r>
            <a:endParaRPr lang="fr-FR" sz="2800" dirty="0" smtClean="0">
              <a:latin typeface="Arial" panose="020B0604020202020204" pitchFamily="34" charset="0"/>
              <a:ea typeface="Times New Roman" pitchFamily="18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fr-FR" sz="2000" dirty="0" smtClean="0">
              <a:latin typeface="Arial" panose="020B0604020202020204" pitchFamily="34" charset="0"/>
              <a:ea typeface="Times New Roman" pitchFamily="18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fr-FR" sz="2000" dirty="0" smtClean="0">
              <a:latin typeface="Arial" panose="020B0604020202020204" pitchFamily="34" charset="0"/>
              <a:ea typeface="Times New Roman" pitchFamily="18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fr-F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itchFamily="18" charset="0"/>
                <a:cs typeface="Arial" panose="020B0604020202020204" pitchFamily="34" charset="0"/>
              </a:rPr>
              <a:t>                </a:t>
            </a:r>
            <a:endParaRPr kumimoji="0" lang="fr-FR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Flèche droite 3"/>
          <p:cNvSpPr/>
          <p:nvPr/>
        </p:nvSpPr>
        <p:spPr>
          <a:xfrm>
            <a:off x="3288543" y="539446"/>
            <a:ext cx="978408" cy="144016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 </a:t>
            </a:r>
            <a:endParaRPr lang="fr-FR" dirty="0"/>
          </a:p>
        </p:txBody>
      </p:sp>
      <p:sp>
        <p:nvSpPr>
          <p:cNvPr id="5" name="Flèche droite 4"/>
          <p:cNvSpPr/>
          <p:nvPr/>
        </p:nvSpPr>
        <p:spPr>
          <a:xfrm>
            <a:off x="3260760" y="1844824"/>
            <a:ext cx="978408" cy="144016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 </a:t>
            </a:r>
            <a:endParaRPr lang="fr-FR" dirty="0"/>
          </a:p>
        </p:txBody>
      </p:sp>
      <p:sp>
        <p:nvSpPr>
          <p:cNvPr id="7" name="ZoneTexte 6"/>
          <p:cNvSpPr txBox="1"/>
          <p:nvPr/>
        </p:nvSpPr>
        <p:spPr>
          <a:xfrm>
            <a:off x="2641270" y="2236287"/>
            <a:ext cx="25202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000" b="1" dirty="0" smtClean="0">
                <a:solidFill>
                  <a:srgbClr val="00B0F0"/>
                </a:solidFill>
                <a:latin typeface="Calibri" pitchFamily="34" charset="0"/>
                <a:ea typeface="Times New Roman" pitchFamily="18" charset="0"/>
                <a:cs typeface="Times New Roman" pitchFamily="18" charset="0"/>
              </a:rPr>
              <a:t>Mitose équationnelle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3600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                        </a:t>
            </a:r>
            <a:r>
              <a:rPr lang="fr-FR" sz="3600" dirty="0" smtClean="0">
                <a:solidFill>
                  <a:srgbClr val="FF0000"/>
                </a:solidFill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         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5796136" y="2492896"/>
            <a:ext cx="2002471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3200" dirty="0" smtClean="0">
                <a:solidFill>
                  <a:srgbClr val="92D050"/>
                </a:solidFill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  </a:t>
            </a:r>
            <a:r>
              <a:rPr lang="fr-FR" sz="2000" b="1" dirty="0" smtClean="0">
                <a:solidFill>
                  <a:srgbClr val="00B050"/>
                </a:solidFill>
                <a:latin typeface="Arial" panose="020B0604020202020204" pitchFamily="34" charset="0"/>
                <a:ea typeface="Times New Roman" pitchFamily="18" charset="0"/>
                <a:cs typeface="Arial" panose="020B0604020202020204" pitchFamily="34" charset="0"/>
              </a:rPr>
              <a:t>Spermatides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000" b="1" dirty="0" smtClean="0">
                <a:solidFill>
                  <a:srgbClr val="00B050"/>
                </a:solidFill>
                <a:latin typeface="Arial" panose="020B0604020202020204" pitchFamily="34" charset="0"/>
                <a:ea typeface="Times New Roman" pitchFamily="18" charset="0"/>
                <a:cs typeface="Arial" panose="020B0604020202020204" pitchFamily="34" charset="0"/>
              </a:rPr>
              <a:t>      Ovotides</a:t>
            </a:r>
            <a:endParaRPr lang="fr-FR" sz="2000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2521660" y="970124"/>
            <a:ext cx="263989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fr-FR" sz="3600" dirty="0" smtClean="0">
                <a:solidFill>
                  <a:srgbClr val="FF0000"/>
                </a:solidFill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fr-FR" sz="2000" b="1" dirty="0" smtClean="0">
                <a:solidFill>
                  <a:srgbClr val="00B0F0"/>
                </a:solidFill>
                <a:latin typeface="Calibri" pitchFamily="34" charset="0"/>
                <a:ea typeface="Times New Roman" pitchFamily="18" charset="0"/>
                <a:cs typeface="Times New Roman" pitchFamily="18" charset="0"/>
              </a:rPr>
              <a:t>Mitose réductionnelle</a:t>
            </a:r>
          </a:p>
          <a:p>
            <a:endParaRPr lang="fr-FR" sz="3600" dirty="0"/>
          </a:p>
        </p:txBody>
      </p:sp>
      <p:sp>
        <p:nvSpPr>
          <p:cNvPr id="12" name="ZoneTexte 11"/>
          <p:cNvSpPr txBox="1"/>
          <p:nvPr/>
        </p:nvSpPr>
        <p:spPr>
          <a:xfrm>
            <a:off x="0" y="4111394"/>
            <a:ext cx="8640960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Phase de différenciation (spermiogénèse)</a:t>
            </a:r>
          </a:p>
          <a:p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     Tides                                       Gaméte mur</a:t>
            </a:r>
          </a:p>
          <a:p>
            <a:r>
              <a:rPr lang="fr-FR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fr-FR" sz="2000" b="1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Spermatides                                                   Spermatozoide</a:t>
            </a:r>
          </a:p>
          <a:p>
            <a:endParaRPr lang="fr-FR" sz="2000" b="1" dirty="0" smtClean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000" b="1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</a:t>
            </a:r>
            <a:endParaRPr lang="fr-FR" sz="2000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Imag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0649" y="5107674"/>
            <a:ext cx="999831" cy="18289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allAtOnce" animBg="1"/>
      <p:bldP spid="5" grpId="0" build="allAtOnce" animBg="1"/>
      <p:bldP spid="7" grpId="0" build="allAtOnce"/>
      <p:bldP spid="9" grpId="0" build="allAtOnce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1"/>
          <p:cNvSpPr>
            <a:spLocks noChangeArrowheads="1"/>
          </p:cNvSpPr>
          <p:nvPr/>
        </p:nvSpPr>
        <p:spPr bwMode="auto">
          <a:xfrm>
            <a:off x="0" y="37655"/>
            <a:ext cx="9144000" cy="5262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  <a:ea typeface="Times New Roman" pitchFamily="18" charset="0"/>
                <a:cs typeface="Arial" panose="020B0604020202020204" pitchFamily="34" charset="0"/>
              </a:rPr>
              <a:t>La méiose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  <a:ea typeface="Times New Roman" pitchFamily="18" charset="0"/>
                <a:cs typeface="Arial" panose="020B0604020202020204" pitchFamily="34" charset="0"/>
              </a:rPr>
              <a:t> 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800" b="0" i="0" u="none" strike="noStrike" cap="none" normalizeH="0" baseline="0" dirty="0" smtClean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effectLst/>
                <a:latin typeface="Arial" panose="020B0604020202020204" pitchFamily="34" charset="0"/>
                <a:ea typeface="Times New Roman" pitchFamily="18" charset="0"/>
                <a:cs typeface="Arial" panose="020B0604020202020204" pitchFamily="34" charset="0"/>
              </a:rPr>
              <a:t> Propre à la lignée germinale. </a:t>
            </a:r>
            <a:endParaRPr kumimoji="0" lang="fr-FR" sz="2800" b="0" i="0" u="none" strike="noStrike" cap="none" normalizeH="0" baseline="0" dirty="0" smtClean="0">
              <a:ln>
                <a:noFill/>
              </a:ln>
              <a:effectLst/>
              <a:latin typeface="Arial" panose="020B0604020202020204" pitchFamily="34" charset="0"/>
              <a:ea typeface="Times New Roman" pitchFamily="18" charset="0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</a:pPr>
            <a:endParaRPr kumimoji="0" lang="fr-FR" sz="2800" b="0" i="0" u="none" strike="noStrike" cap="none" normalizeH="0" baseline="0" dirty="0" smtClean="0">
              <a:ln>
                <a:noFill/>
              </a:ln>
              <a:effectLst/>
              <a:latin typeface="Arial" panose="020B0604020202020204" pitchFamily="34" charset="0"/>
              <a:ea typeface="Times New Roman" pitchFamily="18" charset="0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</a:pPr>
            <a:r>
              <a:rPr lang="fr-FR" sz="2800" dirty="0">
                <a:latin typeface="Arial" panose="020B0604020202020204" pitchFamily="34" charset="0"/>
                <a:ea typeface="Times New Roman" pitchFamily="18" charset="0"/>
                <a:cs typeface="Arial" panose="020B0604020202020204" pitchFamily="34" charset="0"/>
              </a:rPr>
              <a:t> </a:t>
            </a:r>
            <a:r>
              <a:rPr lang="fr-FR" sz="2800" dirty="0" smtClean="0">
                <a:latin typeface="Arial" panose="020B0604020202020204" pitchFamily="34" charset="0"/>
                <a:ea typeface="Times New Roman" pitchFamily="18" charset="0"/>
                <a:cs typeface="Arial" panose="020B0604020202020204" pitchFamily="34" charset="0"/>
              </a:rPr>
              <a:t>I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effectLst/>
                <a:latin typeface="Arial" panose="020B0604020202020204" pitchFamily="34" charset="0"/>
                <a:ea typeface="Times New Roman" pitchFamily="18" charset="0"/>
                <a:cs typeface="Arial" panose="020B0604020202020204" pitchFamily="34" charset="0"/>
              </a:rPr>
              <a:t>ntéresse 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effectLst/>
                <a:latin typeface="Arial" panose="020B0604020202020204" pitchFamily="34" charset="0"/>
                <a:ea typeface="Times New Roman" pitchFamily="18" charset="0"/>
                <a:cs typeface="Arial" panose="020B0604020202020204" pitchFamily="34" charset="0"/>
              </a:rPr>
              <a:t>les -cytes de premier et de deuxième ordre et associe deux divisions cellulaires.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fr-FR" sz="2800" b="0" i="0" u="none" strike="noStrike" cap="none" normalizeH="0" baseline="0" dirty="0" smtClean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effectLst/>
                <a:latin typeface="Arial" panose="020B0604020202020204" pitchFamily="34" charset="0"/>
                <a:ea typeface="Times New Roman" pitchFamily="18" charset="0"/>
                <a:cs typeface="Arial" panose="020B0604020202020204" pitchFamily="34" charset="0"/>
              </a:rPr>
              <a:t> Permet la formation de gamètes haploïdes et l'échange de segments chromosomiques entre les génomes paternel et maternel.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</a:pPr>
            <a:endParaRPr lang="fr-FR" sz="2800" dirty="0" smtClean="0">
              <a:latin typeface="Arial" panose="020B0604020202020204" pitchFamily="34" charset="0"/>
              <a:ea typeface="Times New Roman" pitchFamily="18" charset="0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effectLst/>
                <a:latin typeface="Arial" panose="020B0604020202020204" pitchFamily="34" charset="0"/>
                <a:ea typeface="Times New Roman" pitchFamily="18" charset="0"/>
                <a:cs typeface="Arial" panose="020B0604020202020204" pitchFamily="34" charset="0"/>
              </a:rPr>
              <a:t> Permet 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effectLst/>
                <a:latin typeface="Arial" panose="020B0604020202020204" pitchFamily="34" charset="0"/>
                <a:ea typeface="Times New Roman" pitchFamily="18" charset="0"/>
                <a:cs typeface="Arial" panose="020B0604020202020204" pitchFamily="34" charset="0"/>
              </a:rPr>
              <a:t>la variabilité génétique de l'espèce</a:t>
            </a:r>
            <a:endParaRPr kumimoji="0" lang="fr-FR" sz="2800" b="0" i="0" u="none" strike="noStrike" cap="none" normalizeH="0" baseline="0" dirty="0" smtClean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1"/>
          <p:cNvSpPr>
            <a:spLocks noChangeArrowheads="1"/>
          </p:cNvSpPr>
          <p:nvPr/>
        </p:nvSpPr>
        <p:spPr bwMode="auto">
          <a:xfrm>
            <a:off x="0" y="447484"/>
            <a:ext cx="9144000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fr-FR" sz="2800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itchFamily="18" charset="0"/>
                <a:cs typeface="Arial" panose="020B0604020202020204" pitchFamily="34" charset="0"/>
              </a:rPr>
              <a:t>Comporte deux divisions successives: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lang="fr-FR" sz="2800" b="1" dirty="0">
              <a:latin typeface="Arial" panose="020B0604020202020204" pitchFamily="34" charset="0"/>
              <a:ea typeface="Times New Roman" pitchFamily="18" charset="0"/>
              <a:cs typeface="Arial" panose="020B0604020202020204" pitchFamily="34" charset="0"/>
            </a:endParaRP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sz="2800" b="1" i="0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  <a:ea typeface="Times New Roman" pitchFamily="18" charset="0"/>
                <a:cs typeface="Arial" panose="020B0604020202020204" pitchFamily="34" charset="0"/>
              </a:rPr>
              <a:t>La </a:t>
            </a:r>
            <a:r>
              <a:rPr kumimoji="0" lang="fr-FR" sz="2800" b="1" i="0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  <a:ea typeface="Times New Roman" pitchFamily="18" charset="0"/>
                <a:cs typeface="Arial" panose="020B0604020202020204" pitchFamily="34" charset="0"/>
              </a:rPr>
              <a:t>première division (division réductionnelle)</a:t>
            </a:r>
            <a:endParaRPr kumimoji="0" lang="fr-FR" sz="2800" b="0" i="0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fr-FR" sz="2800" b="0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itchFamily="18" charset="0"/>
                <a:cs typeface="Arial" panose="020B0604020202020204" pitchFamily="34" charset="0"/>
              </a:rPr>
              <a:t>Comprend successivement : </a:t>
            </a:r>
            <a:r>
              <a:rPr kumimoji="0" lang="fr-FR" sz="2800" b="0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itchFamily="18" charset="0"/>
                <a:cs typeface="Arial" panose="020B0604020202020204" pitchFamily="34" charset="0"/>
              </a:rPr>
              <a:t>Prophase</a:t>
            </a:r>
            <a:r>
              <a:rPr kumimoji="0" lang="fr-FR" sz="2800" b="0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itchFamily="18" charset="0"/>
                <a:cs typeface="Arial" panose="020B0604020202020204" pitchFamily="34" charset="0"/>
              </a:rPr>
              <a:t>, Métaphase, Anaphase 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itchFamily="18" charset="0"/>
                <a:cs typeface="Arial" panose="020B0604020202020204" pitchFamily="34" charset="0"/>
              </a:rPr>
              <a:t>et 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itchFamily="18" charset="0"/>
                <a:cs typeface="Arial" panose="020B0604020202020204" pitchFamily="34" charset="0"/>
              </a:rPr>
              <a:t>Télophase,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Réduction de moitié du nombre de chromosomes,</a:t>
            </a:r>
            <a:endParaRPr kumimoji="0" lang="fr-FR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410" name="Rectangle 2"/>
          <p:cNvSpPr>
            <a:spLocks noChangeArrowheads="1"/>
          </p:cNvSpPr>
          <p:nvPr/>
        </p:nvSpPr>
        <p:spPr bwMode="auto">
          <a:xfrm>
            <a:off x="0" y="3160316"/>
            <a:ext cx="9144000" cy="31085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800" b="1" i="0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  <a:latin typeface="Arial" panose="020B0604020202020204" pitchFamily="34" charset="0"/>
              <a:ea typeface="Times New Roman" pitchFamily="18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800" b="1" i="0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  <a:ea typeface="Times New Roman" pitchFamily="18" charset="0"/>
                <a:cs typeface="Arial" panose="020B0604020202020204" pitchFamily="34" charset="0"/>
              </a:rPr>
              <a:t>La </a:t>
            </a:r>
            <a:r>
              <a:rPr kumimoji="0" lang="fr-FR" sz="2800" b="1" i="0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  <a:ea typeface="Times New Roman" pitchFamily="18" charset="0"/>
                <a:cs typeface="Arial" panose="020B0604020202020204" pitchFamily="34" charset="0"/>
              </a:rPr>
              <a:t>deuxième division</a:t>
            </a:r>
            <a:r>
              <a:rPr kumimoji="0" lang="fr-FR" sz="2800" b="0" i="0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  <a:ea typeface="Times New Roman" pitchFamily="18" charset="0"/>
                <a:cs typeface="Arial" panose="020B0604020202020204" pitchFamily="34" charset="0"/>
              </a:rPr>
              <a:t> </a:t>
            </a:r>
            <a:r>
              <a:rPr kumimoji="0" lang="fr-FR" sz="2800" b="1" i="0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  <a:ea typeface="Times New Roman" pitchFamily="18" charset="0"/>
                <a:cs typeface="Arial" panose="020B0604020202020204" pitchFamily="34" charset="0"/>
              </a:rPr>
              <a:t>(division 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  <a:ea typeface="Times New Roman" pitchFamily="18" charset="0"/>
                <a:cs typeface="Arial" panose="020B0604020202020204" pitchFamily="34" charset="0"/>
              </a:rPr>
              <a:t>équationnelle)</a:t>
            </a:r>
            <a:endParaRPr kumimoji="0" lang="fr-FR" sz="2800" b="0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itchFamily="18" charset="0"/>
                <a:cs typeface="Arial" panose="020B0604020202020204" pitchFamily="34" charset="0"/>
              </a:rPr>
              <a:t>On 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itchFamily="18" charset="0"/>
                <a:cs typeface="Arial" panose="020B0604020202020204" pitchFamily="34" charset="0"/>
              </a:rPr>
              <a:t>observera les stades habituels de la mitose, concernant ici n paires de chromosomes 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itchFamily="18" charset="0"/>
                <a:cs typeface="Arial" panose="020B0604020202020204" pitchFamily="34" charset="0"/>
              </a:rPr>
              <a:t>: Prophase</a:t>
            </a:r>
            <a:endParaRPr kumimoji="0" lang="fr-FR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sz="28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itchFamily="18" charset="0"/>
                <a:cs typeface="Arial" panose="020B0604020202020204" pitchFamily="34" charset="0"/>
              </a:rPr>
              <a:t>Métaphase- Anaphase- </a:t>
            </a:r>
            <a:r>
              <a:rPr kumimoji="0" lang="fr-FR" sz="28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itchFamily="18" charset="0"/>
                <a:cs typeface="Arial" panose="020B0604020202020204" pitchFamily="34" charset="0"/>
              </a:rPr>
              <a:t>Télophase,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fr-FR" sz="28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itchFamily="18" charset="0"/>
                <a:cs typeface="Arial" panose="020B0604020202020204" pitchFamily="34" charset="0"/>
              </a:rPr>
              <a:t> 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itchFamily="18" charset="0"/>
                <a:cs typeface="Arial" panose="020B0604020202020204" pitchFamily="34" charset="0"/>
              </a:rPr>
              <a:t>Le résultat sera la formation de </a:t>
            </a:r>
            <a: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itchFamily="18" charset="0"/>
                <a:cs typeface="Arial" panose="020B0604020202020204" pitchFamily="34" charset="0"/>
              </a:rPr>
              <a:t>4 gamètes haploïdes.</a:t>
            </a:r>
            <a:endParaRPr kumimoji="0" lang="fr-FR" sz="2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656" y="836713"/>
            <a:ext cx="6192688" cy="3968650"/>
          </a:xfrm>
          <a:prstGeom prst="rect">
            <a:avLst/>
          </a:prstGeom>
        </p:spPr>
      </p:pic>
      <p:sp>
        <p:nvSpPr>
          <p:cNvPr id="3" name="ZoneTexte 2"/>
          <p:cNvSpPr txBox="1"/>
          <p:nvPr/>
        </p:nvSpPr>
        <p:spPr>
          <a:xfrm>
            <a:off x="2257103" y="5229200"/>
            <a:ext cx="46297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Schéma simplifié de la méiose</a:t>
            </a:r>
            <a:endParaRPr lang="fr-FR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8056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4708</TotalTime>
  <Words>286</Words>
  <Application>Microsoft Office PowerPoint</Application>
  <PresentationFormat>Affichage à l'écran (4:3)</PresentationFormat>
  <Paragraphs>84</Paragraphs>
  <Slides>8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dell</dc:creator>
  <cp:lastModifiedBy>GE</cp:lastModifiedBy>
  <cp:revision>36</cp:revision>
  <dcterms:created xsi:type="dcterms:W3CDTF">2012-10-19T18:25:23Z</dcterms:created>
  <dcterms:modified xsi:type="dcterms:W3CDTF">2023-10-02T21:21:25Z</dcterms:modified>
</cp:coreProperties>
</file>