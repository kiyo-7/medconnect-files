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dYl6+tH2s6mrySH/K/MOfCG75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utura-sciences.com/sante/dossiers/medecine-accouchement-naissance-bebe-1294/page/7/" TargetMode="External"/><Relationship Id="rId4" Type="http://schemas.openxmlformats.org/officeDocument/2006/relationships/hyperlink" Target="https://www.futura-sciences.com/sante/definitions/medecine-nidation-16275/" TargetMode="External"/><Relationship Id="rId5" Type="http://schemas.openxmlformats.org/officeDocument/2006/relationships/hyperlink" Target="https://www.futura-sciences.com/sante/definitions/biologie-zygote-289/" TargetMode="External"/><Relationship Id="rId6" Type="http://schemas.openxmlformats.org/officeDocument/2006/relationships/hyperlink" Target="https://www.futura-sciences.com/sante/definitions/biologie-ovaire-4134/" TargetMode="External"/><Relationship Id="rId7" Type="http://schemas.openxmlformats.org/officeDocument/2006/relationships/hyperlink" Target="https://www.futura-sciences.com/sante/definitions/medecine-cavite-abdominale-3110/" TargetMode="External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79512" y="548680"/>
            <a:ext cx="8712968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MODULE EMBRYOLOGIE GENERALE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LA DEUXIEME SEMAINE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DU DEVELOPPEMENT EMBRYONNAIRE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PR HANNACHI-HECINI A 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2060848"/>
            <a:ext cx="691276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0" y="-315416"/>
            <a:ext cx="9468544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2</a:t>
            </a:r>
            <a:r>
              <a:rPr baseline="30000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semaine du DE est marquée par 2  évènements majeurs: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Implantation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nidation du blastocyste dans  l’endomètre.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Pré-gastrulation: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transformation du  blastocyste en un embryon didermique.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0" y="0"/>
            <a:ext cx="52181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Zone d’implantation normale</a:t>
            </a:r>
            <a:endParaRPr sz="32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3563888" y="908720"/>
            <a:ext cx="5612049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Normalement, la nidation s'effectue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 tiers supérieur ou au tiers moyen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paroi utérine, sur sa face postérieure,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 cours de la phase sécrétoire  du cycle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menstruel.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fr-FR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grossesse extra-utérine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lang="fr-FR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nidation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ectopique de l'œuf fécondé est due à un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retard de la  migration de l’œuf (problème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 mobilité, problème de perméabilité 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organes).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plus souvent implanté au niveau de 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trompe de Fallope, le </a:t>
            </a:r>
            <a:r>
              <a:rPr lang="fr-FR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zygote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peut finir sa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course sur un </a:t>
            </a:r>
            <a:r>
              <a:rPr lang="fr-FR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ovaire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la </a:t>
            </a:r>
            <a:r>
              <a:rPr lang="fr-FR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cavité abdominale</a:t>
            </a: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directement sur le col utérin.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5536" y="1412776"/>
            <a:ext cx="2808312" cy="432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-158824"/>
            <a:ext cx="9144000" cy="7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cellules du stroma: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Deviennent plus volumineuses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chargent en glycogène et en lipides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Forment des </a:t>
            </a:r>
            <a:r>
              <a:rPr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cellules déciduales = caduques.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phénomène débute au niveau de la zone d’implantation en contact avec le ST puis se propage sur tout l’endomètre.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au 12ème jour, sous l'augmentation de la progestérone on aura une transformation déciduale du chorion (cellules globuleuse contenant du glycogène et des lipides qui auront un rôle nutritif pour l’œuf).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0" y="0"/>
            <a:ext cx="85324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Reponse de l'endometre a l’implantation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Les cellules déciduales = trois caduques (décidues):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➢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Caduque basale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inter-utéro-placentaire: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participe à la formation du placenta, interposé entre l'embryon et le myomètre (pole embryonnaire).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➢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Caduque ovulaire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réfléchie: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autour de l'embryon et l'accompagne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lors de la croissance.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➢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Caduque pariétale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 le reste de la cavité utérine.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0112" y="2276873"/>
            <a:ext cx="3905171" cy="4581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260570" y="272837"/>
            <a:ext cx="7528215" cy="4524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Phases de l’implantation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manière schématique on peut distinguer 3 étapes dans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l'implantation: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2977394" y="5733256"/>
            <a:ext cx="2535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Phases de l’implantation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1844824"/>
            <a:ext cx="6336704" cy="3672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0" y="-202177"/>
            <a:ext cx="9988825" cy="686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Apposition</a:t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</a:t>
            </a: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fixation ne peut avoir lieu que si l'utérus est entré dans sa phase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sécrétoire.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Elle est caractérisée par l'apparition de microprotusions au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pôle apical  des cellules épithéliales de l'endomètre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(absorption  du fluide utérin,  rapprochant le blastocyste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l'endomètre et l'immobilisant),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Adhésion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microvillosités  à la surface des cellules trophoblastiques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 plus  externes établissent avec  celles des cellules épithéliales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utérines un  système d'interpénétration.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Il se forme des complexes jonctionnels responsables d'une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adhésion plus  solide.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-46080" y="476672"/>
            <a:ext cx="919008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Invasion du trophoblaste et enfouissement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fur et à mesure de la progression dans l'endomètre, le ST s'étend à 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surface de l'œuf et va entourer complètement le CT.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672" y="2937520"/>
            <a:ext cx="5852666" cy="34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3848" y="6381327"/>
            <a:ext cx="2975106" cy="499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0" y="0"/>
            <a:ext cx="9900592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prégastrulation  et    mise en place des annexes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Font typeface="Noto Sans Symbols"/>
              <a:buChar char="⮚"/>
            </a:pPr>
            <a:r>
              <a:rPr b="1" lang="fr-FR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Embryon de 8 jours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Embryon de 10 jours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Embryon de 12 jours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Embryon de 15 jours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associée"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9952" y="1700808"/>
            <a:ext cx="4608512" cy="4032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/>
        </p:nvSpPr>
        <p:spPr>
          <a:xfrm>
            <a:off x="7734447" y="3645024"/>
            <a:ext cx="140955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ENTOPHYLLE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7767148" y="3140968"/>
            <a:ext cx="1376852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ECTOPHYLLE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7812360" y="4221088"/>
            <a:ext cx="18002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BLASTOCOELE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524328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0"/>
          <p:cNvCxnSpPr/>
          <p:nvPr/>
        </p:nvCxnSpPr>
        <p:spPr>
          <a:xfrm flipH="1">
            <a:off x="4644008" y="3356992"/>
            <a:ext cx="3168352" cy="864096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9" name="Google Shape;149;p10"/>
          <p:cNvCxnSpPr/>
          <p:nvPr/>
        </p:nvCxnSpPr>
        <p:spPr>
          <a:xfrm flipH="1">
            <a:off x="4572000" y="3933056"/>
            <a:ext cx="3024336" cy="72008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0" name="Google Shape;150;p10"/>
          <p:cNvCxnSpPr/>
          <p:nvPr/>
        </p:nvCxnSpPr>
        <p:spPr>
          <a:xfrm flipH="1">
            <a:off x="4716016" y="4437112"/>
            <a:ext cx="3096344" cy="10081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1" name="Google Shape;151;p10"/>
          <p:cNvSpPr txBox="1"/>
          <p:nvPr/>
        </p:nvSpPr>
        <p:spPr>
          <a:xfrm>
            <a:off x="7596336" y="2636912"/>
            <a:ext cx="170142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AMNIOBLASTES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0"/>
          <p:cNvCxnSpPr/>
          <p:nvPr/>
        </p:nvCxnSpPr>
        <p:spPr>
          <a:xfrm flipH="1">
            <a:off x="4427984" y="2924944"/>
            <a:ext cx="3096344" cy="64807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/>
        </p:nvSpPr>
        <p:spPr>
          <a:xfrm>
            <a:off x="-107770" y="433412"/>
            <a:ext cx="1044116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Prégastrulation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Formation du disque embryonnaire didermique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Bouton embryonnaire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Ectophylle                 Entophylle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ectoderme                 hypoderme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Disque embryonnaire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didermique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Formation de la cavité amniotique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(CA)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cavité amniotique est bordée par: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✔"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Les amnioblastes ( Amnios) (toit)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Noto Sans Symbols"/>
              <a:buChar char="✔"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Les cellules de l’ectophylle (plancher)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 rot="2064896">
            <a:off x="5386241" y="1782552"/>
            <a:ext cx="720080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 rot="8184727">
            <a:off x="3545904" y="1812804"/>
            <a:ext cx="720080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 rot="8840880">
            <a:off x="5388667" y="3055889"/>
            <a:ext cx="720080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0" y="0"/>
            <a:ext cx="19800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 8</a:t>
            </a:r>
            <a:r>
              <a:rPr b="1" baseline="30000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jour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 rot="2073339">
            <a:off x="3726069" y="3048573"/>
            <a:ext cx="720080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05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892480" cy="659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 txBox="1"/>
          <p:nvPr/>
        </p:nvSpPr>
        <p:spPr>
          <a:xfrm>
            <a:off x="0" y="3212976"/>
            <a:ext cx="1547664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0" y="3933056"/>
            <a:ext cx="1547664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/>
        </p:nvSpPr>
        <p:spPr>
          <a:xfrm>
            <a:off x="0" y="0"/>
            <a:ext cx="91440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Au 10</a:t>
            </a:r>
            <a:r>
              <a:rPr b="1" baseline="30000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jour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 ST se creuse de lacunes: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stade lacunaire.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L’œuf est entièrement enfoui</a:t>
            </a:r>
            <a:r>
              <a:rPr b="1" lang="fr-F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 CT se différencie: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premières villosités placentaires.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Apparition d’un tissu lâche issu du CT: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Mésenchyme primaire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ou extra embryonnaire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Formation de la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mb de HEUSER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délimitant avec l’entophylle une nouvelle cavité:         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 lécitocoele primaire (L I)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0" y="3645024"/>
            <a:ext cx="1259632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/>
        </p:nvSpPr>
        <p:spPr>
          <a:xfrm>
            <a:off x="0" y="0"/>
            <a:ext cx="856292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Au  12</a:t>
            </a:r>
            <a:r>
              <a:rPr b="1" baseline="30000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jour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L’œuf pénètre encore dans la muqueuse utérine.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ST érode les capillaires sanguins maternels: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 sang maternel coule dans les lacunes.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C- Les cellules de l’entophylle se différencient: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Elles vont remplacer la mb de Heuser qui va disparaitre. 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18864"/>
            <a:ext cx="7092280" cy="777686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5141814" y="1700808"/>
            <a:ext cx="4002186" cy="3211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3000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323528" y="332656"/>
            <a:ext cx="1930337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LAME CHORIALE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 + CT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539552" y="4293096"/>
            <a:ext cx="1583062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LÉCITOCÈLE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II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5076056" y="188640"/>
            <a:ext cx="2246449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SOMATOPLEURE 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5580112" y="1412776"/>
            <a:ext cx="1638975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CHORION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 + CT + ST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5508104" y="2996952"/>
            <a:ext cx="2615588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PÉDICULE DE FIXATION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4932040" y="5733256"/>
            <a:ext cx="2629246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SPLANCHNOPLEURE 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/>
        </p:nvSpPr>
        <p:spPr>
          <a:xfrm>
            <a:off x="0" y="0"/>
            <a:ext cx="9036496" cy="790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Au 15</a:t>
            </a:r>
            <a:r>
              <a:rPr b="1" baseline="30000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ème</a:t>
            </a:r>
            <a:r>
              <a:rPr b="1" lang="fr-FR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 jour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L’œuf ne cesse de grossir;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L’entophylle remplace la mb de Heuser: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Lécitocoele I (L I)                       Lécitocoele II (L II)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mésenchyme (Ms) se rompt: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Amnios + Ms                           Somatopleure Extra Emb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(lame amniotique)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Entophylle + Ms                       Splanchnopleure Extra Emb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(lame ombilicale)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CT + Ms                                                 Lame choriale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CT + ST+ Ms                                               Chorion</a:t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Ms qui relie                                      Pédicule de fixation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l’embryon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Cavité de l’œuf                                   Cœlome Extra Emb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520747" y="1543060"/>
            <a:ext cx="978408" cy="457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2703240" y="3231522"/>
            <a:ext cx="978408" cy="4571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2703240" y="2392414"/>
            <a:ext cx="978408" cy="5100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3240" y="4075774"/>
            <a:ext cx="1012024" cy="9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3240" y="4584711"/>
            <a:ext cx="1012024" cy="10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205" y="5373216"/>
            <a:ext cx="1012024" cy="10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808" y="6531799"/>
            <a:ext cx="1012024" cy="10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2014-11-14T13:52:58Z</dcterms:created>
  <dc:creator>dell</dc:creator>
</cp:coreProperties>
</file>