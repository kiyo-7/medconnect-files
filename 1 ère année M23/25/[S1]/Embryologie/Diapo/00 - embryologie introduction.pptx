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4" r:id="rId1"/>
  </p:sldMasterIdLst>
  <p:sldIdLst>
    <p:sldId id="257" r:id="rId2"/>
    <p:sldId id="285" r:id="rId3"/>
    <p:sldId id="286" r:id="rId4"/>
    <p:sldId id="280" r:id="rId5"/>
    <p:sldId id="259" r:id="rId6"/>
    <p:sldId id="266" r:id="rId7"/>
    <p:sldId id="267" r:id="rId8"/>
    <p:sldId id="287" r:id="rId9"/>
    <p:sldId id="268" r:id="rId10"/>
    <p:sldId id="281" r:id="rId11"/>
    <p:sldId id="282" r:id="rId12"/>
    <p:sldId id="270" r:id="rId13"/>
    <p:sldId id="271" r:id="rId14"/>
    <p:sldId id="272" r:id="rId15"/>
    <p:sldId id="283" r:id="rId16"/>
    <p:sldId id="277" r:id="rId17"/>
    <p:sldId id="278" r:id="rId18"/>
    <p:sldId id="279" r:id="rId19"/>
    <p:sldId id="274" r:id="rId20"/>
    <p:sldId id="261" r:id="rId21"/>
    <p:sldId id="284" r:id="rId22"/>
    <p:sldId id="275" r:id="rId23"/>
    <p:sldId id="264" r:id="rId24"/>
    <p:sldId id="276" r:id="rId25"/>
    <p:sldId id="265" r:id="rId2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8" autoAdjust="0"/>
    <p:restoredTop sz="94343" autoAdjust="0"/>
  </p:normalViewPr>
  <p:slideViewPr>
    <p:cSldViewPr>
      <p:cViewPr>
        <p:scale>
          <a:sx n="50" d="100"/>
          <a:sy n="50" d="100"/>
        </p:scale>
        <p:origin x="1872" y="4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C602-D888-4E09-9428-83378769A370}" type="datetimeFigureOut">
              <a:rPr lang="fr-FR" smtClean="0"/>
              <a:pPr/>
              <a:t>25/09/2023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837AD-CFBA-4AA0-93E0-3FAA7C81694B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2914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C602-D888-4E09-9428-83378769A370}" type="datetimeFigureOut">
              <a:rPr lang="fr-FR" smtClean="0"/>
              <a:pPr/>
              <a:t>25/09/2023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837AD-CFBA-4AA0-93E0-3FAA7C81694B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1727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C602-D888-4E09-9428-83378769A370}" type="datetimeFigureOut">
              <a:rPr lang="fr-FR" smtClean="0"/>
              <a:pPr/>
              <a:t>25/09/2023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837AD-CFBA-4AA0-93E0-3FAA7C81694B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9858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C602-D888-4E09-9428-83378769A370}" type="datetimeFigureOut">
              <a:rPr lang="fr-FR" smtClean="0"/>
              <a:pPr/>
              <a:t>25/09/2023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837AD-CFBA-4AA0-93E0-3FAA7C81694B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0505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C602-D888-4E09-9428-83378769A370}" type="datetimeFigureOut">
              <a:rPr lang="fr-FR" smtClean="0"/>
              <a:pPr/>
              <a:t>25/09/2023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837AD-CFBA-4AA0-93E0-3FAA7C81694B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93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C602-D888-4E09-9428-83378769A370}" type="datetimeFigureOut">
              <a:rPr lang="fr-FR" smtClean="0"/>
              <a:pPr/>
              <a:t>25/09/2023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837AD-CFBA-4AA0-93E0-3FAA7C81694B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7913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C602-D888-4E09-9428-83378769A370}" type="datetimeFigureOut">
              <a:rPr lang="fr-FR" smtClean="0"/>
              <a:pPr/>
              <a:t>25/09/2023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837AD-CFBA-4AA0-93E0-3FAA7C81694B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1196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C602-D888-4E09-9428-83378769A370}" type="datetimeFigureOut">
              <a:rPr lang="fr-FR" smtClean="0"/>
              <a:pPr/>
              <a:t>25/09/2023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837AD-CFBA-4AA0-93E0-3FAA7C81694B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3019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C602-D888-4E09-9428-83378769A370}" type="datetimeFigureOut">
              <a:rPr lang="fr-FR" smtClean="0"/>
              <a:pPr/>
              <a:t>25/09/2023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837AD-CFBA-4AA0-93E0-3FAA7C81694B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1847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C602-D888-4E09-9428-83378769A370}" type="datetimeFigureOut">
              <a:rPr lang="fr-FR" smtClean="0"/>
              <a:pPr/>
              <a:t>25/09/2023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837AD-CFBA-4AA0-93E0-3FAA7C81694B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8588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C602-D888-4E09-9428-83378769A370}" type="datetimeFigureOut">
              <a:rPr lang="fr-FR" smtClean="0"/>
              <a:pPr/>
              <a:t>25/09/2023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837AD-CFBA-4AA0-93E0-3FAA7C81694B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327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40C602-D888-4E09-9428-83378769A370}" type="datetimeFigureOut">
              <a:rPr lang="fr-FR" smtClean="0"/>
              <a:pPr/>
              <a:t>25/09/2023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3837AD-CFBA-4AA0-93E0-3FAA7C81694B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605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-805636"/>
            <a:ext cx="91440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r>
              <a:rPr lang="fr-FR" sz="3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                 </a:t>
            </a:r>
            <a:endParaRPr lang="fr-FR" sz="3200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r>
              <a:rPr lang="fr-FR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                                  </a:t>
            </a:r>
          </a:p>
          <a:p>
            <a:endParaRPr lang="fr-FR" sz="2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endParaRPr lang="fr-FR" sz="2400" b="1" dirty="0" smtClean="0">
              <a:solidFill>
                <a:schemeClr val="bg2">
                  <a:lumMod val="40000"/>
                  <a:lumOff val="6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fr-FR" sz="20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Arial" pitchFamily="34" charset="0"/>
                <a:cs typeface="Arial" pitchFamily="34" charset="0"/>
              </a:rPr>
              <a:t>1, Quelques </a:t>
            </a:r>
            <a:r>
              <a:rPr lang="fr-FR" sz="20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itchFamily="34" charset="0"/>
                <a:cs typeface="Arial" pitchFamily="34" charset="0"/>
              </a:rPr>
              <a:t>définitions utiles</a:t>
            </a:r>
            <a:r>
              <a:rPr lang="fr-FR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Arial" pitchFamily="34" charset="0"/>
                <a:cs typeface="Arial" pitchFamily="34" charset="0"/>
              </a:rPr>
              <a:t> Un </a:t>
            </a:r>
            <a:r>
              <a:rPr lang="fr-FR" sz="20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itchFamily="34" charset="0"/>
                <a:cs typeface="Arial" pitchFamily="34" charset="0"/>
              </a:rPr>
              <a:t>germe</a:t>
            </a:r>
            <a:r>
              <a:rPr lang="fr-FR" sz="2000" b="1" dirty="0">
                <a:latin typeface="Arial" pitchFamily="34" charset="0"/>
                <a:cs typeface="Arial" pitchFamily="34" charset="0"/>
              </a:rPr>
              <a:t>: </a:t>
            </a:r>
            <a:r>
              <a:rPr lang="fr-FR" sz="2000" dirty="0">
                <a:latin typeface="Arial" pitchFamily="34" charset="0"/>
                <a:cs typeface="Arial" pitchFamily="34" charset="0"/>
              </a:rPr>
              <a:t>appelé ainsi tant </a:t>
            </a:r>
            <a:r>
              <a:rPr lang="fr-FR" sz="2000" dirty="0" smtClean="0">
                <a:latin typeface="Arial" pitchFamily="34" charset="0"/>
                <a:cs typeface="Arial" pitchFamily="34" charset="0"/>
              </a:rPr>
              <a:t>que la </a:t>
            </a:r>
            <a:r>
              <a:rPr lang="fr-FR" sz="2000" dirty="0">
                <a:latin typeface="Arial" pitchFamily="34" charset="0"/>
                <a:cs typeface="Arial" pitchFamily="34" charset="0"/>
              </a:rPr>
              <a:t>forme est </a:t>
            </a:r>
            <a:r>
              <a:rPr lang="fr-FR" sz="2000" dirty="0" smtClean="0">
                <a:latin typeface="Arial" pitchFamily="34" charset="0"/>
                <a:cs typeface="Arial" pitchFamily="34" charset="0"/>
              </a:rPr>
              <a:t>encore </a:t>
            </a:r>
            <a:r>
              <a:rPr lang="fr-FR" sz="2000" dirty="0" smtClean="0">
                <a:latin typeface="Arial" pitchFamily="34" charset="0"/>
                <a:cs typeface="Arial" pitchFamily="34" charset="0"/>
              </a:rPr>
              <a:t>sphérique. </a:t>
            </a:r>
            <a:endParaRPr lang="fr-FR" sz="2000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latin typeface="Arial" pitchFamily="34" charset="0"/>
              <a:cs typeface="Arial" pitchFamily="34" charset="0"/>
            </a:endParaRPr>
          </a:p>
          <a:p>
            <a:endParaRPr lang="fr-FR" sz="2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 flipH="1">
            <a:off x="-3" y="0"/>
            <a:ext cx="7740354" cy="65248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                                       </a:t>
            </a:r>
            <a:r>
              <a:rPr lang="fr-FR" sz="2800" b="1" dirty="0" smtClean="0"/>
              <a:t>MODULE   </a:t>
            </a:r>
            <a:r>
              <a:rPr lang="fr-FR" sz="2800" b="1" dirty="0"/>
              <a:t>EMBRYOLOGIE GENERALE</a:t>
            </a:r>
          </a:p>
          <a:p>
            <a:r>
              <a:rPr lang="fr-FR" sz="2800" b="1" dirty="0"/>
              <a:t>                                                         </a:t>
            </a:r>
            <a:endParaRPr lang="fr-FR" sz="2800" b="1" dirty="0" smtClean="0"/>
          </a:p>
          <a:p>
            <a:endParaRPr lang="fr-FR" sz="2800" b="1" dirty="0"/>
          </a:p>
          <a:p>
            <a:r>
              <a:rPr lang="fr-FR" sz="2800" b="1" dirty="0" smtClean="0"/>
              <a:t>                                           INTRODUCTION</a:t>
            </a:r>
            <a:endParaRPr lang="fr-FR" sz="2800" b="1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r>
              <a:rPr lang="fr-FR" dirty="0" smtClean="0"/>
              <a:t>                                                                                               PR  </a:t>
            </a:r>
            <a:r>
              <a:rPr lang="fr-FR" dirty="0"/>
              <a:t>HANNACHI- HECINI </a:t>
            </a:r>
            <a:r>
              <a:rPr lang="fr-FR" dirty="0" smtClean="0"/>
              <a:t>   A</a:t>
            </a:r>
            <a:endParaRPr lang="fr-FR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2162174"/>
            <a:ext cx="5040559" cy="40751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-805636"/>
            <a:ext cx="9144000" cy="9264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r>
              <a:rPr lang="fr-FR" sz="3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                 </a:t>
            </a:r>
            <a:endParaRPr lang="fr-FR" sz="3200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r>
              <a:rPr lang="fr-FR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                                  </a:t>
            </a:r>
          </a:p>
          <a:p>
            <a:r>
              <a:rPr lang="fr-FR" sz="28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1 Quelques </a:t>
            </a:r>
            <a:r>
              <a:rPr lang="fr-FR" sz="28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définitions utiles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Un </a:t>
            </a:r>
            <a:r>
              <a:rPr lang="fr-FR" sz="28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germe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: 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appelé ainsi tant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que la 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forme est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encore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sphérique. </a:t>
            </a:r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800" dirty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• </a:t>
            </a:r>
            <a:r>
              <a:rPr lang="fr-FR" sz="28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Un </a:t>
            </a:r>
            <a:r>
              <a:rPr lang="fr-FR" sz="28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embryon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: un 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organisme en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développement  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depuis la première division de l’oeuf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fécondé  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(zygote) jusqu’au stade où les principaux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organes 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sont ébauchés (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4</a:t>
            </a:r>
            <a:r>
              <a:rPr lang="fr-FR" sz="2800" baseline="30000" dirty="0" smtClean="0">
                <a:latin typeface="Arial" pitchFamily="34" charset="0"/>
                <a:cs typeface="Arial" pitchFamily="34" charset="0"/>
              </a:rPr>
              <a:t>ème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- 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8</a:t>
            </a:r>
            <a:r>
              <a:rPr lang="fr-FR" sz="2800" baseline="30000" dirty="0">
                <a:latin typeface="Arial" pitchFamily="34" charset="0"/>
                <a:cs typeface="Arial" pitchFamily="34" charset="0"/>
              </a:rPr>
              <a:t>ème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). </a:t>
            </a:r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r>
              <a:rPr lang="fr-FR" sz="2800" dirty="0">
                <a:latin typeface="Arial" pitchFamily="34" charset="0"/>
                <a:cs typeface="Arial" pitchFamily="34" charset="0"/>
              </a:rPr>
              <a:t>• </a:t>
            </a:r>
            <a:r>
              <a:rPr lang="fr-FR" sz="28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Un </a:t>
            </a:r>
            <a:r>
              <a:rPr lang="fr-FR" sz="28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fœtus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possède une symétrie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bilatérale  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c’est un organisme en développement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depuis  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la 8ème semaine de grossesse jusqu’à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la</a:t>
            </a: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naissance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</a:t>
            </a:r>
            <a:endParaRPr lang="fr-FR" sz="2800" dirty="0">
              <a:latin typeface="Arial" pitchFamily="34" charset="0"/>
              <a:cs typeface="Arial" pitchFamily="34" charset="0"/>
            </a:endParaRPr>
          </a:p>
          <a:p>
            <a:r>
              <a:rPr lang="fr-FR" sz="2800" dirty="0">
                <a:latin typeface="Arial" pitchFamily="34" charset="0"/>
                <a:cs typeface="Arial" pitchFamily="34" charset="0"/>
              </a:rPr>
              <a:t>• Chez l’espèce humaine, l’oeuf vierge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=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 gamète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féminin</a:t>
            </a: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                     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ovocyte II bloqué en métaphase </a:t>
            </a:r>
            <a:r>
              <a:rPr lang="fr-FR" sz="2800" b="1" dirty="0" smtClean="0">
                <a:latin typeface="Arial" pitchFamily="34" charset="0"/>
                <a:cs typeface="Arial" pitchFamily="34" charset="0"/>
              </a:rPr>
              <a:t>II </a:t>
            </a:r>
            <a:endParaRPr lang="fr-FR" sz="28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4189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0"/>
            <a:ext cx="8496944" cy="616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118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-1035496"/>
            <a:ext cx="9144000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r>
              <a:rPr lang="fr-FR" sz="2800" dirty="0" smtClean="0"/>
              <a:t>                             </a:t>
            </a:r>
            <a:endParaRPr lang="fr-FR" sz="2800" dirty="0" smtClean="0"/>
          </a:p>
          <a:p>
            <a:endParaRPr lang="fr-FR" sz="2800" dirty="0">
              <a:solidFill>
                <a:srgbClr val="FF0000"/>
              </a:solidFill>
            </a:endParaRPr>
          </a:p>
          <a:p>
            <a:r>
              <a:rPr lang="fr-FR" sz="2800" b="1" dirty="0" smtClean="0">
                <a:solidFill>
                  <a:srgbClr val="002060"/>
                </a:solidFill>
              </a:rPr>
              <a:t>2 Coupes </a:t>
            </a:r>
            <a:r>
              <a:rPr lang="fr-FR" sz="2800" b="1" dirty="0">
                <a:solidFill>
                  <a:srgbClr val="002060"/>
                </a:solidFill>
              </a:rPr>
              <a:t>utilisées en embryologie </a:t>
            </a:r>
          </a:p>
          <a:p>
            <a:endParaRPr lang="fr-FR" sz="2800" b="1" dirty="0" smtClean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800" b="1" dirty="0" smtClean="0">
                <a:solidFill>
                  <a:srgbClr val="0070C0"/>
                </a:solidFill>
              </a:rPr>
              <a:t>Coupes </a:t>
            </a:r>
            <a:r>
              <a:rPr lang="fr-FR" sz="2800" b="1" dirty="0">
                <a:solidFill>
                  <a:srgbClr val="0070C0"/>
                </a:solidFill>
              </a:rPr>
              <a:t>longitudinales </a:t>
            </a:r>
            <a:r>
              <a:rPr lang="fr-FR" sz="2800" b="1" dirty="0"/>
              <a:t>: elles sont de 02 types à savoir </a:t>
            </a:r>
            <a:r>
              <a:rPr lang="fr-FR" sz="2800" b="1" dirty="0" smtClean="0"/>
              <a:t>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800" b="1" dirty="0" smtClean="0"/>
              <a:t> </a:t>
            </a:r>
            <a:r>
              <a:rPr lang="fr-FR" sz="2800" b="1" dirty="0" smtClean="0"/>
              <a:t>  Coupe </a:t>
            </a:r>
            <a:r>
              <a:rPr lang="fr-FR" sz="2800" b="1" dirty="0"/>
              <a:t>sagittale (médiane) : elle passe </a:t>
            </a:r>
            <a:r>
              <a:rPr lang="fr-FR" sz="2800" b="1" dirty="0" smtClean="0"/>
              <a:t>par </a:t>
            </a:r>
            <a:r>
              <a:rPr lang="fr-FR" sz="2800" b="1" dirty="0" smtClean="0"/>
              <a:t>l’axe  </a:t>
            </a:r>
            <a:r>
              <a:rPr lang="fr-FR" sz="2800" b="1" dirty="0"/>
              <a:t>de symétrie de l’embryon donnant ainsi </a:t>
            </a:r>
            <a:r>
              <a:rPr lang="fr-FR" sz="2800" b="1" dirty="0" smtClean="0"/>
              <a:t>02 parties égales.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800" b="1" dirty="0" smtClean="0"/>
              <a:t> </a:t>
            </a:r>
            <a:r>
              <a:rPr lang="fr-FR" sz="2800" b="1" dirty="0" smtClean="0"/>
              <a:t>Coupe </a:t>
            </a:r>
            <a:r>
              <a:rPr lang="fr-FR" sz="2800" b="1" dirty="0" smtClean="0"/>
              <a:t>par-sagittale: </a:t>
            </a:r>
            <a:r>
              <a:rPr lang="fr-FR" sz="2800" b="1" dirty="0"/>
              <a:t>elle est </a:t>
            </a:r>
            <a:r>
              <a:rPr lang="fr-FR" sz="2800" b="1" dirty="0" smtClean="0"/>
              <a:t>parallèle  </a:t>
            </a:r>
            <a:r>
              <a:rPr lang="fr-FR" sz="2800" b="1" dirty="0"/>
              <a:t>au plan de </a:t>
            </a:r>
            <a:r>
              <a:rPr lang="fr-FR" sz="2800" b="1" dirty="0" smtClean="0"/>
              <a:t>coupe sagittal</a:t>
            </a:r>
            <a:r>
              <a:rPr lang="fr-FR" sz="2800" b="1" dirty="0"/>
              <a:t>. </a:t>
            </a:r>
          </a:p>
          <a:p>
            <a:endParaRPr lang="fr-FR" sz="28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b="1" dirty="0" smtClean="0">
                <a:solidFill>
                  <a:srgbClr val="0070C0"/>
                </a:solidFill>
              </a:rPr>
              <a:t>Coupes </a:t>
            </a:r>
            <a:r>
              <a:rPr lang="fr-FR" sz="2800" b="1" dirty="0">
                <a:solidFill>
                  <a:srgbClr val="0070C0"/>
                </a:solidFill>
              </a:rPr>
              <a:t>transversales </a:t>
            </a:r>
            <a:r>
              <a:rPr lang="fr-FR" sz="2800" b="1" dirty="0"/>
              <a:t>: elles peuvent passer par </a:t>
            </a:r>
            <a:r>
              <a:rPr lang="fr-FR" sz="2800" b="1" dirty="0" smtClean="0"/>
              <a:t>n’importe quelle </a:t>
            </a:r>
            <a:r>
              <a:rPr lang="fr-FR" sz="2800" b="1" dirty="0"/>
              <a:t>région de </a:t>
            </a:r>
            <a:r>
              <a:rPr lang="fr-FR" sz="2800" b="1" dirty="0" smtClean="0"/>
              <a:t>l’embryon restant </a:t>
            </a:r>
            <a:r>
              <a:rPr lang="fr-FR" sz="2800" b="1" dirty="0" smtClean="0"/>
              <a:t>perpendiculairs au </a:t>
            </a:r>
            <a:r>
              <a:rPr lang="fr-FR" sz="2800" b="1" dirty="0"/>
              <a:t>plan longitudinal. </a:t>
            </a:r>
          </a:p>
          <a:p>
            <a:endParaRPr lang="fr-FR" sz="20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548680"/>
            <a:ext cx="9036496" cy="5227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"/>
          <p:cNvSpPr>
            <a:spLocks noChangeArrowheads="1"/>
          </p:cNvSpPr>
          <p:nvPr/>
        </p:nvSpPr>
        <p:spPr bwMode="auto">
          <a:xfrm>
            <a:off x="0" y="188640"/>
            <a:ext cx="9144000" cy="6124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3 Définition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L'embryologie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est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la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science du développement des organismes 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pluricellulaires, chez les espèces supérieures</a:t>
            </a:r>
            <a:r>
              <a:rPr lang="fr-FR" sz="2800" dirty="0" smtClean="0">
                <a:latin typeface="Arial" pitchFamily="34" charset="0"/>
                <a:ea typeface="Times New Roman" pitchFamily="18" charset="0"/>
                <a:cs typeface="Arial" pitchFamily="34" charset="0"/>
              </a:rPr>
              <a:t>  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(Reproduction sexuée) selon un cycle:</a:t>
            </a:r>
            <a:r>
              <a:rPr lang="fr-FR" sz="2800" b="1" dirty="0" smtClean="0"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Cycle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de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reproduction,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sz="2800" b="1" dirty="0"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C’est l’é</a:t>
            </a:r>
            <a:r>
              <a:rPr lang="fr-FR" sz="2800" dirty="0" smtClean="0">
                <a:latin typeface="Arial" pitchFamily="34" charset="0"/>
                <a:ea typeface="Times New Roman" pitchFamily="18" charset="0"/>
                <a:cs typeface="Arial" pitchFamily="34" charset="0"/>
              </a:rPr>
              <a:t>tude </a:t>
            </a:r>
            <a:r>
              <a:rPr lang="fr-FR" sz="28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scientifique du développement des organismes à partir de l'œuf fécondé jusqu'à la forme définitive</a:t>
            </a:r>
            <a:r>
              <a:rPr lang="fr-FR" sz="2800" dirty="0" smtClean="0">
                <a:latin typeface="Arial" pitchFamily="34" charset="0"/>
                <a:ea typeface="Times New Roman" pitchFamily="18" charset="0"/>
                <a:cs typeface="Arial" pitchFamily="34" charset="0"/>
              </a:rPr>
              <a:t>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sz="2800" dirty="0" smtClean="0"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 dirty="0" smtClean="0"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fr-FR" sz="28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Chez l'homme, cette science étudie le développement de l'être vivant depuis la fécondation de l'œuf jusqu'à la fin du stade embryonnaire, c'est-à-dire à la fin du </a:t>
            </a:r>
            <a:r>
              <a:rPr lang="fr-FR" sz="2800" dirty="0" smtClean="0">
                <a:latin typeface="Arial" pitchFamily="34" charset="0"/>
                <a:ea typeface="Times New Roman" pitchFamily="18" charset="0"/>
                <a:cs typeface="Arial" pitchFamily="34" charset="0"/>
              </a:rPr>
              <a:t>2</a:t>
            </a:r>
            <a:r>
              <a:rPr lang="fr-FR" sz="2800" baseline="30000" dirty="0" smtClean="0">
                <a:latin typeface="Arial" pitchFamily="34" charset="0"/>
                <a:ea typeface="Times New Roman" pitchFamily="18" charset="0"/>
                <a:cs typeface="Arial" pitchFamily="34" charset="0"/>
              </a:rPr>
              <a:t>éme</a:t>
            </a:r>
            <a:r>
              <a:rPr lang="fr-FR" sz="2800" dirty="0" smtClean="0">
                <a:latin typeface="Arial" pitchFamily="34" charset="0"/>
                <a:ea typeface="Times New Roman" pitchFamily="18" charset="0"/>
                <a:cs typeface="Arial" pitchFamily="34" charset="0"/>
              </a:rPr>
              <a:t>  </a:t>
            </a:r>
            <a:r>
              <a:rPr lang="fr-FR" sz="28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mois de grossesse.</a:t>
            </a:r>
            <a:endParaRPr kumimoji="0" lang="fr-FR" sz="280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>
            <a:spLocks noChangeArrowheads="1"/>
          </p:cNvSpPr>
          <p:nvPr/>
        </p:nvSpPr>
        <p:spPr bwMode="auto">
          <a:xfrm>
            <a:off x="107504" y="188640"/>
            <a:ext cx="8374092" cy="7355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Le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cycle de reproduction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comprend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3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étapes: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 Gamétogénèse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800" dirty="0" smtClean="0">
                <a:latin typeface="Arial" pitchFamily="34" charset="0"/>
                <a:cs typeface="Arial" pitchFamily="34" charset="0"/>
              </a:rPr>
              <a:t>Formation 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des gamètes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800" dirty="0">
                <a:latin typeface="Arial" pitchFamily="34" charset="0"/>
                <a:cs typeface="Arial" pitchFamily="34" charset="0"/>
              </a:rPr>
              <a:t>           gamète mâle : spermatozoïde (n ch)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800" dirty="0">
                <a:latin typeface="Arial" pitchFamily="34" charset="0"/>
                <a:cs typeface="Arial" pitchFamily="34" charset="0"/>
              </a:rPr>
              <a:t>           gamète femelle: ovocyte (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n ch)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sz="2800" dirty="0">
              <a:latin typeface="Arial" pitchFamily="34" charset="0"/>
              <a:cs typeface="Arial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fr-FR" sz="2800" b="1" dirty="0" smtClean="0">
                <a:latin typeface="Arial" pitchFamily="34" charset="0"/>
                <a:cs typeface="Arial" pitchFamily="34" charset="0"/>
              </a:rPr>
              <a:t>Fécondation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800" dirty="0" smtClean="0">
                <a:latin typeface="Arial" pitchFamily="34" charset="0"/>
                <a:cs typeface="Arial" pitchFamily="34" charset="0"/>
              </a:rPr>
              <a:t>Fusion des deux gamètes et formation d’un zygote,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sz="2800" dirty="0">
              <a:latin typeface="Arial" pitchFamily="34" charset="0"/>
              <a:cs typeface="Arial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fr-FR" sz="2800" b="1" dirty="0" smtClean="0">
                <a:latin typeface="Arial" pitchFamily="34" charset="0"/>
                <a:cs typeface="Arial" pitchFamily="34" charset="0"/>
              </a:rPr>
              <a:t>Développement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800" dirty="0" smtClean="0">
                <a:latin typeface="Arial" pitchFamily="34" charset="0"/>
                <a:cs typeface="Arial" pitchFamily="34" charset="0"/>
              </a:rPr>
              <a:t>Formation 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de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l'individu,</a:t>
            </a:r>
            <a:endParaRPr lang="fr-FR" sz="2800" dirty="0">
              <a:latin typeface="Arial" pitchFamily="34" charset="0"/>
              <a:cs typeface="Arial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sz="2000" dirty="0">
              <a:latin typeface="Arial" pitchFamily="34" charset="0"/>
              <a:cs typeface="Arial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sz="2000" dirty="0">
              <a:latin typeface="Arial" pitchFamily="34" charset="0"/>
              <a:cs typeface="Arial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sz="2000" dirty="0"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63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63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63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63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63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63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63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638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1638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276350"/>
            <a:ext cx="670560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058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>
            <a:spLocks noChangeArrowheads="1"/>
          </p:cNvSpPr>
          <p:nvPr/>
        </p:nvSpPr>
        <p:spPr bwMode="auto">
          <a:xfrm>
            <a:off x="4642" y="-2104583"/>
            <a:ext cx="21526145" cy="10287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152352" rIns="91440" bIns="3808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445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kumimoji="0" lang="fr-F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445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sz="2400" b="1" dirty="0" smtClean="0">
              <a:latin typeface="Arial" pitchFamily="34" charset="0"/>
              <a:cs typeface="Arial" pitchFamily="34" charset="0"/>
            </a:endParaRPr>
          </a:p>
          <a:p>
            <a:pPr marL="0" marR="0" lvl="0" indent="4445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sz="2400" b="1" dirty="0" smtClean="0">
              <a:latin typeface="Arial" pitchFamily="34" charset="0"/>
              <a:cs typeface="Arial" pitchFamily="34" charset="0"/>
            </a:endParaRPr>
          </a:p>
          <a:p>
            <a:pPr marL="0" marR="0" lvl="0" indent="4445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sz="2400" b="1" dirty="0" smtClean="0">
              <a:latin typeface="Arial" pitchFamily="34" charset="0"/>
              <a:cs typeface="Arial" pitchFamily="34" charset="0"/>
            </a:endParaRPr>
          </a:p>
          <a:p>
            <a:pPr marL="0" marR="0" lvl="0" indent="4445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sz="2400" b="1" dirty="0" smtClean="0">
              <a:latin typeface="Arial" pitchFamily="34" charset="0"/>
              <a:cs typeface="Arial" pitchFamily="34" charset="0"/>
            </a:endParaRPr>
          </a:p>
          <a:p>
            <a:pPr indent="444500" defTabSz="914400" fontAlgn="base">
              <a:spcBef>
                <a:spcPct val="0"/>
              </a:spcBef>
              <a:spcAft>
                <a:spcPct val="0"/>
              </a:spcAft>
            </a:pPr>
            <a:endParaRPr lang="fr-FR" sz="2400" b="1" dirty="0">
              <a:latin typeface="Arial" pitchFamily="34" charset="0"/>
              <a:cs typeface="Arial" pitchFamily="34" charset="0"/>
            </a:endParaRPr>
          </a:p>
          <a:p>
            <a:pPr indent="444500" fontAlgn="base">
              <a:spcBef>
                <a:spcPct val="0"/>
              </a:spcBef>
              <a:spcAft>
                <a:spcPct val="0"/>
              </a:spcAft>
            </a:pPr>
            <a:r>
              <a:rPr lang="fr-FR" sz="28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Développement de l'embryon</a:t>
            </a:r>
            <a:endParaRPr lang="fr-FR" sz="2800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444500" fontAlgn="base">
              <a:spcBef>
                <a:spcPct val="0"/>
              </a:spcBef>
              <a:spcAft>
                <a:spcPct val="0"/>
              </a:spcAft>
            </a:pPr>
            <a:endParaRPr lang="fr-FR" sz="2800" b="1" dirty="0" smtClean="0">
              <a:latin typeface="Arial" pitchFamily="34" charset="0"/>
              <a:cs typeface="Arial" pitchFamily="34" charset="0"/>
            </a:endParaRPr>
          </a:p>
          <a:p>
            <a:pPr lvl="0" indent="444500" fontAlgn="base">
              <a:spcBef>
                <a:spcPct val="0"/>
              </a:spcBef>
              <a:spcAft>
                <a:spcPct val="0"/>
              </a:spcAft>
            </a:pPr>
            <a:r>
              <a:rPr lang="fr-FR" sz="28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Première semaine</a:t>
            </a:r>
          </a:p>
          <a:p>
            <a:pPr lvl="0" indent="4445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Fécondation</a:t>
            </a:r>
          </a:p>
          <a:p>
            <a:pPr lvl="0" indent="4445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800" dirty="0" smtClean="0">
                <a:latin typeface="Arial" pitchFamily="34" charset="0"/>
                <a:ea typeface="Times New Roman" pitchFamily="18" charset="0"/>
                <a:cs typeface="Arial" pitchFamily="34" charset="0"/>
              </a:rPr>
              <a:t>Spermatozoïde + Ovocyte =     œuf : Zygote</a:t>
            </a:r>
          </a:p>
          <a:p>
            <a:pPr lvl="0" indent="4445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sz="2800" dirty="0" smtClean="0"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fr-FR" sz="2800" dirty="0" smtClean="0">
                <a:latin typeface="Arial" pitchFamily="34" charset="0"/>
                <a:ea typeface="Times New Roman" pitchFamily="18" charset="0"/>
                <a:cs typeface="Arial" pitchFamily="34" charset="0"/>
              </a:rPr>
              <a:t>Segmentation</a:t>
            </a:r>
            <a:endParaRPr kumimoji="0" lang="fr-FR" sz="280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indent="4445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sz="2800" dirty="0" smtClean="0"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lvl="0" indent="4445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œuf                      Morula                      </a:t>
            </a:r>
            <a:r>
              <a:rPr lang="fr-FR" sz="2800" dirty="0" smtClean="0">
                <a:latin typeface="Arial" pitchFamily="34" charset="0"/>
                <a:ea typeface="Times New Roman" pitchFamily="18" charset="0"/>
                <a:cs typeface="Arial" pitchFamily="34" charset="0"/>
              </a:rPr>
              <a:t>Blastocyste</a:t>
            </a:r>
          </a:p>
          <a:p>
            <a:pPr lvl="0" indent="4445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sz="2400" dirty="0" smtClean="0"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indent="444500" defTabSz="914400" fontAlgn="base">
              <a:spcBef>
                <a:spcPct val="0"/>
              </a:spcBef>
              <a:spcAft>
                <a:spcPct val="0"/>
              </a:spcAft>
            </a:pPr>
            <a:r>
              <a:rPr lang="fr-FR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fr-FR" sz="2800" dirty="0" smtClean="0"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pPr marL="0" marR="0" lvl="0" indent="444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 </a:t>
            </a: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         </a:t>
            </a:r>
          </a:p>
          <a:p>
            <a:pPr marL="0" marR="0" lvl="0" indent="444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sz="2400" b="1" dirty="0" smtClean="0">
              <a:solidFill>
                <a:srgbClr val="000000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444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444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sz="2400" b="1" dirty="0" smtClean="0">
              <a:solidFill>
                <a:srgbClr val="000000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indent="4445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sz="3200" b="1" dirty="0" smtClean="0">
              <a:solidFill>
                <a:srgbClr val="000000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lvl="0" indent="4445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sz="2400" b="1" dirty="0" smtClean="0">
              <a:solidFill>
                <a:srgbClr val="000000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lvl="0" indent="4445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sz="2400" b="1" dirty="0" smtClean="0">
              <a:solidFill>
                <a:srgbClr val="000000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  <p:sp>
        <p:nvSpPr>
          <p:cNvPr id="5" name="Flèche droite 4"/>
          <p:cNvSpPr/>
          <p:nvPr/>
        </p:nvSpPr>
        <p:spPr>
          <a:xfrm flipV="1">
            <a:off x="1508418" y="4315163"/>
            <a:ext cx="978408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ZoneTexte 9"/>
          <p:cNvSpPr txBox="1"/>
          <p:nvPr/>
        </p:nvSpPr>
        <p:spPr>
          <a:xfrm>
            <a:off x="1259632" y="992632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>
                <a:latin typeface="Arial" pitchFamily="34" charset="0"/>
                <a:cs typeface="Arial" pitchFamily="34" charset="0"/>
              </a:rPr>
              <a:t> </a:t>
            </a:r>
            <a:endParaRPr lang="fr-FR" sz="20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2" name="Flèche droite 11"/>
          <p:cNvSpPr/>
          <p:nvPr/>
        </p:nvSpPr>
        <p:spPr>
          <a:xfrm>
            <a:off x="4860032" y="4386856"/>
            <a:ext cx="978408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36096" y="2276872"/>
            <a:ext cx="3707904" cy="3888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 flipH="1">
            <a:off x="6444208" y="6165304"/>
            <a:ext cx="2474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Segmentation</a:t>
            </a:r>
            <a:endParaRPr lang="fr-FR" sz="2000" b="1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2060848"/>
            <a:ext cx="3868688" cy="3958580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1724845" y="6113771"/>
            <a:ext cx="14981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smtClean="0"/>
              <a:t>Fécondation</a:t>
            </a:r>
            <a:endParaRPr lang="fr-FR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ésultat de recherche d'images pour &quot;blastocyste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412776"/>
            <a:ext cx="4464496" cy="4608512"/>
          </a:xfrm>
          <a:prstGeom prst="rect">
            <a:avLst/>
          </a:prstGeom>
          <a:noFill/>
        </p:spPr>
      </p:pic>
      <p:sp>
        <p:nvSpPr>
          <p:cNvPr id="3" name="ZoneTexte 2"/>
          <p:cNvSpPr txBox="1"/>
          <p:nvPr/>
        </p:nvSpPr>
        <p:spPr>
          <a:xfrm>
            <a:off x="899592" y="3334561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fécondation</a:t>
            </a:r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1331640" y="5651956"/>
            <a:ext cx="381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Morula       Blastocyste</a:t>
            </a:r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785" y="1555812"/>
            <a:ext cx="4383404" cy="4322439"/>
          </a:xfrm>
          <a:prstGeom prst="rect">
            <a:avLst/>
          </a:prstGeom>
        </p:spPr>
      </p:pic>
      <p:cxnSp>
        <p:nvCxnSpPr>
          <p:cNvPr id="7" name="Connecteur droit avec flèche 6"/>
          <p:cNvCxnSpPr/>
          <p:nvPr/>
        </p:nvCxnSpPr>
        <p:spPr>
          <a:xfrm flipV="1">
            <a:off x="4499992" y="4005064"/>
            <a:ext cx="1512168" cy="7200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188640"/>
            <a:ext cx="990059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Deuxième semaine</a:t>
            </a:r>
          </a:p>
          <a:p>
            <a:endParaRPr lang="fr-FR" sz="2800" b="1" dirty="0" smtClean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Prégastrulation = formation du disque embryonnaire </a:t>
            </a:r>
          </a:p>
          <a:p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</a:t>
            </a:r>
            <a:r>
              <a:rPr lang="fr-F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didermique </a:t>
            </a:r>
            <a:endParaRPr lang="fr-FR" sz="28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38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63888" y="2177480"/>
            <a:ext cx="4801570" cy="468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/>
          <p:nvPr/>
        </p:nvSpPr>
        <p:spPr>
          <a:xfrm>
            <a:off x="5987369" y="4653136"/>
            <a:ext cx="15351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    Disque </a:t>
            </a:r>
          </a:p>
          <a:p>
            <a:r>
              <a:rPr lang="fr-FR" b="1" dirty="0" smtClean="0"/>
              <a:t>embryonnaire</a:t>
            </a:r>
          </a:p>
          <a:p>
            <a:r>
              <a:rPr lang="fr-FR" b="1" dirty="0" smtClean="0"/>
              <a:t>   didermique</a:t>
            </a:r>
            <a:endParaRPr lang="fr-FR" b="1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1772816"/>
            <a:ext cx="2160240" cy="2880320"/>
          </a:xfrm>
          <a:prstGeom prst="rect">
            <a:avLst/>
          </a:prstGeom>
        </p:spPr>
      </p:pic>
      <p:cxnSp>
        <p:nvCxnSpPr>
          <p:cNvPr id="17" name="Connecteur droit avec flèche 16"/>
          <p:cNvCxnSpPr/>
          <p:nvPr/>
        </p:nvCxnSpPr>
        <p:spPr>
          <a:xfrm>
            <a:off x="2123728" y="2846558"/>
            <a:ext cx="2016224" cy="4320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095"/>
            <a:ext cx="9144000" cy="9818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Troisième semaine</a:t>
            </a:r>
          </a:p>
          <a:p>
            <a:endParaRPr lang="fr-FR" sz="28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Gastrulation: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Le disque embryonnaire didermique devient  tri dermique </a:t>
            </a:r>
          </a:p>
          <a:p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Ectophylle</a:t>
            </a:r>
            <a:endParaRPr lang="fr-FR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 Troisième feuillet :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lang="fr-F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Mésoblaste</a:t>
            </a:r>
            <a:endParaRPr lang="fr-FR" sz="28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Entophylle</a:t>
            </a:r>
            <a:endParaRPr lang="fr-FR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fr-FR" sz="28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Dés la formation du troisième feuillet, l’ectophylle et l’entophylle changent de noms</a:t>
            </a:r>
            <a:endParaRPr lang="fr-FR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      </a:t>
            </a:r>
          </a:p>
          <a:p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Ectophylle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=  Ecto</a:t>
            </a:r>
            <a:r>
              <a:rPr lang="fr-FR" sz="2800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blaste</a:t>
            </a:r>
          </a:p>
          <a:p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Mésoblaste </a:t>
            </a:r>
            <a:endParaRPr lang="fr-FR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Entophylle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=  Ento</a:t>
            </a:r>
            <a:r>
              <a:rPr lang="fr-FR" sz="2800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blaste</a:t>
            </a:r>
          </a:p>
          <a:p>
            <a:endParaRPr lang="fr-FR" sz="28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Formation des trois </a:t>
            </a:r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feuillets </a:t>
            </a:r>
            <a:r>
              <a:rPr lang="fr-FR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fondamentaux:     ébauches des organes </a:t>
            </a:r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et </a:t>
            </a:r>
            <a:r>
              <a:rPr lang="fr-FR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systèmes </a:t>
            </a:r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qui vont permettre à l'organisme humain de fonctionner normalement</a:t>
            </a:r>
            <a:r>
              <a:rPr lang="fr-F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2800" dirty="0" smtClean="0">
              <a:latin typeface="Calibri" pitchFamily="34" charset="0"/>
              <a:cs typeface="Calibri" pitchFamily="34" charset="0"/>
            </a:endParaRPr>
          </a:p>
          <a:p>
            <a:endParaRPr lang="fr-FR" sz="2800" dirty="0" smtClean="0">
              <a:latin typeface="Calibri" pitchFamily="34" charset="0"/>
              <a:cs typeface="Calibri" pitchFamily="34" charset="0"/>
            </a:endParaRPr>
          </a:p>
          <a:p>
            <a:endParaRPr lang="fr-FR" sz="2800" dirty="0" smtClean="0">
              <a:latin typeface="Calibri" pitchFamily="34" charset="0"/>
              <a:cs typeface="Calibri" pitchFamily="34" charset="0"/>
            </a:endParaRP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endParaRPr lang="fr-FR" sz="2400" dirty="0" smtClean="0">
              <a:latin typeface="Arial" pitchFamily="34" charset="0"/>
              <a:cs typeface="Arial" pitchFamily="34" charset="0"/>
            </a:endParaRP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r>
              <a:rPr lang="fr-FR" sz="2400" dirty="0" smtClean="0">
                <a:latin typeface="Arial" pitchFamily="34" charset="0"/>
                <a:cs typeface="Arial" pitchFamily="34" charset="0"/>
              </a:rPr>
              <a:t> </a:t>
            </a:r>
            <a:endParaRPr lang="fr-FR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827584"/>
            <a:ext cx="8820472" cy="18343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2400" b="1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400" b="1" dirty="0" smtClean="0">
                <a:latin typeface="Arial" pitchFamily="34" charset="0"/>
                <a:cs typeface="Arial" pitchFamily="34" charset="0"/>
              </a:rPr>
              <a:t>                         </a:t>
            </a:r>
            <a:endParaRPr lang="fr-FR" sz="3600" b="1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endParaRPr lang="fr-FR" sz="2800" b="1" dirty="0" smtClean="0">
              <a:latin typeface="Calibri" pitchFamily="34" charset="0"/>
              <a:cs typeface="Calibri" pitchFamily="34" charset="0"/>
            </a:endParaRPr>
          </a:p>
          <a:p>
            <a:endParaRPr lang="fr-FR" sz="2800" b="1" dirty="0" smtClean="0">
              <a:solidFill>
                <a:srgbClr val="FFFF00"/>
              </a:solidFill>
              <a:latin typeface="Calibri" pitchFamily="34" charset="0"/>
              <a:cs typeface="Calibri" pitchFamily="34" charset="0"/>
            </a:endParaRPr>
          </a:p>
          <a:p>
            <a:endParaRPr lang="fr-FR" sz="2800" b="1" dirty="0">
              <a:solidFill>
                <a:srgbClr val="FFFF00"/>
              </a:solidFill>
              <a:latin typeface="Calibri" pitchFamily="34" charset="0"/>
              <a:cs typeface="Calibri" pitchFamily="34" charset="0"/>
            </a:endParaRPr>
          </a:p>
          <a:p>
            <a:r>
              <a:rPr lang="fr-FR" sz="28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Quatrième semaine</a:t>
            </a:r>
          </a:p>
          <a:p>
            <a:endParaRPr lang="fr-FR" sz="28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8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fr-FR" sz="28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fr-FR" sz="28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Devenir des trois feuillets</a:t>
            </a:r>
          </a:p>
          <a:p>
            <a:endParaRPr lang="fr-FR" sz="28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Ectoblaste                         Système nerveux</a:t>
            </a:r>
          </a:p>
          <a:p>
            <a:endParaRPr lang="fr-FR" sz="28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Mésoblaste                        Chorde</a:t>
            </a:r>
          </a:p>
          <a:p>
            <a:endParaRPr lang="fr-FR" sz="28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Entoblaste                         Tube digestif primitif</a:t>
            </a:r>
          </a:p>
          <a:p>
            <a:endParaRPr lang="fr-FR" sz="2000" b="1" dirty="0" smtClean="0">
              <a:solidFill>
                <a:srgbClr val="FFFF00"/>
              </a:solidFill>
              <a:latin typeface="Calibri" pitchFamily="34" charset="0"/>
              <a:cs typeface="Calibri" pitchFamily="34" charset="0"/>
            </a:endParaRPr>
          </a:p>
          <a:p>
            <a:endParaRPr lang="fr-FR" sz="2800" b="1" dirty="0" smtClean="0">
              <a:latin typeface="Calibri" pitchFamily="34" charset="0"/>
              <a:cs typeface="Calibri" pitchFamily="34" charset="0"/>
            </a:endParaRPr>
          </a:p>
          <a:p>
            <a:r>
              <a:rPr lang="fr-FR" sz="2800" b="1" dirty="0" smtClean="0">
                <a:latin typeface="Calibri" pitchFamily="34" charset="0"/>
                <a:cs typeface="Calibri" pitchFamily="34" charset="0"/>
              </a:rPr>
              <a:t>            </a:t>
            </a:r>
          </a:p>
          <a:p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                        </a:t>
            </a:r>
          </a:p>
          <a:p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                           </a:t>
            </a:r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</a:t>
            </a: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           </a:t>
            </a: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</a:t>
            </a: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                        </a:t>
            </a: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                 </a:t>
            </a:r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latin typeface="Arial" pitchFamily="34" charset="0"/>
              <a:cs typeface="Arial" pitchFamily="34" charset="0"/>
            </a:endParaRPr>
          </a:p>
          <a:p>
            <a:r>
              <a:rPr lang="fr-FR" dirty="0" smtClean="0">
                <a:latin typeface="Arial" pitchFamily="34" charset="0"/>
                <a:cs typeface="Arial" pitchFamily="34" charset="0"/>
              </a:rPr>
              <a:t> </a:t>
            </a:r>
            <a:endParaRPr lang="fr-F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Flèche droite 11"/>
          <p:cNvSpPr/>
          <p:nvPr/>
        </p:nvSpPr>
        <p:spPr>
          <a:xfrm>
            <a:off x="3048794" y="2132856"/>
            <a:ext cx="978408" cy="1183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èche droite 12"/>
          <p:cNvSpPr/>
          <p:nvPr/>
        </p:nvSpPr>
        <p:spPr>
          <a:xfrm>
            <a:off x="3037756" y="3861943"/>
            <a:ext cx="978408" cy="1463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Flèche droite 13"/>
          <p:cNvSpPr/>
          <p:nvPr/>
        </p:nvSpPr>
        <p:spPr>
          <a:xfrm>
            <a:off x="3048794" y="2996952"/>
            <a:ext cx="978408" cy="1192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0077" y="-1539552"/>
            <a:ext cx="7560840" cy="156350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2400" b="1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400" b="1" dirty="0" smtClean="0">
                <a:latin typeface="Arial" pitchFamily="34" charset="0"/>
                <a:cs typeface="Arial" pitchFamily="34" charset="0"/>
              </a:rPr>
              <a:t>                         </a:t>
            </a:r>
            <a:endParaRPr lang="fr-FR" sz="2800" b="1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                        </a:t>
            </a:r>
          </a:p>
          <a:p>
            <a:endParaRPr lang="fr-FR" sz="2000" b="1" dirty="0" smtClean="0">
              <a:solidFill>
                <a:schemeClr val="bg2">
                  <a:lumMod val="40000"/>
                  <a:lumOff val="6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fr-FR" sz="2000" b="1" dirty="0">
              <a:solidFill>
                <a:schemeClr val="bg2">
                  <a:lumMod val="40000"/>
                  <a:lumOff val="6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fr-FR" sz="20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Arial" pitchFamily="34" charset="0"/>
                <a:cs typeface="Arial" pitchFamily="34" charset="0"/>
              </a:rPr>
              <a:t>                                 </a:t>
            </a:r>
            <a:r>
              <a:rPr lang="fr-FR" sz="28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a  Devenir de l’ectoblaste</a:t>
            </a:r>
            <a:r>
              <a:rPr lang="fr-FR" sz="2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endParaRPr lang="fr-FR" sz="2800" dirty="0" smtClean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</a:t>
            </a: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Plaque neurale</a:t>
            </a:r>
            <a:r>
              <a:rPr lang="fr-FR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</a:t>
            </a: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</a:t>
            </a: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    </a:t>
            </a: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Gouttière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neurale                   </a:t>
            </a: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</a:t>
            </a: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  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Tube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neural                            </a:t>
            </a: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</a:t>
            </a: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Ebauche 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du système nerveux</a:t>
            </a: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</a:t>
            </a:r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dirty="0"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latin typeface="Arial" pitchFamily="34" charset="0"/>
              <a:cs typeface="Arial" pitchFamily="34" charset="0"/>
            </a:endParaRPr>
          </a:p>
          <a:p>
            <a:r>
              <a:rPr lang="fr-FR" dirty="0" smtClean="0">
                <a:latin typeface="Arial" pitchFamily="34" charset="0"/>
                <a:cs typeface="Arial" pitchFamily="34" charset="0"/>
              </a:rPr>
              <a:t> </a:t>
            </a:r>
            <a:endParaRPr lang="fr-F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Flèche droite 2"/>
          <p:cNvSpPr/>
          <p:nvPr/>
        </p:nvSpPr>
        <p:spPr>
          <a:xfrm rot="5400000">
            <a:off x="3592375" y="2212724"/>
            <a:ext cx="978408" cy="720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 droite 5"/>
          <p:cNvSpPr/>
          <p:nvPr/>
        </p:nvSpPr>
        <p:spPr>
          <a:xfrm rot="5400000" flipV="1">
            <a:off x="3759251" y="3612114"/>
            <a:ext cx="690376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lèche droite 7"/>
          <p:cNvSpPr/>
          <p:nvPr/>
        </p:nvSpPr>
        <p:spPr>
          <a:xfrm rot="5400000">
            <a:off x="3615235" y="5178344"/>
            <a:ext cx="978408" cy="720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/>
          <p:cNvSpPr txBox="1"/>
          <p:nvPr/>
        </p:nvSpPr>
        <p:spPr>
          <a:xfrm rot="16200000">
            <a:off x="68276" y="3373363"/>
            <a:ext cx="27724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NEURULATION</a:t>
            </a:r>
            <a:endParaRPr lang="fr-FR" sz="28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allAtOnce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0304" y="-891480"/>
            <a:ext cx="9594304" cy="19697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2400" b="1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400" b="1" dirty="0" smtClean="0">
                <a:latin typeface="Arial" pitchFamily="34" charset="0"/>
                <a:cs typeface="Arial" pitchFamily="34" charset="0"/>
              </a:rPr>
              <a:t>               </a:t>
            </a:r>
            <a:r>
              <a:rPr lang="fr-FR" sz="2400" b="1" dirty="0" smtClean="0">
                <a:latin typeface="Arial" pitchFamily="34" charset="0"/>
                <a:cs typeface="Arial" pitchFamily="34" charset="0"/>
              </a:rPr>
              <a:t>         </a:t>
            </a:r>
          </a:p>
          <a:p>
            <a:endParaRPr lang="fr-FR" sz="2400" b="1" dirty="0">
              <a:latin typeface="Arial" pitchFamily="34" charset="0"/>
              <a:cs typeface="Arial" pitchFamily="34" charset="0"/>
            </a:endParaRPr>
          </a:p>
          <a:p>
            <a:r>
              <a:rPr lang="fr-FR" sz="2400" b="1" dirty="0" smtClean="0">
                <a:latin typeface="Arial" pitchFamily="34" charset="0"/>
                <a:cs typeface="Arial" pitchFamily="34" charset="0"/>
              </a:rPr>
              <a:t>                                    </a:t>
            </a:r>
            <a:r>
              <a:rPr lang="fr-FR" sz="24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b</a:t>
            </a:r>
            <a:r>
              <a:rPr lang="fr-FR" sz="2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Devenir </a:t>
            </a:r>
            <a:r>
              <a:rPr lang="fr-FR" sz="28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du mésoblaste </a:t>
            </a:r>
          </a:p>
          <a:p>
            <a:r>
              <a:rPr lang="fr-FR" sz="2400" b="1" dirty="0" smtClean="0">
                <a:latin typeface="Arial" pitchFamily="34" charset="0"/>
                <a:cs typeface="Arial" pitchFamily="34" charset="0"/>
              </a:rPr>
              <a:t>         </a:t>
            </a:r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                           </a:t>
            </a:r>
            <a:endParaRPr lang="fr-FR" sz="2800" b="1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                  </a:t>
            </a:r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 </a:t>
            </a:r>
            <a:r>
              <a:rPr lang="fr-FR" sz="2800" b="1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       M</a:t>
            </a:r>
            <a:r>
              <a:rPr lang="fr-FR" sz="2800" b="1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fr-FR" sz="2800" b="1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Chordal                </a:t>
            </a:r>
            <a:r>
              <a:rPr lang="fr-FR" sz="2800" b="1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M. </a:t>
            </a:r>
            <a:r>
              <a:rPr lang="fr-FR" sz="2800" b="1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Latéral</a:t>
            </a:r>
          </a:p>
          <a:p>
            <a:endParaRPr lang="fr-FR" sz="2800" b="1" dirty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  <a:p>
            <a:r>
              <a:rPr lang="fr-FR" sz="2800" b="1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  </a:t>
            </a:r>
            <a:endParaRPr lang="fr-FR" sz="2800" b="1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                     </a:t>
            </a:r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                            </a:t>
            </a:r>
          </a:p>
          <a:p>
            <a:r>
              <a:rPr lang="fr-FR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                            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chorde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: axe </a:t>
            </a:r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      de l’embryon</a:t>
            </a:r>
          </a:p>
          <a:p>
            <a:endParaRPr lang="fr-FR" sz="2800" b="1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               </a:t>
            </a:r>
          </a:p>
          <a:p>
            <a:endParaRPr lang="fr-FR" sz="2800" b="1" dirty="0" smtClean="0">
              <a:latin typeface="Arial" pitchFamily="34" charset="0"/>
              <a:cs typeface="Arial" pitchFamily="34" charset="0"/>
            </a:endParaRPr>
          </a:p>
          <a:p>
            <a:endParaRPr lang="fr-FR" sz="2800" b="1" dirty="0" smtClean="0">
              <a:latin typeface="Arial" pitchFamily="34" charset="0"/>
              <a:cs typeface="Arial" pitchFamily="34" charset="0"/>
            </a:endParaRPr>
          </a:p>
          <a:p>
            <a:endParaRPr lang="fr-FR" sz="2800" b="1" dirty="0" smtClean="0">
              <a:latin typeface="Arial" pitchFamily="34" charset="0"/>
              <a:cs typeface="Arial" pitchFamily="34" charset="0"/>
            </a:endParaRPr>
          </a:p>
          <a:p>
            <a:endParaRPr lang="fr-FR" sz="2800" b="1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</a:t>
            </a: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</a:t>
            </a: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                     </a:t>
            </a: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</a:t>
            </a: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                               </a:t>
            </a: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 </a:t>
            </a: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</a:t>
            </a:r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dirty="0"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latin typeface="Arial" pitchFamily="34" charset="0"/>
              <a:cs typeface="Arial" pitchFamily="34" charset="0"/>
            </a:endParaRPr>
          </a:p>
          <a:p>
            <a:r>
              <a:rPr lang="fr-FR" dirty="0" smtClean="0">
                <a:latin typeface="Arial" pitchFamily="34" charset="0"/>
                <a:cs typeface="Arial" pitchFamily="34" charset="0"/>
              </a:rPr>
              <a:t> </a:t>
            </a:r>
            <a:endParaRPr lang="fr-F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 rot="19151444">
            <a:off x="2545330" y="4533385"/>
            <a:ext cx="40654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rgbClr val="0070C0"/>
                </a:solidFill>
              </a:rPr>
              <a:t> </a:t>
            </a:r>
            <a:r>
              <a:rPr lang="fr-FR" sz="2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METAMERISATION</a:t>
            </a:r>
            <a:endParaRPr lang="fr-FR" sz="2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5203726" y="2281020"/>
            <a:ext cx="388843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M. Para axial :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Somites</a:t>
            </a:r>
            <a:endParaRPr lang="fr-FR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 Intermédiaire : futur rein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 latéral: parois latérales et viscérales</a:t>
            </a:r>
            <a:endParaRPr lang="fr-F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Connecteur droit avec flèche 20"/>
          <p:cNvCxnSpPr/>
          <p:nvPr/>
        </p:nvCxnSpPr>
        <p:spPr>
          <a:xfrm>
            <a:off x="3464392" y="1560940"/>
            <a:ext cx="0" cy="72008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 rot="18915024">
            <a:off x="-485337" y="2263170"/>
            <a:ext cx="4321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PROCESSUS </a:t>
            </a:r>
            <a:r>
              <a:rPr lang="fr-FR" sz="2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CHORDAL</a:t>
            </a:r>
            <a:endParaRPr lang="fr-FR" sz="2000" dirty="0">
              <a:solidFill>
                <a:srgbClr val="0070C0"/>
              </a:solidFill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1560940"/>
            <a:ext cx="329213" cy="9022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allAtOnce"/>
      <p:bldP spid="12" grpId="0" build="allAtOnce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3568" y="0"/>
            <a:ext cx="8460432" cy="1594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2400" b="1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                        </a:t>
            </a:r>
          </a:p>
          <a:p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                           </a:t>
            </a:r>
          </a:p>
          <a:p>
            <a:endParaRPr lang="fr-FR" sz="2800" b="1" dirty="0" smtClean="0">
              <a:latin typeface="Arial" pitchFamily="34" charset="0"/>
              <a:cs typeface="Arial" pitchFamily="34" charset="0"/>
            </a:endParaRPr>
          </a:p>
          <a:p>
            <a:pPr marL="2154238" indent="-2154238"/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                                                                                  </a:t>
            </a:r>
          </a:p>
          <a:p>
            <a:endParaRPr lang="fr-FR" sz="2800" b="1" dirty="0" smtClean="0">
              <a:latin typeface="Arial" pitchFamily="34" charset="0"/>
              <a:cs typeface="Arial" pitchFamily="34" charset="0"/>
            </a:endParaRPr>
          </a:p>
          <a:p>
            <a:endParaRPr lang="fr-FR" sz="2800" b="1" dirty="0" smtClean="0">
              <a:latin typeface="Arial" pitchFamily="34" charset="0"/>
              <a:cs typeface="Arial" pitchFamily="34" charset="0"/>
            </a:endParaRPr>
          </a:p>
          <a:p>
            <a:endParaRPr lang="fr-FR" sz="2800" b="1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</a:t>
            </a: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</a:t>
            </a: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                     </a:t>
            </a: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</a:t>
            </a: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                               </a:t>
            </a: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 </a:t>
            </a: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</a:t>
            </a:r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dirty="0"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latin typeface="Arial" pitchFamily="34" charset="0"/>
              <a:cs typeface="Arial" pitchFamily="34" charset="0"/>
            </a:endParaRPr>
          </a:p>
          <a:p>
            <a:r>
              <a:rPr lang="fr-FR" dirty="0" smtClean="0">
                <a:latin typeface="Arial" pitchFamily="34" charset="0"/>
                <a:cs typeface="Arial" pitchFamily="34" charset="0"/>
              </a:rPr>
              <a:t> </a:t>
            </a:r>
            <a:endParaRPr lang="fr-F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 rot="19636400">
            <a:off x="388728" y="3192070"/>
            <a:ext cx="21387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EBAUCHE </a:t>
            </a:r>
            <a:r>
              <a:rPr lang="fr-FR" sz="2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DU</a:t>
            </a:r>
          </a:p>
          <a:p>
            <a:r>
              <a:rPr lang="fr-FR" sz="2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TUBE DIGESTIF</a:t>
            </a:r>
            <a:endParaRPr lang="fr-FR" sz="2000" dirty="0">
              <a:solidFill>
                <a:srgbClr val="0070C0"/>
              </a:solidFill>
            </a:endParaRPr>
          </a:p>
        </p:txBody>
      </p:sp>
      <p:sp>
        <p:nvSpPr>
          <p:cNvPr id="7" name="Accolade ouvrante 6"/>
          <p:cNvSpPr/>
          <p:nvPr/>
        </p:nvSpPr>
        <p:spPr>
          <a:xfrm>
            <a:off x="2699792" y="1484784"/>
            <a:ext cx="106296" cy="4896544"/>
          </a:xfrm>
          <a:prstGeom prst="leftBrac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877888" indent="-1733550" algn="ctr"/>
            <a:r>
              <a:rPr lang="fr-FR" dirty="0" smtClean="0"/>
              <a:t>  </a:t>
            </a:r>
            <a:endParaRPr lang="fr-FR" dirty="0"/>
          </a:p>
        </p:txBody>
      </p:sp>
      <p:sp>
        <p:nvSpPr>
          <p:cNvPr id="17" name="ZoneTexte 16"/>
          <p:cNvSpPr txBox="1"/>
          <p:nvPr/>
        </p:nvSpPr>
        <p:spPr>
          <a:xfrm>
            <a:off x="2549057" y="1901499"/>
            <a:ext cx="5364674" cy="541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smtClean="0"/>
              <a:t>          </a:t>
            </a:r>
            <a:r>
              <a:rPr lang="fr-FR" sz="2800" b="1" dirty="0" smtClean="0"/>
              <a:t>Tube </a:t>
            </a:r>
            <a:r>
              <a:rPr lang="fr-FR" sz="2800" b="1" dirty="0" smtClean="0"/>
              <a:t>digestif primitif</a:t>
            </a:r>
          </a:p>
          <a:p>
            <a:r>
              <a:rPr lang="fr-FR" sz="2800" b="1" dirty="0" smtClean="0"/>
              <a:t> </a:t>
            </a:r>
          </a:p>
          <a:p>
            <a:r>
              <a:rPr lang="fr-FR" sz="2800" b="1" dirty="0" smtClean="0"/>
              <a:t>               Intestin primitif  antérieur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               Intestin primitif moyen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               Intestin primitif postérieur</a:t>
            </a:r>
            <a:endParaRPr lang="fr-FR" sz="2800" dirty="0" smtClean="0"/>
          </a:p>
          <a:p>
            <a:endParaRPr lang="fr-FR" sz="2400" dirty="0" smtClean="0"/>
          </a:p>
          <a:p>
            <a:endParaRPr lang="fr-FR" sz="2400" dirty="0" smtClean="0"/>
          </a:p>
          <a:p>
            <a:endParaRPr lang="fr-FR" sz="2400" dirty="0" smtClean="0"/>
          </a:p>
          <a:p>
            <a:endParaRPr lang="fr-FR" sz="2400" b="1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</p:txBody>
      </p:sp>
      <p:sp>
        <p:nvSpPr>
          <p:cNvPr id="10" name="ZoneTexte 9"/>
          <p:cNvSpPr txBox="1"/>
          <p:nvPr/>
        </p:nvSpPr>
        <p:spPr>
          <a:xfrm>
            <a:off x="2736172" y="50772"/>
            <a:ext cx="452078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2800" b="1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r>
              <a:rPr lang="fr-FR" sz="28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 Devenir </a:t>
            </a:r>
            <a:r>
              <a:rPr lang="fr-FR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l’entoblaste</a:t>
            </a:r>
          </a:p>
          <a:p>
            <a:endParaRPr lang="fr-FR" sz="28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endParaRPr lang="fr-FR" sz="2800" b="1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2875784" y="3140968"/>
            <a:ext cx="792088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>
            <a:off x="2875784" y="3914750"/>
            <a:ext cx="792088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2875784" y="4797152"/>
            <a:ext cx="792088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34589" y="1320177"/>
            <a:ext cx="975445" cy="3292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allAtOnce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0621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2400" b="1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400" b="1" dirty="0" smtClean="0">
                <a:latin typeface="Arial" pitchFamily="34" charset="0"/>
                <a:cs typeface="Arial" pitchFamily="34" charset="0"/>
              </a:rPr>
              <a:t>                         </a:t>
            </a:r>
            <a:endParaRPr lang="fr-FR" sz="3600" b="1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                        </a:t>
            </a:r>
          </a:p>
          <a:p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                           </a:t>
            </a:r>
          </a:p>
          <a:p>
            <a:endParaRPr lang="fr-FR" sz="2800" b="1" dirty="0" smtClean="0">
              <a:latin typeface="Arial" pitchFamily="34" charset="0"/>
              <a:cs typeface="Arial" pitchFamily="34" charset="0"/>
            </a:endParaRPr>
          </a:p>
          <a:p>
            <a:pPr marL="2960688" indent="-2960688"/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                                                                                    </a:t>
            </a:r>
          </a:p>
          <a:p>
            <a:pPr marL="2960688" indent="-2960688"/>
            <a:r>
              <a:rPr lang="fr-FR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                    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P.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Longitudinale</a:t>
            </a:r>
          </a:p>
          <a:p>
            <a:pPr marL="2960688" indent="-2960688"/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960688" indent="-2960688"/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960688" indent="-2960688"/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960688" indent="-2960688"/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960688" indent="-2960688"/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960688" indent="-2960688"/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960688" indent="-2960688"/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960688" indent="-2960688"/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960688" indent="-2960688"/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154238" indent="-2154238"/>
            <a:r>
              <a:rPr lang="fr-FR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</a:t>
            </a:r>
          </a:p>
          <a:p>
            <a:endParaRPr lang="fr-FR" sz="2800" b="1" dirty="0" smtClean="0">
              <a:latin typeface="Arial" pitchFamily="34" charset="0"/>
              <a:cs typeface="Arial" pitchFamily="34" charset="0"/>
            </a:endParaRPr>
          </a:p>
          <a:p>
            <a:endParaRPr lang="fr-FR" sz="2800" b="1" dirty="0" smtClean="0">
              <a:latin typeface="Arial" pitchFamily="34" charset="0"/>
              <a:cs typeface="Arial" pitchFamily="34" charset="0"/>
            </a:endParaRPr>
          </a:p>
          <a:p>
            <a:endParaRPr lang="fr-FR" sz="2800" b="1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</a:t>
            </a: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</a:t>
            </a: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                     </a:t>
            </a: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</a:t>
            </a: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                               </a:t>
            </a: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 </a:t>
            </a: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</a:t>
            </a:r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dirty="0"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latin typeface="Arial" pitchFamily="34" charset="0"/>
              <a:cs typeface="Arial" pitchFamily="34" charset="0"/>
            </a:endParaRPr>
          </a:p>
          <a:p>
            <a:r>
              <a:rPr lang="fr-FR" dirty="0" smtClean="0">
                <a:latin typeface="Arial" pitchFamily="34" charset="0"/>
                <a:cs typeface="Arial" pitchFamily="34" charset="0"/>
              </a:rPr>
              <a:t> </a:t>
            </a:r>
            <a:endParaRPr lang="fr-F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Accolade ouvrante 6"/>
          <p:cNvSpPr/>
          <p:nvPr/>
        </p:nvSpPr>
        <p:spPr>
          <a:xfrm>
            <a:off x="2699792" y="1484784"/>
            <a:ext cx="106296" cy="4896544"/>
          </a:xfrm>
          <a:prstGeom prst="leftBrac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877888" indent="-1733550" algn="ctr"/>
            <a:r>
              <a:rPr lang="fr-FR" dirty="0" smtClean="0"/>
              <a:t>  </a:t>
            </a:r>
            <a:endParaRPr lang="fr-FR" dirty="0"/>
          </a:p>
        </p:txBody>
      </p:sp>
      <p:sp>
        <p:nvSpPr>
          <p:cNvPr id="10" name="ZoneTexte 9"/>
          <p:cNvSpPr txBox="1"/>
          <p:nvPr/>
        </p:nvSpPr>
        <p:spPr>
          <a:xfrm rot="18301766">
            <a:off x="-590687" y="3199318"/>
            <a:ext cx="47160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DELIMITATION DE </a:t>
            </a:r>
            <a:r>
              <a:rPr lang="fr-FR" sz="2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L’EMBRYON</a:t>
            </a:r>
            <a:endParaRPr lang="fr-FR" sz="2000" b="1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2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lang="fr-FR" sz="2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(PLICATURE)                                        </a:t>
            </a:r>
          </a:p>
          <a:p>
            <a:r>
              <a:rPr lang="fr-FR" sz="2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                               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6821554" y="3009528"/>
            <a:ext cx="1554913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Embryon</a:t>
            </a:r>
          </a:p>
          <a:p>
            <a:endParaRPr lang="fr-FR" sz="2800" dirty="0" smtClean="0"/>
          </a:p>
          <a:p>
            <a:r>
              <a:rPr lang="fr-FR" sz="2800" dirty="0" smtClean="0"/>
              <a:t>        +</a:t>
            </a:r>
          </a:p>
          <a:p>
            <a:endParaRPr lang="fr-FR" sz="2800" dirty="0" smtClean="0"/>
          </a:p>
          <a:p>
            <a:r>
              <a:rPr lang="fr-FR" sz="2800" dirty="0" smtClean="0"/>
              <a:t>Annexes</a:t>
            </a:r>
            <a:endParaRPr lang="fr-FR" sz="2800" dirty="0"/>
          </a:p>
        </p:txBody>
      </p:sp>
      <p:sp>
        <p:nvSpPr>
          <p:cNvPr id="6" name="ZoneTexte 5"/>
          <p:cNvSpPr txBox="1"/>
          <p:nvPr/>
        </p:nvSpPr>
        <p:spPr>
          <a:xfrm>
            <a:off x="2843808" y="4437112"/>
            <a:ext cx="26368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P.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Transversale</a:t>
            </a:r>
            <a:endParaRPr lang="fr-FR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06917" y="578151"/>
            <a:ext cx="687399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B. Délimitation de l’embryon (plicature)</a:t>
            </a:r>
            <a:endParaRPr lang="fr-FR" sz="2800" b="1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Connecteur droit avec flèche 3"/>
          <p:cNvCxnSpPr/>
          <p:nvPr/>
        </p:nvCxnSpPr>
        <p:spPr>
          <a:xfrm>
            <a:off x="5619469" y="2996952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/>
          <p:cNvCxnSpPr>
            <a:endCxn id="13" idx="1"/>
          </p:cNvCxnSpPr>
          <p:nvPr/>
        </p:nvCxnSpPr>
        <p:spPr>
          <a:xfrm flipV="1">
            <a:off x="5708783" y="4132913"/>
            <a:ext cx="1112771" cy="53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1107504"/>
            <a:ext cx="9144000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 smtClean="0">
                <a:latin typeface="Arial" pitchFamily="34" charset="0"/>
                <a:cs typeface="Arial" pitchFamily="34" charset="0"/>
              </a:rPr>
              <a:t> </a:t>
            </a:r>
            <a:endParaRPr lang="fr-FR" sz="2800" b="1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</a:t>
            </a:r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r>
              <a:rPr lang="fr-FR" sz="2800" b="1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DE </a:t>
            </a:r>
            <a:r>
              <a:rPr lang="fr-FR" sz="2800" b="1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LA  5</a:t>
            </a:r>
            <a:r>
              <a:rPr lang="fr-FR" sz="2800" b="1" baseline="30000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ÈME </a:t>
            </a:r>
            <a:r>
              <a:rPr lang="fr-FR" sz="2800" b="1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SEMAINE  À LA 8</a:t>
            </a:r>
            <a:r>
              <a:rPr lang="fr-FR" sz="2800" b="1" baseline="30000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ÈME</a:t>
            </a:r>
            <a:r>
              <a:rPr lang="fr-FR" sz="2800" b="1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 SEMAINE </a:t>
            </a:r>
          </a:p>
          <a:p>
            <a:r>
              <a:rPr lang="fr-FR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3581400" indent="-3581400"/>
            <a:r>
              <a:rPr lang="fr-FR" sz="28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Organogenèse </a:t>
            </a:r>
            <a:r>
              <a:rPr lang="fr-FR" sz="28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=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développement  des organes à    partir des ébauches</a:t>
            </a: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  </a:t>
            </a:r>
          </a:p>
          <a:p>
            <a:r>
              <a:rPr lang="fr-FR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                      </a:t>
            </a:r>
            <a:endParaRPr lang="fr-FR" sz="28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9050" y="-531440"/>
            <a:ext cx="8329524" cy="7694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  <a:p>
            <a:r>
              <a:rPr lang="fr-FR" sz="2800" dirty="0" smtClean="0">
                <a:latin typeface="Arial" panose="020B0604020202020204" pitchFamily="34" charset="0"/>
                <a:cs typeface="Arial" pitchFamily="34" charset="0"/>
              </a:rPr>
              <a:t>      </a:t>
            </a:r>
            <a:endParaRPr lang="fr-FR" sz="2800" dirty="0" smtClean="0">
              <a:latin typeface="Arial" panose="020B0604020202020204" pitchFamily="34" charset="0"/>
              <a:cs typeface="Arial" pitchFamily="34" charset="0"/>
            </a:endParaRPr>
          </a:p>
          <a:p>
            <a:r>
              <a:rPr lang="fr-FR" sz="2800" dirty="0" smtClean="0">
                <a:solidFill>
                  <a:srgbClr val="0070C0"/>
                </a:solidFill>
                <a:latin typeface="Arial" panose="020B0604020202020204" pitchFamily="34" charset="0"/>
                <a:cs typeface="Arial" pitchFamily="34" charset="0"/>
              </a:rPr>
              <a:t>5 G</a:t>
            </a:r>
            <a:r>
              <a:rPr lang="fr-FR" sz="2800" dirty="0" smtClean="0">
                <a:solidFill>
                  <a:srgbClr val="0070C0"/>
                </a:solidFill>
                <a:latin typeface="Arial" panose="020B0604020202020204" pitchFamily="34" charset="0"/>
                <a:cs typeface="Arial" pitchFamily="34" charset="0"/>
              </a:rPr>
              <a:t>randes étapes du développement embryonnaire</a:t>
            </a:r>
          </a:p>
          <a:p>
            <a:r>
              <a:rPr lang="fr-FR" sz="2800" dirty="0" smtClean="0">
                <a:latin typeface="Arial" panose="020B0604020202020204" pitchFamily="34" charset="0"/>
                <a:cs typeface="Arial" pitchFamily="34" charset="0"/>
              </a:rPr>
              <a:t>  </a:t>
            </a:r>
            <a:endParaRPr lang="fr-FR" sz="2800" dirty="0" smtClean="0">
              <a:latin typeface="Arial" panose="020B0604020202020204" pitchFamily="34" charset="0"/>
              <a:cs typeface="Arial" pitchFamily="34" charset="0"/>
            </a:endParaRPr>
          </a:p>
          <a:p>
            <a:r>
              <a:rPr lang="fr-F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Pré-morphogenèse </a:t>
            </a:r>
            <a:endParaRPr lang="fr-FR" sz="28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Elle se déroule au cours de la </a:t>
            </a:r>
            <a:r>
              <a:rPr lang="fr-F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fr-FR" sz="2800" b="1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ère </a:t>
            </a:r>
            <a:r>
              <a:rPr lang="fr-F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semaine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du </a:t>
            </a:r>
          </a:p>
          <a:p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développement embryonnaire: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la fécondation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la segmentation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la formation du </a:t>
            </a:r>
            <a:r>
              <a:rPr lang="fr-FR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blastocyste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fr-F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r>
              <a:rPr lang="fr-F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Morphogenèse primordiale </a:t>
            </a:r>
            <a:endParaRPr lang="fr-FR" sz="28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Elle s’effectue pendant la </a:t>
            </a:r>
            <a:r>
              <a:rPr lang="fr-F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fr-FR" sz="2800" b="1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ème</a:t>
            </a:r>
            <a:r>
              <a:rPr lang="fr-F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semaine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du</a:t>
            </a:r>
          </a:p>
          <a:p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développement embryonnaire. :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la pré-gastrulation: transformation du bouton</a:t>
            </a:r>
          </a:p>
          <a:p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embryonnaire en un germe didermique</a:t>
            </a:r>
          </a:p>
          <a:p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fr-FR" sz="28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-243408"/>
            <a:ext cx="9603911" cy="81253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  <a:p>
            <a:r>
              <a:rPr lang="fr-FR" sz="28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Morphogenèse primaire </a:t>
            </a:r>
            <a:endParaRPr lang="fr-FR" sz="2800" b="1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Elle s’effectue pendant la </a:t>
            </a:r>
            <a:r>
              <a:rPr lang="fr-F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fr-FR" sz="2800" b="1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ème</a:t>
            </a:r>
            <a:r>
              <a:rPr lang="fr-F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semaine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du</a:t>
            </a:r>
          </a:p>
          <a:p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développement embryonnaire. :</a:t>
            </a:r>
          </a:p>
          <a:p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La gastrulation: transformation du germe </a:t>
            </a:r>
          </a:p>
          <a:p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didermique en germe  tri dermique</a:t>
            </a:r>
          </a:p>
          <a:p>
            <a:endParaRPr lang="fr-FR" sz="28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8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Morphogenèse secondaire </a:t>
            </a:r>
            <a:endParaRPr lang="fr-FR" sz="2800" b="1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Elle correspond à la </a:t>
            </a:r>
            <a:r>
              <a:rPr lang="fr-F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fr-FR" sz="2800" b="1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ème</a:t>
            </a:r>
            <a:r>
              <a:rPr lang="fr-F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semaine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de la grossesse </a:t>
            </a:r>
          </a:p>
          <a:p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(20ème -29ème jours). 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fr-FR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neurulation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  mise en place de la première </a:t>
            </a:r>
          </a:p>
          <a:p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ébauche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du système nerveux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sz="28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8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Morphogenèse définitive</a:t>
            </a:r>
          </a:p>
          <a:p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Elle s’observe à partir de la </a:t>
            </a:r>
            <a:r>
              <a:rPr lang="fr-F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fr-FR" sz="2800" b="1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ème</a:t>
            </a:r>
            <a:r>
              <a:rPr lang="fr-FR" sz="28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semaine de la grossesse</a:t>
            </a:r>
          </a:p>
          <a:p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L’organogènèse: au cours de laquelle les  différents </a:t>
            </a:r>
          </a:p>
          <a:p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organes se différencient à partir des ébauches.</a:t>
            </a:r>
          </a:p>
          <a:p>
            <a:endParaRPr lang="fr-FR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-315416"/>
            <a:ext cx="9603911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</a:rPr>
              <a:t> </a:t>
            </a:r>
          </a:p>
          <a:p>
            <a:r>
              <a:rPr lang="fr-FR" sz="28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Morphogenèse définitive</a:t>
            </a:r>
            <a:endParaRPr lang="fr-FR" sz="2800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Elle s’observe à partir de la 5</a:t>
            </a:r>
            <a:r>
              <a:rPr lang="fr-FR" sz="28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ème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semaine de la grossesse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L’organogènèse: au cours de laquelle les  différents </a:t>
            </a:r>
          </a:p>
          <a:p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organes se différencient à partir des ébauches.</a:t>
            </a:r>
            <a:endParaRPr lang="fr-FR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268760"/>
            <a:ext cx="9144000" cy="5589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0" y="260648"/>
            <a:ext cx="72172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PERIODE EMBRYONNAIRE ET PERIODE FOETALE</a:t>
            </a:r>
            <a:endParaRPr lang="fr-FR" sz="2800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2181838" y="5949280"/>
            <a:ext cx="69621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smtClean="0">
                <a:solidFill>
                  <a:schemeClr val="bg2"/>
                </a:solidFill>
              </a:rPr>
              <a:t> grossesse (gestation) 39- 41 semaines</a:t>
            </a:r>
            <a:endParaRPr lang="fr-FR" sz="32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9552" y="620688"/>
            <a:ext cx="763284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fr-FR" sz="3200" b="1" dirty="0" smtClean="0"/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La </a:t>
            </a:r>
            <a:r>
              <a:rPr lang="fr-FR" sz="3200" b="1" dirty="0">
                <a:solidFill>
                  <a:srgbClr val="FF0000"/>
                </a:solidFill>
              </a:rPr>
              <a:t>période embryonnaire </a:t>
            </a:r>
            <a:r>
              <a:rPr lang="fr-FR" sz="3200" dirty="0"/>
              <a:t/>
            </a:r>
            <a:br>
              <a:rPr lang="fr-FR" sz="3200" dirty="0"/>
            </a:br>
            <a:r>
              <a:rPr lang="fr-FR" sz="3200" dirty="0" smtClean="0"/>
              <a:t>mise </a:t>
            </a:r>
            <a:r>
              <a:rPr lang="fr-FR" sz="3200" dirty="0"/>
              <a:t>en place des ébauches des </a:t>
            </a:r>
            <a:r>
              <a:rPr lang="fr-FR" sz="3200" dirty="0" smtClean="0"/>
              <a:t>organes</a:t>
            </a:r>
            <a:r>
              <a:rPr lang="fr-FR" sz="3200" dirty="0"/>
              <a:t>. </a:t>
            </a:r>
          </a:p>
        </p:txBody>
      </p:sp>
      <p:sp>
        <p:nvSpPr>
          <p:cNvPr id="3" name="Rectangle 2"/>
          <p:cNvSpPr/>
          <p:nvPr/>
        </p:nvSpPr>
        <p:spPr>
          <a:xfrm>
            <a:off x="539552" y="3140968"/>
            <a:ext cx="748883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fr-FR" sz="3200" b="1" dirty="0" smtClean="0"/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La </a:t>
            </a:r>
            <a:r>
              <a:rPr lang="fr-FR" sz="3200" b="1" dirty="0">
                <a:solidFill>
                  <a:srgbClr val="FF0000"/>
                </a:solidFill>
              </a:rPr>
              <a:t>période fœtale </a:t>
            </a:r>
            <a:r>
              <a:rPr lang="fr-FR" sz="3200" dirty="0"/>
              <a:t/>
            </a:r>
            <a:br>
              <a:rPr lang="fr-FR" sz="3200" dirty="0"/>
            </a:br>
            <a:r>
              <a:rPr lang="fr-FR" sz="3200" dirty="0"/>
              <a:t>C'est la formation des organes à partir des </a:t>
            </a:r>
            <a:r>
              <a:rPr lang="fr-FR" sz="3200" dirty="0" smtClean="0"/>
              <a:t>ébauches</a:t>
            </a:r>
            <a:endParaRPr lang="fr-FR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48680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fr-FR" b="1" dirty="0" smtClean="0"/>
              <a:t> </a:t>
            </a:r>
            <a:r>
              <a:rPr lang="fr-FR" sz="2400" b="1" dirty="0" err="1" smtClean="0"/>
              <a:t>Catala</a:t>
            </a:r>
            <a:r>
              <a:rPr lang="fr-FR" sz="2400" b="1" dirty="0" smtClean="0"/>
              <a:t> </a:t>
            </a:r>
            <a:r>
              <a:rPr lang="fr-FR" sz="2400" b="1" dirty="0"/>
              <a:t>M. Embryologie, développement précoce chez l’humain. Ed Masson, 3ème édition, 2006. </a:t>
            </a:r>
          </a:p>
          <a:p>
            <a:pPr>
              <a:buFont typeface="Wingdings" pitchFamily="2" charset="2"/>
              <a:buChar char="Ø"/>
            </a:pPr>
            <a:r>
              <a:rPr lang="fr-FR" sz="2400" b="1" dirty="0" smtClean="0"/>
              <a:t> </a:t>
            </a:r>
            <a:r>
              <a:rPr lang="fr-FR" sz="2400" b="1" dirty="0" err="1" smtClean="0"/>
              <a:t>Dollander</a:t>
            </a:r>
            <a:r>
              <a:rPr lang="fr-FR" sz="2400" b="1" dirty="0" smtClean="0"/>
              <a:t> </a:t>
            </a:r>
            <a:r>
              <a:rPr lang="fr-FR" sz="2400" b="1" dirty="0"/>
              <a:t>A. Eléments d’embryologie. Ed Flammarion, 4ème édition, 1979. </a:t>
            </a:r>
          </a:p>
          <a:p>
            <a:pPr>
              <a:buFont typeface="Wingdings" pitchFamily="2" charset="2"/>
              <a:buChar char="Ø"/>
            </a:pPr>
            <a:r>
              <a:rPr lang="fr-FR" sz="2400" b="1" dirty="0" smtClean="0"/>
              <a:t> </a:t>
            </a:r>
            <a:r>
              <a:rPr lang="fr-FR" sz="2400" b="1" dirty="0" err="1" smtClean="0"/>
              <a:t>Encha</a:t>
            </a:r>
            <a:r>
              <a:rPr lang="fr-FR" sz="2400" b="1" dirty="0" smtClean="0"/>
              <a:t>-</a:t>
            </a:r>
            <a:r>
              <a:rPr lang="fr-FR" sz="2400" b="1" dirty="0" err="1" smtClean="0"/>
              <a:t>Razavi</a:t>
            </a:r>
            <a:r>
              <a:rPr lang="fr-FR" sz="2400" b="1" dirty="0" smtClean="0"/>
              <a:t> </a:t>
            </a:r>
            <a:r>
              <a:rPr lang="fr-FR" sz="2400" b="1" dirty="0"/>
              <a:t>F, Escudier E. Embryologie humaine, de la molécule à la clinique. Ed Masson, 2ème édition, Paris, 2001. </a:t>
            </a:r>
          </a:p>
          <a:p>
            <a:pPr>
              <a:buFont typeface="Wingdings" pitchFamily="2" charset="2"/>
              <a:buChar char="Ø"/>
            </a:pPr>
            <a:r>
              <a:rPr lang="fr-FR" sz="2400" b="1" dirty="0" smtClean="0"/>
              <a:t> </a:t>
            </a:r>
            <a:r>
              <a:rPr lang="fr-FR" sz="2400" b="1" dirty="0" err="1" smtClean="0"/>
              <a:t>Houillon</a:t>
            </a:r>
            <a:r>
              <a:rPr lang="fr-FR" sz="2400" b="1" dirty="0" smtClean="0"/>
              <a:t> </a:t>
            </a:r>
            <a:r>
              <a:rPr lang="fr-FR" sz="2400" b="1" dirty="0"/>
              <a:t>H. Embryologie. Ed Hermann, 1967. </a:t>
            </a:r>
          </a:p>
          <a:p>
            <a:pPr>
              <a:buFont typeface="Wingdings" pitchFamily="2" charset="2"/>
              <a:buChar char="Ø"/>
            </a:pPr>
            <a:r>
              <a:rPr lang="fr-FR" sz="2400" b="1" dirty="0" smtClean="0"/>
              <a:t> Larsen </a:t>
            </a:r>
            <a:r>
              <a:rPr lang="fr-FR" sz="2400" b="1" dirty="0"/>
              <a:t>WJ. Embryologie humaine. Ed De Boeck, 2ème édition, 2003. </a:t>
            </a:r>
          </a:p>
          <a:p>
            <a:pPr>
              <a:buFont typeface="Wingdings" pitchFamily="2" charset="2"/>
              <a:buChar char="Ø"/>
            </a:pPr>
            <a:r>
              <a:rPr lang="fr-FR" sz="2400" b="1" dirty="0" smtClean="0"/>
              <a:t> </a:t>
            </a:r>
            <a:r>
              <a:rPr lang="fr-FR" sz="2400" b="1" dirty="0" err="1" smtClean="0"/>
              <a:t>Pansky</a:t>
            </a:r>
            <a:r>
              <a:rPr lang="fr-FR" sz="2400" b="1" dirty="0" smtClean="0"/>
              <a:t> </a:t>
            </a:r>
            <a:r>
              <a:rPr lang="fr-FR" sz="2400" b="1" dirty="0"/>
              <a:t>B. Embryologie humaine. Ed ellipses, 1982. </a:t>
            </a:r>
            <a:endParaRPr lang="fr-FR" sz="2400" b="1" dirty="0" smtClean="0"/>
          </a:p>
          <a:p>
            <a:endParaRPr lang="fr-FR" sz="2400" dirty="0"/>
          </a:p>
          <a:p>
            <a:r>
              <a:rPr lang="fr-FR" sz="2400" dirty="0" smtClean="0"/>
              <a:t>Site </a:t>
            </a:r>
            <a:r>
              <a:rPr lang="fr-FR" sz="2400" dirty="0"/>
              <a:t>d’embryologie de l’UMVF </a:t>
            </a:r>
          </a:p>
          <a:p>
            <a:r>
              <a:rPr lang="fr-FR" sz="2400" dirty="0"/>
              <a:t>•http://cvirtuel.cochin.univ-paris5.fr/Embryologie </a:t>
            </a:r>
          </a:p>
          <a:p>
            <a:r>
              <a:rPr lang="fr-FR" sz="2400" dirty="0" smtClean="0"/>
              <a:t>Site </a:t>
            </a:r>
            <a:r>
              <a:rPr lang="fr-FR" sz="2400" dirty="0"/>
              <a:t>d’embryologie des universités de Bern, </a:t>
            </a:r>
            <a:r>
              <a:rPr lang="fr-FR" sz="2400" dirty="0" smtClean="0"/>
              <a:t>Lausanne </a:t>
            </a:r>
            <a:r>
              <a:rPr lang="fr-FR" sz="2400" dirty="0"/>
              <a:t>et Fribourg </a:t>
            </a:r>
          </a:p>
          <a:p>
            <a:r>
              <a:rPr lang="fr-FR" sz="2400" dirty="0"/>
              <a:t>•http://www.embryology.ch </a:t>
            </a:r>
          </a:p>
          <a:p>
            <a:endParaRPr lang="fr-FR" sz="2400" b="1" dirty="0"/>
          </a:p>
        </p:txBody>
      </p:sp>
      <p:sp>
        <p:nvSpPr>
          <p:cNvPr id="3" name="ZoneTexte 2"/>
          <p:cNvSpPr txBox="1"/>
          <p:nvPr/>
        </p:nvSpPr>
        <p:spPr>
          <a:xfrm>
            <a:off x="-180528" y="0"/>
            <a:ext cx="67698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                                                      </a:t>
            </a:r>
            <a:r>
              <a:rPr lang="fr-FR" sz="2400" b="1" dirty="0" smtClean="0"/>
              <a:t>REFERENCES UTILES   </a:t>
            </a:r>
            <a:endParaRPr lang="fr-FR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12162</TotalTime>
  <Words>972</Words>
  <Application>Microsoft Office PowerPoint</Application>
  <PresentationFormat>Affichage à l'écran (4:3)</PresentationFormat>
  <Paragraphs>447</Paragraphs>
  <Slides>25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Times New Roman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dell</dc:creator>
  <cp:lastModifiedBy>GE</cp:lastModifiedBy>
  <cp:revision>49</cp:revision>
  <dcterms:created xsi:type="dcterms:W3CDTF">2018-03-26T16:37:30Z</dcterms:created>
  <dcterms:modified xsi:type="dcterms:W3CDTF">2023-10-02T20:38:56Z</dcterms:modified>
</cp:coreProperties>
</file>