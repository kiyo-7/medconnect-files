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0" r:id="rId1"/>
  </p:sldMasterIdLst>
  <p:notesMasterIdLst>
    <p:notesMasterId r:id="rId40"/>
  </p:notesMasterIdLst>
  <p:sldIdLst>
    <p:sldId id="326" r:id="rId2"/>
    <p:sldId id="343" r:id="rId3"/>
    <p:sldId id="327" r:id="rId4"/>
    <p:sldId id="341" r:id="rId5"/>
    <p:sldId id="329" r:id="rId6"/>
    <p:sldId id="328" r:id="rId7"/>
    <p:sldId id="330" r:id="rId8"/>
    <p:sldId id="331" r:id="rId9"/>
    <p:sldId id="332" r:id="rId10"/>
    <p:sldId id="333" r:id="rId11"/>
    <p:sldId id="335" r:id="rId12"/>
    <p:sldId id="270" r:id="rId13"/>
    <p:sldId id="271" r:id="rId14"/>
    <p:sldId id="272" r:id="rId15"/>
    <p:sldId id="342" r:id="rId16"/>
    <p:sldId id="284" r:id="rId17"/>
    <p:sldId id="340" r:id="rId18"/>
    <p:sldId id="281" r:id="rId19"/>
    <p:sldId id="282" r:id="rId20"/>
    <p:sldId id="319" r:id="rId21"/>
    <p:sldId id="314" r:id="rId22"/>
    <p:sldId id="315" r:id="rId23"/>
    <p:sldId id="316" r:id="rId24"/>
    <p:sldId id="317" r:id="rId25"/>
    <p:sldId id="318" r:id="rId26"/>
    <p:sldId id="344" r:id="rId27"/>
    <p:sldId id="337" r:id="rId28"/>
    <p:sldId id="338" r:id="rId29"/>
    <p:sldId id="320" r:id="rId30"/>
    <p:sldId id="322" r:id="rId31"/>
    <p:sldId id="296" r:id="rId32"/>
    <p:sldId id="297" r:id="rId33"/>
    <p:sldId id="298" r:id="rId34"/>
    <p:sldId id="299" r:id="rId35"/>
    <p:sldId id="300" r:id="rId36"/>
    <p:sldId id="301" r:id="rId37"/>
    <p:sldId id="303" r:id="rId38"/>
    <p:sldId id="305" r:id="rId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4343" autoAdjust="0"/>
  </p:normalViewPr>
  <p:slideViewPr>
    <p:cSldViewPr>
      <p:cViewPr>
        <p:scale>
          <a:sx n="60" d="100"/>
          <a:sy n="60" d="100"/>
        </p:scale>
        <p:origin x="160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F6AC8-22A0-4347-AAA0-D2BF06A057F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B848D-6FC9-4274-A270-6DAE05A5700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10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684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01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05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7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04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71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16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5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01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30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6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50C34-9AF1-472F-9926-446E8CA8DD28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77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fr.wikipedia.org/wiki/Gam%C3%A8te" TargetMode="External"/><Relationship Id="rId3" Type="http://schemas.openxmlformats.org/officeDocument/2006/relationships/hyperlink" Target="https://fr.wikipedia.org/wiki/Testicule" TargetMode="External"/><Relationship Id="rId7" Type="http://schemas.openxmlformats.org/officeDocument/2006/relationships/hyperlink" Target="https://fr.wikipedia.org/wiki/Chromosome" TargetMode="External"/><Relationship Id="rId2" Type="http://schemas.openxmlformats.org/officeDocument/2006/relationships/hyperlink" Target="https://fr.wikipedia.org/wiki/Spermatozo%C3%AFd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.wikipedia.org/wiki/Diplo%C3%AFde" TargetMode="External"/><Relationship Id="rId5" Type="http://schemas.openxmlformats.org/officeDocument/2006/relationships/hyperlink" Target="https://fr.wikipedia.org/wiki/Cellule_souche" TargetMode="External"/><Relationship Id="rId4" Type="http://schemas.openxmlformats.org/officeDocument/2006/relationships/hyperlink" Target="https://fr.wikipedia.org/wiki/Spermatogonie" TargetMode="External"/><Relationship Id="rId9" Type="http://schemas.openxmlformats.org/officeDocument/2006/relationships/hyperlink" Target="https://fr.wikipedia.org/wiki/Haplo%C3%AFd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Syst%C3%A8me_reproducteur" TargetMode="External"/><Relationship Id="rId2" Type="http://schemas.openxmlformats.org/officeDocument/2006/relationships/hyperlink" Target="https://fr.wikipedia.org/wiki/Canal_de_Wolf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r.wikipedia.org/wiki/Appareil_g%C3%A9nital" TargetMode="External"/><Relationship Id="rId4" Type="http://schemas.openxmlformats.org/officeDocument/2006/relationships/hyperlink" Target="https://fr.wikipedia.org/wiki/Embryon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Testost%C3%A9rone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68" y="-37604"/>
            <a:ext cx="8747396" cy="65556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bg2"/>
                </a:solidFill>
              </a:rPr>
              <a:t>                 </a:t>
            </a:r>
            <a:r>
              <a:rPr lang="fr-FR" sz="2800" b="1" dirty="0" smtClean="0"/>
              <a:t>MODULE  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 smtClean="0"/>
              <a:t>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SPERMATOGENESE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PR HANNACHI-HECINI A</a:t>
            </a:r>
            <a:endParaRPr lang="fr-FR" sz="28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57375"/>
            <a:ext cx="3744416" cy="31432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66" y="1836234"/>
            <a:ext cx="4191000" cy="3143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-20615" y="382558"/>
            <a:ext cx="956576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Définition</a:t>
            </a:r>
          </a:p>
          <a:p>
            <a:pPr marL="571500" indent="-571500"/>
            <a:endParaRPr lang="fr-FR" sz="2800" dirty="0" smtClean="0"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 </a:t>
            </a:r>
            <a:r>
              <a:rPr lang="fr-FR" sz="2800" dirty="0" smtClean="0">
                <a:cs typeface="Calibri" panose="020F0502020204030204" pitchFamily="34" charset="0"/>
              </a:rPr>
              <a:t>Processus </a:t>
            </a:r>
            <a:r>
              <a:rPr lang="fr-FR" sz="2800" dirty="0" smtClean="0">
                <a:cs typeface="Calibri" panose="020F0502020204030204" pitchFamily="34" charset="0"/>
              </a:rPr>
              <a:t>de production des </a:t>
            </a:r>
            <a:r>
              <a:rPr lang="fr-FR" sz="2800" u="sng" dirty="0" smtClean="0">
                <a:cs typeface="Calibri" panose="020F0502020204030204" pitchFamily="34" charset="0"/>
                <a:hlinkClick r:id="rId2" tooltip="Spermatozoïde"/>
              </a:rPr>
              <a:t>spermatozoïdes</a:t>
            </a:r>
            <a:r>
              <a:rPr lang="fr-FR" sz="2800" u="sng" dirty="0" smtClean="0">
                <a:cs typeface="Calibri" panose="020F0502020204030204" pitchFamily="34" charset="0"/>
              </a:rPr>
              <a:t>,</a:t>
            </a:r>
            <a:endParaRPr lang="fr-FR" sz="2800" u="sng" dirty="0" smtClean="0"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 Lieu: tubes séminifères des </a:t>
            </a:r>
            <a:r>
              <a:rPr lang="fr-FR" sz="2800" dirty="0" smtClean="0">
                <a:cs typeface="Calibri" panose="020F0502020204030204" pitchFamily="34" charset="0"/>
                <a:hlinkClick r:id="rId3" tooltip="Testicule"/>
              </a:rPr>
              <a:t>testicules</a:t>
            </a:r>
            <a:r>
              <a:rPr lang="fr-FR" sz="2800" dirty="0" smtClean="0">
                <a:cs typeface="Calibri" panose="020F050202020403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  Englobe 4 phases:</a:t>
            </a:r>
          </a:p>
          <a:p>
            <a:r>
              <a:rPr lang="fr-FR" sz="2800" dirty="0" smtClean="0">
                <a:cs typeface="Calibri" panose="020F0502020204030204" pitchFamily="34" charset="0"/>
              </a:rPr>
              <a:t> depuis les </a:t>
            </a:r>
            <a:r>
              <a:rPr lang="fr-FR" sz="2800" dirty="0" smtClean="0">
                <a:cs typeface="Calibri" panose="020F0502020204030204" pitchFamily="34" charset="0"/>
                <a:hlinkClick r:id="rId4" tooltip="Spermatogonie"/>
              </a:rPr>
              <a:t>spermatogonies</a:t>
            </a:r>
            <a:r>
              <a:rPr lang="fr-FR" sz="2800" dirty="0" smtClean="0">
                <a:cs typeface="Calibri" panose="020F0502020204030204" pitchFamily="34" charset="0"/>
              </a:rPr>
              <a:t>, 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5" tooltip="Cellule souche"/>
              </a:rPr>
              <a:t>cellules souches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6" tooltip="Diploïde"/>
              </a:rPr>
              <a:t>diploïdes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(</a:t>
            </a:r>
            <a:r>
              <a:rPr lang="fr-FR" sz="2800" dirty="0" smtClean="0">
                <a:cs typeface="Calibri" panose="020F0502020204030204" pitchFamily="34" charset="0"/>
              </a:rPr>
              <a:t>(</a:t>
            </a:r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2n </a:t>
            </a:r>
            <a:r>
              <a:rPr lang="fr-FR" sz="2800" b="1" dirty="0" smtClean="0">
                <a:solidFill>
                  <a:srgbClr val="FFFFFF"/>
                </a:solidFill>
                <a:cs typeface="Calibri" panose="020F0502020204030204" pitchFamily="34" charset="0"/>
                <a:hlinkClick r:id="rId7" tooltip="Chromosome"/>
              </a:rPr>
              <a:t>chr</a:t>
            </a:r>
            <a:r>
              <a:rPr lang="fr-FR" sz="2800" dirty="0" smtClean="0">
                <a:cs typeface="Calibri" panose="020F0502020204030204" pitchFamily="34" charset="0"/>
              </a:rPr>
              <a:t>), </a:t>
            </a:r>
          </a:p>
          <a:p>
            <a:r>
              <a:rPr lang="fr-FR" sz="2800" dirty="0" smtClean="0">
                <a:cs typeface="Calibri" panose="020F0502020204030204" pitchFamily="34" charset="0"/>
              </a:rPr>
              <a:t>Jusqu’aux  </a:t>
            </a:r>
            <a:r>
              <a:rPr lang="fr-FR" sz="2800" dirty="0" smtClean="0">
                <a:cs typeface="Calibri" panose="020F0502020204030204" pitchFamily="34" charset="0"/>
                <a:hlinkClick r:id="rId2" tooltip="Spermatozoïde"/>
              </a:rPr>
              <a:t>spermatozoïdes</a:t>
            </a:r>
            <a:r>
              <a:rPr lang="fr-FR" sz="2800" dirty="0" smtClean="0">
                <a:cs typeface="Calibri" panose="020F0502020204030204" pitchFamily="34" charset="0"/>
              </a:rPr>
              <a:t>, </a:t>
            </a:r>
            <a:r>
              <a:rPr lang="fr-FR" sz="2800" dirty="0" smtClean="0">
                <a:cs typeface="Calibri" panose="020F0502020204030204" pitchFamily="34" charset="0"/>
                <a:hlinkClick r:id="rId8" tooltip="Gamète"/>
              </a:rPr>
              <a:t>gamètes</a:t>
            </a:r>
            <a:r>
              <a:rPr lang="fr-FR" sz="2800" dirty="0" smtClean="0">
                <a:cs typeface="Calibri" panose="020F0502020204030204" pitchFamily="34" charset="0"/>
              </a:rPr>
              <a:t> mâles </a:t>
            </a:r>
            <a:r>
              <a:rPr lang="fr-FR" sz="2800" dirty="0" smtClean="0">
                <a:cs typeface="Calibri" panose="020F0502020204030204" pitchFamily="34" charset="0"/>
                <a:hlinkClick r:id="rId9" tooltip="Haploïde"/>
              </a:rPr>
              <a:t>haploïdes</a:t>
            </a:r>
            <a:r>
              <a:rPr lang="fr-FR" sz="2800" dirty="0" smtClean="0">
                <a:cs typeface="Calibri" panose="020F0502020204030204" pitchFamily="34" charset="0"/>
              </a:rPr>
              <a:t> (</a:t>
            </a:r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n </a:t>
            </a:r>
            <a:r>
              <a:rPr lang="fr-FR" sz="2800" b="1" dirty="0" err="1" smtClean="0">
                <a:solidFill>
                  <a:srgbClr val="0070C0"/>
                </a:solidFill>
                <a:cs typeface="Calibri" panose="020F0502020204030204" pitchFamily="34" charset="0"/>
              </a:rPr>
              <a:t>chr</a:t>
            </a:r>
            <a:r>
              <a:rPr lang="fr-FR" sz="2800" dirty="0" smtClean="0">
                <a:cs typeface="Calibri" panose="020F0502020204030204" pitchFamily="34" charset="0"/>
              </a:rPr>
              <a:t>). </a:t>
            </a:r>
          </a:p>
          <a:p>
            <a:endParaRPr lang="fr-FR" sz="2800" b="1" dirty="0" smtClean="0"/>
          </a:p>
          <a:p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88726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387106" y="6396335"/>
            <a:ext cx="422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Appareil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reproducteur masculin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"/>
            <a:ext cx="9793088" cy="63963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565701" y="6360458"/>
            <a:ext cx="41921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Appareil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reproducteur masculin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-171400"/>
            <a:ext cx="9145016" cy="6531858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31640" y="5589240"/>
            <a:ext cx="965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scrotum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3909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79512" y="-1108666"/>
            <a:ext cx="9144000" cy="871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Gonades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   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Testicules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Organes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génitaux externes </a:t>
            </a: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Pénis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Scrotum. 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Voies 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génitales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Epididyme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Conduit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déférent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Canal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éjaculateur et urètre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Glandes 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annexes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Vésicules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séminales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Prostate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Glandes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 Cowper (bulbo-urétrales)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188640"/>
            <a:ext cx="700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de l’appareil reproducteur masculin</a:t>
            </a:r>
            <a:endParaRPr lang="fr-FR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09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1576"/>
            <a:ext cx="8064896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200" dirty="0"/>
          </a:p>
          <a:p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Fonction exocrine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l'émission des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spermatozoïdes.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Fonction endocrine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la production d'hormones sexuelles mâles (principalement la testostérone).</a:t>
            </a:r>
          </a:p>
          <a:p>
            <a:endParaRPr lang="fr-FR" sz="28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28221"/>
            <a:ext cx="6999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Fonctions de l’appareil reproducteur masculin</a:t>
            </a:r>
            <a:endParaRPr lang="fr-FR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Les </a:t>
            </a:r>
            <a:r>
              <a:rPr lang="fr-FR" sz="2800" b="1" dirty="0" smtClean="0">
                <a:solidFill>
                  <a:srgbClr val="0070C0"/>
                </a:solidFill>
              </a:rPr>
              <a:t>glandes annexes à l’appareil reproducteur </a:t>
            </a:r>
            <a:r>
              <a:rPr lang="fr-FR" sz="2800" b="1" dirty="0" smtClean="0">
                <a:solidFill>
                  <a:srgbClr val="0070C0"/>
                </a:solidFill>
              </a:rPr>
              <a:t>masculin</a:t>
            </a:r>
          </a:p>
          <a:p>
            <a:r>
              <a:rPr lang="fr-FR" sz="2800" b="1" dirty="0" smtClean="0"/>
              <a:t>Vésicules </a:t>
            </a:r>
            <a:r>
              <a:rPr lang="fr-FR" sz="2800" b="1" dirty="0" smtClean="0"/>
              <a:t>séminales :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dirty="0" smtClean="0"/>
              <a:t>glandes vésiculeuses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débouchant dans la prostate pour se relier aux canaux déférents.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produisent un liquide riche en fructose. </a:t>
            </a:r>
          </a:p>
          <a:p>
            <a:r>
              <a:rPr lang="fr-FR" sz="2800" b="1" dirty="0" smtClean="0"/>
              <a:t>Prostate</a:t>
            </a:r>
            <a:r>
              <a:rPr lang="fr-FR" sz="2800" b="1" dirty="0" smtClean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Glande exocrine.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Sécrète une partie du liquide séminal et le stocke.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son PH alcalin neutralise l’acidité du liquide séminal.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riche en Zinc, qui a un pouvoir bactéricide;</a:t>
            </a:r>
          </a:p>
          <a:p>
            <a:r>
              <a:rPr lang="fr-FR" sz="2800" b="1" dirty="0" smtClean="0"/>
              <a:t>Glandes </a:t>
            </a:r>
            <a:r>
              <a:rPr lang="fr-FR" sz="2800" b="1" dirty="0" smtClean="0"/>
              <a:t>de Cowper </a:t>
            </a:r>
            <a:r>
              <a:rPr lang="fr-FR" sz="2800" dirty="0" smtClean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situées de chaque côté de l'urètre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appelées glandes bulbo-urétrales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Ont un rôle de lubrifiant avant l'éjaculation.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élaborent un fluide alcalin qui neutralise  l’acidité au niveau de l’urètre 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051720" y="5877272"/>
            <a:ext cx="3828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du testicule</a:t>
            </a:r>
            <a:endParaRPr lang="fr-FR" sz="2800" b="1" dirty="0"/>
          </a:p>
        </p:txBody>
      </p:sp>
      <p:pic>
        <p:nvPicPr>
          <p:cNvPr id="6146" name="Picture 2" descr="Résultat de recherche d'images pour &quot;testicul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08" y="28240"/>
            <a:ext cx="8532440" cy="54889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www.bio-top.net/Schemas/Spermatogenese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76672"/>
            <a:ext cx="8172400" cy="5166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196752"/>
            <a:ext cx="3960439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96752"/>
            <a:ext cx="3843936" cy="439248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 flipH="1">
            <a:off x="2135215" y="5877272"/>
            <a:ext cx="4706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Structure des tubes séminifères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8640"/>
            <a:ext cx="89644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Cellules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impliquées dans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spermatogénèse</a:t>
            </a:r>
          </a:p>
          <a:p>
            <a:endParaRPr lang="fr-FR" sz="2800" b="1" dirty="0" smtClean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cellules de la lignée germinale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-Spermatogonies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Sg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Spermatocytes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primaires 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 I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Spermatocytes secondaires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(S II)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 Spermatides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Spermatozoïdes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Spz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cellules de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Sertoli</a:t>
            </a: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556792"/>
            <a:ext cx="4032448" cy="5183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http://moodle.univ-brest.fr/medecine/public/sites/Serveur_2009/Embryologie/Emb_gen/E_gamet/Dgamszm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16540"/>
            <a:ext cx="2306603" cy="5588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67544" y="216541"/>
            <a:ext cx="18890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TETE</a:t>
            </a: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COU  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COL</a:t>
            </a: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FLAGELLE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180859" y="362002"/>
            <a:ext cx="1432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ACROSOME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3909" y="116911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/>
              <a:t>PIECE INTERMEDIAIRE</a:t>
            </a:r>
          </a:p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PRINCIPALE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TERMINALE</a:t>
            </a:r>
            <a:endParaRPr lang="fr-FR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2627784" y="5805264"/>
            <a:ext cx="309123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du spermatozoide</a:t>
            </a:r>
            <a:endParaRPr lang="fr-FR" sz="20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539445" y="2122749"/>
            <a:ext cx="6019326" cy="2497832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331640" y="6021288"/>
            <a:ext cx="3738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Structure du spermatozoide</a:t>
            </a:r>
            <a:endParaRPr lang="fr-FR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ttp://moodle.univ-brest.fr/medecine/public/sites/Serveur_2009/Embryologie/Emb_gen/E_gamet/Dgamszc1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914" y="0"/>
            <a:ext cx="30963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982800" y="1369409"/>
            <a:ext cx="43817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Acrosome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</a:t>
            </a:r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Fossette d’implantation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Plaque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basale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fr-FR" sz="20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Capitellum</a:t>
            </a:r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Centriole proximal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9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colonnes segmentées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Gaine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mitochondriale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Fibres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denses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Complexe filamenteux axial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205697" y="6262343"/>
            <a:ext cx="597666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0225" indent="-1800225"/>
            <a:r>
              <a:rPr lang="fr-FR" sz="3200" b="1" dirty="0" smtClean="0">
                <a:solidFill>
                  <a:srgbClr val="00B050"/>
                </a:solidFill>
              </a:rPr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       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Ultrastructure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spermatozoide</a:t>
            </a:r>
          </a:p>
          <a:p>
            <a:pPr marL="1800225" indent="-1800225"/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Coupe longitudinale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 flipH="1">
            <a:off x="2437090" y="1977076"/>
            <a:ext cx="2393273" cy="186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H="1">
            <a:off x="2015716" y="2204864"/>
            <a:ext cx="2820032" cy="10457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H="1">
            <a:off x="2123728" y="2816083"/>
            <a:ext cx="3127898" cy="6435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H="1">
            <a:off x="1852620" y="3365377"/>
            <a:ext cx="3525178" cy="298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H="1">
            <a:off x="1852620" y="3650721"/>
            <a:ext cx="3259440" cy="6560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H="1">
            <a:off x="2437090" y="4388088"/>
            <a:ext cx="2545710" cy="5020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 flipH="1">
            <a:off x="2123728" y="5508796"/>
            <a:ext cx="3127898" cy="212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flipV="1">
            <a:off x="2604648" y="4890164"/>
            <a:ext cx="2615424" cy="12772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 flipH="1">
            <a:off x="1852620" y="5770712"/>
            <a:ext cx="2983128" cy="266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H="1" flipV="1">
            <a:off x="3150999" y="905392"/>
            <a:ext cx="1853049" cy="680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moodle.univ-brest.fr/medecine/public/sites/Serveur_2009/Embryologie/Emb_gen/E_gamet/Dgamszp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548680"/>
            <a:ext cx="4010278" cy="47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427984" y="764704"/>
            <a:ext cx="438171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Membrane cytoplasmique</a:t>
            </a:r>
          </a:p>
          <a:p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Gaine </a:t>
            </a:r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mitochondriale</a:t>
            </a:r>
          </a:p>
          <a:p>
            <a:endParaRPr lang="fr-FR" sz="2800" b="1" dirty="0" smtClean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fr-FR" sz="28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</a:t>
            </a:r>
            <a:r>
              <a:rPr lang="fr-FR" sz="28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Fibres denses</a:t>
            </a:r>
          </a:p>
          <a:p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Complexe filamenteux axial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(Axonème)</a:t>
            </a:r>
            <a:endParaRPr lang="fr-FR" sz="28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(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couplets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(doublets) 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périphériques</a:t>
            </a:r>
            <a:endParaRPr lang="fr-FR" sz="28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+ 1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couplet central)</a:t>
            </a:r>
          </a:p>
          <a:p>
            <a:endParaRPr lang="fr-FR" sz="28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483768" y="5589240"/>
            <a:ext cx="42670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Ultrastructure du spematozoide</a:t>
            </a:r>
          </a:p>
          <a:p>
            <a:r>
              <a:rPr lang="fr-FR" sz="2400" b="1" dirty="0" smtClean="0"/>
              <a:t>         Coupe transversale</a:t>
            </a:r>
          </a:p>
          <a:p>
            <a:r>
              <a:rPr lang="fr-FR" sz="2400" b="1" dirty="0" smtClean="0"/>
              <a:t>         Pièce intermèdiaire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213225" y="5517232"/>
            <a:ext cx="4241161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cs typeface="Calibri" panose="020F0502020204030204" pitchFamily="34" charset="0"/>
              </a:rPr>
              <a:t>Ultrastructure du spematozoide</a:t>
            </a:r>
          </a:p>
          <a:p>
            <a:r>
              <a:rPr lang="fr-FR" sz="2400" b="1" dirty="0" smtClean="0">
                <a:cs typeface="Calibri" panose="020F0502020204030204" pitchFamily="34" charset="0"/>
              </a:rPr>
              <a:t>         Coupe transversale</a:t>
            </a:r>
          </a:p>
          <a:p>
            <a:r>
              <a:rPr lang="fr-FR" sz="2400" b="1" dirty="0" smtClean="0">
                <a:cs typeface="Calibri" panose="020F0502020204030204" pitchFamily="34" charset="0"/>
              </a:rPr>
              <a:t>           Pièce principale</a:t>
            </a:r>
            <a:endParaRPr lang="fr-FR" sz="2400" b="1" dirty="0">
              <a:cs typeface="Calibri" panose="020F050202020403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789564" y="559569"/>
            <a:ext cx="4381712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Membrane cytoplasmique</a:t>
            </a:r>
          </a:p>
          <a:p>
            <a:endParaRPr lang="fr-FR" sz="2000" b="1" dirty="0" smtClean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Gaine fibreuse</a:t>
            </a:r>
            <a:endParaRPr lang="fr-FR" sz="2800" b="1" dirty="0" smtClean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800" b="1" dirty="0" smtClean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Fibres denses</a:t>
            </a:r>
          </a:p>
          <a:p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Complexe filamenteux axial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(Axonème)</a:t>
            </a:r>
            <a:endParaRPr lang="fr-FR" sz="28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(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couplets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(doublets) 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périphériques</a:t>
            </a:r>
            <a:endParaRPr lang="fr-FR" sz="28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+1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couplet central)</a:t>
            </a:r>
          </a:p>
          <a:p>
            <a:endParaRPr lang="fr-FR" sz="28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453650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5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3378" y="143377"/>
            <a:ext cx="9396536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du spermatozoide     </a:t>
            </a:r>
            <a:r>
              <a:rPr lang="fr-F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fr-FR" sz="2800" b="1" dirty="0" smtClean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tête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 + Acrosome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 col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Lame basale + Capitellum + Centriole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 flagelle</a:t>
            </a:r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intermédiaire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gaine mitochondriale +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fibres denses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+ axonème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principale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gaine fibreuse +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fibres denses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+ axonème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terminale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axonème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dirty="0" smtClean="0"/>
              <a:t>  </a:t>
            </a:r>
          </a:p>
          <a:p>
            <a:endParaRPr lang="fr-FR" sz="3200" b="1" dirty="0"/>
          </a:p>
        </p:txBody>
      </p:sp>
      <p:sp>
        <p:nvSpPr>
          <p:cNvPr id="19458" name="AutoShape 2" descr="Résultat de recherche d'images pour &quot;SPERMATOGENES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842493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397110" y="6253415"/>
            <a:ext cx="4421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Les phases de la spermatogenèse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717209"/>
            <a:ext cx="26968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r>
              <a:rPr lang="fr-FR" sz="2800" dirty="0" smtClean="0"/>
              <a:t>Spermatogonie A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1979712" y="840046"/>
            <a:ext cx="632288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                             </a:t>
            </a:r>
          </a:p>
          <a:p>
            <a:r>
              <a:rPr lang="fr-FR" sz="3200" dirty="0" smtClean="0"/>
              <a:t>                </a:t>
            </a:r>
          </a:p>
          <a:p>
            <a:r>
              <a:rPr lang="fr-FR" sz="3200" dirty="0" smtClean="0"/>
              <a:t>                  </a:t>
            </a:r>
            <a:r>
              <a:rPr lang="fr-FR" sz="2800" dirty="0" smtClean="0"/>
              <a:t>Spermatogonie </a:t>
            </a:r>
            <a:r>
              <a:rPr lang="fr-FR" sz="2800" dirty="0" smtClean="0"/>
              <a:t>A1  (Ad : dark) </a:t>
            </a:r>
          </a:p>
          <a:p>
            <a:r>
              <a:rPr lang="fr-FR" sz="2800" dirty="0" smtClean="0"/>
              <a:t>                             </a:t>
            </a:r>
          </a:p>
          <a:p>
            <a:r>
              <a:rPr lang="fr-FR" sz="2800" dirty="0" smtClean="0"/>
              <a:t>                  </a:t>
            </a:r>
          </a:p>
          <a:p>
            <a:r>
              <a:rPr lang="fr-FR" sz="2800" dirty="0" smtClean="0"/>
              <a:t>                   </a:t>
            </a:r>
            <a:r>
              <a:rPr lang="fr-FR" sz="2800" dirty="0" smtClean="0"/>
              <a:t>Spermatogonie </a:t>
            </a:r>
            <a:r>
              <a:rPr lang="fr-FR" sz="2800" dirty="0" smtClean="0"/>
              <a:t>A2   (Ap : pale)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45661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Phases de la spermatogenèse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Phase de multiplication</a:t>
            </a:r>
            <a:endParaRPr lang="fr-FR" sz="2800" dirty="0">
              <a:solidFill>
                <a:srgbClr val="0070C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3942" y="3976517"/>
            <a:ext cx="8964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1 </a:t>
            </a:r>
            <a:r>
              <a:rPr lang="fr-FR" sz="2800" dirty="0" smtClean="0"/>
              <a:t>Spematogonie </a:t>
            </a:r>
            <a:r>
              <a:rPr lang="fr-FR" sz="2800" dirty="0" smtClean="0"/>
              <a:t>A2                </a:t>
            </a:r>
            <a:r>
              <a:rPr lang="fr-FR" sz="2800" dirty="0" smtClean="0"/>
              <a:t>           2 Spermatogonies </a:t>
            </a:r>
            <a:r>
              <a:rPr lang="fr-FR" sz="2800" dirty="0" smtClean="0"/>
              <a:t>B</a:t>
            </a:r>
            <a:endParaRPr lang="fr-FR" sz="2800" dirty="0"/>
          </a:p>
        </p:txBody>
      </p:sp>
      <p:sp>
        <p:nvSpPr>
          <p:cNvPr id="7" name="Flèche gauche 6"/>
          <p:cNvSpPr/>
          <p:nvPr/>
        </p:nvSpPr>
        <p:spPr>
          <a:xfrm rot="10800000">
            <a:off x="3521051" y="4265895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Flèche gauche 9"/>
          <p:cNvSpPr/>
          <p:nvPr/>
        </p:nvSpPr>
        <p:spPr>
          <a:xfrm rot="12761858">
            <a:off x="2834511" y="2954364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96020" y="5111575"/>
            <a:ext cx="30303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1 Spermatogonie </a:t>
            </a:r>
            <a:r>
              <a:rPr lang="fr-FR" sz="2800" dirty="0" smtClean="0"/>
              <a:t>B </a:t>
            </a:r>
            <a:endParaRPr lang="fr-FR" sz="2800" dirty="0"/>
          </a:p>
        </p:txBody>
      </p:sp>
      <p:sp>
        <p:nvSpPr>
          <p:cNvPr id="12" name="Flèche gauche 11"/>
          <p:cNvSpPr/>
          <p:nvPr/>
        </p:nvSpPr>
        <p:spPr>
          <a:xfrm rot="10800000">
            <a:off x="3524519" y="5373185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139288" y="5196731"/>
            <a:ext cx="2895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2 </a:t>
            </a:r>
            <a:r>
              <a:rPr lang="fr-FR" sz="2800" dirty="0" smtClean="0"/>
              <a:t>SpermatocyteS </a:t>
            </a:r>
            <a:r>
              <a:rPr lang="fr-FR" sz="2800" dirty="0" smtClean="0"/>
              <a:t>I </a:t>
            </a:r>
            <a:endParaRPr lang="fr-FR" sz="2800" dirty="0"/>
          </a:p>
        </p:txBody>
      </p:sp>
      <p:sp>
        <p:nvSpPr>
          <p:cNvPr id="15" name="Flèche gauche 14"/>
          <p:cNvSpPr/>
          <p:nvPr/>
        </p:nvSpPr>
        <p:spPr>
          <a:xfrm rot="8663255">
            <a:off x="2922593" y="2149777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06084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963488"/>
            <a:ext cx="716747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                  </a:t>
            </a:r>
          </a:p>
          <a:p>
            <a:endParaRPr lang="fr-FR" sz="3200" dirty="0" smtClean="0"/>
          </a:p>
          <a:p>
            <a:r>
              <a:rPr lang="fr-FR" sz="2800" b="1" dirty="0" smtClean="0">
                <a:solidFill>
                  <a:srgbClr val="002060"/>
                </a:solidFill>
              </a:rPr>
              <a:t>Phase d’accroissement</a:t>
            </a:r>
          </a:p>
          <a:p>
            <a:endParaRPr lang="fr-FR" sz="2800" dirty="0" smtClean="0"/>
          </a:p>
          <a:p>
            <a:r>
              <a:rPr lang="fr-FR" sz="2800" dirty="0" smtClean="0"/>
              <a:t>2 spermatocytes I                                 2 auxocytes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124744"/>
            <a:ext cx="474828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2060"/>
                </a:solidFill>
              </a:rPr>
              <a:t>Phase </a:t>
            </a:r>
            <a:r>
              <a:rPr lang="fr-FR" sz="2800" b="1" dirty="0" smtClean="0">
                <a:solidFill>
                  <a:srgbClr val="002060"/>
                </a:solidFill>
              </a:rPr>
              <a:t>de maturation  (méiose)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2424664"/>
            <a:ext cx="26859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dirty="0" smtClean="0"/>
          </a:p>
          <a:p>
            <a:r>
              <a:rPr lang="fr-FR" sz="3200" dirty="0" smtClean="0"/>
              <a:t>1 </a:t>
            </a:r>
            <a:r>
              <a:rPr lang="fr-FR" sz="2800" dirty="0" smtClean="0"/>
              <a:t>Spermatocyte </a:t>
            </a:r>
            <a:r>
              <a:rPr lang="fr-FR" sz="2800" dirty="0" smtClean="0"/>
              <a:t>I</a:t>
            </a:r>
            <a:endParaRPr lang="fr-FR" sz="2800" dirty="0"/>
          </a:p>
        </p:txBody>
      </p:sp>
      <p:sp>
        <p:nvSpPr>
          <p:cNvPr id="7" name="ZoneTexte 6"/>
          <p:cNvSpPr txBox="1"/>
          <p:nvPr/>
        </p:nvSpPr>
        <p:spPr>
          <a:xfrm>
            <a:off x="4702303" y="2875291"/>
            <a:ext cx="37503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2 </a:t>
            </a:r>
            <a:r>
              <a:rPr lang="fr-FR" sz="2800" dirty="0" smtClean="0"/>
              <a:t>Spermatocytes </a:t>
            </a:r>
            <a:r>
              <a:rPr lang="fr-FR" sz="3200" dirty="0" smtClean="0"/>
              <a:t>II </a:t>
            </a:r>
            <a:r>
              <a:rPr lang="fr-FR" sz="2800" dirty="0" smtClean="0">
                <a:solidFill>
                  <a:srgbClr val="0070C0"/>
                </a:solidFill>
              </a:rPr>
              <a:t>(nch)</a:t>
            </a:r>
          </a:p>
          <a:p>
            <a:endParaRPr lang="fr-FR" sz="32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2137187" y="3086961"/>
            <a:ext cx="3005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400" b="1" dirty="0" smtClean="0">
                <a:solidFill>
                  <a:srgbClr val="0070C0"/>
                </a:solidFill>
              </a:rPr>
              <a:t>Mitose réductionnelle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1" name="Flèche gauche 10"/>
          <p:cNvSpPr/>
          <p:nvPr/>
        </p:nvSpPr>
        <p:spPr>
          <a:xfrm rot="10800000">
            <a:off x="3054904" y="1082353"/>
            <a:ext cx="1800200" cy="133859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0" y="4077072"/>
            <a:ext cx="2738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1 </a:t>
            </a:r>
            <a:r>
              <a:rPr lang="fr-FR" sz="2800" dirty="0" smtClean="0"/>
              <a:t>Spermatocyte </a:t>
            </a:r>
            <a:r>
              <a:rPr lang="fr-FR" sz="2800" dirty="0" smtClean="0"/>
              <a:t>II</a:t>
            </a:r>
            <a:endParaRPr lang="fr-FR" sz="2800" dirty="0"/>
          </a:p>
        </p:txBody>
      </p:sp>
      <p:sp>
        <p:nvSpPr>
          <p:cNvPr id="15" name="ZoneTexte 14"/>
          <p:cNvSpPr txBox="1"/>
          <p:nvPr/>
        </p:nvSpPr>
        <p:spPr>
          <a:xfrm>
            <a:off x="3563888" y="3717032"/>
            <a:ext cx="39387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</a:t>
            </a:r>
          </a:p>
          <a:p>
            <a:r>
              <a:rPr lang="fr-FR" sz="3200" dirty="0" smtClean="0"/>
              <a:t>         </a:t>
            </a:r>
            <a:r>
              <a:rPr lang="fr-FR" sz="2800" dirty="0" smtClean="0"/>
              <a:t>2 </a:t>
            </a:r>
            <a:r>
              <a:rPr lang="fr-FR" sz="2800" dirty="0" smtClean="0"/>
              <a:t>Spermatides </a:t>
            </a:r>
            <a:r>
              <a:rPr lang="fr-FR" sz="2800" dirty="0" smtClean="0">
                <a:solidFill>
                  <a:srgbClr val="0070C0"/>
                </a:solidFill>
              </a:rPr>
              <a:t>(nch)</a:t>
            </a:r>
          </a:p>
          <a:p>
            <a:endParaRPr lang="fr-FR" sz="3200" dirty="0" smtClean="0"/>
          </a:p>
          <a:p>
            <a:r>
              <a:rPr lang="fr-FR" sz="3200" dirty="0" smtClean="0"/>
              <a:t>    </a:t>
            </a:r>
            <a:endParaRPr lang="fr-FR" sz="3200" dirty="0"/>
          </a:p>
        </p:txBody>
      </p:sp>
      <p:sp>
        <p:nvSpPr>
          <p:cNvPr id="16" name="Flèche gauche 15"/>
          <p:cNvSpPr/>
          <p:nvPr/>
        </p:nvSpPr>
        <p:spPr>
          <a:xfrm rot="10800000">
            <a:off x="3419872" y="3140968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gauche 16"/>
          <p:cNvSpPr/>
          <p:nvPr/>
        </p:nvSpPr>
        <p:spPr>
          <a:xfrm rot="10800000">
            <a:off x="3419872" y="4365104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2051720" y="4941168"/>
            <a:ext cx="2921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Mitose équationnelle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5445224"/>
            <a:ext cx="3798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Phase </a:t>
            </a:r>
            <a:r>
              <a:rPr lang="fr-FR" sz="2800" b="1" dirty="0" smtClean="0">
                <a:solidFill>
                  <a:srgbClr val="002060"/>
                </a:solidFill>
              </a:rPr>
              <a:t>de différenciation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899592" y="5886763"/>
            <a:ext cx="6623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1 </a:t>
            </a:r>
            <a:r>
              <a:rPr lang="fr-FR" sz="2800" dirty="0" smtClean="0"/>
              <a:t>Spermatide                         </a:t>
            </a:r>
            <a:r>
              <a:rPr lang="fr-FR" sz="2800" dirty="0" smtClean="0"/>
              <a:t>1 </a:t>
            </a:r>
            <a:r>
              <a:rPr lang="fr-FR" sz="2800" dirty="0" smtClean="0"/>
              <a:t>Spermatozoide</a:t>
            </a:r>
            <a:endParaRPr lang="fr-FR" sz="2800" dirty="0"/>
          </a:p>
        </p:txBody>
      </p:sp>
      <p:sp>
        <p:nvSpPr>
          <p:cNvPr id="21" name="Flèche gauche 20"/>
          <p:cNvSpPr/>
          <p:nvPr/>
        </p:nvSpPr>
        <p:spPr>
          <a:xfrm rot="10800000">
            <a:off x="3347864" y="6093296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2483768" y="6273225"/>
            <a:ext cx="214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Spermiogenèse</a:t>
            </a:r>
            <a:endParaRPr lang="fr-F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820472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2656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La spermiogénèse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800" dirty="0" smtClean="0"/>
              <a:t>Comprend </a:t>
            </a:r>
            <a:r>
              <a:rPr lang="fr-FR" sz="2800" dirty="0"/>
              <a:t>5 phénomènes fondamentaux </a:t>
            </a:r>
            <a:r>
              <a:rPr lang="fr-FR" sz="2800" dirty="0" smtClean="0"/>
              <a:t>simultanés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Formation </a:t>
            </a:r>
            <a:r>
              <a:rPr lang="fr-FR" sz="2800" b="1" dirty="0">
                <a:solidFill>
                  <a:srgbClr val="0070C0"/>
                </a:solidFill>
              </a:rPr>
              <a:t>de l'acrosome à partir du Golgi</a:t>
            </a:r>
            <a:r>
              <a:rPr lang="fr-FR" sz="2800" dirty="0">
                <a:solidFill>
                  <a:srgbClr val="0070C0"/>
                </a:solidFill>
              </a:rPr>
              <a:t> </a:t>
            </a:r>
            <a:r>
              <a:rPr lang="fr-FR" sz="2800" dirty="0">
                <a:solidFill>
                  <a:srgbClr val="FF0000"/>
                </a:solidFill>
              </a:rPr>
              <a:t/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dirty="0" smtClean="0">
                <a:solidFill>
                  <a:srgbClr val="FF0000"/>
                </a:solidFill>
              </a:rPr>
              <a:t> </a:t>
            </a:r>
            <a:endParaRPr lang="fr-FR" sz="2800" dirty="0">
              <a:solidFill>
                <a:srgbClr val="FF000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gamet/Dgamsp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833664"/>
            <a:ext cx="410445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441512" y="3645024"/>
            <a:ext cx="32909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Appareil </a:t>
            </a:r>
            <a:r>
              <a:rPr lang="fr-FR" sz="2800" b="1" dirty="0" smtClean="0"/>
              <a:t>de golgi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Vésicule </a:t>
            </a:r>
            <a:r>
              <a:rPr lang="fr-FR" sz="2800" b="1" dirty="0" smtClean="0"/>
              <a:t>acrosomiale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>
            <a:off x="2771800" y="4725144"/>
            <a:ext cx="2520280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gauche 7"/>
          <p:cNvSpPr/>
          <p:nvPr/>
        </p:nvSpPr>
        <p:spPr>
          <a:xfrm rot="21132112">
            <a:off x="3131840" y="4005064"/>
            <a:ext cx="2232248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448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Formation </a:t>
            </a:r>
            <a:r>
              <a:rPr lang="fr-FR" sz="2800" b="1" dirty="0">
                <a:solidFill>
                  <a:srgbClr val="0070C0"/>
                </a:solidFill>
              </a:rPr>
              <a:t>du flagelle</a:t>
            </a:r>
            <a:r>
              <a:rPr lang="fr-FR" sz="28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3" name="Image 2" descr="http://moodle.univ-brest.fr/medecine/public/sites/Serveur_2009/Embryologie/Emb_gen/E_gamet/Dgamspo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468052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364088" y="1412776"/>
            <a:ext cx="294298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F</a:t>
            </a:r>
            <a:r>
              <a:rPr lang="fr-FR" sz="2800" b="1" dirty="0" smtClean="0"/>
              <a:t>lag</a:t>
            </a:r>
            <a:r>
              <a:rPr lang="fr-FR" sz="2800" dirty="0" smtClean="0"/>
              <a:t>e</a:t>
            </a:r>
            <a:r>
              <a:rPr lang="fr-FR" sz="2800" b="1" dirty="0" smtClean="0"/>
              <a:t>ll</a:t>
            </a:r>
            <a:r>
              <a:rPr lang="fr-FR" sz="2800" dirty="0" smtClean="0"/>
              <a:t>e</a:t>
            </a:r>
          </a:p>
          <a:p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C</a:t>
            </a:r>
            <a:r>
              <a:rPr lang="fr-FR" sz="2800" b="1" dirty="0" smtClean="0"/>
              <a:t>entriole distal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Centriole </a:t>
            </a:r>
            <a:r>
              <a:rPr lang="fr-FR" sz="2800" b="1" dirty="0" smtClean="0"/>
              <a:t>proximal</a:t>
            </a:r>
            <a:endParaRPr lang="fr-FR" sz="2800" dirty="0"/>
          </a:p>
        </p:txBody>
      </p:sp>
      <p:sp>
        <p:nvSpPr>
          <p:cNvPr id="5" name="Flèche gauche 4"/>
          <p:cNvSpPr/>
          <p:nvPr/>
        </p:nvSpPr>
        <p:spPr>
          <a:xfrm>
            <a:off x="3347864" y="1556792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gauche 5"/>
          <p:cNvSpPr/>
          <p:nvPr/>
        </p:nvSpPr>
        <p:spPr>
          <a:xfrm>
            <a:off x="2195736" y="3212976"/>
            <a:ext cx="3168352" cy="14401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gauche 6"/>
          <p:cNvSpPr/>
          <p:nvPr/>
        </p:nvSpPr>
        <p:spPr>
          <a:xfrm rot="1703000">
            <a:off x="2051720" y="4221088"/>
            <a:ext cx="3456384" cy="14401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Elongation nucléaire</a:t>
            </a:r>
            <a:endParaRPr lang="fr-FR" sz="2800" dirty="0">
              <a:solidFill>
                <a:srgbClr val="0070C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gamet/Dgamspo3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556792"/>
            <a:ext cx="4248472" cy="4752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436096" y="4581128"/>
            <a:ext cx="16775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Noyau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Acrosome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>
            <a:off x="3491880" y="4869160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gauche 5"/>
          <p:cNvSpPr/>
          <p:nvPr/>
        </p:nvSpPr>
        <p:spPr>
          <a:xfrm>
            <a:off x="3203848" y="5589240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28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Formation </a:t>
            </a:r>
            <a:r>
              <a:rPr lang="fr-FR" sz="2800" b="1" dirty="0">
                <a:solidFill>
                  <a:srgbClr val="0070C0"/>
                </a:solidFill>
              </a:rPr>
              <a:t>du manchon mitochondrial </a:t>
            </a:r>
          </a:p>
        </p:txBody>
      </p:sp>
      <p:pic>
        <p:nvPicPr>
          <p:cNvPr id="3" name="Image 2" descr="http://moodle.univ-brest.fr/medecine/public/sites/Serveur_2009/Embryologie/Emb_gen/E_gamet/Dgamspo4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412776"/>
            <a:ext cx="4680520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634210" y="2276872"/>
            <a:ext cx="2218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Mitochondrie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 rot="20916326">
            <a:off x="4790203" y="2682821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20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Elimination </a:t>
            </a:r>
            <a:r>
              <a:rPr lang="fr-FR" sz="2800" b="1" dirty="0">
                <a:solidFill>
                  <a:srgbClr val="0070C0"/>
                </a:solidFill>
              </a:rPr>
              <a:t>du cytoplasme</a:t>
            </a:r>
            <a:r>
              <a:rPr lang="fr-FR" sz="28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3" name="Image 2" descr="http://moodle.univ-brest.fr/medecine/public/sites/Serveur_2009/Embryologie/Emb_gen/E_gamet/Dgamspo5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24745"/>
            <a:ext cx="3584275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860032" y="1196752"/>
            <a:ext cx="3936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Cytoplasme excédentaire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 rot="16522839">
            <a:off x="3654568" y="2426733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23962"/>
            <a:ext cx="76200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0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0701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Emission des spermatozoïdes</a:t>
            </a:r>
            <a:endParaRPr lang="fr-FR" sz="2800" dirty="0" smtClean="0">
              <a:solidFill>
                <a:srgbClr val="002060"/>
              </a:solidFill>
            </a:endParaRP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spermatozoïdes sont produits et formés dans les testicules,</a:t>
            </a:r>
          </a:p>
          <a:p>
            <a:r>
              <a:rPr lang="fr-FR" sz="2800" dirty="0" smtClean="0"/>
              <a:t> puis libérés dans l’épididyme.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Ils passent d’abord du </a:t>
            </a:r>
            <a:r>
              <a:rPr lang="fr-FR" sz="2800" dirty="0" err="1" smtClean="0"/>
              <a:t>rete</a:t>
            </a:r>
            <a:r>
              <a:rPr lang="fr-FR" sz="2800" dirty="0" smtClean="0"/>
              <a:t> </a:t>
            </a:r>
            <a:r>
              <a:rPr lang="fr-FR" sz="2800" dirty="0" err="1" smtClean="0"/>
              <a:t>testis</a:t>
            </a:r>
            <a:r>
              <a:rPr lang="fr-FR" sz="2800" dirty="0" smtClean="0"/>
              <a:t> vers la tête de l’épididyme,</a:t>
            </a:r>
          </a:p>
          <a:p>
            <a:r>
              <a:rPr lang="fr-FR" sz="2800" dirty="0" smtClean="0"/>
              <a:t> puis dans les cônes efférents qui se poursuivent par le canal </a:t>
            </a:r>
          </a:p>
          <a:p>
            <a:r>
              <a:rPr lang="fr-FR" sz="2800" dirty="0" smtClean="0"/>
              <a:t>de l’épididyme.</a:t>
            </a:r>
          </a:p>
          <a:p>
            <a:endParaRPr lang="fr-FR" sz="2800" dirty="0" smtClean="0"/>
          </a:p>
          <a:p>
            <a:r>
              <a:rPr lang="fr-FR" sz="2800" dirty="0" smtClean="0"/>
              <a:t>Les gamètes sont modifiés tout au long de leur trajet dans les</a:t>
            </a:r>
          </a:p>
          <a:p>
            <a:r>
              <a:rPr lang="fr-FR" sz="2800" dirty="0" smtClean="0"/>
              <a:t> voies génitales.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 acquièrent leur mobilité.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subissent la </a:t>
            </a:r>
          </a:p>
          <a:p>
            <a:r>
              <a:rPr lang="fr-FR" sz="2800" b="1" dirty="0" err="1" smtClean="0">
                <a:solidFill>
                  <a:srgbClr val="C00000"/>
                </a:solidFill>
              </a:rPr>
              <a:t>Décapacitation</a:t>
            </a:r>
            <a:r>
              <a:rPr lang="fr-FR" sz="2800" b="1" dirty="0" smtClean="0">
                <a:solidFill>
                  <a:srgbClr val="C00000"/>
                </a:solidFill>
              </a:rPr>
              <a:t>:  </a:t>
            </a:r>
            <a:r>
              <a:rPr lang="fr-FR" sz="2800" dirty="0" smtClean="0"/>
              <a:t>ils  perdent momentanément leur possibilité</a:t>
            </a:r>
          </a:p>
          <a:p>
            <a:r>
              <a:rPr lang="fr-FR" sz="2800" dirty="0" smtClean="0"/>
              <a:t> de féconder.</a:t>
            </a:r>
          </a:p>
          <a:p>
            <a:r>
              <a:rPr lang="fr-F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511065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- Dans l’épididyme Les spermatozoïdes sont stockés et  peuvent</a:t>
            </a:r>
          </a:p>
          <a:p>
            <a:r>
              <a:rPr lang="fr-FR" sz="2800" dirty="0" smtClean="0"/>
              <a:t> y survivre jusqu’à trois semaines environ.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Les spermatozoïdes passent ensuite dans le canal déférent,</a:t>
            </a:r>
          </a:p>
          <a:p>
            <a:r>
              <a:rPr lang="fr-FR" sz="2800" dirty="0" smtClean="0"/>
              <a:t> qui est prolongé par le canal éjaculateur traversant la prostate</a:t>
            </a:r>
          </a:p>
          <a:p>
            <a:r>
              <a:rPr lang="fr-FR" sz="2800" dirty="0" smtClean="0"/>
              <a:t> et qui s’associe aux canaux urinaires.</a:t>
            </a:r>
          </a:p>
          <a:p>
            <a:pPr>
              <a:buFontTx/>
              <a:buChar char="-"/>
            </a:pPr>
            <a:r>
              <a:rPr lang="fr-FR" sz="2800" dirty="0" smtClean="0"/>
              <a:t>Ils prennent ensuite le chemin de l’urètre. 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Durant leur trajet, les spermatozoïdes sont mélangés à des</a:t>
            </a:r>
          </a:p>
          <a:p>
            <a:r>
              <a:rPr lang="fr-FR" sz="2800" dirty="0" smtClean="0"/>
              <a:t> liquides produits par les glandes sexuelles (prostate et vésicules</a:t>
            </a:r>
          </a:p>
          <a:p>
            <a:r>
              <a:rPr lang="fr-FR" sz="2800" dirty="0" smtClean="0"/>
              <a:t> séminales); le mélange de ces liquides donne le sperme.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On peut détailler la constitution de la phase liquide du sperme</a:t>
            </a:r>
          </a:p>
          <a:p>
            <a:r>
              <a:rPr lang="fr-FR" sz="2800" dirty="0" smtClean="0"/>
              <a:t>5 % de sécrétions </a:t>
            </a:r>
            <a:r>
              <a:rPr lang="fr-FR" sz="2800" dirty="0" err="1" smtClean="0"/>
              <a:t>épididymaires</a:t>
            </a:r>
            <a:r>
              <a:rPr lang="fr-FR" sz="2800" dirty="0" smtClean="0"/>
              <a:t>, 65 % de sécrétions issues </a:t>
            </a:r>
          </a:p>
          <a:p>
            <a:r>
              <a:rPr lang="fr-FR" sz="2800" dirty="0" smtClean="0"/>
              <a:t>des vésicules séminales, 30 % de sécrétions prostatiques </a:t>
            </a:r>
          </a:p>
          <a:p>
            <a:r>
              <a:rPr lang="fr-FR" sz="2800" dirty="0" smtClean="0"/>
              <a:t> 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16632"/>
            <a:ext cx="9972600" cy="704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ea typeface="Times New Roman" pitchFamily="18" charset="0"/>
                <a:cs typeface="Times New Roman" pitchFamily="18" charset="0"/>
              </a:rPr>
              <a:t>Proprietes physiologiques des spermatozoides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Arial" pitchFamily="34" charset="0"/>
              </a:rPr>
              <a:t>Mobilité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 - Le déplacement du spermatozoïde se fait selon une sinusoïde, avec une vélocité variable suivant la viscosité du milieu.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- Le mouvement nécessite l'hydrolyse d'ATP.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L'AMP-cyclique et le Ca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++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sont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indispensables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cs typeface="Arial" pitchFamily="34" charset="0"/>
              </a:rPr>
              <a:t>Fécondance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- Le spermatozoïde ne devient fécondant qu'après la capacitation qui se caractérise par :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    La perte du manteau de glycoprotéines de la membrane plasmique du spermatozoïde pendant le passage dans les  voies génitales femelles.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   Une augmentation de la vélocité.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Vitalité</a:t>
            </a:r>
            <a:r>
              <a:rPr lang="fr-FR" sz="2800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Le liquide séminal est un mauvais milieu de survie pour les gamètes. </a:t>
            </a: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Seulement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20% des spermatozoïdes y survivent 24 h à 37°C. </a:t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 survie peut atteindre  2 ou 3 jours dans les voies génitales féminines. </a:t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Après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congélation dans l'azote liquide, la vitalité et la fécondance d'une  partie des spermatozoïdes sont sauvegardées. </a:t>
            </a: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solidFill>
                <a:srgbClr val="0070C0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Activité métabolique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Le spermatozoïde n'a pas d'activité nucléaire: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Il n'effectue pas de  synthèse d'ADN, d'ARN, ni de protéines.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l'activité respiratoire  est importante,  car le mouvement flagellaire exige un important apport d'ATP.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215443"/>
            <a:ext cx="8741175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ea typeface="Times New Roman" pitchFamily="18" charset="0"/>
                <a:cs typeface="Calibri" pitchFamily="34" charset="0"/>
              </a:rPr>
              <a:t>Facteurs influencant  la spermatogenese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Température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La spermatogenèse 34 ou 35°C.</a:t>
            </a:r>
          </a:p>
          <a:p>
            <a:r>
              <a:rPr lang="fr-FR" sz="2800" b="1" dirty="0" smtClean="0"/>
              <a:t>Carences</a:t>
            </a:r>
            <a:r>
              <a:rPr lang="fr-FR" sz="2800" dirty="0" smtClean="0"/>
              <a:t> </a:t>
            </a:r>
            <a:r>
              <a:rPr lang="fr-FR" sz="2800" b="1" dirty="0" smtClean="0"/>
              <a:t>nutritionnelles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Dénutrition protéique + altérations de la spermatogenèse. </a:t>
            </a:r>
          </a:p>
          <a:p>
            <a:r>
              <a:rPr lang="fr-FR" sz="2800" dirty="0" smtClean="0"/>
              <a:t>EX/ Carence en vitamine A= lésions dégénératives des </a:t>
            </a:r>
            <a:r>
              <a:rPr lang="fr-FR" sz="2800" dirty="0" err="1" smtClean="0"/>
              <a:t>spz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      Carence en vitamine E = lésions des spermatides . </a:t>
            </a:r>
          </a:p>
          <a:p>
            <a:r>
              <a:rPr lang="fr-FR" sz="2800" b="1" dirty="0" smtClean="0"/>
              <a:t>Radiations ionisantes</a:t>
            </a:r>
            <a:r>
              <a:rPr lang="fr-FR" sz="2800" dirty="0" smtClean="0"/>
              <a:t> </a:t>
            </a:r>
            <a:br>
              <a:rPr lang="fr-FR" sz="2800" dirty="0" smtClean="0"/>
            </a:br>
            <a:r>
              <a:rPr lang="fr-FR" sz="2800" dirty="0" smtClean="0"/>
              <a:t>Les spermatogonies se multiplient activement et sont très</a:t>
            </a:r>
          </a:p>
          <a:p>
            <a:r>
              <a:rPr lang="fr-FR" sz="2800" dirty="0" smtClean="0"/>
              <a:t> radiosensibles. </a:t>
            </a:r>
            <a:br>
              <a:rPr lang="fr-FR" sz="2800" dirty="0" smtClean="0"/>
            </a:br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Toxiques chimiques</a:t>
            </a:r>
            <a:r>
              <a:rPr lang="fr-F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De nombreux corps chimiques peuvent être toxiques:</a:t>
            </a:r>
          </a:p>
          <a:p>
            <a:r>
              <a:rPr lang="fr-FR" sz="2800" dirty="0" smtClean="0"/>
              <a:t>EX:  pesticides, organochlorés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29837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 smtClean="0"/>
              <a:t>Certains médicaments</a:t>
            </a:r>
            <a:r>
              <a:rPr lang="fr-FR" sz="2800" dirty="0" smtClean="0"/>
              <a:t> </a:t>
            </a:r>
            <a:br>
              <a:rPr lang="fr-FR" sz="2800" dirty="0" smtClean="0"/>
            </a:br>
            <a:r>
              <a:rPr lang="fr-FR" sz="2800" dirty="0" smtClean="0"/>
              <a:t> EX: antihypertenseurs, neuroleptiques,  hormones stéroïdes, </a:t>
            </a:r>
          </a:p>
          <a:p>
            <a:r>
              <a:rPr lang="fr-FR" sz="2800" dirty="0" smtClean="0"/>
              <a:t>anti-inflammatoires, chimiothérapie.</a:t>
            </a:r>
          </a:p>
          <a:p>
            <a:r>
              <a:rPr lang="fr-FR" sz="2800" b="1" dirty="0" smtClean="0"/>
              <a:t> Autres facteurs exogènes:</a:t>
            </a:r>
          </a:p>
          <a:p>
            <a:r>
              <a:rPr lang="fr-FR" sz="2800" dirty="0" smtClean="0"/>
              <a:t>EX:  tabac, alcool, cannabis. </a:t>
            </a:r>
            <a:br>
              <a:rPr lang="fr-FR" sz="2800" dirty="0" smtClean="0"/>
            </a:b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896360" y="5973553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Contrôle hormonal</a:t>
            </a:r>
            <a:endParaRPr lang="fr-FR" sz="28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66784"/>
            <a:ext cx="8676456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228184" y="3284984"/>
            <a:ext cx="3240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 smtClean="0">
                <a:solidFill>
                  <a:srgbClr val="FF0000"/>
                </a:solidFill>
              </a:rPr>
              <a:t>Androgen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binding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protein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endParaRPr lang="fr-FR" sz="2000" b="1" dirty="0" smtClean="0">
              <a:solidFill>
                <a:srgbClr val="FF0000"/>
              </a:solidFill>
            </a:endParaRPr>
          </a:p>
          <a:p>
            <a:r>
              <a:rPr lang="fr-FR" sz="2000" b="1" dirty="0" err="1" smtClean="0">
                <a:solidFill>
                  <a:srgbClr val="FF0000"/>
                </a:solidFill>
              </a:rPr>
              <a:t>Transforming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growth</a:t>
            </a:r>
            <a:r>
              <a:rPr lang="fr-FR" sz="2000" b="1" dirty="0" smtClean="0">
                <a:solidFill>
                  <a:srgbClr val="FF0000"/>
                </a:solidFill>
              </a:rPr>
              <a:t> factor</a:t>
            </a: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         </a:t>
            </a:r>
            <a:r>
              <a:rPr lang="fr-FR" sz="2000" b="1" dirty="0" err="1" smtClean="0">
                <a:solidFill>
                  <a:srgbClr val="FF0000"/>
                </a:solidFill>
              </a:rPr>
              <a:t>Activine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hormone antimüllérienne</a:t>
            </a:r>
          </a:p>
          <a:p>
            <a:pPr marL="452438" indent="-452438"/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1552" y="685964"/>
            <a:ext cx="7439985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L’hypothalamus secrète 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La 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Calibri" pitchFamily="34" charset="0"/>
              </a:rPr>
              <a:t>agit sur l’hypophyse.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L’hypophyse secrète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FSH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et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LH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La FSH: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 développement des cellules de </a:t>
            </a:r>
            <a:r>
              <a:rPr lang="fr-FR" sz="2800" dirty="0" err="1" smtClean="0">
                <a:ea typeface="Calibri" pitchFamily="34" charset="0"/>
                <a:cs typeface="Calibri" pitchFamily="34" charset="0"/>
              </a:rPr>
              <a:t>Sertoli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d'ABP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Androgen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Binding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Protein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); </a:t>
            </a:r>
            <a:endParaRPr lang="fr-FR" sz="2800" dirty="0" smtClean="0"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inhibine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négatif sur</a:t>
            </a:r>
            <a:r>
              <a:rPr lang="fr-FR" sz="2800" dirty="0" smtClean="0"/>
              <a:t>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sécrétion d’</a:t>
            </a:r>
            <a:r>
              <a:rPr lang="fr-FR" sz="2800" b="1" dirty="0" err="1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activine</a:t>
            </a:r>
            <a:r>
              <a:rPr lang="fr-FR" sz="28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 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/>
              <a:t>Positif sur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</a:rPr>
              <a:t>sécrétion d’AMH  (</a:t>
            </a:r>
            <a:r>
              <a:rPr lang="fr-FR" sz="2800" dirty="0" smtClean="0"/>
              <a:t>hormone antimüllérienne)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cs typeface="Arial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188640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Contrôle hormonal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404664"/>
            <a:ext cx="739138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La </a:t>
            </a:r>
            <a:r>
              <a:rPr lang="fr-FR" sz="2800" b="1" dirty="0" smtClean="0">
                <a:solidFill>
                  <a:srgbClr val="0070C0"/>
                </a:solidFill>
              </a:rPr>
              <a:t>LH</a:t>
            </a:r>
            <a:r>
              <a:rPr lang="fr-FR" sz="2800" b="1" dirty="0" smtClean="0">
                <a:solidFill>
                  <a:srgbClr val="C00000"/>
                </a:solidFill>
              </a:rPr>
              <a:t>:</a:t>
            </a:r>
          </a:p>
          <a:p>
            <a:pPr lvl="0">
              <a:buFont typeface="Wingdings" pitchFamily="2" charset="2"/>
              <a:buChar char="ü"/>
            </a:pPr>
            <a:r>
              <a:rPr lang="fr-FR" sz="2800" b="1" dirty="0" smtClean="0">
                <a:solidFill>
                  <a:srgbClr val="C00000"/>
                </a:solidFill>
              </a:rPr>
              <a:t> </a:t>
            </a:r>
            <a:r>
              <a:rPr lang="fr-FR" sz="2800" dirty="0" smtClean="0"/>
              <a:t>assure la multiplication des cellules de </a:t>
            </a:r>
            <a:r>
              <a:rPr lang="fr-FR" sz="2800" dirty="0" err="1" smtClean="0"/>
              <a:t>Leydig</a:t>
            </a:r>
            <a:r>
              <a:rPr lang="fr-FR" sz="2800" dirty="0" smtClean="0"/>
              <a:t>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               </a:t>
            </a:r>
            <a:r>
              <a:rPr lang="fr-FR" sz="2800" b="1" dirty="0" smtClean="0">
                <a:solidFill>
                  <a:schemeClr val="accent1"/>
                </a:solidFill>
              </a:rPr>
              <a:t>sécrétion de testostérone</a:t>
            </a:r>
            <a:r>
              <a:rPr lang="fr-FR" sz="2800" dirty="0" smtClean="0"/>
              <a:t>.</a:t>
            </a:r>
          </a:p>
          <a:p>
            <a:pPr lvl="0">
              <a:buFont typeface="Wingdings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dirty="0" smtClean="0"/>
              <a:t>testostérone + ABP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      </a:t>
            </a:r>
            <a:r>
              <a:rPr lang="fr-FR" sz="2800" b="1" dirty="0" smtClean="0">
                <a:solidFill>
                  <a:srgbClr val="0070C0"/>
                </a:solidFill>
              </a:rPr>
              <a:t>Développement de </a:t>
            </a:r>
            <a:r>
              <a:rPr lang="fr-FR" sz="2800" b="1" dirty="0" smtClean="0">
                <a:solidFill>
                  <a:srgbClr val="0070C0"/>
                </a:solidFill>
              </a:rPr>
              <a:t>l'épithélium  séminal.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      </a:t>
            </a:r>
            <a:r>
              <a:rPr lang="fr-FR" sz="2800" b="1" dirty="0" smtClean="0">
                <a:solidFill>
                  <a:srgbClr val="0070C0"/>
                </a:solidFill>
              </a:rPr>
              <a:t>Bon </a:t>
            </a:r>
            <a:r>
              <a:rPr lang="fr-FR" sz="2800" b="1" dirty="0" smtClean="0">
                <a:solidFill>
                  <a:srgbClr val="0070C0"/>
                </a:solidFill>
              </a:rPr>
              <a:t>fonctionnement des voies génitales</a:t>
            </a:r>
            <a:r>
              <a:rPr lang="fr-FR" sz="2800" b="1" dirty="0" smtClean="0">
                <a:solidFill>
                  <a:schemeClr val="tx2"/>
                </a:solidFill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-386844"/>
            <a:ext cx="9144000" cy="7109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cs typeface="Arial" charset="0"/>
              </a:rPr>
              <a:t>Remarques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charset="0"/>
              </a:rPr>
              <a:t>canaux de Müller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et 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2" tooltip="Canal de Wolff"/>
              </a:rPr>
              <a:t>canaux de Wolff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,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Constituent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3" tooltip="Système reproducteur"/>
              </a:rPr>
              <a:t>voies génitales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doubles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de 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l'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4" tooltip="Embryon"/>
              </a:rPr>
              <a:t>embryon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lors du stade  indifférencié du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développement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de  l'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5" tooltip="Appareil génital"/>
              </a:rPr>
              <a:t>appareil génital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La différenciation a lieu à la 8</a:t>
            </a:r>
            <a:r>
              <a:rPr kumimoji="0" lang="fr-FR" sz="2800" i="0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ème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 semaine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Embryonnaire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Selon le sexe de l'embryon, les canaux de Müller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disparaissent ou se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transforment.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Lorsque l'embryon est mâle et donc possède  des  testicules, ces derniers vont sécréter deux  hormones :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la testostérone, par les cellules de Leydig,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l’AMH  par les  cellules de Sertoli.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476091"/>
            <a:ext cx="9468544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Lorsque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l'AMH est sécrétée, les canaux 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Müller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régréssent.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La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2" tooltip="Testostérone"/>
              </a:rPr>
              <a:t>testostérone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entraîne le développement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des 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canaux de Wolff  et donc des voies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génitales 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mâles.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Lorsque l'embryon est génétiquement une  femelle,  l' AMH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n'est pas sécrétée,  les canaux de Müller demeurent donc,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et se développent en voies génitales femelles.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La testostérone n'étant pas produite, elle ne  permet  alors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pas le maintien des canaux de  Wolff qui vont régresser.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c/c0/The_uterus_differentiates_from_the_fetal_M%C3%BCllerian_ducts.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568952" cy="6525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22723</TotalTime>
  <Words>999</Words>
  <Application>Microsoft Office PowerPoint</Application>
  <PresentationFormat>Affichage à l'écran (4:3)</PresentationFormat>
  <Paragraphs>329</Paragraphs>
  <Slides>38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110</cp:revision>
  <dcterms:created xsi:type="dcterms:W3CDTF">2012-10-28T16:06:05Z</dcterms:created>
  <dcterms:modified xsi:type="dcterms:W3CDTF">2023-10-05T13:01:03Z</dcterms:modified>
</cp:coreProperties>
</file>